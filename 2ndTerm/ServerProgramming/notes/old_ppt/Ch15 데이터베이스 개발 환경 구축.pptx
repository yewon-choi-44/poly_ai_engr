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9" r:id="rId1"/>
  </p:sldMasterIdLst>
  <p:notesMasterIdLst>
    <p:notesMasterId r:id="rId61"/>
  </p:notesMasterIdLst>
  <p:handoutMasterIdLst>
    <p:handoutMasterId r:id="rId62"/>
  </p:handoutMasterIdLst>
  <p:sldIdLst>
    <p:sldId id="256" r:id="rId2"/>
    <p:sldId id="877" r:id="rId3"/>
    <p:sldId id="878" r:id="rId4"/>
    <p:sldId id="879" r:id="rId5"/>
    <p:sldId id="880" r:id="rId6"/>
    <p:sldId id="881" r:id="rId7"/>
    <p:sldId id="882" r:id="rId8"/>
    <p:sldId id="883" r:id="rId9"/>
    <p:sldId id="884" r:id="rId10"/>
    <p:sldId id="885" r:id="rId11"/>
    <p:sldId id="886" r:id="rId12"/>
    <p:sldId id="930" r:id="rId13"/>
    <p:sldId id="931" r:id="rId14"/>
    <p:sldId id="887" r:id="rId15"/>
    <p:sldId id="932" r:id="rId16"/>
    <p:sldId id="888" r:id="rId17"/>
    <p:sldId id="933" r:id="rId18"/>
    <p:sldId id="934" r:id="rId19"/>
    <p:sldId id="935" r:id="rId20"/>
    <p:sldId id="891" r:id="rId21"/>
    <p:sldId id="892" r:id="rId22"/>
    <p:sldId id="893" r:id="rId23"/>
    <p:sldId id="894" r:id="rId24"/>
    <p:sldId id="895" r:id="rId25"/>
    <p:sldId id="896" r:id="rId26"/>
    <p:sldId id="897" r:id="rId27"/>
    <p:sldId id="898" r:id="rId28"/>
    <p:sldId id="899" r:id="rId29"/>
    <p:sldId id="900" r:id="rId30"/>
    <p:sldId id="901" r:id="rId31"/>
    <p:sldId id="902" r:id="rId32"/>
    <p:sldId id="903" r:id="rId33"/>
    <p:sldId id="904" r:id="rId34"/>
    <p:sldId id="905" r:id="rId35"/>
    <p:sldId id="906" r:id="rId36"/>
    <p:sldId id="907" r:id="rId37"/>
    <p:sldId id="908" r:id="rId38"/>
    <p:sldId id="909" r:id="rId39"/>
    <p:sldId id="910" r:id="rId40"/>
    <p:sldId id="911" r:id="rId41"/>
    <p:sldId id="912" r:id="rId42"/>
    <p:sldId id="913" r:id="rId43"/>
    <p:sldId id="914" r:id="rId44"/>
    <p:sldId id="915" r:id="rId45"/>
    <p:sldId id="916" r:id="rId46"/>
    <p:sldId id="917" r:id="rId47"/>
    <p:sldId id="918" r:id="rId48"/>
    <p:sldId id="919" r:id="rId49"/>
    <p:sldId id="920" r:id="rId50"/>
    <p:sldId id="921" r:id="rId51"/>
    <p:sldId id="922" r:id="rId52"/>
    <p:sldId id="923" r:id="rId53"/>
    <p:sldId id="924" r:id="rId54"/>
    <p:sldId id="925" r:id="rId55"/>
    <p:sldId id="926" r:id="rId56"/>
    <p:sldId id="927" r:id="rId57"/>
    <p:sldId id="928" r:id="rId58"/>
    <p:sldId id="929" r:id="rId59"/>
    <p:sldId id="275" r:id="rId60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1BE"/>
    <a:srgbClr val="D6E7E6"/>
    <a:srgbClr val="17928F"/>
    <a:srgbClr val="40C4C1"/>
    <a:srgbClr val="98D2D0"/>
    <a:srgbClr val="E2F1F0"/>
    <a:srgbClr val="66B9B7"/>
    <a:srgbClr val="64B7CE"/>
    <a:srgbClr val="5A8DDC"/>
    <a:srgbClr val="009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348" autoAdjust="0"/>
  </p:normalViewPr>
  <p:slideViewPr>
    <p:cSldViewPr>
      <p:cViewPr varScale="1">
        <p:scale>
          <a:sx n="101" d="100"/>
          <a:sy n="101" d="100"/>
        </p:scale>
        <p:origin x="-630" y="-84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2021-07-04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2021-07-04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rgbClr val="D6E7E6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ltGray">
          <a:xfrm>
            <a:off x="1409130" y="5099566"/>
            <a:ext cx="7137400" cy="533400"/>
          </a:xfrm>
          <a:prstGeom prst="roundRect">
            <a:avLst>
              <a:gd name="adj" fmla="val 16667"/>
            </a:avLst>
          </a:prstGeom>
          <a:solidFill>
            <a:srgbClr val="50C1BE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8" name="TextBox 19"/>
          <p:cNvSpPr txBox="1">
            <a:spLocks noChangeArrowheads="1"/>
          </p:cNvSpPr>
          <p:nvPr userDrawn="1"/>
        </p:nvSpPr>
        <p:spPr bwMode="auto">
          <a:xfrm>
            <a:off x="1409130" y="5181600"/>
            <a:ext cx="713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쉽게 배우는 </a:t>
            </a: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JSP 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웹 프로그래밍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4267201"/>
            <a:ext cx="7620000" cy="838200"/>
          </a:xfrm>
        </p:spPr>
        <p:txBody>
          <a:bodyPr/>
          <a:lstStyle>
            <a:lvl1pPr marL="717550" indent="0">
              <a:defRPr sz="3600" b="1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352" y="6477000"/>
            <a:ext cx="1228725" cy="257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8BF1E9C-21A3-41D4-8B65-A0F4F21F6AC7}"/>
              </a:ext>
            </a:extLst>
          </p:cNvPr>
          <p:cNvSpPr txBox="1"/>
          <p:nvPr userDrawn="1"/>
        </p:nvSpPr>
        <p:spPr>
          <a:xfrm>
            <a:off x="1499169" y="1340768"/>
            <a:ext cx="6531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JSP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웹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44763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b="1" dirty="0">
                <a:solidFill>
                  <a:srgbClr val="191E70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b="1" dirty="0">
              <a:solidFill>
                <a:srgbClr val="191E7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19050">
            <a:solidFill>
              <a:schemeClr val="bg2">
                <a:lumMod val="90000"/>
              </a:schemeClr>
            </a:solidFill>
            <a:prstDash val="sysDot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 sz="220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  <a:lvl2pPr marL="539750" marR="0" indent="-182563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마스터 텍스트 스타일을 편집합니다</a:t>
            </a:r>
          </a:p>
          <a:p>
            <a:pPr marL="539750" marR="0" lvl="1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9497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633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5"/>
          <p:cNvSpPr>
            <a:spLocks noChangeShapeType="1"/>
          </p:cNvSpPr>
          <p:nvPr userDrawn="1">
            <p:custDataLst>
              <p:tags r:id="rId1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AutoShape 3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ext Box 4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238125" cy="6858000"/>
          </a:xfrm>
          <a:prstGeom prst="rect">
            <a:avLst/>
          </a:prstGeom>
          <a:pattFill prst="ltHorz">
            <a:fgClr>
              <a:srgbClr val="C0C0C0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 userDrawn="1"/>
        </p:nvSpPr>
        <p:spPr bwMode="auto">
          <a:xfrm>
            <a:off x="8100392" y="6516688"/>
            <a:ext cx="96740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/>
            <a:fld id="{E5A18F57-D258-470C-BB46-B83A1BEE3C43}" type="slidenum">
              <a:rPr lang="ko-KR" altLang="en-US" sz="120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r"/>
              <a:t>‹#›</a:t>
            </a:fld>
            <a:r>
              <a:rPr lang="en-US" altLang="ko-KR" sz="1200" dirty="0" smtClean="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/59</a:t>
            </a:r>
            <a:endParaRPr lang="en-US" altLang="ko-KR" sz="1200" dirty="0">
              <a:solidFill>
                <a:srgbClr val="452103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grpSp>
        <p:nvGrpSpPr>
          <p:cNvPr id="3" name="Group 192"/>
          <p:cNvGrpSpPr>
            <a:grpSpLocks/>
          </p:cNvGrpSpPr>
          <p:nvPr userDrawn="1"/>
        </p:nvGrpSpPr>
        <p:grpSpPr bwMode="auto">
          <a:xfrm>
            <a:off x="226419" y="668709"/>
            <a:ext cx="8675591" cy="131762"/>
            <a:chOff x="192" y="446"/>
            <a:chExt cx="5513" cy="78"/>
          </a:xfrm>
          <a:solidFill>
            <a:srgbClr val="92D050"/>
          </a:solidFill>
        </p:grpSpPr>
        <p:sp>
          <p:nvSpPr>
            <p:cNvPr id="27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solidFill>
              <a:srgbClr val="50C1BE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굴림" charset="-127"/>
              </a:endParaRPr>
            </a:p>
          </p:txBody>
        </p:sp>
        <p:sp>
          <p:nvSpPr>
            <p:cNvPr id="28" name="Line 194"/>
            <p:cNvSpPr>
              <a:spLocks noChangeShapeType="1"/>
            </p:cNvSpPr>
            <p:nvPr userDrawn="1"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ln>
              <a:solidFill>
                <a:srgbClr val="191E70"/>
              </a:solidFill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+mn-ea"/>
              </a:endParaRPr>
            </a:p>
          </p:txBody>
        </p:sp>
      </p:grpSp>
      <p:pic>
        <p:nvPicPr>
          <p:cNvPr id="1033" name="그림 29" descr="쿡북로고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458788"/>
            <a:ext cx="1079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53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4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b="1" kern="1200">
          <a:solidFill>
            <a:srgbClr val="191D76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100"/>
        </a:spcAft>
        <a:buClr>
          <a:srgbClr val="5A8DDC"/>
        </a:buClr>
        <a:buFont typeface="Wingdings" panose="05000000000000000000" pitchFamily="2" charset="2"/>
        <a:buChar char="v"/>
        <a:defRPr sz="22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ts val="100"/>
        </a:spcAft>
        <a:buClr>
          <a:srgbClr val="B1AE6B"/>
        </a:buClr>
        <a:buFont typeface="Wingdings" panose="05000000000000000000" pitchFamily="2" charset="2"/>
        <a:buChar char="§"/>
        <a:defRPr sz="19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-185738" algn="l" rtl="0" eaLnBrk="0" fontAlgn="base" latinLnBrk="1" hangingPunct="0">
        <a:spcBef>
          <a:spcPct val="20000"/>
        </a:spcBef>
        <a:spcAft>
          <a:spcPts val="100"/>
        </a:spcAft>
        <a:buClr>
          <a:srgbClr val="ADB9AD"/>
        </a:buClr>
        <a:buChar char="•"/>
        <a:defRPr sz="1700"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436"/>
          <p:cNvSpPr>
            <a:spLocks noChangeArrowheads="1" noChangeShapeType="1" noTextEdit="1"/>
          </p:cNvSpPr>
          <p:nvPr/>
        </p:nvSpPr>
        <p:spPr bwMode="auto">
          <a:xfrm>
            <a:off x="1701833" y="3914710"/>
            <a:ext cx="533400" cy="1080000"/>
          </a:xfrm>
          <a:prstGeom prst="rect">
            <a:avLst/>
          </a:prstGeom>
          <a:ln>
            <a:noFill/>
          </a:ln>
        </p:spPr>
        <p:txBody>
          <a:bodyPr wrap="none" fromWordArt="1">
            <a:prstTxWarp prst="textCascadeUp">
              <a:avLst>
                <a:gd name="adj" fmla="val 99838"/>
              </a:avLst>
            </a:prstTxWarp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latinLnBrk="0" hangingPunct="0">
              <a:defRPr/>
            </a:pPr>
            <a:r>
              <a:rPr kumimoji="0" lang="en-US" altLang="ko-KR" sz="4800" b="1" i="1" kern="10" spc="150" dirty="0" smtClean="0">
                <a:ln w="11430">
                  <a:solidFill>
                    <a:srgbClr val="452103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휴먼둥근헤드라인"/>
                <a:ea typeface="휴먼둥근헤드라인"/>
              </a:rPr>
              <a:t>15</a:t>
            </a:r>
            <a:endParaRPr kumimoji="0" lang="ko-KR" altLang="en-US" sz="4800" b="1" i="1" kern="10" spc="150" dirty="0">
              <a:ln w="11430">
                <a:solidFill>
                  <a:srgbClr val="452103"/>
                </a:solidFill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휴먼둥근헤드라인"/>
              <a:ea typeface="휴먼둥근헤드라인"/>
            </a:endParaRPr>
          </a:p>
        </p:txBody>
      </p:sp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0" dirty="0"/>
              <a:t>데이터베이스 개발 환경 </a:t>
            </a:r>
            <a:r>
              <a:rPr lang="ko-KR" altLang="en-US" b="0" dirty="0" smtClean="0"/>
              <a:t>구축</a:t>
            </a:r>
            <a:endParaRPr lang="ko-KR" altLang="en-US" dirty="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xmlns="" id="{F71D86D2-9A5A-436C-BF82-D67BDBFA3162}"/>
              </a:ext>
            </a:extLst>
          </p:cNvPr>
          <p:cNvSpPr/>
          <p:nvPr/>
        </p:nvSpPr>
        <p:spPr>
          <a:xfrm>
            <a:off x="1087060" y="1125017"/>
            <a:ext cx="7085340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40D9FBBA-2095-4493-930B-54EB43818DE9}"/>
              </a:ext>
            </a:extLst>
          </p:cNvPr>
          <p:cNvSpPr txBox="1"/>
          <p:nvPr/>
        </p:nvSpPr>
        <p:spPr bwMode="auto">
          <a:xfrm>
            <a:off x="1683837" y="1219842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데이터베이스의 개요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xmlns="" id="{2A9FECBD-702A-4BA1-88AB-67BBCAFAED1F}"/>
              </a:ext>
            </a:extLst>
          </p:cNvPr>
          <p:cNvSpPr/>
          <p:nvPr/>
        </p:nvSpPr>
        <p:spPr>
          <a:xfrm>
            <a:off x="755576" y="1094712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534BF5C5-2F04-4802-A8CF-73191AEB43D8}"/>
              </a:ext>
            </a:extLst>
          </p:cNvPr>
          <p:cNvSpPr txBox="1"/>
          <p:nvPr/>
        </p:nvSpPr>
        <p:spPr>
          <a:xfrm>
            <a:off x="879457" y="1175362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1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xmlns="" id="{F87AFBBE-263B-456C-A0CE-E79DEEC79E2B}"/>
              </a:ext>
            </a:extLst>
          </p:cNvPr>
          <p:cNvSpPr/>
          <p:nvPr/>
        </p:nvSpPr>
        <p:spPr>
          <a:xfrm>
            <a:off x="1059502" y="1773090"/>
            <a:ext cx="7116018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xmlns="" id="{C1C8BBBE-666B-476A-B7E7-D3888F6B2AC5}"/>
              </a:ext>
            </a:extLst>
          </p:cNvPr>
          <p:cNvSpPr txBox="1"/>
          <p:nvPr/>
        </p:nvSpPr>
        <p:spPr bwMode="auto">
          <a:xfrm>
            <a:off x="1683837" y="1867915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MySQL </a:t>
            </a: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환경 구축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val 33">
            <a:extLst>
              <a:ext uri="{FF2B5EF4-FFF2-40B4-BE49-F238E27FC236}">
                <a16:creationId xmlns:a16="http://schemas.microsoft.com/office/drawing/2014/main" xmlns="" id="{72F09F89-0230-43A5-A4A3-5239F66A6865}"/>
              </a:ext>
            </a:extLst>
          </p:cNvPr>
          <p:cNvSpPr/>
          <p:nvPr/>
        </p:nvSpPr>
        <p:spPr>
          <a:xfrm>
            <a:off x="755576" y="1742784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rgbClr val="40C4C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27036CA4-28CD-44F9-B258-DDA77AD699B0}"/>
              </a:ext>
            </a:extLst>
          </p:cNvPr>
          <p:cNvSpPr txBox="1"/>
          <p:nvPr/>
        </p:nvSpPr>
        <p:spPr>
          <a:xfrm>
            <a:off x="879457" y="1823435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2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xmlns="" id="{A1D087A5-BC02-4A12-A503-0123A850BC88}"/>
              </a:ext>
            </a:extLst>
          </p:cNvPr>
          <p:cNvSpPr/>
          <p:nvPr/>
        </p:nvSpPr>
        <p:spPr>
          <a:xfrm>
            <a:off x="1087060" y="2421162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xmlns="" id="{228991CF-971D-4BD1-9444-A3ADF601E98D}"/>
              </a:ext>
            </a:extLst>
          </p:cNvPr>
          <p:cNvSpPr txBox="1"/>
          <p:nvPr/>
        </p:nvSpPr>
        <p:spPr bwMode="auto">
          <a:xfrm>
            <a:off x="1683837" y="2515987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개발 환경과 데이터베이스 연동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xmlns="" id="{EFB909A1-2553-431D-8951-2FCAB83352F3}"/>
              </a:ext>
            </a:extLst>
          </p:cNvPr>
          <p:cNvSpPr/>
          <p:nvPr/>
        </p:nvSpPr>
        <p:spPr>
          <a:xfrm>
            <a:off x="755576" y="2390856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516723D6-6106-4E80-84D8-C064B79C73D4}"/>
              </a:ext>
            </a:extLst>
          </p:cNvPr>
          <p:cNvSpPr txBox="1"/>
          <p:nvPr/>
        </p:nvSpPr>
        <p:spPr>
          <a:xfrm>
            <a:off x="879457" y="2471508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3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xmlns="" id="{DF00DCCC-102E-4145-BABA-D22898295518}"/>
              </a:ext>
            </a:extLst>
          </p:cNvPr>
          <p:cNvSpPr/>
          <p:nvPr/>
        </p:nvSpPr>
        <p:spPr>
          <a:xfrm>
            <a:off x="1087060" y="3069234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xmlns="" id="{303F313C-C501-479B-9D28-10531B623A70}"/>
              </a:ext>
            </a:extLst>
          </p:cNvPr>
          <p:cNvSpPr txBox="1"/>
          <p:nvPr/>
        </p:nvSpPr>
        <p:spPr bwMode="auto">
          <a:xfrm>
            <a:off x="1683837" y="3164059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latin typeface="맑은 고딕" panose="020B0503020000020004" pitchFamily="50" charset="-127"/>
              </a:rPr>
              <a:t>MySQL </a:t>
            </a:r>
            <a:r>
              <a:rPr lang="ko-KR" altLang="en-US" b="1" dirty="0" smtClean="0">
                <a:latin typeface="맑은 고딕" panose="020B0503020000020004" pitchFamily="50" charset="-127"/>
              </a:rPr>
              <a:t>기본 명령어</a:t>
            </a:r>
            <a:endParaRPr lang="ko-KR" altLang="en-US" b="1" dirty="0">
              <a:latin typeface="맑은 고딕" panose="020B0503020000020004" pitchFamily="50" charset="-127"/>
            </a:endParaRPr>
          </a:p>
        </p:txBody>
      </p:sp>
      <p:sp>
        <p:nvSpPr>
          <p:cNvPr id="22" name="Oval 38">
            <a:extLst>
              <a:ext uri="{FF2B5EF4-FFF2-40B4-BE49-F238E27FC236}">
                <a16:creationId xmlns:a16="http://schemas.microsoft.com/office/drawing/2014/main" xmlns="" id="{D68CA34E-6EE0-4926-ABBC-012D5C2B9515}"/>
              </a:ext>
            </a:extLst>
          </p:cNvPr>
          <p:cNvSpPr/>
          <p:nvPr/>
        </p:nvSpPr>
        <p:spPr>
          <a:xfrm>
            <a:off x="755576" y="3038928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041026EB-829B-4499-8EEA-C09E64B8D656}"/>
              </a:ext>
            </a:extLst>
          </p:cNvPr>
          <p:cNvSpPr txBox="1"/>
          <p:nvPr/>
        </p:nvSpPr>
        <p:spPr>
          <a:xfrm>
            <a:off x="879457" y="3119581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rgbClr val="17928F"/>
                </a:solidFill>
                <a:cs typeface="Arial" pitchFamily="34" charset="0"/>
              </a:rPr>
              <a:t>4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xmlns="" id="{A1D087A5-BC02-4A12-A503-0123A850BC88}"/>
              </a:ext>
            </a:extLst>
          </p:cNvPr>
          <p:cNvSpPr/>
          <p:nvPr/>
        </p:nvSpPr>
        <p:spPr>
          <a:xfrm>
            <a:off x="1087060" y="3717306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228991CF-971D-4BD1-9444-A3ADF601E98D}"/>
              </a:ext>
            </a:extLst>
          </p:cNvPr>
          <p:cNvSpPr txBox="1"/>
          <p:nvPr/>
        </p:nvSpPr>
        <p:spPr bwMode="auto">
          <a:xfrm>
            <a:off x="1683837" y="3812131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맑은 고딕" panose="020B0503020000020004" pitchFamily="50" charset="-127"/>
              </a:rPr>
              <a:t>[</a:t>
            </a:r>
            <a:r>
              <a:rPr lang="ko-KR" altLang="en-US" b="1" dirty="0">
                <a:latin typeface="맑은 고딕" panose="020B0503020000020004" pitchFamily="50" charset="-127"/>
              </a:rPr>
              <a:t>웹 쇼핑몰</a:t>
            </a:r>
            <a:r>
              <a:rPr lang="en-US" altLang="ko-KR" b="1" dirty="0" smtClean="0">
                <a:latin typeface="맑은 고딕" panose="020B0503020000020004" pitchFamily="50" charset="-127"/>
              </a:rPr>
              <a:t>] </a:t>
            </a:r>
            <a:r>
              <a:rPr lang="ko-KR" altLang="en-US" b="1" dirty="0" smtClean="0">
                <a:latin typeface="맑은 고딕" panose="020B0503020000020004" pitchFamily="50" charset="-127"/>
              </a:rPr>
              <a:t>상품 관리 테이블 생성 및 상품 등록하기</a:t>
            </a:r>
            <a:endParaRPr lang="ko-KR" altLang="en-US" b="1" dirty="0">
              <a:latin typeface="맑은 고딕" panose="020B0503020000020004" pitchFamily="50" charset="-127"/>
            </a:endParaRPr>
          </a:p>
        </p:txBody>
      </p:sp>
      <p:sp>
        <p:nvSpPr>
          <p:cNvPr id="26" name="Oval 38">
            <a:extLst>
              <a:ext uri="{FF2B5EF4-FFF2-40B4-BE49-F238E27FC236}">
                <a16:creationId xmlns:a16="http://schemas.microsoft.com/office/drawing/2014/main" xmlns="" id="{EFB909A1-2553-431D-8951-2FCAB83352F3}"/>
              </a:ext>
            </a:extLst>
          </p:cNvPr>
          <p:cNvSpPr/>
          <p:nvPr/>
        </p:nvSpPr>
        <p:spPr>
          <a:xfrm>
            <a:off x="755576" y="3687000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516723D6-6106-4E80-84D8-C064B79C73D4}"/>
              </a:ext>
            </a:extLst>
          </p:cNvPr>
          <p:cNvSpPr txBox="1"/>
          <p:nvPr/>
        </p:nvSpPr>
        <p:spPr>
          <a:xfrm>
            <a:off x="879457" y="3767652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rgbClr val="17928F"/>
                </a:solidFill>
                <a:cs typeface="Arial" pitchFamily="34" charset="0"/>
              </a:rPr>
              <a:t>5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18" y="4507875"/>
            <a:ext cx="774782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6547AFA1-DBAB-4254-AD78-5960E59612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데이터베이스</a:t>
            </a:r>
            <a:endParaRPr lang="en-US" altLang="ko-KR" dirty="0" smtClean="0"/>
          </a:p>
          <a:p>
            <a:pPr lvl="1"/>
            <a:r>
              <a:rPr lang="ko-KR" altLang="en-US" b="0" dirty="0" smtClean="0"/>
              <a:t>여러 </a:t>
            </a:r>
            <a:r>
              <a:rPr lang="ko-KR" altLang="en-US" b="0" dirty="0"/>
              <a:t>자료를 동시에 여러 사람이 공유하여 사용할 수 있도록 체계화한 </a:t>
            </a:r>
            <a:r>
              <a:rPr lang="ko-KR" altLang="en-US" b="0" dirty="0" smtClean="0"/>
              <a:t>데이터의 집합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몇 </a:t>
            </a:r>
            <a:r>
              <a:rPr lang="ko-KR" altLang="en-US" b="0" dirty="0"/>
              <a:t>개의 데이터 파일을 조직적으로 통합하여 중복을 없애고 구조화한 </a:t>
            </a:r>
            <a:r>
              <a:rPr lang="ko-KR" altLang="en-US" b="0" dirty="0" smtClean="0"/>
              <a:t>데이터의 </a:t>
            </a:r>
            <a:r>
              <a:rPr lang="ko-KR" altLang="en-US" b="0" dirty="0"/>
              <a:t>모음이므로 검색과 갱신이 효율적으로 </a:t>
            </a:r>
            <a:r>
              <a:rPr lang="ko-KR" altLang="en-US" b="0" dirty="0" smtClean="0"/>
              <a:t>처리</a:t>
            </a:r>
            <a:endParaRPr lang="en-US" altLang="ko-KR" b="0" dirty="0" smtClean="0"/>
          </a:p>
          <a:p>
            <a:pPr lvl="1"/>
            <a:endParaRPr lang="en-US" altLang="ko-KR" b="0" dirty="0" smtClean="0"/>
          </a:p>
          <a:p>
            <a:r>
              <a:rPr lang="ko-KR" altLang="en-US" dirty="0" smtClean="0"/>
              <a:t>데이터베이스 시스템의 구조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xmlns="" id="{EDB1366D-9170-441B-9164-6CC1D3BD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b="0" dirty="0" smtClean="0"/>
              <a:t>데이터베이스의 개요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501008"/>
            <a:ext cx="6768752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0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데이터베이스 특성</a:t>
            </a:r>
            <a:endParaRPr lang="en-US" altLang="ko-KR" dirty="0" smtClean="0"/>
          </a:p>
          <a:p>
            <a:pPr lvl="1"/>
            <a:r>
              <a:rPr lang="ko-KR" altLang="en-US" b="0" dirty="0" smtClean="0"/>
              <a:t>똑같은 자료를 </a:t>
            </a:r>
            <a:r>
              <a:rPr lang="ko-KR" altLang="en-US" b="0" dirty="0"/>
              <a:t>중복해서 저장하지 않는 통합된 </a:t>
            </a:r>
            <a:r>
              <a:rPr lang="ko-KR" altLang="en-US" b="0" dirty="0" smtClean="0"/>
              <a:t>자료</a:t>
            </a:r>
            <a:r>
              <a:rPr lang="en-US" altLang="ko-KR" b="0" dirty="0" smtClean="0"/>
              <a:t> </a:t>
            </a:r>
          </a:p>
          <a:p>
            <a:pPr lvl="1"/>
            <a:r>
              <a:rPr lang="ko-KR" altLang="en-US" b="0" dirty="0" smtClean="0"/>
              <a:t>컴퓨터가 </a:t>
            </a:r>
            <a:r>
              <a:rPr lang="ko-KR" altLang="en-US" b="0" dirty="0"/>
              <a:t>액세스하여 처리할 수 </a:t>
            </a:r>
            <a:r>
              <a:rPr lang="ko-KR" altLang="en-US" b="0" dirty="0" smtClean="0"/>
              <a:t>있는 </a:t>
            </a:r>
            <a:r>
              <a:rPr lang="ko-KR" altLang="en-US" b="0" dirty="0"/>
              <a:t>저장 장치에 수록된 </a:t>
            </a:r>
            <a:r>
              <a:rPr lang="ko-KR" altLang="en-US" b="0" dirty="0" smtClean="0"/>
              <a:t>자료</a:t>
            </a:r>
            <a:r>
              <a:rPr lang="en-US" altLang="ko-KR" b="0" dirty="0" smtClean="0"/>
              <a:t> </a:t>
            </a:r>
          </a:p>
          <a:p>
            <a:pPr lvl="1"/>
            <a:r>
              <a:rPr lang="ko-KR" altLang="en-US" b="0" dirty="0" smtClean="0"/>
              <a:t>어떤 </a:t>
            </a:r>
            <a:r>
              <a:rPr lang="ko-KR" altLang="en-US" b="0" dirty="0"/>
              <a:t>조직의 기능을 수행하는 데 없어서는 안 되는 </a:t>
            </a:r>
            <a:r>
              <a:rPr lang="ko-KR" altLang="en-US" b="0" dirty="0" smtClean="0"/>
              <a:t>자료이기 </a:t>
            </a:r>
            <a:r>
              <a:rPr lang="ko-KR" altLang="en-US" b="0" dirty="0"/>
              <a:t>때문에 임시로 모아놓거나 단순한 입출력을 위한 자료가 </a:t>
            </a:r>
            <a:r>
              <a:rPr lang="ko-KR" altLang="en-US" b="0" dirty="0" smtClean="0"/>
              <a:t>아님</a:t>
            </a:r>
            <a:r>
              <a:rPr lang="en-US" altLang="ko-KR" b="0" dirty="0" smtClean="0"/>
              <a:t> </a:t>
            </a:r>
          </a:p>
          <a:p>
            <a:pPr lvl="1"/>
            <a:r>
              <a:rPr lang="ko-KR" altLang="en-US" b="0" dirty="0" smtClean="0"/>
              <a:t>한 </a:t>
            </a:r>
            <a:r>
              <a:rPr lang="ko-KR" altLang="en-US" b="0" dirty="0"/>
              <a:t>조직이 </a:t>
            </a:r>
            <a:r>
              <a:rPr lang="ko-KR" altLang="en-US" b="0" dirty="0" smtClean="0"/>
              <a:t>가지고 </a:t>
            </a:r>
            <a:r>
              <a:rPr lang="ko-KR" altLang="en-US" b="0" dirty="0"/>
              <a:t>있는 데이터베이스는 그 조직의 공동 자료로서 사용자는 응용 목적에 따라 각자 </a:t>
            </a:r>
            <a:r>
              <a:rPr lang="ko-KR" altLang="en-US" b="0" dirty="0" smtClean="0"/>
              <a:t>다르게 사용할 </a:t>
            </a:r>
            <a:r>
              <a:rPr lang="ko-KR" altLang="en-US" b="0" dirty="0"/>
              <a:t>수 </a:t>
            </a:r>
            <a:r>
              <a:rPr lang="ko-KR" altLang="en-US" b="0" dirty="0" smtClean="0"/>
              <a:t>있음</a:t>
            </a:r>
            <a:r>
              <a:rPr lang="en-US" altLang="ko-KR" b="0" dirty="0" smtClean="0"/>
              <a:t> </a:t>
            </a:r>
          </a:p>
          <a:p>
            <a:pPr lvl="1"/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b="0" dirty="0"/>
              <a:t>데이터베이스의 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079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데이터베이스 </a:t>
            </a:r>
            <a:r>
              <a:rPr lang="ko-KR" altLang="en-US" dirty="0"/>
              <a:t>관리 시스템</a:t>
            </a:r>
          </a:p>
          <a:p>
            <a:pPr lvl="1"/>
            <a:r>
              <a:rPr lang="ko-KR" altLang="en-US" b="0" dirty="0" smtClean="0"/>
              <a:t>데이터베이스를 </a:t>
            </a:r>
            <a:r>
              <a:rPr lang="ko-KR" altLang="en-US" b="0" dirty="0"/>
              <a:t>관리하는 </a:t>
            </a:r>
            <a:r>
              <a:rPr lang="ko-KR" altLang="en-US" b="0" dirty="0" smtClean="0"/>
              <a:t>소프트웨어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다수의 </a:t>
            </a:r>
            <a:r>
              <a:rPr lang="ko-KR" altLang="en-US" b="0" dirty="0"/>
              <a:t>사용자와 </a:t>
            </a:r>
            <a:r>
              <a:rPr lang="ko-KR" altLang="en-US" b="0" dirty="0" smtClean="0"/>
              <a:t>데이터베이스 </a:t>
            </a:r>
            <a:r>
              <a:rPr lang="ko-KR" altLang="en-US" b="0" dirty="0"/>
              <a:t>사이에서 사용자의 요구에 따라 정보를 생성하는 </a:t>
            </a:r>
            <a:r>
              <a:rPr lang="ko-KR" altLang="en-US" b="0" dirty="0" smtClean="0"/>
              <a:t>역할을 함</a:t>
            </a:r>
            <a:r>
              <a:rPr lang="en-US" altLang="ko-KR" b="0" dirty="0" smtClean="0"/>
              <a:t> </a:t>
            </a:r>
          </a:p>
          <a:p>
            <a:pPr lvl="1"/>
            <a:r>
              <a:rPr lang="ko-KR" altLang="en-US" b="0" dirty="0" smtClean="0"/>
              <a:t>응용 프로그램들이 </a:t>
            </a:r>
            <a:r>
              <a:rPr lang="ko-KR" altLang="en-US" b="0" dirty="0"/>
              <a:t>데이터베이스를 공유하며 사용할 수 있는 환경을 제공하고</a:t>
            </a:r>
            <a:r>
              <a:rPr lang="en-US" altLang="ko-KR" b="0" dirty="0"/>
              <a:t>, </a:t>
            </a:r>
            <a:r>
              <a:rPr lang="ko-KR" altLang="en-US" b="0" dirty="0"/>
              <a:t>사용자들이 데이터베이스 </a:t>
            </a:r>
            <a:r>
              <a:rPr lang="ko-KR" altLang="en-US" b="0" dirty="0" smtClean="0"/>
              <a:t>안에 </a:t>
            </a:r>
            <a:r>
              <a:rPr lang="ko-KR" altLang="en-US" b="0" dirty="0"/>
              <a:t>데이터를 기록하거나 접근할 수 있게 </a:t>
            </a:r>
            <a:r>
              <a:rPr lang="ko-KR" altLang="en-US" b="0" dirty="0" smtClean="0"/>
              <a:t>함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사용자나 </a:t>
            </a:r>
            <a:r>
              <a:rPr lang="ko-KR" altLang="en-US" b="0" dirty="0"/>
              <a:t>다른 프로그램의 요구 사항을 </a:t>
            </a:r>
            <a:r>
              <a:rPr lang="ko-KR" altLang="en-US" b="0" dirty="0" smtClean="0"/>
              <a:t>관리함으로써</a:t>
            </a:r>
            <a:r>
              <a:rPr lang="en-US" altLang="ko-KR" b="0" dirty="0"/>
              <a:t>, </a:t>
            </a:r>
            <a:r>
              <a:rPr lang="ko-KR" altLang="en-US" b="0" dirty="0"/>
              <a:t>사용자나 다른 프로그램이 실제로 그 데이터가 저장 매체의 어디에 저장되어 </a:t>
            </a:r>
            <a:r>
              <a:rPr lang="ko-KR" altLang="en-US" b="0" dirty="0" smtClean="0"/>
              <a:t>있는지 </a:t>
            </a:r>
            <a:r>
              <a:rPr lang="ko-KR" altLang="en-US" b="0" dirty="0"/>
              <a:t>알지 못해도 다중 사용자 환경의 누구든 데이터를 이용할 수 있게 </a:t>
            </a:r>
            <a:r>
              <a:rPr lang="ko-KR" altLang="en-US" b="0" dirty="0" smtClean="0"/>
              <a:t>함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사용자의 </a:t>
            </a:r>
            <a:r>
              <a:rPr lang="ko-KR" altLang="en-US" b="0" dirty="0"/>
              <a:t>요구 사항을 처리할 때 데이터의 무결성과 허가된 사용자만 데이터에 </a:t>
            </a:r>
            <a:r>
              <a:rPr lang="ko-KR" altLang="en-US" b="0" dirty="0" smtClean="0"/>
              <a:t>접근할 수 </a:t>
            </a:r>
            <a:r>
              <a:rPr lang="ko-KR" altLang="en-US" b="0" dirty="0"/>
              <a:t>있는 </a:t>
            </a:r>
            <a:r>
              <a:rPr lang="ko-KR" altLang="en-US" b="0" dirty="0" err="1"/>
              <a:t>보안성을</a:t>
            </a:r>
            <a:r>
              <a:rPr lang="ko-KR" altLang="en-US" b="0" dirty="0"/>
              <a:t> </a:t>
            </a:r>
            <a:r>
              <a:rPr lang="ko-KR" altLang="en-US" b="0" dirty="0" smtClean="0"/>
              <a:t>보장함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b="0" dirty="0"/>
              <a:t>데이터베이스의 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3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데이터베이스 </a:t>
            </a:r>
            <a:r>
              <a:rPr lang="ko-KR" altLang="en-US" dirty="0"/>
              <a:t>관리 시스템</a:t>
            </a:r>
          </a:p>
          <a:p>
            <a:pPr lvl="1"/>
            <a:r>
              <a:rPr lang="ko-KR" altLang="en-US" b="0" dirty="0" smtClean="0"/>
              <a:t>데이터베이스 </a:t>
            </a:r>
            <a:r>
              <a:rPr lang="ko-KR" altLang="en-US" b="0" dirty="0"/>
              <a:t>관리 시스템의 장단점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b="0" dirty="0"/>
              <a:t>데이터베이스의 개요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844824"/>
            <a:ext cx="67532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7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MySQL</a:t>
            </a:r>
            <a:r>
              <a:rPr lang="ko-KR" altLang="en-US" dirty="0"/>
              <a:t>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pPr lvl="1"/>
            <a:r>
              <a:rPr lang="ko-KR" altLang="en-US" b="0" dirty="0" smtClean="0"/>
              <a:t>전 </a:t>
            </a:r>
            <a:r>
              <a:rPr lang="ko-KR" altLang="en-US" b="0" dirty="0"/>
              <a:t>세계적으로 가장 널리 사용되고 있는 </a:t>
            </a:r>
            <a:r>
              <a:rPr lang="ko-KR" altLang="en-US" b="0" dirty="0" smtClean="0"/>
              <a:t>오픈 소스 </a:t>
            </a:r>
            <a:r>
              <a:rPr lang="ko-KR" altLang="en-US" b="0" dirty="0" err="1"/>
              <a:t>관계형</a:t>
            </a:r>
            <a:r>
              <a:rPr lang="ko-KR" altLang="en-US" b="0" dirty="0"/>
              <a:t> 데이터베이스 관리 </a:t>
            </a:r>
            <a:r>
              <a:rPr lang="ko-KR" altLang="en-US" b="0" dirty="0" smtClean="0"/>
              <a:t>시스템</a:t>
            </a:r>
            <a:endParaRPr lang="en-US" altLang="ko-KR" b="0" dirty="0" smtClean="0"/>
          </a:p>
          <a:p>
            <a:pPr lvl="1"/>
            <a:r>
              <a:rPr lang="ko-KR" altLang="en-US" b="0" dirty="0" err="1" smtClean="0"/>
              <a:t>관계형</a:t>
            </a:r>
            <a:r>
              <a:rPr lang="ko-KR" altLang="en-US" b="0" dirty="0" smtClean="0"/>
              <a:t> </a:t>
            </a:r>
            <a:r>
              <a:rPr lang="ko-KR" altLang="en-US" b="0" dirty="0"/>
              <a:t>데이터베이스 관리 시스템의 표준화된 사용자 및 프로그래밍 인터페이스인 </a:t>
            </a:r>
            <a:r>
              <a:rPr lang="ko-KR" altLang="en-US" b="0" dirty="0" smtClean="0"/>
              <a:t>질의언어 </a:t>
            </a:r>
            <a:r>
              <a:rPr lang="en-US" altLang="ko-KR" b="0" dirty="0"/>
              <a:t>SQL(Structured Query Language)</a:t>
            </a:r>
            <a:r>
              <a:rPr lang="ko-KR" altLang="en-US" b="0" dirty="0"/>
              <a:t>을 </a:t>
            </a:r>
            <a:r>
              <a:rPr lang="ko-KR" altLang="en-US" b="0" dirty="0" smtClean="0"/>
              <a:t>사용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매우 </a:t>
            </a:r>
            <a:r>
              <a:rPr lang="ko-KR" altLang="en-US" b="0" dirty="0"/>
              <a:t>빠르고 유연하고 사용하기 쉽기 </a:t>
            </a:r>
            <a:r>
              <a:rPr lang="ko-KR" altLang="en-US" b="0" dirty="0" smtClean="0"/>
              <a:t>때문에 </a:t>
            </a:r>
            <a:r>
              <a:rPr lang="ko-KR" altLang="en-US" b="0" dirty="0"/>
              <a:t>많은 기업에서 다양한 웹 기반 애플리케이션을 개발하는 데 </a:t>
            </a:r>
            <a:r>
              <a:rPr lang="ko-KR" altLang="en-US" b="0" dirty="0" smtClean="0"/>
              <a:t>사용</a:t>
            </a:r>
            <a:endParaRPr lang="en-US" altLang="ko-KR" b="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b="0" dirty="0"/>
              <a:t>데이터베이스의 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76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MySQL</a:t>
            </a:r>
            <a:r>
              <a:rPr lang="ko-KR" altLang="en-US" dirty="0"/>
              <a:t>의 개요</a:t>
            </a:r>
            <a:endParaRPr lang="en-US" altLang="ko-KR" dirty="0"/>
          </a:p>
          <a:p>
            <a:pPr lvl="1"/>
            <a:r>
              <a:rPr lang="ko-KR" altLang="en-US" b="0" dirty="0" smtClean="0"/>
              <a:t>오픈 소스 </a:t>
            </a:r>
            <a:r>
              <a:rPr lang="ko-KR" altLang="en-US" b="0" dirty="0"/>
              <a:t>라이선스에 따라 배포되므로 무료로 </a:t>
            </a:r>
            <a:r>
              <a:rPr lang="ko-KR" altLang="en-US" b="0" dirty="0" smtClean="0"/>
              <a:t>사용할 수 있음</a:t>
            </a:r>
            <a:endParaRPr lang="en-US" altLang="ko-KR" b="0" dirty="0"/>
          </a:p>
          <a:p>
            <a:pPr lvl="1"/>
            <a:r>
              <a:rPr lang="ko-KR" altLang="en-US" b="0" dirty="0" smtClean="0"/>
              <a:t>그 </a:t>
            </a:r>
            <a:r>
              <a:rPr lang="ko-KR" altLang="en-US" b="0" dirty="0"/>
              <a:t>자체로 매우 강력한 프로그램으로서 가장 비싸고 강력한 데이터베이스 패키지의 기능 </a:t>
            </a:r>
            <a:r>
              <a:rPr lang="ko-KR" altLang="en-US" b="0" dirty="0" smtClean="0"/>
              <a:t>중 상당 </a:t>
            </a:r>
            <a:r>
              <a:rPr lang="ko-KR" altLang="en-US" b="0" dirty="0"/>
              <a:t>부분을 </a:t>
            </a:r>
            <a:r>
              <a:rPr lang="ko-KR" altLang="en-US" b="0" dirty="0" smtClean="0"/>
              <a:t>처리함</a:t>
            </a:r>
            <a:endParaRPr lang="ko-KR" altLang="en-US" dirty="0"/>
          </a:p>
          <a:p>
            <a:pPr lvl="1"/>
            <a:r>
              <a:rPr lang="ko-KR" altLang="en-US" b="0" dirty="0" smtClean="0"/>
              <a:t>잘 </a:t>
            </a:r>
            <a:r>
              <a:rPr lang="ko-KR" altLang="en-US" b="0" dirty="0"/>
              <a:t>알려진 </a:t>
            </a:r>
            <a:r>
              <a:rPr lang="en-US" altLang="ko-KR" b="0" dirty="0"/>
              <a:t>SQL </a:t>
            </a:r>
            <a:r>
              <a:rPr lang="ko-KR" altLang="en-US" b="0" dirty="0"/>
              <a:t>데이터 언어의 표준 형식을 </a:t>
            </a:r>
            <a:r>
              <a:rPr lang="ko-KR" altLang="en-US" b="0" dirty="0" smtClean="0"/>
              <a:t>사용</a:t>
            </a:r>
            <a:endParaRPr lang="en-US" altLang="ko-KR" b="0" dirty="0"/>
          </a:p>
          <a:p>
            <a:pPr lvl="1"/>
            <a:r>
              <a:rPr lang="en-US" altLang="ko-KR" b="0" dirty="0" smtClean="0"/>
              <a:t>PHP</a:t>
            </a:r>
            <a:r>
              <a:rPr lang="en-US" altLang="ko-KR" b="0" dirty="0"/>
              <a:t>, </a:t>
            </a:r>
            <a:r>
              <a:rPr lang="ko-KR" altLang="en-US" b="0" dirty="0"/>
              <a:t>펄</a:t>
            </a:r>
            <a:r>
              <a:rPr lang="en-US" altLang="ko-KR" b="0" dirty="0"/>
              <a:t>(Perl), C, C++, </a:t>
            </a:r>
            <a:r>
              <a:rPr lang="ko-KR" altLang="en-US" b="0" dirty="0"/>
              <a:t>자바 등 많은 언어로 운영되고 </a:t>
            </a:r>
            <a:r>
              <a:rPr lang="ko-KR" altLang="en-US" b="0" dirty="0" smtClean="0"/>
              <a:t>있음</a:t>
            </a:r>
            <a:endParaRPr lang="en-US" altLang="ko-KR" b="0" dirty="0"/>
          </a:p>
          <a:p>
            <a:pPr lvl="1"/>
            <a:r>
              <a:rPr lang="ko-KR" altLang="en-US" b="0" dirty="0" smtClean="0"/>
              <a:t>매우 </a:t>
            </a:r>
            <a:r>
              <a:rPr lang="ko-KR" altLang="en-US" b="0" dirty="0"/>
              <a:t>빠르게 작동하며 대용량 데이터 세트로도 잘 </a:t>
            </a:r>
            <a:r>
              <a:rPr lang="ko-KR" altLang="en-US" b="0" dirty="0" smtClean="0"/>
              <a:t>작동함</a:t>
            </a:r>
            <a:endParaRPr lang="en-US" altLang="ko-KR" b="0" dirty="0"/>
          </a:p>
          <a:p>
            <a:pPr lvl="1"/>
            <a:r>
              <a:rPr lang="ko-KR" altLang="en-US" b="0" dirty="0" smtClean="0"/>
              <a:t>웹 </a:t>
            </a:r>
            <a:r>
              <a:rPr lang="ko-KR" altLang="en-US" b="0" dirty="0"/>
              <a:t>개발에서 가장 높이 평가되는 </a:t>
            </a:r>
            <a:r>
              <a:rPr lang="en-US" altLang="ko-KR" b="0" dirty="0"/>
              <a:t>PHP</a:t>
            </a:r>
            <a:r>
              <a:rPr lang="ko-KR" altLang="en-US" b="0" dirty="0"/>
              <a:t>에 매우 </a:t>
            </a:r>
            <a:r>
              <a:rPr lang="ko-KR" altLang="en-US" b="0" dirty="0" smtClean="0"/>
              <a:t>친숙함</a:t>
            </a:r>
            <a:endParaRPr lang="en-US" altLang="ko-KR" b="0" dirty="0"/>
          </a:p>
          <a:p>
            <a:pPr lvl="1"/>
            <a:r>
              <a:rPr lang="ko-KR" altLang="en-US" b="0" dirty="0" smtClean="0"/>
              <a:t>테이블에서 </a:t>
            </a:r>
            <a:r>
              <a:rPr lang="ko-KR" altLang="en-US" b="0" dirty="0"/>
              <a:t>최대 </a:t>
            </a:r>
            <a:r>
              <a:rPr lang="en-US" altLang="ko-KR" b="0" dirty="0"/>
              <a:t>5,000</a:t>
            </a:r>
            <a:r>
              <a:rPr lang="ko-KR" altLang="en-US" b="0" dirty="0"/>
              <a:t>만 행 이상의 대형 데이터베이스를 </a:t>
            </a:r>
            <a:r>
              <a:rPr lang="ko-KR" altLang="en-US" b="0" dirty="0" smtClean="0"/>
              <a:t>지원함</a:t>
            </a:r>
            <a:endParaRPr lang="en-US" altLang="ko-KR" dirty="0"/>
          </a:p>
          <a:p>
            <a:pPr lvl="1"/>
            <a:r>
              <a:rPr lang="ko-KR" altLang="en-US" b="0" dirty="0" smtClean="0"/>
              <a:t>테이블의 </a:t>
            </a:r>
            <a:r>
              <a:rPr lang="ko-KR" altLang="en-US" b="0" dirty="0"/>
              <a:t>기본 </a:t>
            </a:r>
            <a:r>
              <a:rPr lang="ko-KR" altLang="en-US" b="0" dirty="0" smtClean="0"/>
              <a:t>파일크기 </a:t>
            </a:r>
            <a:r>
              <a:rPr lang="ko-KR" altLang="en-US" b="0" dirty="0"/>
              <a:t>제한은 </a:t>
            </a:r>
            <a:r>
              <a:rPr lang="en-US" altLang="ko-KR" b="0" dirty="0"/>
              <a:t>4GB</a:t>
            </a:r>
            <a:r>
              <a:rPr lang="ko-KR" altLang="en-US" b="0" dirty="0"/>
              <a:t>이지만 운영체제에서 처리하는 경우 이론적인 제한인 </a:t>
            </a:r>
            <a:r>
              <a:rPr lang="en-US" altLang="ko-KR" b="0" dirty="0"/>
              <a:t>800</a:t>
            </a:r>
            <a:r>
              <a:rPr lang="ko-KR" altLang="en-US" b="0" dirty="0"/>
              <a:t>만 </a:t>
            </a:r>
            <a:r>
              <a:rPr lang="en-US" altLang="ko-KR" b="0" dirty="0"/>
              <a:t>TB</a:t>
            </a:r>
            <a:r>
              <a:rPr lang="ko-KR" altLang="en-US" b="0" dirty="0"/>
              <a:t>까지 </a:t>
            </a:r>
            <a:r>
              <a:rPr lang="ko-KR" altLang="en-US" b="0" dirty="0" smtClean="0"/>
              <a:t>늘릴 수 있음</a:t>
            </a:r>
            <a:endParaRPr lang="en-US" altLang="ko-KR" b="0" dirty="0"/>
          </a:p>
          <a:p>
            <a:pPr lvl="1"/>
            <a:r>
              <a:rPr lang="ko-KR" altLang="en-US" b="0" dirty="0" smtClean="0"/>
              <a:t>사용자 </a:t>
            </a:r>
            <a:r>
              <a:rPr lang="ko-KR" altLang="en-US" b="0" dirty="0"/>
              <a:t>정의가 </a:t>
            </a:r>
            <a:r>
              <a:rPr lang="ko-KR" altLang="en-US" b="0" dirty="0" smtClean="0"/>
              <a:t>가능함</a:t>
            </a:r>
            <a:endParaRPr lang="en-US" altLang="ko-KR" b="0" dirty="0" smtClean="0"/>
          </a:p>
          <a:p>
            <a:pPr lvl="1"/>
            <a:r>
              <a:rPr lang="ko-KR" altLang="en-US" b="0" dirty="0" err="1" smtClean="0"/>
              <a:t>오픈소스</a:t>
            </a:r>
            <a:r>
              <a:rPr lang="ko-KR" altLang="en-US" b="0" dirty="0" smtClean="0"/>
              <a:t> </a:t>
            </a:r>
            <a:r>
              <a:rPr lang="en-US" altLang="ko-KR" b="0" dirty="0"/>
              <a:t>GPL </a:t>
            </a:r>
            <a:r>
              <a:rPr lang="ko-KR" altLang="en-US" b="0" dirty="0"/>
              <a:t>라이선스를 통해 프로그래머는 자신의 특정 </a:t>
            </a:r>
            <a:r>
              <a:rPr lang="ko-KR" altLang="en-US" b="0" dirty="0" smtClean="0"/>
              <a:t>환경에 </a:t>
            </a:r>
            <a:r>
              <a:rPr lang="ko-KR" altLang="en-US" b="0" dirty="0"/>
              <a:t>맞게 </a:t>
            </a:r>
            <a:r>
              <a:rPr lang="en-US" altLang="ko-KR" b="0" dirty="0"/>
              <a:t>MySQL </a:t>
            </a:r>
            <a:r>
              <a:rPr lang="ko-KR" altLang="en-US" b="0" dirty="0"/>
              <a:t>소프트웨어를 수정할 수 </a:t>
            </a:r>
            <a:r>
              <a:rPr lang="ko-KR" altLang="en-US" b="0" dirty="0" smtClean="0"/>
              <a:t>있음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b="0" dirty="0"/>
              <a:t>데이터베이스의 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365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915400" cy="5715000"/>
          </a:xfrm>
        </p:spPr>
        <p:txBody>
          <a:bodyPr/>
          <a:lstStyle/>
          <a:p>
            <a:endParaRPr lang="en-US" altLang="ko-KR" b="0" dirty="0"/>
          </a:p>
          <a:p>
            <a:endParaRPr lang="en-US" altLang="ko-KR" b="0" dirty="0" smtClean="0"/>
          </a:p>
          <a:p>
            <a:pPr lvl="1"/>
            <a:r>
              <a:rPr lang="en-US" altLang="ko-KR" b="0" dirty="0"/>
              <a:t>MySQL </a:t>
            </a:r>
            <a:r>
              <a:rPr lang="ko-KR" altLang="en-US" b="0" dirty="0"/>
              <a:t>다운로드 사이트에 접속하기</a:t>
            </a:r>
            <a:r>
              <a:rPr lang="en-US" altLang="ko-KR" b="0" dirty="0" smtClean="0"/>
              <a:t>:</a:t>
            </a:r>
          </a:p>
          <a:p>
            <a:pPr lvl="2"/>
            <a:r>
              <a:rPr lang="en-US" altLang="ko-KR" b="0" dirty="0" smtClean="0"/>
              <a:t>MySQL </a:t>
            </a:r>
            <a:r>
              <a:rPr lang="ko-KR" altLang="en-US" b="0" dirty="0"/>
              <a:t>다운로드 사이트</a:t>
            </a:r>
            <a:r>
              <a:rPr lang="en-US" altLang="ko-KR" b="0" dirty="0"/>
              <a:t>(http://</a:t>
            </a:r>
            <a:r>
              <a:rPr lang="en-US" altLang="ko-KR" b="0" dirty="0" smtClean="0"/>
              <a:t>dev.mysql.com/downloads/windows/installer</a:t>
            </a:r>
            <a:r>
              <a:rPr lang="en-US" altLang="ko-KR" b="0" dirty="0"/>
              <a:t>/)</a:t>
            </a:r>
            <a:r>
              <a:rPr lang="ko-KR" altLang="en-US" b="0" dirty="0"/>
              <a:t>에 </a:t>
            </a:r>
            <a:r>
              <a:rPr lang="ko-KR" altLang="en-US" b="0" dirty="0" smtClean="0"/>
              <a:t>접속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[</a:t>
            </a:r>
            <a:r>
              <a:rPr lang="en-US" altLang="ko-KR" b="0" dirty="0"/>
              <a:t>MySQL on Windows]-[</a:t>
            </a:r>
            <a:r>
              <a:rPr lang="en-US" altLang="ko-KR" b="0" dirty="0" smtClean="0"/>
              <a:t>MySQL Installer]</a:t>
            </a:r>
            <a:r>
              <a:rPr lang="ko-KR" altLang="en-US" b="0" dirty="0" smtClean="0"/>
              <a:t> 선택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58" y="1013400"/>
            <a:ext cx="8172450" cy="5048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870602"/>
            <a:ext cx="5127711" cy="378904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416432" y="4494164"/>
            <a:ext cx="1080120" cy="176390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472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b="0" dirty="0" smtClean="0"/>
              <a:t>MySQL </a:t>
            </a:r>
            <a:r>
              <a:rPr lang="ko-KR" altLang="en-US" b="0" dirty="0"/>
              <a:t>다운로드하기</a:t>
            </a:r>
            <a:r>
              <a:rPr lang="en-US" altLang="ko-KR" b="0" dirty="0"/>
              <a:t>: </a:t>
            </a:r>
            <a:endParaRPr lang="en-US" altLang="ko-KR" dirty="0"/>
          </a:p>
          <a:p>
            <a:pPr lvl="2"/>
            <a:r>
              <a:rPr lang="en-US" altLang="ko-KR" b="0" dirty="0" smtClean="0"/>
              <a:t>MySQL </a:t>
            </a:r>
            <a:r>
              <a:rPr lang="en-US" altLang="ko-KR" b="0" dirty="0"/>
              <a:t>Installer 5.7.21</a:t>
            </a:r>
            <a:r>
              <a:rPr lang="ko-KR" altLang="en-US" b="0" dirty="0"/>
              <a:t>의 ‘</a:t>
            </a:r>
            <a:r>
              <a:rPr lang="en-US" altLang="ko-KR" b="0" dirty="0"/>
              <a:t>Microsoft Windows</a:t>
            </a:r>
            <a:r>
              <a:rPr lang="ko-KR" altLang="en-US" b="0" dirty="0" smtClean="0"/>
              <a:t>’ </a:t>
            </a:r>
            <a:r>
              <a:rPr lang="ko-KR" altLang="en-US" b="0" dirty="0"/>
              <a:t>선택한 </a:t>
            </a:r>
            <a:r>
              <a:rPr lang="ko-KR" altLang="en-US" b="0" dirty="0" smtClean="0"/>
              <a:t>후</a:t>
            </a:r>
            <a:r>
              <a:rPr lang="en-US" altLang="ko-KR" b="0" dirty="0" smtClean="0"/>
              <a:t>&lt;Download&gt;</a:t>
            </a:r>
            <a:r>
              <a:rPr lang="ko-KR" altLang="en-US" b="0" dirty="0" smtClean="0"/>
              <a:t>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028438"/>
            <a:ext cx="5714038" cy="395549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57564" y="3779463"/>
            <a:ext cx="1080120" cy="176390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322625" y="4581128"/>
            <a:ext cx="625639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6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ko-KR" altLang="en-US" b="0" dirty="0" smtClean="0"/>
              <a:t>라이선스에 동의하기</a:t>
            </a:r>
            <a:r>
              <a:rPr lang="en-US" altLang="ko-KR" b="0" dirty="0" smtClean="0"/>
              <a:t>:</a:t>
            </a:r>
          </a:p>
          <a:p>
            <a:pPr lvl="2"/>
            <a:r>
              <a:rPr lang="en-US" altLang="ko-KR" b="0" dirty="0" smtClean="0"/>
              <a:t>mysql-installer-community-5.7.21.0.msi </a:t>
            </a:r>
            <a:r>
              <a:rPr lang="ko-KR" altLang="en-US" b="0" dirty="0"/>
              <a:t>설치 패키지 </a:t>
            </a:r>
            <a:r>
              <a:rPr lang="ko-KR" altLang="en-US" b="0" dirty="0" smtClean="0"/>
              <a:t>파일을 </a:t>
            </a:r>
            <a:r>
              <a:rPr lang="ko-KR" altLang="en-US" b="0" dirty="0" err="1"/>
              <a:t>더블클릭하여</a:t>
            </a:r>
            <a:r>
              <a:rPr lang="ko-KR" altLang="en-US" b="0" dirty="0"/>
              <a:t> </a:t>
            </a:r>
            <a:r>
              <a:rPr lang="ko-KR" altLang="en-US" b="0" dirty="0" smtClean="0"/>
              <a:t>설치 진행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라이선스 </a:t>
            </a:r>
            <a:r>
              <a:rPr lang="ko-KR" altLang="en-US" b="0" dirty="0"/>
              <a:t>규약을 확인하고 </a:t>
            </a:r>
            <a:r>
              <a:rPr lang="en-US" altLang="ko-KR" b="0" dirty="0"/>
              <a:t>&lt;Next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en-US" altLang="ko-KR" b="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96" y="931818"/>
            <a:ext cx="8229600" cy="5334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852936"/>
            <a:ext cx="5000890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19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설치 </a:t>
            </a:r>
            <a:r>
              <a:rPr lang="ko-KR" altLang="en-US" b="0" dirty="0"/>
              <a:t>유형 선택하기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사용 </a:t>
            </a:r>
            <a:r>
              <a:rPr lang="ko-KR" altLang="en-US" b="0" dirty="0"/>
              <a:t>목적에 맞게 </a:t>
            </a:r>
            <a:r>
              <a:rPr lang="en-US" altLang="ko-KR" b="0" dirty="0"/>
              <a:t>Setup </a:t>
            </a:r>
            <a:r>
              <a:rPr lang="en-US" altLang="ko-KR" b="0" dirty="0" smtClean="0"/>
              <a:t>Type</a:t>
            </a:r>
            <a:r>
              <a:rPr lang="ko-KR" altLang="en-US" b="0" dirty="0" smtClean="0"/>
              <a:t> 선택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여기서는 </a:t>
            </a:r>
            <a:r>
              <a:rPr lang="ko-KR" altLang="en-US" b="0" dirty="0"/>
              <a:t>‘</a:t>
            </a:r>
            <a:r>
              <a:rPr lang="en-US" altLang="ko-KR" b="0" dirty="0"/>
              <a:t>Custom</a:t>
            </a:r>
            <a:r>
              <a:rPr lang="ko-KR" altLang="en-US" b="0" dirty="0"/>
              <a:t>’을 </a:t>
            </a:r>
            <a:r>
              <a:rPr lang="ko-KR" altLang="en-US" b="0" dirty="0" smtClean="0"/>
              <a:t>선택하고</a:t>
            </a:r>
            <a:r>
              <a:rPr lang="en-US" altLang="ko-KR" b="0" dirty="0" smtClean="0"/>
              <a:t>&lt;</a:t>
            </a:r>
            <a:r>
              <a:rPr lang="en-US" altLang="ko-KR" b="0" dirty="0"/>
              <a:t>Next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348880"/>
            <a:ext cx="5177676" cy="387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47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설치 </a:t>
            </a:r>
            <a:r>
              <a:rPr lang="ko-KR" altLang="en-US" b="0" dirty="0"/>
              <a:t>대상 선택하기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설치 </a:t>
            </a:r>
            <a:r>
              <a:rPr lang="ko-KR" altLang="en-US" b="0" dirty="0"/>
              <a:t>대상을 선택하는 화면의 왼쪽 목록에서 </a:t>
            </a:r>
            <a:r>
              <a:rPr lang="en-US" altLang="ko-KR" b="0" dirty="0"/>
              <a:t>MySQL Server</a:t>
            </a:r>
            <a:r>
              <a:rPr lang="ko-KR" altLang="en-US" b="0" dirty="0"/>
              <a:t>의 아래쪽에 </a:t>
            </a:r>
            <a:r>
              <a:rPr lang="ko-KR" altLang="en-US" b="0" dirty="0" smtClean="0"/>
              <a:t>있는 </a:t>
            </a:r>
            <a:r>
              <a:rPr lang="ko-KR" altLang="en-US" b="0" dirty="0"/>
              <a:t>‘</a:t>
            </a:r>
            <a:r>
              <a:rPr lang="en-US" altLang="ko-KR" b="0" dirty="0"/>
              <a:t>MySQL Server 5.7.21-X64’</a:t>
            </a:r>
            <a:r>
              <a:rPr lang="ko-KR" altLang="en-US" b="0" dirty="0"/>
              <a:t>와 </a:t>
            </a:r>
            <a:r>
              <a:rPr lang="en-US" altLang="ko-KR" b="0" dirty="0"/>
              <a:t>MySQL Connectors</a:t>
            </a:r>
            <a:r>
              <a:rPr lang="ko-KR" altLang="en-US" b="0" dirty="0"/>
              <a:t>의 아래쪽에 있는 ‘</a:t>
            </a:r>
            <a:r>
              <a:rPr lang="en-US" altLang="ko-KR" b="0" dirty="0" smtClean="0"/>
              <a:t>Connection/ODBC5.3.9-X64</a:t>
            </a:r>
            <a:r>
              <a:rPr lang="ko-KR" altLang="en-US" b="0" dirty="0"/>
              <a:t>’를 선택한 후 오른쪽 방향 초록색 화살표를 클릭하여 오른쪽의 목록으로 </a:t>
            </a:r>
            <a:r>
              <a:rPr lang="ko-KR" altLang="en-US" b="0" dirty="0" smtClean="0"/>
              <a:t>이동하고</a:t>
            </a:r>
            <a:r>
              <a:rPr lang="en-US" altLang="ko-KR" b="0" dirty="0" smtClean="0"/>
              <a:t>&lt;</a:t>
            </a:r>
            <a:r>
              <a:rPr lang="en-US" altLang="ko-KR" b="0" dirty="0"/>
              <a:t>Next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en-US" altLang="ko-KR" b="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564904"/>
            <a:ext cx="5400600" cy="404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32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설치 </a:t>
            </a:r>
            <a:r>
              <a:rPr lang="ko-KR" altLang="en-US" b="0" dirty="0"/>
              <a:t>경로 설정하기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MySQL</a:t>
            </a:r>
            <a:r>
              <a:rPr lang="ko-KR" altLang="en-US" b="0" dirty="0"/>
              <a:t>을 설치할 디렉터리와 데이터를 설치할 디렉터리를 설정하는 </a:t>
            </a:r>
            <a:r>
              <a:rPr lang="ko-KR" altLang="en-US" b="0" dirty="0" smtClean="0"/>
              <a:t>화면에서 디폴트 </a:t>
            </a:r>
            <a:r>
              <a:rPr lang="ko-KR" altLang="en-US" b="0" dirty="0"/>
              <a:t>디렉터리를 변경하지 않아도 </a:t>
            </a:r>
            <a:r>
              <a:rPr lang="ko-KR" altLang="en-US" b="0" dirty="0" smtClean="0"/>
              <a:t>상관없음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설치 </a:t>
            </a:r>
            <a:r>
              <a:rPr lang="ko-KR" altLang="en-US" b="0" dirty="0"/>
              <a:t>경로를 설정한 후 </a:t>
            </a:r>
            <a:r>
              <a:rPr lang="en-US" altLang="ko-KR" b="0" dirty="0"/>
              <a:t>&lt;Next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348880"/>
            <a:ext cx="5890856" cy="429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09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설치 대상 설치하기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설치 </a:t>
            </a:r>
            <a:r>
              <a:rPr lang="ko-KR" altLang="en-US" b="0" dirty="0"/>
              <a:t>확인 화면에서 </a:t>
            </a:r>
            <a:r>
              <a:rPr lang="en-US" altLang="ko-KR" b="0" dirty="0"/>
              <a:t>&lt;Execute&gt;</a:t>
            </a:r>
            <a:r>
              <a:rPr lang="ko-KR" altLang="en-US" b="0" dirty="0"/>
              <a:t>를 클릭하여 </a:t>
            </a:r>
            <a:r>
              <a:rPr lang="ko-KR" altLang="en-US" b="0" dirty="0" smtClean="0"/>
              <a:t>설치 시작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설치가 완료되어 </a:t>
            </a:r>
            <a:r>
              <a:rPr lang="ko-KR" altLang="en-US" b="0" dirty="0"/>
              <a:t>설치 목록에 초록색 체크가 표시되면 </a:t>
            </a:r>
            <a:r>
              <a:rPr lang="en-US" altLang="ko-KR" b="0" dirty="0"/>
              <a:t>&lt;Next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6" y="2852936"/>
            <a:ext cx="4824536" cy="36123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204864"/>
            <a:ext cx="4866724" cy="364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289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ko-KR" altLang="en-US" b="0" dirty="0"/>
              <a:t>초기 설정 구성하기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root </a:t>
            </a:r>
            <a:r>
              <a:rPr lang="ko-KR" altLang="en-US" b="0" dirty="0"/>
              <a:t>계정의 비밀번호 설정 </a:t>
            </a:r>
            <a:r>
              <a:rPr lang="ko-KR" altLang="en-US" b="0" dirty="0" smtClean="0"/>
              <a:t>화면이 나올 </a:t>
            </a:r>
            <a:r>
              <a:rPr lang="ko-KR" altLang="en-US" b="0" dirty="0"/>
              <a:t>때까지 모든 기본 설정을 그대로 두고 </a:t>
            </a:r>
            <a:r>
              <a:rPr lang="en-US" altLang="ko-KR" b="0" dirty="0"/>
              <a:t>&lt;Next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8172450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67" y="2780928"/>
            <a:ext cx="4512827" cy="337897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144082"/>
            <a:ext cx="4392427" cy="32888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3348883"/>
            <a:ext cx="4524047" cy="338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21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b="0" dirty="0"/>
              <a:t>root </a:t>
            </a:r>
            <a:r>
              <a:rPr lang="ko-KR" altLang="en-US" b="0" dirty="0"/>
              <a:t>계정의 비밀번호 설정하기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root </a:t>
            </a:r>
            <a:r>
              <a:rPr lang="ko-KR" altLang="en-US" b="0" dirty="0"/>
              <a:t>계정의 비밀번호 설정과 계정 추가 화면에서 관리자 </a:t>
            </a:r>
            <a:r>
              <a:rPr lang="ko-KR" altLang="en-US" b="0" dirty="0" smtClean="0"/>
              <a:t>계정인</a:t>
            </a:r>
            <a:r>
              <a:rPr lang="en-US" altLang="ko-KR" b="0" dirty="0" smtClean="0"/>
              <a:t>root </a:t>
            </a:r>
            <a:r>
              <a:rPr lang="ko-KR" altLang="en-US" b="0" dirty="0"/>
              <a:t>계정의 비밀번호를 설정하고</a:t>
            </a:r>
            <a:r>
              <a:rPr lang="en-US" altLang="ko-KR" b="0" dirty="0"/>
              <a:t>(‘1234</a:t>
            </a:r>
            <a:r>
              <a:rPr lang="ko-KR" altLang="en-US" b="0" dirty="0"/>
              <a:t>’를 입력</a:t>
            </a:r>
            <a:r>
              <a:rPr lang="en-US" altLang="ko-KR" b="0" dirty="0"/>
              <a:t>) </a:t>
            </a:r>
            <a:r>
              <a:rPr lang="ko-KR" altLang="en-US" b="0" dirty="0"/>
              <a:t>계정의 추가는 </a:t>
            </a:r>
            <a:r>
              <a:rPr lang="ko-KR" altLang="en-US" b="0" dirty="0" smtClean="0"/>
              <a:t>생략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설정한 </a:t>
            </a:r>
            <a:r>
              <a:rPr lang="ko-KR" altLang="en-US" b="0" dirty="0"/>
              <a:t>후 </a:t>
            </a:r>
            <a:r>
              <a:rPr lang="en-US" altLang="ko-KR" b="0" dirty="0"/>
              <a:t>&lt;Next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492896"/>
            <a:ext cx="6603521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97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설치 진행 및 완료하기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Windows </a:t>
            </a:r>
            <a:r>
              <a:rPr lang="en-US" altLang="ko-KR" b="0" dirty="0"/>
              <a:t>Service </a:t>
            </a:r>
            <a:r>
              <a:rPr lang="ko-KR" altLang="en-US" b="0" dirty="0"/>
              <a:t>설정 화면부터는 각 설치 단계마다 모든 기본 설정을 </a:t>
            </a:r>
            <a:r>
              <a:rPr lang="ko-KR" altLang="en-US" b="0" dirty="0" smtClean="0"/>
              <a:t>그대로 </a:t>
            </a:r>
            <a:r>
              <a:rPr lang="ko-KR" altLang="en-US" b="0" dirty="0"/>
              <a:t>두고 </a:t>
            </a:r>
            <a:r>
              <a:rPr lang="en-US" altLang="ko-KR" b="0" dirty="0"/>
              <a:t>&lt;Next&gt;</a:t>
            </a:r>
            <a:r>
              <a:rPr lang="ko-KR" altLang="en-US" b="0" dirty="0"/>
              <a:t>나 </a:t>
            </a:r>
            <a:r>
              <a:rPr lang="en-US" altLang="ko-KR" b="0" dirty="0"/>
              <a:t>&lt;Execute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설치 </a:t>
            </a:r>
            <a:r>
              <a:rPr lang="ko-KR" altLang="en-US" b="0" dirty="0"/>
              <a:t>진행 작업의 완료로 </a:t>
            </a:r>
            <a:r>
              <a:rPr lang="en-US" altLang="ko-KR" b="0" dirty="0"/>
              <a:t>&lt;Finish&gt; </a:t>
            </a:r>
            <a:r>
              <a:rPr lang="ko-KR" altLang="en-US" b="0" dirty="0"/>
              <a:t>버튼이 나오면 </a:t>
            </a:r>
            <a:r>
              <a:rPr lang="ko-KR" altLang="en-US" b="0" dirty="0" smtClean="0"/>
              <a:t>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2" y="2249046"/>
            <a:ext cx="4610916" cy="34284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530" y="2706646"/>
            <a:ext cx="4610916" cy="342844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741" y="3125073"/>
            <a:ext cx="4863556" cy="361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35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12776"/>
            <a:ext cx="5328592" cy="3904562"/>
          </a:xfr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276872"/>
            <a:ext cx="5328592" cy="39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62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ko-KR" altLang="en-US" b="0" dirty="0"/>
              <a:t>윈도우의 </a:t>
            </a:r>
            <a:r>
              <a:rPr lang="en-US" altLang="ko-KR" b="0" dirty="0"/>
              <a:t>&lt;</a:t>
            </a:r>
            <a:r>
              <a:rPr lang="ko-KR" altLang="en-US" b="0" dirty="0"/>
              <a:t>시작</a:t>
            </a:r>
            <a:r>
              <a:rPr lang="en-US" altLang="ko-KR" b="0" dirty="0"/>
              <a:t>&gt; </a:t>
            </a:r>
            <a:r>
              <a:rPr lang="ko-KR" altLang="en-US" b="0" dirty="0"/>
              <a:t>버튼을 클릭하여 </a:t>
            </a:r>
            <a:r>
              <a:rPr lang="en-US" altLang="ko-KR" b="0" dirty="0"/>
              <a:t>MySQL 5.7 Command Line Client</a:t>
            </a:r>
            <a:r>
              <a:rPr lang="ko-KR" altLang="en-US" b="0" dirty="0"/>
              <a:t>를 실행한 후 </a:t>
            </a:r>
            <a:r>
              <a:rPr lang="en-US" altLang="ko-KR" b="0" dirty="0"/>
              <a:t>root </a:t>
            </a:r>
            <a:r>
              <a:rPr lang="ko-KR" altLang="en-US" b="0" dirty="0" smtClean="0"/>
              <a:t>계정의 비밀번호를 </a:t>
            </a:r>
            <a:r>
              <a:rPr lang="ko-KR" altLang="en-US" b="0" dirty="0"/>
              <a:t>입력하여 </a:t>
            </a:r>
            <a:r>
              <a:rPr lang="en-US" altLang="ko-KR" b="0" dirty="0"/>
              <a:t>MySQL</a:t>
            </a:r>
            <a:r>
              <a:rPr lang="ko-KR" altLang="en-US" b="0" dirty="0"/>
              <a:t>이 제대로 </a:t>
            </a:r>
            <a:r>
              <a:rPr lang="ko-KR" altLang="en-US" b="0" dirty="0" smtClean="0"/>
              <a:t>설치되었는지 확인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5" y="931818"/>
            <a:ext cx="8181975" cy="523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502" y="2708920"/>
            <a:ext cx="55340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82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b="0" dirty="0"/>
          </a:p>
          <a:p>
            <a:endParaRPr lang="en-US" altLang="ko-KR" b="0" dirty="0" smtClean="0"/>
          </a:p>
          <a:p>
            <a:pPr lvl="1"/>
            <a:r>
              <a:rPr lang="en-US" altLang="ko-KR" b="0" dirty="0" smtClean="0"/>
              <a:t>MySQL </a:t>
            </a:r>
            <a:r>
              <a:rPr lang="ko-KR" altLang="en-US" b="0" dirty="0"/>
              <a:t>드라이버 다운로드 사이트에 접속하기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웹 </a:t>
            </a:r>
            <a:r>
              <a:rPr lang="ko-KR" altLang="en-US" b="0" dirty="0"/>
              <a:t>브라우저에서 </a:t>
            </a:r>
            <a:r>
              <a:rPr lang="en-US" altLang="ko-KR" b="0" dirty="0"/>
              <a:t>MySQL </a:t>
            </a:r>
            <a:r>
              <a:rPr lang="ko-KR" altLang="en-US" b="0" dirty="0"/>
              <a:t>드라이버 다운로드 </a:t>
            </a:r>
            <a:r>
              <a:rPr lang="ko-KR" altLang="en-US" b="0" dirty="0" smtClean="0"/>
              <a:t>사이트</a:t>
            </a:r>
            <a:r>
              <a:rPr lang="en-US" altLang="ko-KR" b="0" dirty="0" smtClean="0"/>
              <a:t>https</a:t>
            </a:r>
            <a:r>
              <a:rPr lang="en-US" altLang="ko-KR" b="0" dirty="0"/>
              <a:t>://dev.mysql.com/downloads/connector/j/5.1.html)</a:t>
            </a:r>
            <a:r>
              <a:rPr lang="ko-KR" altLang="en-US" b="0" dirty="0"/>
              <a:t>에 접속하여 </a:t>
            </a:r>
            <a:r>
              <a:rPr lang="en-US" altLang="ko-KR" b="0" dirty="0"/>
              <a:t>[</a:t>
            </a:r>
            <a:r>
              <a:rPr lang="en-US" altLang="ko-KR" b="0" dirty="0" err="1" smtClean="0"/>
              <a:t>MySQLConnectors</a:t>
            </a:r>
            <a:r>
              <a:rPr lang="en-US" altLang="ko-KR" b="0" dirty="0"/>
              <a:t>]-[Connector/J</a:t>
            </a:r>
            <a:r>
              <a:rPr lang="en-US" altLang="ko-KR" b="0" dirty="0" smtClean="0"/>
              <a:t>]</a:t>
            </a:r>
            <a:r>
              <a:rPr lang="ko-KR" altLang="en-US" b="0" dirty="0" smtClean="0"/>
              <a:t> 선택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82" y="1052736"/>
            <a:ext cx="8162925" cy="5048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66" y="3140968"/>
            <a:ext cx="4680520" cy="343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13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b="0" dirty="0" smtClean="0"/>
              <a:t>MySQL </a:t>
            </a:r>
            <a:r>
              <a:rPr lang="ko-KR" altLang="en-US" b="0" dirty="0"/>
              <a:t>드라이버 다운로드하기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[</a:t>
            </a:r>
            <a:r>
              <a:rPr lang="en-US" altLang="ko-KR" b="0" dirty="0"/>
              <a:t>Platform Independent (Architecture Independent), </a:t>
            </a:r>
            <a:r>
              <a:rPr lang="en-US" altLang="ko-KR" b="0" dirty="0" smtClean="0"/>
              <a:t>ZIP Archive</a:t>
            </a:r>
            <a:r>
              <a:rPr lang="en-US" altLang="ko-KR" b="0" dirty="0"/>
              <a:t>]</a:t>
            </a:r>
            <a:r>
              <a:rPr lang="ko-KR" altLang="en-US" b="0" dirty="0"/>
              <a:t>의 </a:t>
            </a:r>
            <a:r>
              <a:rPr lang="en-US" altLang="ko-KR" b="0" dirty="0"/>
              <a:t>&lt;Download&gt;</a:t>
            </a:r>
            <a:r>
              <a:rPr lang="ko-KR" altLang="en-US" b="0" dirty="0"/>
              <a:t>를 클릭하여 설치 </a:t>
            </a:r>
            <a:r>
              <a:rPr lang="ko-KR" altLang="en-US" b="0" dirty="0" smtClean="0"/>
              <a:t>파일 다운로드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068353"/>
            <a:ext cx="7013156" cy="455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18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ko-KR" altLang="en-US" b="0" dirty="0" err="1" smtClean="0"/>
              <a:t>다운로드한</a:t>
            </a:r>
            <a:r>
              <a:rPr lang="ko-KR" altLang="en-US" b="0" dirty="0" smtClean="0"/>
              <a:t> </a:t>
            </a:r>
            <a:r>
              <a:rPr lang="ko-KR" altLang="en-US" b="0" dirty="0" err="1"/>
              <a:t>커넥트</a:t>
            </a:r>
            <a:r>
              <a:rPr lang="ko-KR" altLang="en-US" b="0" dirty="0"/>
              <a:t> 드라이버 </a:t>
            </a:r>
            <a:r>
              <a:rPr lang="en-US" altLang="ko-KR" b="0" dirty="0" smtClean="0"/>
              <a:t>mysql-connector-java-5.1.46 </a:t>
            </a:r>
            <a:r>
              <a:rPr lang="ko-KR" altLang="en-US" b="0" dirty="0"/>
              <a:t>파일의 </a:t>
            </a:r>
            <a:r>
              <a:rPr lang="ko-KR" altLang="en-US" b="0" dirty="0" smtClean="0"/>
              <a:t>압축 풀기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압축을 </a:t>
            </a:r>
            <a:r>
              <a:rPr lang="ko-KR" altLang="en-US" b="0" dirty="0"/>
              <a:t>푼 폴더에 </a:t>
            </a:r>
            <a:r>
              <a:rPr lang="en-US" altLang="ko-KR" b="0" dirty="0" smtClean="0"/>
              <a:t>mysql-connector-java-5.1.46.jar </a:t>
            </a:r>
            <a:r>
              <a:rPr lang="ko-KR" altLang="en-US" b="0" dirty="0"/>
              <a:t>파일을 복사하고 자바 설치 </a:t>
            </a:r>
            <a:r>
              <a:rPr lang="ko-KR" altLang="en-US" b="0" dirty="0" smtClean="0"/>
              <a:t>드라이버 </a:t>
            </a:r>
            <a:r>
              <a:rPr lang="en-US" altLang="ko-KR" b="0" dirty="0" smtClean="0"/>
              <a:t>JDK</a:t>
            </a:r>
            <a:r>
              <a:rPr lang="ko-KR" altLang="en-US" b="0" dirty="0"/>
              <a:t>버전</a:t>
            </a:r>
            <a:r>
              <a:rPr lang="en-US" altLang="ko-KR" b="0" dirty="0"/>
              <a:t>\lib(C:\Program Files\Java\jdk-9.0.4\lib) </a:t>
            </a:r>
            <a:r>
              <a:rPr lang="ko-KR" altLang="en-US" b="0" dirty="0"/>
              <a:t>폴더에 </a:t>
            </a:r>
            <a:r>
              <a:rPr lang="ko-KR" altLang="en-US" b="0" dirty="0" smtClean="0"/>
              <a:t>등록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MySQL </a:t>
            </a:r>
            <a:r>
              <a:rPr lang="ko-KR" altLang="en-US" b="0" dirty="0"/>
              <a:t>개발 환경 구축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41481"/>
            <a:ext cx="8201025" cy="523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356992"/>
            <a:ext cx="4970607" cy="268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76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데이터베이스 추가</a:t>
            </a:r>
            <a:endParaRPr lang="en-US" altLang="ko-KR" dirty="0" smtClean="0"/>
          </a:p>
          <a:p>
            <a:pPr lvl="1"/>
            <a:r>
              <a:rPr lang="ko-KR" altLang="en-US" b="0" dirty="0" err="1" smtClean="0"/>
              <a:t>이클립스에서</a:t>
            </a:r>
            <a:r>
              <a:rPr lang="ko-KR" altLang="en-US" b="0" dirty="0" smtClean="0"/>
              <a:t> </a:t>
            </a:r>
            <a:r>
              <a:rPr lang="ko-KR" altLang="en-US" b="0" dirty="0"/>
              <a:t>데이터베이스를 연동하려면 데이터베이스 커넥션을 설정해야 </a:t>
            </a:r>
            <a:r>
              <a:rPr lang="ko-KR" altLang="en-US" b="0" dirty="0" smtClean="0"/>
              <a:t>함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데이터베이스 </a:t>
            </a:r>
            <a:r>
              <a:rPr lang="ko-KR" altLang="en-US" b="0" dirty="0"/>
              <a:t>커넥션을 설정하기 전에 사용할 데이터베이스가 반드시 생성되어 있어야 </a:t>
            </a:r>
            <a:r>
              <a:rPr lang="ko-KR" altLang="en-US" b="0" dirty="0" smtClean="0"/>
              <a:t>함</a:t>
            </a:r>
            <a:endParaRPr lang="en-US" altLang="ko-KR" b="0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새로운 데이터베이스 생성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/>
              <a:t>3. </a:t>
            </a:r>
            <a:r>
              <a:rPr lang="ko-KR" altLang="en-US" b="0" dirty="0" smtClean="0"/>
              <a:t>통합 </a:t>
            </a:r>
            <a:r>
              <a:rPr lang="ko-KR" altLang="en-US" b="0" dirty="0"/>
              <a:t>개발 환경과 데이터베이스 연동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74" y="3645024"/>
            <a:ext cx="781543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9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en-US" altLang="ko-KR" b="0" dirty="0" smtClean="0"/>
              <a:t>MySQL </a:t>
            </a:r>
            <a:r>
              <a:rPr lang="ko-KR" altLang="en-US" b="0" dirty="0"/>
              <a:t>접속하기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윈도우의 </a:t>
            </a:r>
            <a:r>
              <a:rPr lang="en-US" altLang="ko-KR" b="0" dirty="0"/>
              <a:t>&lt;</a:t>
            </a:r>
            <a:r>
              <a:rPr lang="ko-KR" altLang="en-US" b="0" dirty="0"/>
              <a:t>시작</a:t>
            </a:r>
            <a:r>
              <a:rPr lang="en-US" altLang="ko-KR" b="0" dirty="0"/>
              <a:t>&gt; </a:t>
            </a:r>
            <a:r>
              <a:rPr lang="ko-KR" altLang="en-US" b="0" dirty="0"/>
              <a:t>버튼을 클릭하여 </a:t>
            </a:r>
            <a:r>
              <a:rPr lang="en-US" altLang="ko-KR" b="0" dirty="0"/>
              <a:t>MySQL 5.7 Command Line Client</a:t>
            </a:r>
            <a:r>
              <a:rPr lang="ko-KR" altLang="en-US" b="0" dirty="0"/>
              <a:t>를 </a:t>
            </a:r>
            <a:r>
              <a:rPr lang="ko-KR" altLang="en-US" b="0" dirty="0" smtClean="0"/>
              <a:t>실행한 </a:t>
            </a:r>
            <a:r>
              <a:rPr lang="ko-KR" altLang="en-US" b="0" dirty="0"/>
              <a:t>후 </a:t>
            </a:r>
            <a:r>
              <a:rPr lang="en-US" altLang="ko-KR" b="0" dirty="0"/>
              <a:t>root </a:t>
            </a:r>
            <a:r>
              <a:rPr lang="ko-KR" altLang="en-US" b="0" dirty="0"/>
              <a:t>계정의 비밀번호</a:t>
            </a:r>
            <a:r>
              <a:rPr lang="en-US" altLang="ko-KR" b="0" dirty="0"/>
              <a:t>(1234)</a:t>
            </a:r>
            <a:r>
              <a:rPr lang="ko-KR" altLang="en-US" b="0" dirty="0"/>
              <a:t>를 입력하여 </a:t>
            </a:r>
            <a:r>
              <a:rPr lang="en-US" altLang="ko-KR" b="0" dirty="0"/>
              <a:t>MySQL</a:t>
            </a:r>
            <a:r>
              <a:rPr lang="ko-KR" altLang="en-US" b="0" dirty="0"/>
              <a:t>에 </a:t>
            </a:r>
            <a:r>
              <a:rPr lang="ko-KR" altLang="en-US" b="0" dirty="0" smtClean="0"/>
              <a:t>접속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2" y="964368"/>
            <a:ext cx="8172450" cy="5048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924944"/>
            <a:ext cx="4607169" cy="300793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195736" y="3140968"/>
            <a:ext cx="1224136" cy="144016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707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새로운 </a:t>
            </a:r>
            <a:r>
              <a:rPr lang="ko-KR" altLang="en-US" b="0" dirty="0"/>
              <a:t>데이터베이스 생성하기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CREATE </a:t>
            </a:r>
            <a:r>
              <a:rPr lang="ko-KR" altLang="en-US" b="0" dirty="0"/>
              <a:t>명령어를 사용하여 </a:t>
            </a:r>
            <a:r>
              <a:rPr lang="en-US" altLang="ko-KR" b="0" dirty="0" err="1"/>
              <a:t>JSPBookDB</a:t>
            </a:r>
            <a:r>
              <a:rPr lang="ko-KR" altLang="en-US" b="0" dirty="0"/>
              <a:t>라는 </a:t>
            </a:r>
            <a:r>
              <a:rPr lang="ko-KR" altLang="en-US" b="0" dirty="0" smtClean="0"/>
              <a:t>데이터베이스 생성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데이터베이스를 </a:t>
            </a:r>
            <a:r>
              <a:rPr lang="ko-KR" altLang="en-US" b="0" dirty="0"/>
              <a:t>생성한 후 </a:t>
            </a:r>
            <a:r>
              <a:rPr lang="en-US" altLang="ko-KR" b="0" dirty="0"/>
              <a:t>SHOW </a:t>
            </a:r>
            <a:r>
              <a:rPr lang="ko-KR" altLang="en-US" b="0" dirty="0"/>
              <a:t>명령어를 입력하면 기존의 데이터베이스 목록과 </a:t>
            </a:r>
            <a:r>
              <a:rPr lang="en-US" altLang="ko-KR" b="0" dirty="0" smtClean="0"/>
              <a:t/>
            </a:r>
            <a:br>
              <a:rPr lang="en-US" altLang="ko-KR" b="0" dirty="0" smtClean="0"/>
            </a:br>
            <a:r>
              <a:rPr lang="ko-KR" altLang="en-US" b="0" dirty="0" smtClean="0"/>
              <a:t>새로 생성한 </a:t>
            </a:r>
            <a:r>
              <a:rPr lang="en-US" altLang="ko-KR" b="0" dirty="0" err="1"/>
              <a:t>JSPBookDB</a:t>
            </a:r>
            <a:r>
              <a:rPr lang="ko-KR" altLang="en-US" b="0" dirty="0"/>
              <a:t>를 확인할 수 </a:t>
            </a:r>
            <a:r>
              <a:rPr lang="ko-KR" altLang="en-US" b="0" dirty="0" smtClean="0"/>
              <a:t>있음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0" y="2492896"/>
            <a:ext cx="64484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데이터베이스 </a:t>
            </a:r>
            <a:r>
              <a:rPr lang="ko-KR" altLang="en-US" dirty="0"/>
              <a:t>커넥션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pPr lvl="1"/>
            <a:r>
              <a:rPr lang="en-US" altLang="ko-KR" b="0" dirty="0" smtClean="0"/>
              <a:t>Data </a:t>
            </a:r>
            <a:r>
              <a:rPr lang="en-US" altLang="ko-KR" b="0" dirty="0"/>
              <a:t>Source Explorer </a:t>
            </a:r>
            <a:r>
              <a:rPr lang="ko-KR" altLang="en-US" b="0" dirty="0" err="1"/>
              <a:t>뷰를</a:t>
            </a:r>
            <a:r>
              <a:rPr lang="ko-KR" altLang="en-US" b="0" dirty="0"/>
              <a:t> 이용하여 </a:t>
            </a:r>
            <a:r>
              <a:rPr lang="ko-KR" altLang="en-US" b="0" dirty="0" err="1"/>
              <a:t>이클립스에</a:t>
            </a:r>
            <a:r>
              <a:rPr lang="ko-KR" altLang="en-US" b="0" dirty="0"/>
              <a:t> </a:t>
            </a:r>
            <a:r>
              <a:rPr lang="ko-KR" altLang="en-US" b="0" dirty="0" smtClean="0"/>
              <a:t>데이터베이스 </a:t>
            </a:r>
            <a:r>
              <a:rPr lang="ko-KR" altLang="en-US" b="0" dirty="0"/>
              <a:t>커넥션을 </a:t>
            </a:r>
            <a:r>
              <a:rPr lang="ko-KR" altLang="en-US" b="0" dirty="0" smtClean="0"/>
              <a:t>설정</a:t>
            </a:r>
            <a:endParaRPr lang="en-US" altLang="ko-KR" b="0" dirty="0" smtClean="0"/>
          </a:p>
          <a:p>
            <a:endParaRPr lang="en-US" altLang="ko-KR" b="0" dirty="0"/>
          </a:p>
          <a:p>
            <a:endParaRPr lang="en-US" altLang="ko-KR" b="0" dirty="0" smtClean="0"/>
          </a:p>
          <a:p>
            <a:pPr lvl="1"/>
            <a:r>
              <a:rPr lang="en-US" altLang="ko-KR" b="0" dirty="0" smtClean="0"/>
              <a:t>Data </a:t>
            </a:r>
            <a:r>
              <a:rPr lang="en-US" altLang="ko-KR" b="0" dirty="0"/>
              <a:t>Source Explorer </a:t>
            </a:r>
            <a:r>
              <a:rPr lang="ko-KR" altLang="en-US" b="0" dirty="0" err="1"/>
              <a:t>뷰</a:t>
            </a:r>
            <a:r>
              <a:rPr lang="ko-KR" altLang="en-US" b="0" dirty="0"/>
              <a:t> 열기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err="1" smtClean="0"/>
              <a:t>이클립스의</a:t>
            </a:r>
            <a:r>
              <a:rPr lang="ko-KR" altLang="en-US" b="0" dirty="0" smtClean="0"/>
              <a:t> </a:t>
            </a:r>
            <a:r>
              <a:rPr lang="en-US" altLang="ko-KR" b="0" dirty="0"/>
              <a:t>[Window]-[Show View] </a:t>
            </a:r>
            <a:r>
              <a:rPr lang="ko-KR" altLang="en-US" b="0" dirty="0"/>
              <a:t>메뉴에서 ‘</a:t>
            </a:r>
            <a:r>
              <a:rPr lang="en-US" altLang="ko-KR" b="0" dirty="0"/>
              <a:t>Data </a:t>
            </a:r>
            <a:r>
              <a:rPr lang="en-US" altLang="ko-KR" b="0" dirty="0" smtClean="0"/>
              <a:t>Source Explorer</a:t>
            </a:r>
            <a:r>
              <a:rPr lang="ko-KR" altLang="en-US" b="0" dirty="0"/>
              <a:t>’를 선택하면 </a:t>
            </a:r>
            <a:r>
              <a:rPr lang="ko-KR" altLang="en-US" b="0" dirty="0" err="1"/>
              <a:t>이클립스의</a:t>
            </a:r>
            <a:r>
              <a:rPr lang="ko-KR" altLang="en-US" b="0" dirty="0"/>
              <a:t> </a:t>
            </a:r>
            <a:r>
              <a:rPr lang="ko-KR" altLang="en-US" b="0" dirty="0" err="1"/>
              <a:t>뷰에</a:t>
            </a:r>
            <a:r>
              <a:rPr lang="ko-KR" altLang="en-US" b="0" dirty="0"/>
              <a:t> </a:t>
            </a:r>
            <a:r>
              <a:rPr lang="ko-KR" altLang="en-US" b="0" dirty="0" smtClean="0"/>
              <a:t>나타남</a:t>
            </a:r>
            <a:endParaRPr lang="en-US" altLang="ko-KR" b="0" dirty="0" smtClean="0"/>
          </a:p>
          <a:p>
            <a:pPr lvl="2"/>
            <a:r>
              <a:rPr lang="ko-KR" altLang="en-US" b="0" dirty="0" err="1" smtClean="0"/>
              <a:t>뷰에서</a:t>
            </a:r>
            <a:r>
              <a:rPr lang="ko-KR" altLang="en-US" b="0" dirty="0" smtClean="0"/>
              <a:t> </a:t>
            </a:r>
            <a:r>
              <a:rPr lang="ko-KR" altLang="en-US" b="0" dirty="0"/>
              <a:t>‘</a:t>
            </a:r>
            <a:r>
              <a:rPr lang="en-US" altLang="ko-KR" b="0" dirty="0"/>
              <a:t>Database Connections</a:t>
            </a:r>
            <a:r>
              <a:rPr lang="ko-KR" altLang="en-US" b="0" dirty="0"/>
              <a:t>’를 선택한 </a:t>
            </a:r>
            <a:r>
              <a:rPr lang="ko-KR" altLang="en-US" b="0" dirty="0" smtClean="0"/>
              <a:t>후 마우스 </a:t>
            </a:r>
            <a:r>
              <a:rPr lang="ko-KR" altLang="en-US" b="0" dirty="0"/>
              <a:t>오른쪽 버튼을 눌러 </a:t>
            </a:r>
            <a:r>
              <a:rPr lang="en-US" altLang="ko-KR" b="0" dirty="0"/>
              <a:t>[New] </a:t>
            </a:r>
            <a:r>
              <a:rPr lang="ko-KR" altLang="en-US" b="0" dirty="0" smtClean="0"/>
              <a:t>선택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916832"/>
            <a:ext cx="8229600" cy="5334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545" y="4077072"/>
            <a:ext cx="5857143" cy="169523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491880" y="4509120"/>
            <a:ext cx="1368152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154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커넥션 </a:t>
            </a:r>
            <a:r>
              <a:rPr lang="ko-KR" altLang="en-US" b="0" dirty="0"/>
              <a:t>유형 설정하기</a:t>
            </a:r>
            <a:r>
              <a:rPr lang="en-US" altLang="ko-KR" b="0" dirty="0"/>
              <a:t>: [Connection Profile] </a:t>
            </a:r>
            <a:r>
              <a:rPr lang="ko-KR" altLang="en-US" b="0" dirty="0"/>
              <a:t>화면이 나타나면 </a:t>
            </a:r>
            <a:r>
              <a:rPr lang="en-US" altLang="ko-KR" b="0" dirty="0"/>
              <a:t>Connection Profile Types</a:t>
            </a:r>
            <a:r>
              <a:rPr lang="ko-KR" altLang="en-US" b="0" dirty="0" smtClean="0"/>
              <a:t>에서 ‘</a:t>
            </a:r>
            <a:r>
              <a:rPr lang="en-US" altLang="ko-KR" b="0" dirty="0"/>
              <a:t>MySQL</a:t>
            </a:r>
            <a:r>
              <a:rPr lang="ko-KR" altLang="en-US" b="0" dirty="0"/>
              <a:t>’을 선택하고 </a:t>
            </a:r>
            <a:r>
              <a:rPr lang="en-US" altLang="ko-KR" b="0" dirty="0"/>
              <a:t>Name</a:t>
            </a:r>
            <a:r>
              <a:rPr lang="ko-KR" altLang="en-US" b="0" dirty="0"/>
              <a:t>에 ‘</a:t>
            </a:r>
            <a:r>
              <a:rPr lang="en-US" altLang="ko-KR" b="0" dirty="0" err="1"/>
              <a:t>MySQL_Conn</a:t>
            </a:r>
            <a:r>
              <a:rPr lang="ko-KR" altLang="en-US" b="0" dirty="0"/>
              <a:t>’을 입력한 후 </a:t>
            </a:r>
            <a:r>
              <a:rPr lang="en-US" altLang="ko-KR" b="0" dirty="0"/>
              <a:t>&lt;Next&gt;</a:t>
            </a:r>
            <a:r>
              <a:rPr lang="ko-KR" altLang="en-US" b="0" dirty="0"/>
              <a:t>를 클릭합니다</a:t>
            </a:r>
            <a:r>
              <a:rPr lang="en-US" altLang="ko-KR" b="0" dirty="0"/>
              <a:t>.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132856"/>
            <a:ext cx="4023742" cy="403244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887924" y="3789318"/>
            <a:ext cx="97210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74031" y="5098368"/>
            <a:ext cx="97210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64943" y="5805264"/>
            <a:ext cx="97210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75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드라이버와 </a:t>
            </a:r>
            <a:r>
              <a:rPr lang="ko-KR" altLang="en-US" b="0" dirty="0"/>
              <a:t>커넥션 상세 설정하기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[</a:t>
            </a:r>
            <a:r>
              <a:rPr lang="en-US" altLang="ko-KR" b="0" dirty="0"/>
              <a:t>Specify a Driver and Connection Details] </a:t>
            </a:r>
            <a:r>
              <a:rPr lang="ko-KR" altLang="en-US" b="0" dirty="0"/>
              <a:t>화면이 </a:t>
            </a:r>
            <a:r>
              <a:rPr lang="ko-KR" altLang="en-US" b="0" dirty="0" smtClean="0"/>
              <a:t>나타나면 </a:t>
            </a:r>
            <a:r>
              <a:rPr lang="en-US" altLang="ko-KR" b="0" dirty="0" smtClean="0"/>
              <a:t>Drivers </a:t>
            </a:r>
            <a:r>
              <a:rPr lang="ko-KR" altLang="en-US" b="0" dirty="0"/>
              <a:t>항목의 </a:t>
            </a:r>
            <a:r>
              <a:rPr lang="en-US" altLang="ko-KR" b="0" dirty="0"/>
              <a:t>(New Driver Definition) </a:t>
            </a:r>
            <a:r>
              <a:rPr lang="ko-KR" altLang="en-US" b="0" dirty="0" smtClean="0"/>
              <a:t>버튼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204864"/>
            <a:ext cx="3722034" cy="386382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007780" y="2935191"/>
            <a:ext cx="22461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762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새로운 </a:t>
            </a:r>
            <a:r>
              <a:rPr lang="ko-KR" altLang="en-US" b="0" dirty="0"/>
              <a:t>드라이버 설정하기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[</a:t>
            </a:r>
            <a:r>
              <a:rPr lang="en-US" altLang="ko-KR" b="0" dirty="0"/>
              <a:t>New Driver Definition] </a:t>
            </a:r>
            <a:r>
              <a:rPr lang="ko-KR" altLang="en-US" b="0" dirty="0"/>
              <a:t>화면이 나타나면 </a:t>
            </a:r>
            <a:r>
              <a:rPr lang="en-US" altLang="ko-KR" b="0" dirty="0"/>
              <a:t>Name/Type, JAR </a:t>
            </a:r>
            <a:r>
              <a:rPr lang="en-US" altLang="ko-KR" b="0" dirty="0" smtClean="0"/>
              <a:t>List, Properties </a:t>
            </a:r>
            <a:r>
              <a:rPr lang="ko-KR" altLang="en-US" b="0" dirty="0"/>
              <a:t>탭에 차례대로 필요한 설정을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2"/>
            <a:r>
              <a:rPr lang="en-US" altLang="ko-KR" b="0" dirty="0" smtClean="0"/>
              <a:t>Name/Type </a:t>
            </a:r>
            <a:r>
              <a:rPr lang="ko-KR" altLang="en-US" b="0" dirty="0"/>
              <a:t>탭에서는 사용할 </a:t>
            </a:r>
            <a:r>
              <a:rPr lang="en-US" altLang="ko-KR" b="0" dirty="0"/>
              <a:t>JDBC </a:t>
            </a:r>
            <a:r>
              <a:rPr lang="ko-KR" altLang="en-US" b="0" dirty="0"/>
              <a:t>드라이버와 </a:t>
            </a:r>
            <a:r>
              <a:rPr lang="ko-KR" altLang="en-US" b="0" dirty="0" smtClean="0"/>
              <a:t>버전 선택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Name/Type </a:t>
            </a:r>
            <a:r>
              <a:rPr lang="ko-KR" altLang="en-US" b="0" dirty="0"/>
              <a:t>탭에서 </a:t>
            </a:r>
            <a:r>
              <a:rPr lang="en-US" altLang="ko-KR" b="0" dirty="0" smtClean="0"/>
              <a:t>MySQL JDBC </a:t>
            </a:r>
            <a:r>
              <a:rPr lang="en-US" altLang="ko-KR" b="0" dirty="0"/>
              <a:t>Driver</a:t>
            </a:r>
            <a:r>
              <a:rPr lang="ko-KR" altLang="en-US" b="0" dirty="0"/>
              <a:t>의 </a:t>
            </a:r>
            <a:r>
              <a:rPr lang="en-US" altLang="ko-KR" b="0" dirty="0"/>
              <a:t>5.1 </a:t>
            </a:r>
            <a:r>
              <a:rPr lang="ko-KR" altLang="en-US" b="0" dirty="0" smtClean="0"/>
              <a:t>버전 선택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167" y="2820327"/>
            <a:ext cx="4392488" cy="366040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344093" y="4650530"/>
            <a:ext cx="4201554" cy="173896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128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40768"/>
            <a:ext cx="3931147" cy="3275956"/>
          </a:xfr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516" y="1251726"/>
            <a:ext cx="3913260" cy="293494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635510"/>
            <a:ext cx="3808464" cy="285634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426583" y="2708920"/>
            <a:ext cx="97210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736755" y="2261418"/>
            <a:ext cx="97210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580112" y="6208828"/>
            <a:ext cx="720080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392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커넥션 </a:t>
            </a:r>
            <a:r>
              <a:rPr lang="ko-KR" altLang="en-US" b="0" dirty="0"/>
              <a:t>연결 설정 끝내기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설정된 </a:t>
            </a:r>
            <a:r>
              <a:rPr lang="en-US" altLang="ko-KR" b="0" dirty="0"/>
              <a:t>JDBC </a:t>
            </a:r>
            <a:r>
              <a:rPr lang="ko-KR" altLang="en-US" b="0" dirty="0"/>
              <a:t>드라이버와 데이터베이스의 이름이 표시되면 </a:t>
            </a:r>
            <a:r>
              <a:rPr lang="en-US" altLang="ko-KR" b="0" dirty="0"/>
              <a:t>&lt;</a:t>
            </a:r>
            <a:r>
              <a:rPr lang="en-US" altLang="ko-KR" b="0" dirty="0" smtClean="0"/>
              <a:t>Test Connection&gt;</a:t>
            </a:r>
            <a:r>
              <a:rPr lang="ko-KR" altLang="en-US" b="0" dirty="0" smtClean="0"/>
              <a:t> 클릭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[</a:t>
            </a:r>
            <a:r>
              <a:rPr lang="en-US" altLang="ko-KR" b="0" dirty="0"/>
              <a:t>Success] </a:t>
            </a:r>
            <a:r>
              <a:rPr lang="ko-KR" altLang="en-US" b="0" dirty="0"/>
              <a:t>대화상자가 나타나면 </a:t>
            </a:r>
            <a:r>
              <a:rPr lang="en-US" altLang="ko-KR" b="0" dirty="0"/>
              <a:t>&lt;OK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r>
              <a:rPr lang="en-US" altLang="ko-KR" b="0" dirty="0" smtClean="0"/>
              <a:t>,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&lt;</a:t>
            </a:r>
            <a:r>
              <a:rPr lang="en-US" altLang="ko-KR" b="0" dirty="0"/>
              <a:t>Finish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클릭하여 </a:t>
            </a:r>
            <a:r>
              <a:rPr lang="ko-KR" altLang="en-US" b="0" dirty="0"/>
              <a:t>모든 </a:t>
            </a:r>
            <a:r>
              <a:rPr lang="ko-KR" altLang="en-US" b="0" dirty="0" smtClean="0"/>
              <a:t>설정 완료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475550" y="5734793"/>
            <a:ext cx="97210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236295" y="4688165"/>
            <a:ext cx="716481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645" y="2118682"/>
            <a:ext cx="3814459" cy="424727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508" y="4125790"/>
            <a:ext cx="3387563" cy="101557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923928" y="5983234"/>
            <a:ext cx="972108" cy="216024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820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커넥션 </a:t>
            </a:r>
            <a:r>
              <a:rPr lang="ko-KR" altLang="en-US" b="0" dirty="0"/>
              <a:t>연결 확인하기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MySQL</a:t>
            </a:r>
            <a:r>
              <a:rPr lang="ko-KR" altLang="en-US" b="0" dirty="0"/>
              <a:t>을 직접 제어하는 커넥션이 연결되면 다음과 같이 </a:t>
            </a:r>
            <a:r>
              <a:rPr lang="ko-KR" altLang="en-US" b="0" dirty="0" smtClean="0"/>
              <a:t>나타남</a:t>
            </a:r>
            <a:endParaRPr lang="en-US" altLang="ko-KR" b="0" dirty="0" smtClean="0"/>
          </a:p>
          <a:p>
            <a:endParaRPr lang="en-US" altLang="ko-KR" b="0" dirty="0"/>
          </a:p>
          <a:p>
            <a:endParaRPr lang="en-US" altLang="ko-KR" b="0" dirty="0" smtClean="0"/>
          </a:p>
          <a:p>
            <a:endParaRPr lang="en-US" altLang="ko-KR" b="0" dirty="0"/>
          </a:p>
          <a:p>
            <a:endParaRPr lang="en-US" altLang="ko-KR" b="0" dirty="0" smtClean="0"/>
          </a:p>
          <a:p>
            <a:endParaRPr lang="en-US" altLang="ko-KR" b="0" dirty="0"/>
          </a:p>
          <a:p>
            <a:pPr lvl="1"/>
            <a:r>
              <a:rPr lang="ko-KR" altLang="en-US" b="0" dirty="0"/>
              <a:t>앞으로 커넥션 연결은 </a:t>
            </a:r>
            <a:r>
              <a:rPr lang="en-US" altLang="ko-KR" b="0" dirty="0"/>
              <a:t>[Connect] </a:t>
            </a:r>
            <a:r>
              <a:rPr lang="ko-KR" altLang="en-US" b="0" dirty="0"/>
              <a:t>메뉴를</a:t>
            </a:r>
            <a:r>
              <a:rPr lang="en-US" altLang="ko-KR" b="0" dirty="0"/>
              <a:t>, </a:t>
            </a:r>
            <a:r>
              <a:rPr lang="ko-KR" altLang="en-US" b="0" dirty="0"/>
              <a:t>커넥션 해제는 </a:t>
            </a:r>
            <a:r>
              <a:rPr lang="en-US" altLang="ko-KR" b="0" dirty="0"/>
              <a:t>[Disconnect] </a:t>
            </a:r>
            <a:r>
              <a:rPr lang="ko-KR" altLang="en-US" b="0" dirty="0"/>
              <a:t>메뉴를 사용하여 할 수 </a:t>
            </a:r>
            <a:r>
              <a:rPr lang="ko-KR" altLang="en-US" b="0" dirty="0" smtClean="0"/>
              <a:t>있음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964" y="4437112"/>
            <a:ext cx="5857875" cy="16954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963" y="1628800"/>
            <a:ext cx="58578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97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b="0" dirty="0" smtClean="0"/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SQL </a:t>
            </a:r>
            <a:r>
              <a:rPr lang="ko-KR" altLang="en-US" b="0" dirty="0"/>
              <a:t>스크랩북 열기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SQL </a:t>
            </a:r>
            <a:r>
              <a:rPr lang="ko-KR" altLang="en-US" b="0" dirty="0"/>
              <a:t>구문을 편집하는 스크랩북을 열기 위해 </a:t>
            </a:r>
            <a:r>
              <a:rPr lang="en-US" altLang="ko-KR" b="0" dirty="0"/>
              <a:t>Data Source Explorer </a:t>
            </a:r>
            <a:r>
              <a:rPr lang="ko-KR" altLang="en-US" b="0" dirty="0" err="1" smtClean="0"/>
              <a:t>뷰에서</a:t>
            </a:r>
            <a:r>
              <a:rPr lang="ko-KR" altLang="en-US" b="0" dirty="0" smtClean="0"/>
              <a:t> ‘</a:t>
            </a:r>
            <a:r>
              <a:rPr lang="en-US" altLang="ko-KR" b="0" dirty="0" err="1" smtClean="0"/>
              <a:t>MySQL_Conn</a:t>
            </a:r>
            <a:r>
              <a:rPr lang="en-US" altLang="ko-KR" b="0" dirty="0" smtClean="0"/>
              <a:t> (MySQL </a:t>
            </a:r>
            <a:r>
              <a:rPr lang="ko-KR" altLang="en-US" b="0" dirty="0" smtClean="0"/>
              <a:t>버전</a:t>
            </a:r>
            <a:r>
              <a:rPr lang="en-US" altLang="ko-KR" b="0" dirty="0" smtClean="0"/>
              <a:t>)’</a:t>
            </a:r>
            <a:r>
              <a:rPr lang="ko-KR" altLang="en-US" b="0" dirty="0" smtClean="0"/>
              <a:t>을 선택한 후 을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941859"/>
            <a:ext cx="8201025" cy="5429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51" y="2924944"/>
            <a:ext cx="6717376" cy="19442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33" r="13378" b="85384"/>
          <a:stretch/>
        </p:blipFill>
        <p:spPr>
          <a:xfrm>
            <a:off x="4860032" y="2348880"/>
            <a:ext cx="261257" cy="28416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634105" y="2924944"/>
            <a:ext cx="288032" cy="288032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024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설정된 </a:t>
            </a:r>
            <a:r>
              <a:rPr lang="ko-KR" altLang="en-US" b="0" dirty="0"/>
              <a:t>커넥션 선택하기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SQL </a:t>
            </a:r>
            <a:r>
              <a:rPr lang="ko-KR" altLang="en-US" b="0" dirty="0"/>
              <a:t>스크랩북의 </a:t>
            </a:r>
            <a:r>
              <a:rPr lang="en-US" altLang="ko-KR" b="0" dirty="0"/>
              <a:t>Connection profile</a:t>
            </a:r>
            <a:r>
              <a:rPr lang="ko-KR" altLang="en-US" b="0" dirty="0"/>
              <a:t>에서 </a:t>
            </a:r>
            <a:r>
              <a:rPr lang="en-US" altLang="ko-KR" b="0" dirty="0"/>
              <a:t>Type</a:t>
            </a:r>
            <a:r>
              <a:rPr lang="ko-KR" altLang="en-US" b="0" dirty="0"/>
              <a:t>은 ‘</a:t>
            </a:r>
            <a:r>
              <a:rPr lang="en-US" altLang="ko-KR" b="0" dirty="0"/>
              <a:t>MySql_5.1</a:t>
            </a:r>
            <a:r>
              <a:rPr lang="ko-KR" altLang="en-US" b="0" dirty="0"/>
              <a:t>’</a:t>
            </a:r>
            <a:r>
              <a:rPr lang="en-US" altLang="ko-KR" b="0" dirty="0"/>
              <a:t>, </a:t>
            </a:r>
            <a:r>
              <a:rPr lang="en-US" altLang="ko-KR" b="0" dirty="0" smtClean="0"/>
              <a:t>Name</a:t>
            </a:r>
            <a:r>
              <a:rPr lang="ko-KR" altLang="en-US" b="0" dirty="0" smtClean="0"/>
              <a:t>은 </a:t>
            </a:r>
            <a:r>
              <a:rPr lang="ko-KR" altLang="en-US" b="0" dirty="0"/>
              <a:t>‘</a:t>
            </a:r>
            <a:r>
              <a:rPr lang="en-US" altLang="ko-KR" b="0" dirty="0" err="1"/>
              <a:t>MySQL_Conn</a:t>
            </a:r>
            <a:r>
              <a:rPr lang="ko-KR" altLang="en-US" b="0" dirty="0"/>
              <a:t>’</a:t>
            </a:r>
            <a:r>
              <a:rPr lang="en-US" altLang="ko-KR" b="0" dirty="0"/>
              <a:t>, Database</a:t>
            </a:r>
            <a:r>
              <a:rPr lang="ko-KR" altLang="en-US" b="0" dirty="0"/>
              <a:t>는 ‘</a:t>
            </a:r>
            <a:r>
              <a:rPr lang="en-US" altLang="ko-KR" b="0" dirty="0" err="1"/>
              <a:t>JSPBookDB</a:t>
            </a:r>
            <a:r>
              <a:rPr lang="ko-KR" altLang="en-US" b="0" dirty="0" smtClean="0"/>
              <a:t>’ 선택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1026" name="Picture 2" descr="D:\송미영jsp\2쇄수정\수정그림\p49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88840"/>
            <a:ext cx="7272808" cy="214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513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b="0" dirty="0" smtClean="0"/>
              <a:t>SQL </a:t>
            </a:r>
            <a:r>
              <a:rPr lang="ko-KR" altLang="en-US" b="0" dirty="0"/>
              <a:t>파일 저장하기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SQL </a:t>
            </a:r>
            <a:r>
              <a:rPr lang="ko-KR" altLang="en-US" b="0" dirty="0"/>
              <a:t>스크랩북에 </a:t>
            </a:r>
            <a:r>
              <a:rPr lang="en-US" altLang="ko-KR" b="0" dirty="0"/>
              <a:t>SQL </a:t>
            </a:r>
            <a:r>
              <a:rPr lang="ko-KR" altLang="en-US" b="0" dirty="0"/>
              <a:t>문장을 입력한 후 </a:t>
            </a:r>
            <a:r>
              <a:rPr lang="ko-KR" altLang="en-US" b="0" dirty="0" err="1"/>
              <a:t>이클립스의</a:t>
            </a:r>
            <a:r>
              <a:rPr lang="ko-KR" altLang="en-US" b="0" dirty="0"/>
              <a:t> </a:t>
            </a:r>
            <a:r>
              <a:rPr lang="en-US" altLang="ko-KR" b="0" dirty="0"/>
              <a:t>[New]-[Save] </a:t>
            </a:r>
            <a:r>
              <a:rPr lang="ko-KR" altLang="en-US" b="0" dirty="0" smtClean="0"/>
              <a:t>메뉴에서 프로젝트</a:t>
            </a:r>
            <a:r>
              <a:rPr lang="en-US" altLang="ko-KR" b="0" dirty="0" smtClean="0"/>
              <a:t/>
            </a:r>
            <a:br>
              <a:rPr lang="en-US" altLang="ko-KR" b="0" dirty="0" smtClean="0"/>
            </a:br>
            <a:r>
              <a:rPr lang="en-US" altLang="ko-KR" b="0" dirty="0" smtClean="0"/>
              <a:t>(</a:t>
            </a:r>
            <a:r>
              <a:rPr lang="ko-KR" altLang="en-US" b="0" dirty="0"/>
              <a:t>여기서는 </a:t>
            </a:r>
            <a:r>
              <a:rPr lang="en-US" altLang="ko-KR" b="0" dirty="0" err="1"/>
              <a:t>JSPBook</a:t>
            </a:r>
            <a:r>
              <a:rPr lang="en-US" altLang="ko-KR" b="0" dirty="0"/>
              <a:t>/ch15)</a:t>
            </a:r>
            <a:r>
              <a:rPr lang="ko-KR" altLang="en-US" b="0" dirty="0"/>
              <a:t>를 선택하고 </a:t>
            </a:r>
            <a:r>
              <a:rPr lang="en-US" altLang="ko-KR" b="0" dirty="0"/>
              <a:t>File name</a:t>
            </a:r>
            <a:r>
              <a:rPr lang="ko-KR" altLang="en-US" b="0" dirty="0"/>
              <a:t>에 ‘</a:t>
            </a:r>
            <a:r>
              <a:rPr lang="en-US" altLang="ko-KR" b="0" dirty="0" err="1"/>
              <a:t>showDB.sql</a:t>
            </a:r>
            <a:r>
              <a:rPr lang="ko-KR" altLang="en-US" b="0" dirty="0" smtClean="0"/>
              <a:t>’ 입력</a:t>
            </a:r>
            <a:r>
              <a:rPr lang="en-US" altLang="ko-KR" b="0" dirty="0" smtClean="0"/>
              <a:t>, &lt;</a:t>
            </a:r>
            <a:r>
              <a:rPr lang="en-US" altLang="ko-KR" b="0" dirty="0"/>
              <a:t>OK</a:t>
            </a:r>
            <a:r>
              <a:rPr lang="en-US" altLang="ko-KR" b="0" dirty="0" smtClean="0"/>
              <a:t>&gt;</a:t>
            </a:r>
            <a:r>
              <a:rPr lang="ko-KR" altLang="en-US" b="0" dirty="0" smtClean="0"/>
              <a:t>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92896"/>
            <a:ext cx="5328592" cy="165618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61111"/>
            <a:ext cx="3520013" cy="397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99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err="1" smtClean="0"/>
              <a:t>쿼리문</a:t>
            </a:r>
            <a:r>
              <a:rPr lang="ko-KR" altLang="en-US" b="0" dirty="0" smtClean="0"/>
              <a:t> </a:t>
            </a:r>
            <a:r>
              <a:rPr lang="ko-KR" altLang="en-US" b="0" dirty="0"/>
              <a:t>실행하기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입력한 </a:t>
            </a:r>
            <a:r>
              <a:rPr lang="en-US" altLang="ko-KR" b="0" dirty="0"/>
              <a:t>SQL </a:t>
            </a:r>
            <a:r>
              <a:rPr lang="ko-KR" altLang="en-US" b="0" dirty="0"/>
              <a:t>구문을 마우스로 드래그하여 블록을 설정하고 마우스 오른쪽 </a:t>
            </a:r>
            <a:r>
              <a:rPr lang="ko-KR" altLang="en-US" b="0" dirty="0" smtClean="0"/>
              <a:t>버튼을 클릭하여 </a:t>
            </a:r>
            <a:r>
              <a:rPr lang="en-US" altLang="ko-KR" b="0" dirty="0"/>
              <a:t>[Execute Selected Text] </a:t>
            </a:r>
            <a:r>
              <a:rPr lang="ko-KR" altLang="en-US" b="0" dirty="0" smtClean="0"/>
              <a:t>메뉴 선택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276872"/>
            <a:ext cx="6488013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855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실행 </a:t>
            </a:r>
            <a:r>
              <a:rPr lang="ko-KR" altLang="en-US" b="0" dirty="0"/>
              <a:t>결과 확인하기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err="1" smtClean="0"/>
              <a:t>쿼리문을</a:t>
            </a:r>
            <a:r>
              <a:rPr lang="ko-KR" altLang="en-US" b="0" dirty="0" smtClean="0"/>
              <a:t> </a:t>
            </a:r>
            <a:r>
              <a:rPr lang="ko-KR" altLang="en-US" b="0" dirty="0"/>
              <a:t>실행하면 화면에 </a:t>
            </a:r>
            <a:r>
              <a:rPr lang="en-US" altLang="ko-KR" b="0" dirty="0"/>
              <a:t>SQL Results </a:t>
            </a:r>
            <a:r>
              <a:rPr lang="ko-KR" altLang="en-US" b="0" dirty="0" err="1"/>
              <a:t>뷰가</a:t>
            </a:r>
            <a:r>
              <a:rPr lang="ko-KR" altLang="en-US" b="0" dirty="0"/>
              <a:t> </a:t>
            </a:r>
            <a:r>
              <a:rPr lang="ko-KR" altLang="en-US" b="0" dirty="0" smtClean="0"/>
              <a:t>나타</a:t>
            </a:r>
            <a:r>
              <a:rPr lang="ko-KR" altLang="en-US" dirty="0" smtClean="0"/>
              <a:t>남</a:t>
            </a:r>
            <a:endParaRPr lang="en-US" altLang="ko-KR" dirty="0" smtClean="0"/>
          </a:p>
          <a:p>
            <a:pPr lvl="2"/>
            <a:r>
              <a:rPr lang="en-US" altLang="ko-KR" b="0" dirty="0" smtClean="0"/>
              <a:t>SQL </a:t>
            </a:r>
            <a:r>
              <a:rPr lang="en-US" altLang="ko-KR" b="0" dirty="0"/>
              <a:t>Results </a:t>
            </a:r>
            <a:r>
              <a:rPr lang="ko-KR" altLang="en-US" b="0" dirty="0" err="1" smtClean="0"/>
              <a:t>뷰의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Status </a:t>
            </a:r>
            <a:r>
              <a:rPr lang="ko-KR" altLang="en-US" b="0" dirty="0"/>
              <a:t>탭에는 실행한 쿼리문의 성공 여부가 표시되고 </a:t>
            </a:r>
            <a:r>
              <a:rPr lang="en-US" altLang="ko-KR" b="0" dirty="0"/>
              <a:t>Result1 </a:t>
            </a:r>
            <a:r>
              <a:rPr lang="ko-KR" altLang="en-US" b="0" dirty="0"/>
              <a:t>탭에서는 실행 결과를 확인할 수 </a:t>
            </a:r>
            <a:r>
              <a:rPr lang="ko-KR" altLang="en-US" b="0" dirty="0" smtClean="0"/>
              <a:t>있음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통합 개발 환경과 데이터베이스 연동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348880"/>
            <a:ext cx="6866667" cy="20285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89" y="4571763"/>
            <a:ext cx="6866667" cy="2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60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데이터베이스 </a:t>
            </a:r>
            <a:r>
              <a:rPr lang="ko-KR" altLang="en-US" dirty="0" smtClean="0"/>
              <a:t>언어</a:t>
            </a:r>
            <a:endParaRPr lang="en-US" altLang="ko-KR" dirty="0" smtClean="0"/>
          </a:p>
          <a:p>
            <a:pPr lvl="1"/>
            <a:r>
              <a:rPr lang="ko-KR" altLang="en-US" b="0" dirty="0" smtClean="0"/>
              <a:t>데이터베이스를 </a:t>
            </a:r>
            <a:r>
              <a:rPr lang="ko-KR" altLang="en-US" b="0" dirty="0"/>
              <a:t>통해 특정 정보를 추출하고 보여주는 </a:t>
            </a:r>
            <a:r>
              <a:rPr lang="ko-KR" altLang="en-US" b="0" dirty="0" smtClean="0"/>
              <a:t>언어</a:t>
            </a:r>
            <a:endParaRPr lang="en-US" altLang="ko-KR" b="0" dirty="0" smtClean="0"/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SQL </a:t>
            </a:r>
          </a:p>
          <a:p>
            <a:pPr lvl="2"/>
            <a:r>
              <a:rPr lang="ko-KR" altLang="en-US" b="0" dirty="0" err="1" smtClean="0"/>
              <a:t>관계형</a:t>
            </a:r>
            <a:r>
              <a:rPr lang="ko-KR" altLang="en-US" b="0" dirty="0" smtClean="0"/>
              <a:t> </a:t>
            </a:r>
            <a:r>
              <a:rPr lang="ko-KR" altLang="en-US" b="0" dirty="0"/>
              <a:t>데이터베이스를 </a:t>
            </a:r>
            <a:r>
              <a:rPr lang="ko-KR" altLang="en-US" b="0" dirty="0" smtClean="0"/>
              <a:t>관리하는 데이터베이스 </a:t>
            </a:r>
            <a:r>
              <a:rPr lang="ko-KR" altLang="en-US" b="0" dirty="0"/>
              <a:t>관리 시스템에서 사용하는 </a:t>
            </a:r>
            <a:r>
              <a:rPr lang="ko-KR" altLang="en-US" b="0" dirty="0" smtClean="0"/>
              <a:t>언어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질의 </a:t>
            </a:r>
            <a:r>
              <a:rPr lang="ko-KR" altLang="en-US" b="0" dirty="0"/>
              <a:t>기능을 비롯해 데이터 </a:t>
            </a:r>
            <a:r>
              <a:rPr lang="ko-KR" altLang="en-US" b="0" dirty="0" smtClean="0"/>
              <a:t>정의 및 </a:t>
            </a:r>
            <a:r>
              <a:rPr lang="ko-KR" altLang="en-US" b="0" dirty="0"/>
              <a:t>조작 기능을 </a:t>
            </a:r>
            <a:r>
              <a:rPr lang="ko-KR" altLang="en-US" b="0" dirty="0" smtClean="0"/>
              <a:t>가짐</a:t>
            </a:r>
            <a:r>
              <a:rPr lang="en-US" altLang="ko-KR" b="0" dirty="0" smtClean="0"/>
              <a:t> </a:t>
            </a:r>
          </a:p>
          <a:p>
            <a:pPr lvl="2"/>
            <a:r>
              <a:rPr lang="ko-KR" altLang="en-US" b="0" dirty="0" smtClean="0"/>
              <a:t>개개의 </a:t>
            </a:r>
            <a:r>
              <a:rPr lang="ko-KR" altLang="en-US" b="0" dirty="0"/>
              <a:t>레코드보다 테이블 단위로 연산을 </a:t>
            </a:r>
            <a:r>
              <a:rPr lang="ko-KR" altLang="en-US" b="0" dirty="0" smtClean="0"/>
              <a:t>수행</a:t>
            </a:r>
            <a:endParaRPr lang="en-US" altLang="ko-KR" b="0" dirty="0" smtClean="0"/>
          </a:p>
          <a:p>
            <a:pPr lvl="2"/>
            <a:endParaRPr lang="en-US" altLang="ko-KR" b="0" dirty="0" smtClean="0"/>
          </a:p>
          <a:p>
            <a:pPr lvl="1"/>
            <a:r>
              <a:rPr lang="en-US" altLang="ko-KR" b="0" dirty="0" smtClean="0"/>
              <a:t>SQL </a:t>
            </a:r>
            <a:r>
              <a:rPr lang="ko-KR" altLang="en-US" b="0" dirty="0"/>
              <a:t>문장의 종류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4293096"/>
            <a:ext cx="72485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19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테이블 </a:t>
            </a:r>
            <a:r>
              <a:rPr lang="ko-KR" altLang="en-US" dirty="0"/>
              <a:t>관련 </a:t>
            </a:r>
            <a:r>
              <a:rPr lang="ko-KR" altLang="en-US" dirty="0" smtClean="0"/>
              <a:t>명령어</a:t>
            </a:r>
            <a:endParaRPr lang="en-US" altLang="ko-KR" dirty="0" smtClean="0"/>
          </a:p>
          <a:p>
            <a:pPr lvl="1"/>
            <a:r>
              <a:rPr lang="ko-KR" altLang="en-US" b="0" dirty="0"/>
              <a:t>테이블 </a:t>
            </a:r>
            <a:r>
              <a:rPr lang="ko-KR" altLang="en-US" b="0" dirty="0" smtClean="0"/>
              <a:t>생성하기</a:t>
            </a:r>
            <a:endParaRPr lang="ko-KR" altLang="en-US" b="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40" y="1888629"/>
            <a:ext cx="7353120" cy="609600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895440" y="2780743"/>
            <a:ext cx="6331371" cy="2160240"/>
            <a:chOff x="472877" y="3573016"/>
            <a:chExt cx="8339137" cy="266911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164" y="3573016"/>
              <a:ext cx="8324850" cy="119062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877" y="4680030"/>
              <a:ext cx="8296275" cy="1562100"/>
            </a:xfrm>
            <a:prstGeom prst="rect">
              <a:avLst/>
            </a:prstGeom>
          </p:spPr>
        </p:pic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4496794"/>
            <a:ext cx="5482386" cy="202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37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테이블 </a:t>
            </a:r>
            <a:r>
              <a:rPr lang="ko-KR" altLang="en-US" dirty="0"/>
              <a:t>관련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테이블 </a:t>
            </a:r>
            <a:r>
              <a:rPr lang="ko-KR" altLang="en-US" b="0" dirty="0"/>
              <a:t>조회하기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03368"/>
            <a:ext cx="8248650" cy="6000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42" y="2749819"/>
            <a:ext cx="6172200" cy="25717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79" y="3068960"/>
            <a:ext cx="6447619" cy="2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0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테이블 </a:t>
            </a:r>
            <a:r>
              <a:rPr lang="ko-KR" altLang="en-US" dirty="0"/>
              <a:t>관련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테이블 </a:t>
            </a:r>
            <a:r>
              <a:rPr lang="ko-KR" altLang="en-US" b="0" dirty="0"/>
              <a:t>세부 조회하기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1481"/>
            <a:ext cx="8229600" cy="6096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7" y="2812895"/>
            <a:ext cx="4772025" cy="21336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182509"/>
            <a:ext cx="6447619" cy="2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504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테이블 </a:t>
            </a:r>
            <a:r>
              <a:rPr lang="ko-KR" altLang="en-US" dirty="0"/>
              <a:t>관련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테이블 </a:t>
            </a:r>
            <a:r>
              <a:rPr lang="ko-KR" altLang="en-US" b="0" dirty="0"/>
              <a:t>구조 </a:t>
            </a:r>
            <a:r>
              <a:rPr lang="ko-KR" altLang="en-US" b="0" dirty="0" smtClean="0"/>
              <a:t>변경하기</a:t>
            </a:r>
            <a:endParaRPr lang="en-US" altLang="ko-KR" b="0" dirty="0" smtClean="0"/>
          </a:p>
          <a:p>
            <a:endParaRPr lang="en-US" altLang="ko-KR" b="0" dirty="0"/>
          </a:p>
          <a:p>
            <a:endParaRPr lang="en-US" altLang="ko-KR" b="0" dirty="0" smtClean="0"/>
          </a:p>
          <a:p>
            <a:endParaRPr lang="en-US" altLang="ko-KR" b="0" dirty="0"/>
          </a:p>
          <a:p>
            <a:endParaRPr lang="en-US" altLang="ko-KR" b="0" dirty="0" smtClean="0"/>
          </a:p>
          <a:p>
            <a:pPr lvl="1"/>
            <a:r>
              <a:rPr lang="ko-KR" altLang="en-US" b="0" dirty="0" smtClean="0"/>
              <a:t>기존 </a:t>
            </a:r>
            <a:r>
              <a:rPr lang="ko-KR" altLang="en-US" b="0" dirty="0"/>
              <a:t>테이블에 열을 추가하는 </a:t>
            </a:r>
            <a:r>
              <a:rPr lang="ko-KR" altLang="en-US" b="0" dirty="0" smtClean="0"/>
              <a:t>경우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689571"/>
            <a:ext cx="7812732" cy="137938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51" y="3861048"/>
            <a:ext cx="8039100" cy="6000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38" y="4621832"/>
            <a:ext cx="4781550" cy="21915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862648"/>
            <a:ext cx="4680520" cy="18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87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테이블 </a:t>
            </a:r>
            <a:r>
              <a:rPr lang="ko-KR" altLang="en-US" dirty="0"/>
              <a:t>관련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기존 </a:t>
            </a:r>
            <a:r>
              <a:rPr lang="ko-KR" altLang="en-US" b="0" dirty="0"/>
              <a:t>테이블의 열을 삭제하는 </a:t>
            </a:r>
            <a:r>
              <a:rPr lang="ko-KR" altLang="en-US" b="0" dirty="0" smtClean="0"/>
              <a:t>경우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844824"/>
            <a:ext cx="7962900" cy="6191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85" y="2697297"/>
            <a:ext cx="4810125" cy="27241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79" y="3089088"/>
            <a:ext cx="4720232" cy="233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571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테이블 </a:t>
            </a:r>
            <a:r>
              <a:rPr lang="ko-KR" altLang="en-US" dirty="0"/>
              <a:t>관련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기존 </a:t>
            </a:r>
            <a:r>
              <a:rPr lang="ko-KR" altLang="en-US" b="0" dirty="0"/>
              <a:t>테이블의 열 이름을 수정하는 </a:t>
            </a:r>
            <a:r>
              <a:rPr lang="ko-KR" altLang="en-US" b="0" dirty="0" smtClean="0"/>
              <a:t>경우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5" y="1772816"/>
            <a:ext cx="7972425" cy="590550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589425" y="2708920"/>
            <a:ext cx="5000625" cy="2952329"/>
            <a:chOff x="1443583" y="3140968"/>
            <a:chExt cx="5000625" cy="295232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3583" y="3140968"/>
              <a:ext cx="5000625" cy="276225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6537" y="3573017"/>
              <a:ext cx="4721647" cy="2520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5802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테이블 </a:t>
            </a:r>
            <a:r>
              <a:rPr lang="ko-KR" altLang="en-US" dirty="0"/>
              <a:t>관련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테이블 </a:t>
            </a:r>
            <a:r>
              <a:rPr lang="ko-KR" altLang="en-US" b="0" dirty="0"/>
              <a:t>이름 변경하기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72816"/>
            <a:ext cx="8286750" cy="9715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79" y="2924944"/>
            <a:ext cx="8209269" cy="10570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221087"/>
            <a:ext cx="5832648" cy="242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065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 </a:t>
            </a:r>
            <a:r>
              <a:rPr lang="ko-KR" altLang="en-US" dirty="0"/>
              <a:t>조작 </a:t>
            </a:r>
            <a:r>
              <a:rPr lang="ko-KR" altLang="en-US" dirty="0" smtClean="0"/>
              <a:t>명령어</a:t>
            </a:r>
            <a:endParaRPr lang="en-US" altLang="ko-KR" dirty="0" smtClean="0"/>
          </a:p>
          <a:p>
            <a:pPr lvl="1"/>
            <a:r>
              <a:rPr lang="ko-KR" altLang="en-US" b="0" dirty="0"/>
              <a:t>데이터 조작 명령어는 사용자가 적절한 데이터 모델로 구성된 데이터에 접근하거나 데이터를 </a:t>
            </a:r>
            <a:r>
              <a:rPr lang="ko-KR" altLang="en-US" b="0" dirty="0" smtClean="0"/>
              <a:t>조 작할 </a:t>
            </a:r>
            <a:r>
              <a:rPr lang="ko-KR" altLang="en-US" b="0" dirty="0"/>
              <a:t>수 있도록 하는 </a:t>
            </a:r>
            <a:r>
              <a:rPr lang="ko-KR" altLang="en-US" b="0" dirty="0" smtClean="0"/>
              <a:t>언어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데이터베이스 </a:t>
            </a:r>
            <a:r>
              <a:rPr lang="ko-KR" altLang="en-US" b="0" dirty="0"/>
              <a:t>내의 데이터 연산을 위한 언어로 </a:t>
            </a:r>
            <a:r>
              <a:rPr lang="ko-KR" altLang="en-US" b="0" dirty="0" smtClean="0"/>
              <a:t>데이터베이스 </a:t>
            </a:r>
            <a:r>
              <a:rPr lang="ko-KR" altLang="en-US" b="0" dirty="0"/>
              <a:t>내에서 데이터 검색</a:t>
            </a:r>
            <a:r>
              <a:rPr lang="en-US" altLang="ko-KR" b="0" dirty="0"/>
              <a:t>, </a:t>
            </a:r>
            <a:r>
              <a:rPr lang="ko-KR" altLang="en-US" b="0" dirty="0"/>
              <a:t>추가</a:t>
            </a:r>
            <a:r>
              <a:rPr lang="en-US" altLang="ko-KR" b="0" dirty="0"/>
              <a:t>, </a:t>
            </a:r>
            <a:r>
              <a:rPr lang="ko-KR" altLang="en-US" b="0" dirty="0"/>
              <a:t>삭제</a:t>
            </a:r>
            <a:r>
              <a:rPr lang="en-US" altLang="ko-KR" b="0" dirty="0"/>
              <a:t>, </a:t>
            </a:r>
            <a:r>
              <a:rPr lang="ko-KR" altLang="en-US" b="0" dirty="0"/>
              <a:t>갱신 작업이 </a:t>
            </a:r>
            <a:r>
              <a:rPr lang="ko-KR" altLang="en-US" b="0" dirty="0" smtClean="0"/>
              <a:t>가능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41246"/>
            <a:ext cx="7056784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22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 </a:t>
            </a:r>
            <a:r>
              <a:rPr lang="ko-KR" altLang="en-US" dirty="0"/>
              <a:t>조작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데이터 </a:t>
            </a:r>
            <a:r>
              <a:rPr lang="ko-KR" altLang="en-US" b="0" dirty="0"/>
              <a:t>등록하기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4" y="1941189"/>
            <a:ext cx="8220075" cy="6096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2772741"/>
            <a:ext cx="8305800" cy="10382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81528"/>
            <a:ext cx="5456058" cy="227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79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 </a:t>
            </a:r>
            <a:r>
              <a:rPr lang="ko-KR" altLang="en-US" dirty="0"/>
              <a:t>조작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데이터 </a:t>
            </a:r>
            <a:r>
              <a:rPr lang="ko-KR" altLang="en-US" b="0" dirty="0"/>
              <a:t>조회하기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33" y="1798593"/>
            <a:ext cx="8267700" cy="9334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040352"/>
            <a:ext cx="8305800" cy="9620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10" y="4221088"/>
            <a:ext cx="6434926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59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/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0" y="2410716"/>
            <a:ext cx="3778573" cy="1386592"/>
          </a:xfr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084579"/>
            <a:ext cx="8277225" cy="9620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31" y="4319759"/>
            <a:ext cx="3773437" cy="2044335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4355976" y="4278014"/>
            <a:ext cx="4171491" cy="2031489"/>
            <a:chOff x="4355976" y="4278014"/>
            <a:chExt cx="4171491" cy="203148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55976" y="4278014"/>
              <a:ext cx="3539778" cy="1901991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9600" y="4670554"/>
              <a:ext cx="4107867" cy="1638949"/>
            </a:xfrm>
            <a:prstGeom prst="rect">
              <a:avLst/>
            </a:prstGeom>
          </p:spPr>
        </p:pic>
      </p:grpSp>
      <p:grpSp>
        <p:nvGrpSpPr>
          <p:cNvPr id="2" name="그룹 1"/>
          <p:cNvGrpSpPr/>
          <p:nvPr/>
        </p:nvGrpSpPr>
        <p:grpSpPr>
          <a:xfrm>
            <a:off x="4344590" y="2060848"/>
            <a:ext cx="4350255" cy="1786098"/>
            <a:chOff x="4344590" y="2060848"/>
            <a:chExt cx="4350255" cy="178609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44590" y="2060848"/>
              <a:ext cx="4350255" cy="1786098"/>
            </a:xfrm>
            <a:prstGeom prst="rect">
              <a:avLst/>
            </a:prstGeom>
          </p:spPr>
        </p:pic>
        <p:pic>
          <p:nvPicPr>
            <p:cNvPr id="2050" name="Picture 2" descr="D:\송미영jsp\3쇄수정\p50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891" y="2394761"/>
              <a:ext cx="4040832" cy="1396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03862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 </a:t>
            </a:r>
            <a:r>
              <a:rPr lang="ko-KR" altLang="en-US" dirty="0"/>
              <a:t>조작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데이터 </a:t>
            </a:r>
            <a:r>
              <a:rPr lang="ko-KR" altLang="en-US" b="0" dirty="0"/>
              <a:t>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805"/>
            <a:ext cx="8229600" cy="6572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2035"/>
            <a:ext cx="5543550" cy="26003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220414"/>
            <a:ext cx="6447619" cy="2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17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데이터 </a:t>
            </a:r>
            <a:r>
              <a:rPr lang="ko-KR" altLang="en-US" dirty="0"/>
              <a:t>조작 명령어</a:t>
            </a:r>
            <a:endParaRPr lang="en-US" altLang="ko-KR" dirty="0"/>
          </a:p>
          <a:p>
            <a:pPr lvl="1"/>
            <a:r>
              <a:rPr lang="ko-KR" altLang="en-US" b="0" dirty="0" smtClean="0"/>
              <a:t>데이터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MySQL </a:t>
            </a:r>
            <a:r>
              <a:rPr lang="ko-KR" altLang="en-US" b="0" dirty="0"/>
              <a:t>기본 명령어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5752"/>
            <a:ext cx="8229600" cy="6477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74" y="2708920"/>
            <a:ext cx="4819650" cy="23907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37" y="3062408"/>
            <a:ext cx="4721187" cy="203728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972" y="4360554"/>
            <a:ext cx="5114925" cy="187675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972" y="4787055"/>
            <a:ext cx="5108828" cy="1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8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ko-KR" altLang="en-US" b="0" dirty="0" smtClean="0"/>
              <a:t>데이터베이스 </a:t>
            </a:r>
            <a:r>
              <a:rPr lang="ko-KR" altLang="en-US" b="0" dirty="0"/>
              <a:t>생성하기</a:t>
            </a:r>
            <a:r>
              <a:rPr lang="en-US" altLang="ko-KR" b="0" dirty="0" smtClean="0"/>
              <a:t>: </a:t>
            </a:r>
          </a:p>
          <a:p>
            <a:pPr lvl="2"/>
            <a:r>
              <a:rPr lang="ko-KR" altLang="en-US" b="0" dirty="0" smtClean="0"/>
              <a:t>명령 프롬프트로 </a:t>
            </a:r>
            <a:r>
              <a:rPr lang="en-US" altLang="ko-KR" b="0" dirty="0" smtClean="0"/>
              <a:t>MySQL</a:t>
            </a:r>
            <a:r>
              <a:rPr lang="ko-KR" altLang="en-US" b="0" dirty="0" smtClean="0"/>
              <a:t>에 접속하여 </a:t>
            </a:r>
            <a:r>
              <a:rPr lang="en-US" altLang="ko-KR" b="0" dirty="0" err="1" smtClean="0"/>
              <a:t>WebMarketDB</a:t>
            </a:r>
            <a:r>
              <a:rPr lang="ko-KR" altLang="en-US" b="0" dirty="0" smtClean="0"/>
              <a:t>라는 데이터베이스 생성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21451" cy="576263"/>
          </a:xfrm>
        </p:spPr>
        <p:txBody>
          <a:bodyPr/>
          <a:lstStyle/>
          <a:p>
            <a:r>
              <a:rPr lang="en-US" altLang="ko-KR" b="0" dirty="0" smtClean="0"/>
              <a:t>5. [</a:t>
            </a:r>
            <a:r>
              <a:rPr lang="ko-KR" altLang="en-US" b="0" dirty="0" smtClean="0"/>
              <a:t>웹 쇼핑몰</a:t>
            </a:r>
            <a:r>
              <a:rPr lang="en-US" altLang="ko-KR" b="0" dirty="0" smtClean="0"/>
              <a:t>]</a:t>
            </a:r>
            <a:r>
              <a:rPr lang="ko-KR" altLang="en-US" b="0" dirty="0" smtClean="0"/>
              <a:t> </a:t>
            </a:r>
            <a:r>
              <a:rPr lang="ko-KR" altLang="en-US" b="0" dirty="0"/>
              <a:t>상품 관리 테이블 생성 및 상품 등록하기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71" y="931818"/>
            <a:ext cx="8201025" cy="5238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708920"/>
            <a:ext cx="64484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903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데이터베이스 </a:t>
            </a:r>
            <a:r>
              <a:rPr lang="ko-KR" altLang="en-US" b="0" dirty="0"/>
              <a:t>커넥션 설정하기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다음과 </a:t>
            </a:r>
            <a:r>
              <a:rPr lang="ko-KR" altLang="en-US" b="0" dirty="0"/>
              <a:t>같이 커넥션 이름은 </a:t>
            </a:r>
            <a:r>
              <a:rPr lang="en-US" altLang="ko-KR" b="0" dirty="0" err="1"/>
              <a:t>Market_Conn</a:t>
            </a:r>
            <a:r>
              <a:rPr lang="en-US" altLang="ko-KR" b="0" dirty="0"/>
              <a:t>,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데이터베이스 이름은 </a:t>
            </a:r>
            <a:r>
              <a:rPr lang="en-US" altLang="ko-KR" b="0" dirty="0" err="1" smtClean="0"/>
              <a:t>WebMarketDB</a:t>
            </a:r>
            <a:r>
              <a:rPr lang="ko-KR" altLang="en-US" b="0" dirty="0"/>
              <a:t>로 </a:t>
            </a:r>
            <a:r>
              <a:rPr lang="ko-KR" altLang="en-US" b="0" dirty="0" smtClean="0"/>
              <a:t>설정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449443" cy="576263"/>
          </a:xfrm>
        </p:spPr>
        <p:txBody>
          <a:bodyPr/>
          <a:lstStyle/>
          <a:p>
            <a:r>
              <a:rPr lang="en-US" altLang="ko-KR" b="0" dirty="0"/>
              <a:t>5.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관리 테이블 생성 및 상품 등록하기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276872"/>
            <a:ext cx="7249191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345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ko-KR" altLang="en-US" b="0" dirty="0" smtClean="0"/>
              <a:t>상품 </a:t>
            </a:r>
            <a:r>
              <a:rPr lang="ko-KR" altLang="en-US" b="0" dirty="0"/>
              <a:t>관리 테이블 생성하기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/</a:t>
            </a:r>
            <a:r>
              <a:rPr lang="en-US" altLang="ko-KR" b="0" dirty="0" err="1"/>
              <a:t>WebMarket</a:t>
            </a:r>
            <a:r>
              <a:rPr lang="en-US" altLang="ko-KR" b="0" dirty="0"/>
              <a:t>/ </a:t>
            </a:r>
            <a:r>
              <a:rPr lang="ko-KR" altLang="en-US" b="0" dirty="0"/>
              <a:t>폴더에 </a:t>
            </a:r>
            <a:r>
              <a:rPr lang="en-US" altLang="ko-KR" b="0" dirty="0" err="1"/>
              <a:t>sql</a:t>
            </a:r>
            <a:r>
              <a:rPr lang="en-US" altLang="ko-KR" b="0" dirty="0"/>
              <a:t> </a:t>
            </a:r>
            <a:r>
              <a:rPr lang="ko-KR" altLang="en-US" b="0" dirty="0"/>
              <a:t>폴더를 만든 후 이 폴더에 </a:t>
            </a:r>
            <a:r>
              <a:rPr lang="en-US" altLang="ko-KR" b="0" dirty="0" err="1"/>
              <a:t>product.sql</a:t>
            </a:r>
            <a:r>
              <a:rPr lang="en-US" altLang="ko-KR" b="0" dirty="0"/>
              <a:t> </a:t>
            </a:r>
            <a:r>
              <a:rPr lang="ko-KR" altLang="en-US" b="0" dirty="0" smtClean="0"/>
              <a:t>파일 생성하고 </a:t>
            </a:r>
            <a:r>
              <a:rPr lang="ko-KR" altLang="en-US" b="0" dirty="0"/>
              <a:t>다음과 같이 </a:t>
            </a:r>
            <a:r>
              <a:rPr lang="ko-KR" altLang="en-US" b="0" dirty="0" smtClean="0"/>
              <a:t>작성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21451" cy="576263"/>
          </a:xfrm>
        </p:spPr>
        <p:txBody>
          <a:bodyPr/>
          <a:lstStyle/>
          <a:p>
            <a:r>
              <a:rPr lang="en-US" altLang="ko-KR" b="0" dirty="0"/>
              <a:t>5.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관리 테이블 생성 및 상품 등록하기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78780"/>
            <a:ext cx="8191500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42" y="2636912"/>
            <a:ext cx="7623571" cy="3861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92080" y="3284984"/>
            <a:ext cx="2232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TEXT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varchar(80)</a:t>
            </a:r>
            <a:r>
              <a:rPr lang="ko-KR" altLang="en-US" dirty="0" smtClean="0"/>
              <a:t>으로</a:t>
            </a:r>
            <a:endParaRPr lang="en-US" altLang="ko-KR" dirty="0" smtClean="0"/>
          </a:p>
          <a:p>
            <a:r>
              <a:rPr lang="en-US" altLang="ko-KR" dirty="0"/>
              <a:t>d</a:t>
            </a:r>
            <a:r>
              <a:rPr lang="en-US" altLang="ko-KR" dirty="0" smtClean="0"/>
              <a:t>efault</a:t>
            </a:r>
            <a:r>
              <a:rPr lang="en-US" altLang="ko-KR" dirty="0" smtClean="0"/>
              <a:t>~ </a:t>
            </a:r>
            <a:r>
              <a:rPr lang="ko-KR" altLang="en-US" dirty="0" smtClean="0"/>
              <a:t>삭제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5559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실행 </a:t>
            </a:r>
            <a:r>
              <a:rPr lang="ko-KR" altLang="en-US" b="0" dirty="0"/>
              <a:t>결과 확인하기</a:t>
            </a:r>
            <a:r>
              <a:rPr lang="en-US" altLang="ko-KR" b="0" dirty="0"/>
              <a:t>: 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Data </a:t>
            </a:r>
            <a:r>
              <a:rPr lang="en-US" altLang="ko-KR" b="0" dirty="0"/>
              <a:t>Source Explorer </a:t>
            </a:r>
            <a:r>
              <a:rPr lang="ko-KR" altLang="en-US" b="0" dirty="0" err="1"/>
              <a:t>뷰에서</a:t>
            </a:r>
            <a:r>
              <a:rPr lang="ko-KR" altLang="en-US" b="0" dirty="0"/>
              <a:t> 실행 </a:t>
            </a:r>
            <a:r>
              <a:rPr lang="ko-KR" altLang="en-US" b="0" dirty="0" smtClean="0"/>
              <a:t>결과 확인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93459" cy="576263"/>
          </a:xfrm>
        </p:spPr>
        <p:txBody>
          <a:bodyPr/>
          <a:lstStyle/>
          <a:p>
            <a:r>
              <a:rPr lang="en-US" altLang="ko-KR" b="0" dirty="0"/>
              <a:t>5.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관리 테이블 생성 및 상품 등록하기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060848"/>
            <a:ext cx="5502655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900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ko-KR" altLang="en-US" b="0" dirty="0" smtClean="0"/>
              <a:t>상품 </a:t>
            </a:r>
            <a:r>
              <a:rPr lang="ko-KR" altLang="en-US" b="0" dirty="0"/>
              <a:t>목록 삽입하기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12174" cy="576263"/>
          </a:xfrm>
        </p:spPr>
        <p:txBody>
          <a:bodyPr/>
          <a:lstStyle/>
          <a:p>
            <a:r>
              <a:rPr lang="en-US" altLang="ko-KR" b="0" dirty="0"/>
              <a:t>5.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관리 테이블 생성 및 상품 등록하기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7" y="967499"/>
            <a:ext cx="8220075" cy="5619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" y="2492896"/>
            <a:ext cx="833437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867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 smtClean="0"/>
              <a:t>실행 </a:t>
            </a:r>
            <a:r>
              <a:rPr lang="ko-KR" altLang="en-US" b="0" dirty="0"/>
              <a:t>결과 확인하기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21451" cy="576263"/>
          </a:xfrm>
        </p:spPr>
        <p:txBody>
          <a:bodyPr/>
          <a:lstStyle/>
          <a:p>
            <a:r>
              <a:rPr lang="en-US" altLang="ko-KR" b="0" dirty="0"/>
              <a:t>5.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관리 테이블 생성 및 상품 등록하기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628800"/>
            <a:ext cx="7228571" cy="1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728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578</TotalTime>
  <Words>1705</Words>
  <Application>Microsoft Office PowerPoint</Application>
  <PresentationFormat>화면 슬라이드 쇼(4:3)</PresentationFormat>
  <Paragraphs>255</Paragraphs>
  <Slides>59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0" baseType="lpstr">
      <vt:lpstr>1_마스터</vt:lpstr>
      <vt:lpstr>데이터베이스 개발 환경 구축</vt:lpstr>
      <vt:lpstr>PowerPoint 프레젠테이션</vt:lpstr>
      <vt:lpstr>1. 데이터베이스의 개요</vt:lpstr>
      <vt:lpstr>1. 데이터베이스의 개요</vt:lpstr>
      <vt:lpstr>1. 데이터베이스의 개요</vt:lpstr>
      <vt:lpstr>1. 데이터베이스의 개요</vt:lpstr>
      <vt:lpstr>1. 데이터베이스의 개요</vt:lpstr>
      <vt:lpstr>1. 데이터베이스의 개요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2. MySQL 개발 환경 구축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3. 통합 개발 환경과 데이터베이스 연동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4. MySQL 기본 명령어</vt:lpstr>
      <vt:lpstr>5. [웹 쇼핑몰] 상품 관리 테이블 생성 및 상품 등록하기</vt:lpstr>
      <vt:lpstr>5. [웹 쇼핑몰] 상품 관리 테이블 생성 및 상품 등록하기</vt:lpstr>
      <vt:lpstr>5. [웹 쇼핑몰] 상품 관리 테이블 생성 및 상품 등록하기</vt:lpstr>
      <vt:lpstr>5. [웹 쇼핑몰] 상품 관리 테이블 생성 및 상품 등록하기</vt:lpstr>
      <vt:lpstr>5. [웹 쇼핑몰] 상품 관리 테이블 생성 및 상품 등록하기</vt:lpstr>
      <vt:lpstr>5. [웹 쇼핑몰] 상품 관리 테이블 생성 및 상품 등록하기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ninny</cp:lastModifiedBy>
  <cp:revision>365</cp:revision>
  <dcterms:created xsi:type="dcterms:W3CDTF">2011-01-05T15:14:06Z</dcterms:created>
  <dcterms:modified xsi:type="dcterms:W3CDTF">2021-07-04T08:37:04Z</dcterms:modified>
</cp:coreProperties>
</file>
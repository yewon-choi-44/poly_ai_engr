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69" r:id="rId1"/>
  </p:sldMasterIdLst>
  <p:notesMasterIdLst>
    <p:notesMasterId r:id="rId35"/>
  </p:notesMasterIdLst>
  <p:handoutMasterIdLst>
    <p:handoutMasterId r:id="rId36"/>
  </p:handoutMasterIdLst>
  <p:sldIdLst>
    <p:sldId id="256" r:id="rId2"/>
    <p:sldId id="877" r:id="rId3"/>
    <p:sldId id="878" r:id="rId4"/>
    <p:sldId id="879" r:id="rId5"/>
    <p:sldId id="880" r:id="rId6"/>
    <p:sldId id="881" r:id="rId7"/>
    <p:sldId id="882" r:id="rId8"/>
    <p:sldId id="883" r:id="rId9"/>
    <p:sldId id="884" r:id="rId10"/>
    <p:sldId id="885" r:id="rId11"/>
    <p:sldId id="886" r:id="rId12"/>
    <p:sldId id="887" r:id="rId13"/>
    <p:sldId id="888" r:id="rId14"/>
    <p:sldId id="889" r:id="rId15"/>
    <p:sldId id="890" r:id="rId16"/>
    <p:sldId id="891" r:id="rId17"/>
    <p:sldId id="892" r:id="rId18"/>
    <p:sldId id="893" r:id="rId19"/>
    <p:sldId id="894" r:id="rId20"/>
    <p:sldId id="895" r:id="rId21"/>
    <p:sldId id="896" r:id="rId22"/>
    <p:sldId id="897" r:id="rId23"/>
    <p:sldId id="898" r:id="rId24"/>
    <p:sldId id="899" r:id="rId25"/>
    <p:sldId id="900" r:id="rId26"/>
    <p:sldId id="901" r:id="rId27"/>
    <p:sldId id="902" r:id="rId28"/>
    <p:sldId id="903" r:id="rId29"/>
    <p:sldId id="904" r:id="rId30"/>
    <p:sldId id="905" r:id="rId31"/>
    <p:sldId id="906" r:id="rId32"/>
    <p:sldId id="907" r:id="rId33"/>
    <p:sldId id="275" r:id="rId34"/>
  </p:sldIdLst>
  <p:sldSz cx="9144000" cy="6858000" type="screen4x3"/>
  <p:notesSz cx="6797675" cy="987425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C1BE"/>
    <a:srgbClr val="D6E7E6"/>
    <a:srgbClr val="17928F"/>
    <a:srgbClr val="40C4C1"/>
    <a:srgbClr val="98D2D0"/>
    <a:srgbClr val="E2F1F0"/>
    <a:srgbClr val="66B9B7"/>
    <a:srgbClr val="64B7CE"/>
    <a:srgbClr val="5A8DDC"/>
    <a:srgbClr val="009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9" autoAdjust="0"/>
    <p:restoredTop sz="94362" autoAdjust="0"/>
  </p:normalViewPr>
  <p:slideViewPr>
    <p:cSldViewPr>
      <p:cViewPr varScale="1">
        <p:scale>
          <a:sx n="90" d="100"/>
          <a:sy n="90" d="100"/>
        </p:scale>
        <p:origin x="1698" y="90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-7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30" y="-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FE15F021-6D0B-46FD-9B8A-5A08A6D483D0}" type="datetimeFigureOut">
              <a:rPr lang="ko-KR" altLang="en-US"/>
              <a:pPr>
                <a:defRPr/>
              </a:pPr>
              <a:t>2024-11-08</a:t>
            </a:fld>
            <a:endParaRPr lang="en-US" altLang="ko-KR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C632109F-8AB7-46AB-9E12-1769705C79C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676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06771228-0F89-41D8-B079-3DC885FFF304}" type="datetimeFigureOut">
              <a:rPr lang="ko-KR" altLang="en-US"/>
              <a:pPr>
                <a:defRPr/>
              </a:pPr>
              <a:t>2024-11-08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1FF2B80C-8298-46FE-B90D-EE0F7614A2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2597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45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882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5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 descr="Light horizontal"/>
          <p:cNvSpPr>
            <a:spLocks noChangeArrowheads="1"/>
          </p:cNvSpPr>
          <p:nvPr/>
        </p:nvSpPr>
        <p:spPr bwMode="gray">
          <a:xfrm>
            <a:off x="1588" y="1588"/>
            <a:ext cx="1473200" cy="6848475"/>
          </a:xfrm>
          <a:prstGeom prst="rect">
            <a:avLst/>
          </a:prstGeom>
          <a:pattFill prst="ltHorz">
            <a:fgClr>
              <a:schemeClr val="bg2"/>
            </a:fgClr>
            <a:bgClr>
              <a:schemeClr val="bg1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invGray">
          <a:xfrm>
            <a:off x="-7938" y="4267200"/>
            <a:ext cx="9153526" cy="1103313"/>
          </a:xfrm>
          <a:prstGeom prst="rect">
            <a:avLst/>
          </a:prstGeom>
          <a:solidFill>
            <a:srgbClr val="D6E7E6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6" name="AutoShape 11"/>
          <p:cNvSpPr>
            <a:spLocks noChangeArrowheads="1"/>
          </p:cNvSpPr>
          <p:nvPr/>
        </p:nvSpPr>
        <p:spPr bwMode="ltGray">
          <a:xfrm>
            <a:off x="1409130" y="5099566"/>
            <a:ext cx="7137400" cy="533400"/>
          </a:xfrm>
          <a:prstGeom prst="roundRect">
            <a:avLst>
              <a:gd name="adj" fmla="val 16667"/>
            </a:avLst>
          </a:prstGeom>
          <a:solidFill>
            <a:srgbClr val="50C1BE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8" name="TextBox 19"/>
          <p:cNvSpPr txBox="1">
            <a:spLocks noChangeArrowheads="1"/>
          </p:cNvSpPr>
          <p:nvPr userDrawn="1"/>
        </p:nvSpPr>
        <p:spPr bwMode="auto">
          <a:xfrm>
            <a:off x="1409130" y="5181600"/>
            <a:ext cx="713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쉽게 배우는 </a:t>
            </a:r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</a:rPr>
              <a:t>JSP </a:t>
            </a: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웹 프로그래밍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4267201"/>
            <a:ext cx="7620000" cy="838200"/>
          </a:xfrm>
        </p:spPr>
        <p:txBody>
          <a:bodyPr/>
          <a:lstStyle>
            <a:lvl1pPr marL="717550" indent="0">
              <a:defRPr sz="3600" b="1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40352" y="6477000"/>
            <a:ext cx="1228725" cy="2571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BF1E9C-21A3-41D4-8B65-A0F4F21F6AC7}"/>
              </a:ext>
            </a:extLst>
          </p:cNvPr>
          <p:cNvSpPr txBox="1"/>
          <p:nvPr userDrawn="1"/>
        </p:nvSpPr>
        <p:spPr>
          <a:xfrm>
            <a:off x="1499169" y="1340768"/>
            <a:ext cx="6531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JSP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웹</a:t>
            </a:r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344763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8"/>
          <p:cNvSpPr txBox="1">
            <a:spLocks/>
          </p:cNvSpPr>
          <p:nvPr userDrawn="1"/>
        </p:nvSpPr>
        <p:spPr bwMode="auto">
          <a:xfrm>
            <a:off x="227013" y="93663"/>
            <a:ext cx="61722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latinLnBrk="0" hangingPunct="0">
              <a:defRPr/>
            </a:pPr>
            <a:r>
              <a:rPr kumimoji="0" lang="en-US" altLang="ko-KR" sz="2800" b="1" dirty="0">
                <a:solidFill>
                  <a:srgbClr val="191E70"/>
                </a:solidFill>
                <a:latin typeface="HY견고딕" pitchFamily="18" charset="-127"/>
                <a:ea typeface="HY견고딕" pitchFamily="18" charset="-127"/>
              </a:rPr>
              <a:t>Contents</a:t>
            </a:r>
            <a:endParaRPr kumimoji="0" lang="ko-KR" altLang="en-US" sz="2800" b="1" dirty="0">
              <a:solidFill>
                <a:srgbClr val="191E7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내용 개체 틀 5"/>
          <p:cNvSpPr>
            <a:spLocks noGrp="1"/>
          </p:cNvSpPr>
          <p:nvPr>
            <p:ph sz="quarter" idx="10"/>
          </p:nvPr>
        </p:nvSpPr>
        <p:spPr>
          <a:xfrm>
            <a:off x="263436" y="1016727"/>
            <a:ext cx="8568000" cy="5400000"/>
          </a:xfrm>
          <a:prstGeom prst="roundRect">
            <a:avLst>
              <a:gd name="adj" fmla="val 4285"/>
            </a:avLst>
          </a:prstGeom>
          <a:ln w="19050">
            <a:solidFill>
              <a:schemeClr val="bg2">
                <a:lumMod val="90000"/>
              </a:schemeClr>
            </a:solidFill>
            <a:prstDash val="sysDot"/>
          </a:ln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 sz="220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  <a:lvl2pPr marL="539750" marR="0" indent="-182563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Char char="§"/>
              <a:tabLst/>
              <a:defRPr sz="1800">
                <a:latin typeface="+mn-ea"/>
                <a:ea typeface="+mn-ea"/>
              </a:defRPr>
            </a:lvl2pPr>
            <a:lvl3pPr marL="809625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DB9AD"/>
              </a:buClr>
              <a:buSzTx/>
              <a:buFontTx/>
              <a:buChar char="•"/>
              <a:tabLst/>
              <a:defRPr/>
            </a:lvl3pPr>
          </a:lstStyle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마스터 텍스트 스타일을 편집합니다</a:t>
            </a:r>
          </a:p>
          <a:p>
            <a:pPr marL="539750" marR="0" lvl="1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9497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6633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5"/>
          <p:cNvSpPr>
            <a:spLocks noChangeShapeType="1"/>
          </p:cNvSpPr>
          <p:nvPr userDrawn="1">
            <p:custDataLst>
              <p:tags r:id="rId1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AutoShape 3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5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2" name="Text Box 4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35263" y="3048000"/>
            <a:ext cx="3657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4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Thank</a:t>
            </a:r>
            <a:r>
              <a:rPr lang="en-US" altLang="ko-KR" sz="4400" b="1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 You</a:t>
            </a:r>
            <a:endParaRPr lang="en-US" altLang="ko-KR" sz="44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642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 descr="Light horizontal"/>
          <p:cNvSpPr>
            <a:spLocks noChangeArrowheads="1"/>
          </p:cNvSpPr>
          <p:nvPr/>
        </p:nvSpPr>
        <p:spPr bwMode="gray">
          <a:xfrm>
            <a:off x="-9525" y="0"/>
            <a:ext cx="238125" cy="6858000"/>
          </a:xfrm>
          <a:prstGeom prst="rect">
            <a:avLst/>
          </a:prstGeom>
          <a:pattFill prst="ltHorz">
            <a:fgClr>
              <a:srgbClr val="C0C0C0"/>
            </a:fgClr>
            <a:bgClr>
              <a:srgbClr val="FFFFFF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ko-KR" altLang="en-US">
              <a:solidFill>
                <a:srgbClr val="1D4940"/>
              </a:solidFill>
            </a:endParaRPr>
          </a:p>
        </p:txBody>
      </p:sp>
      <p:sp>
        <p:nvSpPr>
          <p:cNvPr id="1028" name="Rectangle 18"/>
          <p:cNvSpPr>
            <a:spLocks noChangeArrowheads="1"/>
          </p:cNvSpPr>
          <p:nvPr userDrawn="1"/>
        </p:nvSpPr>
        <p:spPr bwMode="auto">
          <a:xfrm>
            <a:off x="8100392" y="6516688"/>
            <a:ext cx="967408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/>
            <a:fld id="{E5A18F57-D258-470C-BB46-B83A1BEE3C43}" type="slidenum">
              <a:rPr lang="ko-KR" altLang="en-US" sz="120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pPr algn="r"/>
              <a:t>‹#›</a:t>
            </a:fld>
            <a:r>
              <a:rPr lang="en-US" altLang="ko-KR" sz="1200" dirty="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/33</a:t>
            </a:r>
          </a:p>
        </p:txBody>
      </p:sp>
      <p:sp>
        <p:nvSpPr>
          <p:cNvPr id="1029" name="텍스트 개체 틀 22"/>
          <p:cNvSpPr>
            <a:spLocks noGrp="1"/>
          </p:cNvSpPr>
          <p:nvPr>
            <p:ph type="body" idx="1"/>
          </p:nvPr>
        </p:nvSpPr>
        <p:spPr bwMode="auto">
          <a:xfrm>
            <a:off x="228600" y="931863"/>
            <a:ext cx="8686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endParaRPr lang="en-US" altLang="ko-KR" dirty="0"/>
          </a:p>
        </p:txBody>
      </p:sp>
      <p:sp>
        <p:nvSpPr>
          <p:cNvPr id="1030" name="제목 개체 틀 23"/>
          <p:cNvSpPr>
            <a:spLocks noGrp="1"/>
          </p:cNvSpPr>
          <p:nvPr>
            <p:ph type="title"/>
          </p:nvPr>
        </p:nvSpPr>
        <p:spPr bwMode="auto">
          <a:xfrm>
            <a:off x="227013" y="82550"/>
            <a:ext cx="7559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31" name="Freeform 126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>
              <a:gd name="T0" fmla="*/ 0 w 3800"/>
              <a:gd name="T1" fmla="*/ 0 h 428"/>
              <a:gd name="T2" fmla="*/ 6032500 w 3800"/>
              <a:gd name="T3" fmla="*/ 0 h 428"/>
              <a:gd name="T4" fmla="*/ 5486400 w 3800"/>
              <a:gd name="T5" fmla="*/ 679450 h 4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grpSp>
        <p:nvGrpSpPr>
          <p:cNvPr id="3" name="Group 192"/>
          <p:cNvGrpSpPr>
            <a:grpSpLocks/>
          </p:cNvGrpSpPr>
          <p:nvPr userDrawn="1"/>
        </p:nvGrpSpPr>
        <p:grpSpPr bwMode="auto">
          <a:xfrm>
            <a:off x="226419" y="668709"/>
            <a:ext cx="8675591" cy="131762"/>
            <a:chOff x="192" y="446"/>
            <a:chExt cx="5513" cy="78"/>
          </a:xfrm>
          <a:solidFill>
            <a:srgbClr val="92D050"/>
          </a:solidFill>
        </p:grpSpPr>
        <p:sp>
          <p:nvSpPr>
            <p:cNvPr id="27" name="Rectangle 193"/>
            <p:cNvSpPr>
              <a:spLocks noChangeArrowheads="1"/>
            </p:cNvSpPr>
            <p:nvPr/>
          </p:nvSpPr>
          <p:spPr bwMode="gray">
            <a:xfrm>
              <a:off x="192" y="446"/>
              <a:ext cx="1488" cy="78"/>
            </a:xfrm>
            <a:prstGeom prst="rect">
              <a:avLst/>
            </a:prstGeom>
            <a:solidFill>
              <a:srgbClr val="50C1BE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굴림" charset="-127"/>
              </a:endParaRPr>
            </a:p>
          </p:txBody>
        </p:sp>
        <p:sp>
          <p:nvSpPr>
            <p:cNvPr id="28" name="Line 194"/>
            <p:cNvSpPr>
              <a:spLocks noChangeShapeType="1"/>
            </p:cNvSpPr>
            <p:nvPr userDrawn="1"/>
          </p:nvSpPr>
          <p:spPr bwMode="gray">
            <a:xfrm>
              <a:off x="192" y="519"/>
              <a:ext cx="5513" cy="0"/>
            </a:xfrm>
            <a:prstGeom prst="line">
              <a:avLst/>
            </a:prstGeom>
            <a:ln>
              <a:solidFill>
                <a:srgbClr val="191E70"/>
              </a:solidFill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+mn-ea"/>
              </a:endParaRPr>
            </a:p>
          </p:txBody>
        </p:sp>
      </p:grpSp>
      <p:pic>
        <p:nvPicPr>
          <p:cNvPr id="1033" name="그림 29" descr="쿡북로고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458788"/>
            <a:ext cx="10795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9534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0" r:id="rId1"/>
    <p:sldLayoutId id="2147484671" r:id="rId2"/>
    <p:sldLayoutId id="2147484672" r:id="rId3"/>
    <p:sldLayoutId id="2147484674" r:id="rId4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600" b="1" kern="1200">
          <a:solidFill>
            <a:srgbClr val="191D76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ts val="100"/>
        </a:spcAft>
        <a:buClr>
          <a:srgbClr val="5A8DDC"/>
        </a:buClr>
        <a:buFont typeface="Wingdings" panose="05000000000000000000" pitchFamily="2" charset="2"/>
        <a:buChar char="v"/>
        <a:defRPr sz="22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539750" indent="-182563" algn="l" rtl="0" eaLnBrk="0" fontAlgn="base" latinLnBrk="1" hangingPunct="0">
        <a:spcBef>
          <a:spcPct val="20000"/>
        </a:spcBef>
        <a:spcAft>
          <a:spcPts val="100"/>
        </a:spcAft>
        <a:buClr>
          <a:srgbClr val="B1AE6B"/>
        </a:buClr>
        <a:buFont typeface="Wingdings" panose="05000000000000000000" pitchFamily="2" charset="2"/>
        <a:buChar char="§"/>
        <a:defRPr sz="1900" kern="1200">
          <a:solidFill>
            <a:schemeClr val="tx1"/>
          </a:solidFill>
          <a:latin typeface="+mn-ea"/>
          <a:ea typeface="+mn-ea"/>
          <a:cs typeface="+mn-cs"/>
        </a:defRPr>
      </a:lvl2pPr>
      <a:lvl3pPr marL="720725" indent="-185738" algn="l" rtl="0" eaLnBrk="0" fontAlgn="base" latinLnBrk="1" hangingPunct="0">
        <a:spcBef>
          <a:spcPct val="20000"/>
        </a:spcBef>
        <a:spcAft>
          <a:spcPts val="100"/>
        </a:spcAft>
        <a:buClr>
          <a:srgbClr val="ADB9AD"/>
        </a:buClr>
        <a:buChar char="•"/>
        <a:defRPr sz="1700" kern="1200">
          <a:solidFill>
            <a:schemeClr val="tx1"/>
          </a:solidFill>
          <a:latin typeface="+mn-ea"/>
          <a:ea typeface="+mn-ea"/>
          <a:cs typeface="+mn-cs"/>
        </a:defRPr>
      </a:lvl3pPr>
      <a:lvl4pPr marL="1162050" indent="-2667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436"/>
          <p:cNvSpPr>
            <a:spLocks noChangeArrowheads="1" noChangeShapeType="1" noTextEdit="1"/>
          </p:cNvSpPr>
          <p:nvPr/>
        </p:nvSpPr>
        <p:spPr bwMode="auto">
          <a:xfrm>
            <a:off x="1701833" y="3914710"/>
            <a:ext cx="533400" cy="1080000"/>
          </a:xfrm>
          <a:prstGeom prst="rect">
            <a:avLst/>
          </a:prstGeom>
          <a:ln>
            <a:noFill/>
          </a:ln>
        </p:spPr>
        <p:txBody>
          <a:bodyPr wrap="none" fromWordArt="1">
            <a:prstTxWarp prst="textCascadeUp">
              <a:avLst>
                <a:gd name="adj" fmla="val 99838"/>
              </a:avLst>
            </a:prstTxWarp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latinLnBrk="0" hangingPunct="0">
              <a:defRPr/>
            </a:pPr>
            <a:r>
              <a:rPr kumimoji="0" lang="en-US" altLang="ko-KR" sz="4800" b="1" i="1" kern="10" spc="150" dirty="0">
                <a:ln w="11430">
                  <a:solidFill>
                    <a:srgbClr val="452103"/>
                  </a:solidFill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휴먼둥근헤드라인"/>
                <a:ea typeface="휴먼둥근헤드라인"/>
              </a:rPr>
              <a:t>17</a:t>
            </a:r>
            <a:endParaRPr kumimoji="0" lang="ko-KR" altLang="en-US" sz="4800" b="1" i="1" kern="10" spc="150" dirty="0">
              <a:ln w="11430">
                <a:solidFill>
                  <a:srgbClr val="452103"/>
                </a:solidFill>
              </a:ln>
              <a:solidFill>
                <a:schemeClr val="accent5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휴먼둥근헤드라인"/>
              <a:ea typeface="휴먼둥근헤드라인"/>
            </a:endParaRPr>
          </a:p>
        </p:txBody>
      </p:sp>
      <p:sp>
        <p:nvSpPr>
          <p:cNvPr id="5123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b="0" dirty="0"/>
              <a:t>JSP </a:t>
            </a:r>
            <a:r>
              <a:rPr lang="ko-KR" altLang="en-US" b="0" dirty="0"/>
              <a:t>표준 태그 라이브러리</a:t>
            </a:r>
            <a:endParaRPr lang="ko-KR" altLang="en-US" dirty="0"/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>
            <a:extLst>
              <a:ext uri="{FF2B5EF4-FFF2-40B4-BE49-F238E27FC236}">
                <a16:creationId xmlns:a16="http://schemas.microsoft.com/office/drawing/2014/main" id="{F71D86D2-9A5A-436C-BF82-D67BDBFA3162}"/>
              </a:ext>
            </a:extLst>
          </p:cNvPr>
          <p:cNvSpPr/>
          <p:nvPr/>
        </p:nvSpPr>
        <p:spPr>
          <a:xfrm>
            <a:off x="1087060" y="1125017"/>
            <a:ext cx="7085340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40D9FBBA-2095-4493-930B-54EB43818DE9}"/>
              </a:ext>
            </a:extLst>
          </p:cNvPr>
          <p:cNvSpPr txBox="1"/>
          <p:nvPr/>
        </p:nvSpPr>
        <p:spPr bwMode="auto">
          <a:xfrm>
            <a:off x="1683837" y="1219842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JSTL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개요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Oval 4">
            <a:extLst>
              <a:ext uri="{FF2B5EF4-FFF2-40B4-BE49-F238E27FC236}">
                <a16:creationId xmlns:a16="http://schemas.microsoft.com/office/drawing/2014/main" id="{2A9FECBD-702A-4BA1-88AB-67BBCAFAED1F}"/>
              </a:ext>
            </a:extLst>
          </p:cNvPr>
          <p:cNvSpPr/>
          <p:nvPr/>
        </p:nvSpPr>
        <p:spPr>
          <a:xfrm>
            <a:off x="755576" y="1094712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4BF5C5-2F04-4802-A8CF-73191AEB43D8}"/>
              </a:ext>
            </a:extLst>
          </p:cNvPr>
          <p:cNvSpPr txBox="1"/>
          <p:nvPr/>
        </p:nvSpPr>
        <p:spPr>
          <a:xfrm>
            <a:off x="879457" y="1175362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1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38" name="Rectangle 31">
            <a:extLst>
              <a:ext uri="{FF2B5EF4-FFF2-40B4-BE49-F238E27FC236}">
                <a16:creationId xmlns:a16="http://schemas.microsoft.com/office/drawing/2014/main" id="{F87AFBBE-263B-456C-A0CE-E79DEEC79E2B}"/>
              </a:ext>
            </a:extLst>
          </p:cNvPr>
          <p:cNvSpPr/>
          <p:nvPr/>
        </p:nvSpPr>
        <p:spPr>
          <a:xfrm>
            <a:off x="1059502" y="1773090"/>
            <a:ext cx="7116018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1C8BBBE-666B-476A-B7E7-D3888F6B2AC5}"/>
              </a:ext>
            </a:extLst>
          </p:cNvPr>
          <p:cNvSpPr txBox="1"/>
          <p:nvPr/>
        </p:nvSpPr>
        <p:spPr bwMode="auto">
          <a:xfrm>
            <a:off x="1683837" y="1867915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JSTL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제공하는 태그의 종류와 사용법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Oval 33">
            <a:extLst>
              <a:ext uri="{FF2B5EF4-FFF2-40B4-BE49-F238E27FC236}">
                <a16:creationId xmlns:a16="http://schemas.microsoft.com/office/drawing/2014/main" id="{72F09F89-0230-43A5-A4A3-5239F66A6865}"/>
              </a:ext>
            </a:extLst>
          </p:cNvPr>
          <p:cNvSpPr/>
          <p:nvPr/>
        </p:nvSpPr>
        <p:spPr>
          <a:xfrm>
            <a:off x="755576" y="1742784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rgbClr val="40C4C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036CA4-28CD-44F9-B258-DDA77AD699B0}"/>
              </a:ext>
            </a:extLst>
          </p:cNvPr>
          <p:cNvSpPr txBox="1"/>
          <p:nvPr/>
        </p:nvSpPr>
        <p:spPr>
          <a:xfrm>
            <a:off x="879457" y="1823435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2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A1D087A5-BC02-4A12-A503-0123A850BC88}"/>
              </a:ext>
            </a:extLst>
          </p:cNvPr>
          <p:cNvSpPr/>
          <p:nvPr/>
        </p:nvSpPr>
        <p:spPr>
          <a:xfrm>
            <a:off x="1087060" y="2421162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228991CF-971D-4BD1-9444-A3ADF601E98D}"/>
              </a:ext>
            </a:extLst>
          </p:cNvPr>
          <p:cNvSpPr txBox="1"/>
          <p:nvPr/>
        </p:nvSpPr>
        <p:spPr bwMode="auto">
          <a:xfrm>
            <a:off x="1683837" y="2515987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맑은 고딕" panose="020B0503020000020004" pitchFamily="50" charset="-127"/>
              </a:rPr>
              <a:t>[</a:t>
            </a:r>
            <a:r>
              <a:rPr lang="ko-KR" altLang="en-US" b="1" dirty="0">
                <a:latin typeface="맑은 고딕" panose="020B0503020000020004" pitchFamily="50" charset="-127"/>
              </a:rPr>
              <a:t>웹 쇼핑몰</a:t>
            </a:r>
            <a:r>
              <a:rPr lang="en-US" altLang="ko-KR" b="1" dirty="0">
                <a:latin typeface="맑은 고딕" panose="020B0503020000020004" pitchFamily="50" charset="-127"/>
              </a:rPr>
              <a:t>] </a:t>
            </a:r>
            <a:r>
              <a:rPr lang="ko-KR" altLang="en-US" b="1" dirty="0">
                <a:latin typeface="맑은 고딕" panose="020B0503020000020004" pitchFamily="50" charset="-127"/>
              </a:rPr>
              <a:t>회원 가입</a:t>
            </a:r>
            <a:r>
              <a:rPr lang="en-US" altLang="ko-KR" b="1" dirty="0">
                <a:latin typeface="맑은 고딕" panose="020B0503020000020004" pitchFamily="50" charset="-127"/>
              </a:rPr>
              <a:t>, </a:t>
            </a:r>
            <a:r>
              <a:rPr lang="ko-KR" altLang="en-US" b="1" dirty="0">
                <a:latin typeface="맑은 고딕" panose="020B0503020000020004" pitchFamily="50" charset="-127"/>
              </a:rPr>
              <a:t>수정</a:t>
            </a:r>
            <a:r>
              <a:rPr lang="en-US" altLang="ko-KR" b="1" dirty="0">
                <a:latin typeface="맑은 고딕" panose="020B0503020000020004" pitchFamily="50" charset="-127"/>
              </a:rPr>
              <a:t>, </a:t>
            </a:r>
            <a:r>
              <a:rPr lang="ko-KR" altLang="en-US" b="1" dirty="0">
                <a:latin typeface="맑은 고딕" panose="020B0503020000020004" pitchFamily="50" charset="-127"/>
              </a:rPr>
              <a:t>탈퇴하기</a:t>
            </a:r>
          </a:p>
        </p:txBody>
      </p:sp>
      <p:sp>
        <p:nvSpPr>
          <p:cNvPr id="44" name="Oval 38">
            <a:extLst>
              <a:ext uri="{FF2B5EF4-FFF2-40B4-BE49-F238E27FC236}">
                <a16:creationId xmlns:a16="http://schemas.microsoft.com/office/drawing/2014/main" id="{EFB909A1-2553-431D-8951-2FCAB83352F3}"/>
              </a:ext>
            </a:extLst>
          </p:cNvPr>
          <p:cNvSpPr/>
          <p:nvPr/>
        </p:nvSpPr>
        <p:spPr>
          <a:xfrm>
            <a:off x="755576" y="2390856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6723D6-6106-4E80-84D8-C064B79C73D4}"/>
              </a:ext>
            </a:extLst>
          </p:cNvPr>
          <p:cNvSpPr txBox="1"/>
          <p:nvPr/>
        </p:nvSpPr>
        <p:spPr>
          <a:xfrm>
            <a:off x="879457" y="2471508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3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61" y="3373842"/>
            <a:ext cx="79629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0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47AFA1-DBAB-4254-AD78-5960E59612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JSTL( JSP Standard Tag Library)</a:t>
            </a:r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페이지에서 스크립트 요소로 인한 코드의 복잡함을 해결하기 위한 일종의 사용자 정의 태그의 표준</a:t>
            </a:r>
            <a:endParaRPr lang="en-US" altLang="ko-KR" b="0" dirty="0"/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페이지의 </a:t>
            </a:r>
            <a:r>
              <a:rPr lang="ko-KR" altLang="en-US" b="0" dirty="0" err="1"/>
              <a:t>로직을</a:t>
            </a:r>
            <a:r>
              <a:rPr lang="ko-KR" altLang="en-US" b="0" dirty="0"/>
              <a:t> 담당하는 부분인 </a:t>
            </a:r>
            <a:r>
              <a:rPr lang="en-US" altLang="ko-KR" b="0" dirty="0"/>
              <a:t>if, for, while, </a:t>
            </a:r>
            <a:r>
              <a:rPr lang="ko-KR" altLang="en-US" b="0" dirty="0"/>
              <a:t>데이터베이스 처리 등과 관련 된 코드를 </a:t>
            </a:r>
            <a:r>
              <a:rPr lang="en-US" altLang="ko-KR" b="0" dirty="0"/>
              <a:t>JSTL</a:t>
            </a:r>
            <a:r>
              <a:rPr lang="ko-KR" altLang="en-US" b="0" dirty="0"/>
              <a:t>로 대치하여 코드를 깔끔하게 하고 </a:t>
            </a:r>
            <a:r>
              <a:rPr lang="ko-KR" altLang="en-US" b="0" dirty="0" err="1"/>
              <a:t>가독성을</a:t>
            </a:r>
            <a:r>
              <a:rPr lang="ko-KR" altLang="en-US" b="0" dirty="0"/>
              <a:t> 좋게 하는 것</a:t>
            </a:r>
            <a:endParaRPr lang="en-US" altLang="ko-KR" b="0" dirty="0"/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내장 객체에 쉽게 접근할 수 있을 뿐 아니라 </a:t>
            </a:r>
            <a:r>
              <a:rPr lang="ko-KR" altLang="en-US" b="0" dirty="0" err="1"/>
              <a:t>파라미터</a:t>
            </a:r>
            <a:r>
              <a:rPr lang="en-US" altLang="ko-KR" b="0" dirty="0"/>
              <a:t>, </a:t>
            </a:r>
            <a:r>
              <a:rPr lang="ko-KR" altLang="en-US" b="0" dirty="0"/>
              <a:t>헤더</a:t>
            </a:r>
            <a:r>
              <a:rPr lang="en-US" altLang="ko-KR" b="0" dirty="0"/>
              <a:t>, </a:t>
            </a:r>
            <a:r>
              <a:rPr lang="ko-KR" altLang="en-US" b="0" dirty="0"/>
              <a:t>쿠키 등의 복잡한 코드를 사용하지 않고 쉽게 직관적으로 사용</a:t>
            </a:r>
            <a:endParaRPr lang="en-US" altLang="ko-KR" b="0" dirty="0"/>
          </a:p>
          <a:p>
            <a:pPr lvl="1"/>
            <a:r>
              <a:rPr lang="ko-KR" altLang="en-US" b="0" dirty="0"/>
              <a:t>객체 간의 비교를 </a:t>
            </a:r>
            <a:r>
              <a:rPr lang="en-US" altLang="ko-KR" b="0" dirty="0"/>
              <a:t>equals( ) </a:t>
            </a:r>
            <a:r>
              <a:rPr lang="ko-KR" altLang="en-US" b="0" dirty="0" err="1"/>
              <a:t>메소드로</a:t>
            </a:r>
            <a:r>
              <a:rPr lang="ko-KR" altLang="en-US" b="0" dirty="0"/>
              <a:t> 처리하는 대신 </a:t>
            </a:r>
            <a:r>
              <a:rPr lang="en-US" altLang="ko-KR" b="0" dirty="0"/>
              <a:t>==</a:t>
            </a:r>
            <a:r>
              <a:rPr lang="ko-KR" altLang="en-US" b="0" dirty="0"/>
              <a:t>와 같은 간단한 연산자로 구현이 가능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DB1366D-9170-441B-9164-6CC1D3BD7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b="0" dirty="0"/>
              <a:t>JSTL</a:t>
            </a:r>
            <a:r>
              <a:rPr lang="ko-KR" altLang="en-US" b="0" dirty="0"/>
              <a:t>의 개요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820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JSTL</a:t>
            </a:r>
            <a:r>
              <a:rPr lang="ko-KR" altLang="en-US" dirty="0"/>
              <a:t>이 제공하는 태그의 종류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1700808"/>
            <a:ext cx="82010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9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JSTL</a:t>
            </a:r>
            <a:r>
              <a:rPr lang="ko-KR" altLang="en-US" dirty="0"/>
              <a:t>이 제공하는 태그 사용</a:t>
            </a:r>
            <a:endParaRPr lang="en-US" altLang="ko-KR" dirty="0"/>
          </a:p>
          <a:p>
            <a:pPr lvl="1"/>
            <a:r>
              <a:rPr lang="en-US" altLang="ko-KR" b="0" dirty="0"/>
              <a:t>JSP </a:t>
            </a:r>
            <a:r>
              <a:rPr lang="ko-KR" altLang="en-US" b="0" dirty="0"/>
              <a:t>페이지에 </a:t>
            </a:r>
            <a:r>
              <a:rPr lang="en-US" altLang="ko-KR" b="0" dirty="0"/>
              <a:t>&lt;%@ </a:t>
            </a:r>
            <a:r>
              <a:rPr lang="en-US" altLang="ko-KR" b="0" dirty="0" err="1"/>
              <a:t>taglib</a:t>
            </a:r>
            <a:r>
              <a:rPr lang="en-US" altLang="ko-KR" b="0" dirty="0"/>
              <a:t>…%&gt; </a:t>
            </a:r>
            <a:r>
              <a:rPr lang="ko-KR" altLang="en-US" b="0" dirty="0" err="1"/>
              <a:t>디렉티브</a:t>
            </a:r>
            <a:r>
              <a:rPr lang="ko-KR" altLang="en-US" b="0" dirty="0"/>
              <a:t> 태그를 사용</a:t>
            </a:r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pPr lvl="2"/>
            <a:r>
              <a:rPr lang="en-US" altLang="ko-KR" b="0" dirty="0"/>
              <a:t>prefix </a:t>
            </a:r>
            <a:r>
              <a:rPr lang="ko-KR" altLang="en-US" b="0" dirty="0"/>
              <a:t>속성은 </a:t>
            </a:r>
            <a:r>
              <a:rPr lang="en-US" altLang="ko-KR" b="0" dirty="0" err="1"/>
              <a:t>uri</a:t>
            </a:r>
            <a:r>
              <a:rPr lang="en-US" altLang="ko-KR" b="0" dirty="0"/>
              <a:t> </a:t>
            </a:r>
            <a:r>
              <a:rPr lang="ko-KR" altLang="en-US" b="0" dirty="0"/>
              <a:t>속성에 명시된 값 대신 해당 페이지에서 </a:t>
            </a:r>
            <a:r>
              <a:rPr lang="en-US" altLang="ko-KR" b="0" dirty="0"/>
              <a:t>prefix </a:t>
            </a:r>
            <a:r>
              <a:rPr lang="ko-KR" altLang="en-US" b="0" dirty="0"/>
              <a:t>속성 값으로 명시된 값을 사용하겠다는 것을 의미</a:t>
            </a:r>
            <a:endParaRPr lang="ko-KR" altLang="en-US" dirty="0"/>
          </a:p>
          <a:p>
            <a:endParaRPr lang="en-US" altLang="ko-KR" b="0" dirty="0"/>
          </a:p>
          <a:p>
            <a:pPr lvl="1"/>
            <a:r>
              <a:rPr lang="en-US" altLang="ko-KR" b="0" dirty="0"/>
              <a:t>JSTL </a:t>
            </a:r>
            <a:r>
              <a:rPr lang="ko-KR" altLang="en-US" b="0" dirty="0"/>
              <a:t>라이브러리인 </a:t>
            </a:r>
            <a:r>
              <a:rPr lang="en-US" altLang="ko-KR" b="0" dirty="0"/>
              <a:t>jstl.jar </a:t>
            </a:r>
            <a:r>
              <a:rPr lang="ko-KR" altLang="en-US" b="0" dirty="0"/>
              <a:t>파일이 필요</a:t>
            </a:r>
            <a:endParaRPr lang="en-US" altLang="ko-KR" b="0" dirty="0"/>
          </a:p>
          <a:p>
            <a:endParaRPr lang="en-US" altLang="ko-KR" b="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916832"/>
            <a:ext cx="82105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05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Core </a:t>
            </a:r>
            <a:r>
              <a:rPr lang="ko-KR" altLang="en-US" dirty="0"/>
              <a:t>태그</a:t>
            </a:r>
            <a:endParaRPr lang="en-US" altLang="ko-KR" dirty="0"/>
          </a:p>
          <a:p>
            <a:pPr lvl="1"/>
            <a:r>
              <a:rPr lang="en-US" altLang="ko-KR" b="0" dirty="0"/>
              <a:t>Core </a:t>
            </a:r>
            <a:r>
              <a:rPr lang="ko-KR" altLang="en-US" b="0" dirty="0"/>
              <a:t>태그의 종류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844824"/>
            <a:ext cx="6516796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2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68" y="931818"/>
            <a:ext cx="8229600" cy="5334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" y="1584082"/>
            <a:ext cx="8372475" cy="5062736"/>
          </a:xfrm>
          <a:prstGeom prst="rect">
            <a:avLst/>
          </a:prstGeom>
        </p:spPr>
      </p:pic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676349"/>
            <a:ext cx="3877774" cy="1428949"/>
          </a:xfrm>
        </p:spPr>
      </p:pic>
    </p:spTree>
    <p:extLst>
      <p:ext uri="{BB962C8B-B14F-4D97-AF65-F5344CB8AC3E}">
        <p14:creationId xmlns:p14="http://schemas.microsoft.com/office/powerpoint/2010/main" val="203518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931818"/>
            <a:ext cx="8191500" cy="5048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" y="1709648"/>
            <a:ext cx="8315325" cy="4438650"/>
          </a:xfrm>
          <a:prstGeom prst="rect">
            <a:avLst/>
          </a:prstGeom>
        </p:spPr>
      </p:pic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204864"/>
            <a:ext cx="2733333" cy="1428571"/>
          </a:xfrm>
        </p:spPr>
      </p:pic>
    </p:spTree>
    <p:extLst>
      <p:ext uri="{BB962C8B-B14F-4D97-AF65-F5344CB8AC3E}">
        <p14:creationId xmlns:p14="http://schemas.microsoft.com/office/powerpoint/2010/main" val="3447847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353541" y="1190333"/>
            <a:ext cx="8436918" cy="5456485"/>
            <a:chOff x="561975" y="764704"/>
            <a:chExt cx="8436918" cy="653660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975" y="764704"/>
              <a:ext cx="8353425" cy="498403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568" y="5748734"/>
              <a:ext cx="8315325" cy="1552575"/>
            </a:xfrm>
            <a:prstGeom prst="rect">
              <a:avLst/>
            </a:prstGeom>
          </p:spPr>
        </p:pic>
      </p:grpSp>
      <p:pic>
        <p:nvPicPr>
          <p:cNvPr id="7" name="내용 개체 틀 6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045" y="1841993"/>
            <a:ext cx="3161905" cy="1082952"/>
          </a:xfrm>
        </p:spPr>
      </p:pic>
    </p:spTree>
    <p:extLst>
      <p:ext uri="{BB962C8B-B14F-4D97-AF65-F5344CB8AC3E}">
        <p14:creationId xmlns:p14="http://schemas.microsoft.com/office/powerpoint/2010/main" val="2368843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82" y="910480"/>
            <a:ext cx="8210550" cy="504825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332582" y="1556792"/>
            <a:ext cx="8343900" cy="5139775"/>
            <a:chOff x="464875" y="1415305"/>
            <a:chExt cx="8343900" cy="6867525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925" y="1415305"/>
              <a:ext cx="8324850" cy="5086350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875" y="6501655"/>
              <a:ext cx="8343900" cy="1781175"/>
            </a:xfrm>
            <a:prstGeom prst="rect">
              <a:avLst/>
            </a:prstGeom>
          </p:spPr>
        </p:pic>
      </p:grpSp>
      <p:pic>
        <p:nvPicPr>
          <p:cNvPr id="8" name="내용 개체 틀 7"/>
          <p:cNvPicPr>
            <a:picLocks noGrp="1" noChangeAspect="1"/>
          </p:cNvPicPr>
          <p:nvPr>
            <p:ph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3" y="2448096"/>
            <a:ext cx="4729659" cy="1584176"/>
          </a:xfrm>
        </p:spPr>
      </p:pic>
    </p:spTree>
    <p:extLst>
      <p:ext uri="{BB962C8B-B14F-4D97-AF65-F5344CB8AC3E}">
        <p14:creationId xmlns:p14="http://schemas.microsoft.com/office/powerpoint/2010/main" val="2493038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/>
              <a:t>Sql</a:t>
            </a:r>
            <a:r>
              <a:rPr lang="en-US" altLang="ko-KR" dirty="0"/>
              <a:t> </a:t>
            </a:r>
            <a:r>
              <a:rPr lang="ko-KR" altLang="en-US" dirty="0"/>
              <a:t>태그</a:t>
            </a:r>
            <a:endParaRPr lang="en-US" altLang="ko-KR" dirty="0"/>
          </a:p>
          <a:p>
            <a:pPr lvl="1"/>
            <a:r>
              <a:rPr lang="en-US" altLang="ko-KR" b="0" dirty="0" err="1"/>
              <a:t>Sql</a:t>
            </a:r>
            <a:r>
              <a:rPr lang="en-US" altLang="ko-KR" b="0" dirty="0"/>
              <a:t> </a:t>
            </a:r>
            <a:r>
              <a:rPr lang="ko-KR" altLang="en-US" b="0" dirty="0"/>
              <a:t>태그의 종류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772816"/>
            <a:ext cx="603885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41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956175"/>
            <a:ext cx="8220075" cy="5429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628800"/>
            <a:ext cx="8267700" cy="17240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" y="3352825"/>
            <a:ext cx="8315325" cy="2867025"/>
          </a:xfrm>
          <a:prstGeom prst="rect">
            <a:avLst/>
          </a:prstGeom>
        </p:spPr>
      </p:pic>
      <p:pic>
        <p:nvPicPr>
          <p:cNvPr id="7" name="내용 개체 틀 6"/>
          <p:cNvPicPr>
            <a:picLocks noGrp="1" noChangeAspect="1"/>
          </p:cNvPicPr>
          <p:nvPr>
            <p:ph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3468396"/>
            <a:ext cx="3167952" cy="1340600"/>
          </a:xfrm>
        </p:spPr>
      </p:pic>
    </p:spTree>
    <p:extLst>
      <p:ext uri="{BB962C8B-B14F-4D97-AF65-F5344CB8AC3E}">
        <p14:creationId xmlns:p14="http://schemas.microsoft.com/office/powerpoint/2010/main" val="687535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35794"/>
            <a:ext cx="8277225" cy="5507047"/>
          </a:xfrm>
          <a:prstGeom prst="rect">
            <a:avLst/>
          </a:prstGeom>
        </p:spPr>
      </p:pic>
      <p:pic>
        <p:nvPicPr>
          <p:cNvPr id="5" name="내용 개체 틀 4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420" y="1988841"/>
            <a:ext cx="3133333" cy="1296144"/>
          </a:xfrm>
        </p:spPr>
      </p:pic>
    </p:spTree>
    <p:extLst>
      <p:ext uri="{BB962C8B-B14F-4D97-AF65-F5344CB8AC3E}">
        <p14:creationId xmlns:p14="http://schemas.microsoft.com/office/powerpoint/2010/main" val="3370779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1052736"/>
            <a:ext cx="837247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24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33" y="966743"/>
            <a:ext cx="8191500" cy="51435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700292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5" y="1988840"/>
            <a:ext cx="2248352" cy="1584176"/>
          </a:xfrm>
        </p:spPr>
      </p:pic>
    </p:spTree>
    <p:extLst>
      <p:ext uri="{BB962C8B-B14F-4D97-AF65-F5344CB8AC3E}">
        <p14:creationId xmlns:p14="http://schemas.microsoft.com/office/powerpoint/2010/main" val="3326525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38" y="908720"/>
            <a:ext cx="5692065" cy="4362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240" r="35962"/>
          <a:stretch/>
        </p:blipFill>
        <p:spPr bwMode="auto">
          <a:xfrm>
            <a:off x="5292080" y="5589240"/>
            <a:ext cx="3732082" cy="997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87" b="44067"/>
          <a:stretch/>
        </p:blipFill>
        <p:spPr bwMode="auto">
          <a:xfrm>
            <a:off x="257893" y="5257663"/>
            <a:ext cx="4616449" cy="130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내용 개체 틀 6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846" y="1916832"/>
            <a:ext cx="3129857" cy="1296144"/>
          </a:xfrm>
        </p:spPr>
      </p:pic>
    </p:spTree>
    <p:extLst>
      <p:ext uri="{BB962C8B-B14F-4D97-AF65-F5344CB8AC3E}">
        <p14:creationId xmlns:p14="http://schemas.microsoft.com/office/powerpoint/2010/main" val="1273597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931818"/>
            <a:ext cx="8210550" cy="504825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391182" y="1450431"/>
            <a:ext cx="8305800" cy="5042988"/>
            <a:chOff x="391182" y="1450431"/>
            <a:chExt cx="8305800" cy="504298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182" y="1450431"/>
              <a:ext cx="8305800" cy="3952875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1182" y="5350419"/>
              <a:ext cx="8267700" cy="1143000"/>
            </a:xfrm>
            <a:prstGeom prst="rect">
              <a:avLst/>
            </a:prstGeom>
          </p:spPr>
        </p:pic>
      </p:grpSp>
      <p:pic>
        <p:nvPicPr>
          <p:cNvPr id="8" name="내용 개체 틀 7"/>
          <p:cNvPicPr>
            <a:picLocks noGrp="1" noChangeAspect="1"/>
          </p:cNvPicPr>
          <p:nvPr>
            <p:ph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5" y="1988840"/>
            <a:ext cx="2281387" cy="1872208"/>
          </a:xfrm>
        </p:spPr>
      </p:pic>
    </p:spTree>
    <p:extLst>
      <p:ext uri="{BB962C8B-B14F-4D97-AF65-F5344CB8AC3E}">
        <p14:creationId xmlns:p14="http://schemas.microsoft.com/office/powerpoint/2010/main" val="4105672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227013" y="908179"/>
            <a:ext cx="8334375" cy="5833189"/>
            <a:chOff x="464343" y="-1251520"/>
            <a:chExt cx="8334375" cy="941518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343" y="-1251520"/>
              <a:ext cx="8334375" cy="584835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917" y="4725144"/>
              <a:ext cx="8277225" cy="3438525"/>
            </a:xfrm>
            <a:prstGeom prst="rect">
              <a:avLst/>
            </a:prstGeom>
          </p:spPr>
        </p:pic>
      </p:grpSp>
      <p:pic>
        <p:nvPicPr>
          <p:cNvPr id="7" name="내용 개체 틀 6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1772817"/>
            <a:ext cx="3240360" cy="1152128"/>
          </a:xfrm>
        </p:spPr>
      </p:pic>
    </p:spTree>
    <p:extLst>
      <p:ext uri="{BB962C8B-B14F-4D97-AF65-F5344CB8AC3E}">
        <p14:creationId xmlns:p14="http://schemas.microsoft.com/office/powerpoint/2010/main" val="3547453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931818"/>
            <a:ext cx="8210550" cy="5429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26" y="1741763"/>
            <a:ext cx="8305800" cy="4686300"/>
          </a:xfrm>
          <a:prstGeom prst="rect">
            <a:avLst/>
          </a:prstGeom>
        </p:spPr>
      </p:pic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180151"/>
            <a:ext cx="2657143" cy="1904762"/>
          </a:xfrm>
        </p:spPr>
      </p:pic>
    </p:spTree>
    <p:extLst>
      <p:ext uri="{BB962C8B-B14F-4D97-AF65-F5344CB8AC3E}">
        <p14:creationId xmlns:p14="http://schemas.microsoft.com/office/powerpoint/2010/main" val="813447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244057" y="843761"/>
            <a:ext cx="8286750" cy="5609575"/>
            <a:chOff x="428625" y="1124744"/>
            <a:chExt cx="8286750" cy="911542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625" y="1124744"/>
              <a:ext cx="8286750" cy="361950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625" y="4744244"/>
              <a:ext cx="8258175" cy="5495925"/>
            </a:xfrm>
            <a:prstGeom prst="rect">
              <a:avLst/>
            </a:prstGeom>
          </p:spPr>
        </p:pic>
      </p:grpSp>
      <p:pic>
        <p:nvPicPr>
          <p:cNvPr id="7" name="내용 개체 틀 6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381" y="1732316"/>
            <a:ext cx="3085714" cy="1153914"/>
          </a:xfrm>
        </p:spPr>
      </p:pic>
    </p:spTree>
    <p:extLst>
      <p:ext uri="{BB962C8B-B14F-4D97-AF65-F5344CB8AC3E}">
        <p14:creationId xmlns:p14="http://schemas.microsoft.com/office/powerpoint/2010/main" val="3423427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Functions </a:t>
            </a:r>
            <a:r>
              <a:rPr lang="ko-KR" altLang="en-US" dirty="0"/>
              <a:t>태그</a:t>
            </a:r>
            <a:endParaRPr lang="en-US" altLang="ko-KR" dirty="0"/>
          </a:p>
          <a:p>
            <a:pPr lvl="1"/>
            <a:r>
              <a:rPr lang="en-US" altLang="ko-KR" b="0" dirty="0"/>
              <a:t>Functions </a:t>
            </a:r>
            <a:r>
              <a:rPr lang="ko-KR" altLang="en-US" b="0" dirty="0"/>
              <a:t>태그의 종류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25" y="1769656"/>
            <a:ext cx="6800850" cy="15841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28" y="3353832"/>
            <a:ext cx="6791325" cy="287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924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31818"/>
            <a:ext cx="8220075" cy="5238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455693"/>
            <a:ext cx="8305800" cy="5057775"/>
          </a:xfrm>
          <a:prstGeom prst="rect">
            <a:avLst/>
          </a:prstGeom>
        </p:spPr>
      </p:pic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589" y="2564904"/>
            <a:ext cx="2990476" cy="1714286"/>
          </a:xfrm>
        </p:spPr>
      </p:pic>
    </p:spTree>
    <p:extLst>
      <p:ext uri="{BB962C8B-B14F-4D97-AF65-F5344CB8AC3E}">
        <p14:creationId xmlns:p14="http://schemas.microsoft.com/office/powerpoint/2010/main" val="4078948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b="0" dirty="0"/>
              <a:t>JSTL</a:t>
            </a:r>
            <a:r>
              <a:rPr lang="ko-KR" altLang="en-US" b="0" dirty="0"/>
              <a:t>이 제공하는 태그의 종류와 사용법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952600"/>
            <a:ext cx="8201025" cy="514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760737"/>
            <a:ext cx="8305800" cy="4806058"/>
          </a:xfrm>
          <a:prstGeom prst="rect">
            <a:avLst/>
          </a:prstGeom>
        </p:spPr>
      </p:pic>
      <p:pic>
        <p:nvPicPr>
          <p:cNvPr id="6" name="내용 개체 틀 5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946" y="3429000"/>
            <a:ext cx="2761184" cy="1728192"/>
          </a:xfrm>
        </p:spPr>
      </p:pic>
    </p:spTree>
    <p:extLst>
      <p:ext uri="{BB962C8B-B14F-4D97-AF65-F5344CB8AC3E}">
        <p14:creationId xmlns:p14="http://schemas.microsoft.com/office/powerpoint/2010/main" val="3422737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/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99" y="1124036"/>
            <a:ext cx="3701334" cy="3036646"/>
          </a:xfr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회원 가입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탈퇴하기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524" y="1103845"/>
            <a:ext cx="3960440" cy="32864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573016"/>
            <a:ext cx="4354383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04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b="0" dirty="0"/>
              <a:t>데이터베이스 커넥션 설정하기</a:t>
            </a:r>
            <a:r>
              <a:rPr lang="en-US" altLang="ko-KR" b="0" dirty="0"/>
              <a:t>: </a:t>
            </a:r>
          </a:p>
          <a:p>
            <a:pPr lvl="2"/>
            <a:r>
              <a:rPr lang="ko-KR" altLang="en-US" b="0" dirty="0"/>
              <a:t>커넥션 이름은 </a:t>
            </a:r>
            <a:r>
              <a:rPr lang="en-US" altLang="ko-KR" b="0" dirty="0" err="1"/>
              <a:t>Market_Conn</a:t>
            </a:r>
            <a:r>
              <a:rPr lang="en-US" altLang="ko-KR" b="0" dirty="0"/>
              <a:t>, </a:t>
            </a:r>
            <a:r>
              <a:rPr lang="ko-KR" altLang="en-US" b="0" dirty="0"/>
              <a:t>데이터베이스 이름은 </a:t>
            </a:r>
            <a:r>
              <a:rPr lang="en-US" altLang="ko-KR" b="0" dirty="0" err="1"/>
              <a:t>WebMarketDB</a:t>
            </a:r>
            <a:r>
              <a:rPr lang="ko-KR" altLang="en-US" b="0" dirty="0"/>
              <a:t>를 사용하여 </a:t>
            </a:r>
            <a:r>
              <a:rPr lang="en-US" altLang="ko-KR" b="0" dirty="0"/>
              <a:t>Data Source Explorer</a:t>
            </a:r>
            <a:r>
              <a:rPr lang="ko-KR" altLang="en-US" b="0" dirty="0"/>
              <a:t>에서 실행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회원 가입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탈퇴하기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1071532"/>
            <a:ext cx="8201025" cy="5524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3140967"/>
            <a:ext cx="512445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93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회원 관리 테이블 생성하기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회원 가입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탈퇴하기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555705"/>
            <a:ext cx="8362950" cy="44672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204864"/>
            <a:ext cx="3335288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40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b="0" dirty="0"/>
              <a:t>JSTL </a:t>
            </a:r>
            <a:r>
              <a:rPr lang="ko-KR" altLang="en-US" b="0" dirty="0"/>
              <a:t>라이브러리 </a:t>
            </a:r>
            <a:r>
              <a:rPr lang="en-US" altLang="ko-KR" b="0" dirty="0"/>
              <a:t>jstl-1.2.jar </a:t>
            </a:r>
            <a:r>
              <a:rPr lang="ko-KR" altLang="en-US" b="0" dirty="0"/>
              <a:t>등록하기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회원 가입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탈퇴하기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954112"/>
            <a:ext cx="8191500" cy="5048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098" y="2492896"/>
            <a:ext cx="3066667" cy="24285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2219343" y="4509120"/>
            <a:ext cx="1584176" cy="2160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420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메뉴 페이지 수정하기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회원 가입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탈퇴하기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409575" y="1370910"/>
            <a:ext cx="8324850" cy="4836815"/>
            <a:chOff x="409575" y="1484784"/>
            <a:chExt cx="8324850" cy="627697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9575" y="1484784"/>
              <a:ext cx="8324850" cy="1152525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456" y="2637309"/>
              <a:ext cx="8001000" cy="51244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5606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회원 가입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탈퇴하기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1052735"/>
            <a:ext cx="8353425" cy="566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712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b="0" dirty="0"/>
              <a:t>회원 가입과 관련된 페이지 작성</a:t>
            </a:r>
            <a:endParaRPr lang="en-US" altLang="ko-KR" b="0" dirty="0"/>
          </a:p>
          <a:p>
            <a:pPr lvl="1"/>
            <a:r>
              <a:rPr lang="ko-KR" altLang="en-US" b="0" dirty="0"/>
              <a:t>회원 가입 페이지</a:t>
            </a:r>
            <a:endParaRPr lang="en-US" altLang="ko-KR" b="0" dirty="0"/>
          </a:p>
          <a:p>
            <a:pPr lvl="2"/>
            <a:r>
              <a:rPr lang="en-US" altLang="ko-KR" b="0" dirty="0" err="1"/>
              <a:t>WebMarket</a:t>
            </a:r>
            <a:r>
              <a:rPr lang="en-US" altLang="ko-KR" b="0" dirty="0"/>
              <a:t>/</a:t>
            </a:r>
            <a:r>
              <a:rPr lang="en-US" altLang="ko-KR" b="0" dirty="0" err="1"/>
              <a:t>WebContent</a:t>
            </a:r>
            <a:r>
              <a:rPr lang="en-US" altLang="ko-KR" b="0" dirty="0"/>
              <a:t>/member/</a:t>
            </a:r>
            <a:r>
              <a:rPr lang="en-US" altLang="ko-KR" b="0" dirty="0" err="1"/>
              <a:t>addMember.jsp</a:t>
            </a:r>
            <a:endParaRPr lang="en-US" altLang="ko-KR" b="0" dirty="0"/>
          </a:p>
          <a:p>
            <a:pPr lvl="1"/>
            <a:r>
              <a:rPr lang="ko-KR" altLang="en-US" b="0" dirty="0"/>
              <a:t>회원 가입 처리 페이지</a:t>
            </a:r>
            <a:endParaRPr lang="en-US" altLang="ko-KR" b="0" dirty="0"/>
          </a:p>
          <a:p>
            <a:pPr lvl="2"/>
            <a:r>
              <a:rPr lang="en-US" altLang="ko-KR" b="0" dirty="0" err="1"/>
              <a:t>WebMarket</a:t>
            </a:r>
            <a:r>
              <a:rPr lang="en-US" altLang="ko-KR" b="0" dirty="0"/>
              <a:t>/</a:t>
            </a:r>
            <a:r>
              <a:rPr lang="en-US" altLang="ko-KR" b="0" dirty="0" err="1"/>
              <a:t>WebContent</a:t>
            </a:r>
            <a:r>
              <a:rPr lang="en-US" altLang="ko-KR" b="0" dirty="0"/>
              <a:t>/member/</a:t>
            </a:r>
            <a:r>
              <a:rPr lang="en-US" altLang="ko-KR" b="0" dirty="0" err="1"/>
              <a:t>processAddMember.jsp</a:t>
            </a:r>
            <a:endParaRPr lang="en-US" altLang="ko-KR" b="0" dirty="0"/>
          </a:p>
          <a:p>
            <a:pPr lvl="1"/>
            <a:r>
              <a:rPr lang="ko-KR" altLang="en-US" b="0" dirty="0"/>
              <a:t>회원 가입 완료 페이지</a:t>
            </a:r>
            <a:endParaRPr lang="en-US" altLang="ko-KR" b="0" dirty="0"/>
          </a:p>
          <a:p>
            <a:pPr lvl="2"/>
            <a:r>
              <a:rPr lang="en-US" altLang="ko-KR" b="0" dirty="0" err="1"/>
              <a:t>WebMarket</a:t>
            </a:r>
            <a:r>
              <a:rPr lang="en-US" altLang="ko-KR" b="0" dirty="0"/>
              <a:t>/</a:t>
            </a:r>
            <a:r>
              <a:rPr lang="en-US" altLang="ko-KR" b="0" dirty="0" err="1"/>
              <a:t>WebContent</a:t>
            </a:r>
            <a:r>
              <a:rPr lang="en-US" altLang="ko-KR" b="0" dirty="0"/>
              <a:t>/member/</a:t>
            </a:r>
            <a:r>
              <a:rPr lang="en-US" altLang="ko-KR" b="0" dirty="0" err="1"/>
              <a:t>resultMember.jsp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회원 가입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탈퇴하기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79104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b="0" dirty="0"/>
              <a:t>회원 로그인</a:t>
            </a:r>
            <a:r>
              <a:rPr lang="en-US" altLang="ko-KR" b="0" dirty="0"/>
              <a:t>, </a:t>
            </a:r>
            <a:r>
              <a:rPr lang="ko-KR" altLang="en-US" b="0" dirty="0"/>
              <a:t>로그아웃과 관련된 페이지 작성</a:t>
            </a:r>
            <a:endParaRPr lang="en-US" altLang="ko-KR" b="0" dirty="0"/>
          </a:p>
          <a:p>
            <a:pPr lvl="1"/>
            <a:r>
              <a:rPr lang="ko-KR" altLang="en-US" b="0" dirty="0"/>
              <a:t>회원 로그인 페이지</a:t>
            </a:r>
            <a:endParaRPr lang="en-US" altLang="ko-KR" b="0" dirty="0"/>
          </a:p>
          <a:p>
            <a:pPr lvl="2"/>
            <a:r>
              <a:rPr lang="en-US" altLang="ko-KR" b="0" dirty="0" err="1"/>
              <a:t>WebMarket</a:t>
            </a:r>
            <a:r>
              <a:rPr lang="en-US" altLang="ko-KR" b="0" dirty="0"/>
              <a:t>/</a:t>
            </a:r>
            <a:r>
              <a:rPr lang="en-US" altLang="ko-KR" b="0" dirty="0" err="1"/>
              <a:t>WebContent</a:t>
            </a:r>
            <a:r>
              <a:rPr lang="en-US" altLang="ko-KR" b="0" dirty="0"/>
              <a:t>/member/</a:t>
            </a:r>
            <a:r>
              <a:rPr lang="en-US" altLang="ko-KR" b="0" dirty="0" err="1"/>
              <a:t>loginMember.jsp</a:t>
            </a:r>
            <a:endParaRPr lang="en-US" altLang="ko-KR" b="0" dirty="0"/>
          </a:p>
          <a:p>
            <a:pPr lvl="1"/>
            <a:r>
              <a:rPr lang="ko-KR" altLang="en-US" b="0" dirty="0"/>
              <a:t>회원 로그인 처리 페이지</a:t>
            </a:r>
            <a:endParaRPr lang="en-US" altLang="ko-KR" b="0" dirty="0"/>
          </a:p>
          <a:p>
            <a:pPr lvl="2"/>
            <a:r>
              <a:rPr lang="en-US" altLang="ko-KR" b="0" dirty="0" err="1"/>
              <a:t>WebMarket</a:t>
            </a:r>
            <a:r>
              <a:rPr lang="en-US" altLang="ko-KR" b="0" dirty="0"/>
              <a:t>/</a:t>
            </a:r>
            <a:r>
              <a:rPr lang="en-US" altLang="ko-KR" b="0" dirty="0" err="1"/>
              <a:t>WebContent</a:t>
            </a:r>
            <a:r>
              <a:rPr lang="en-US" altLang="ko-KR" b="0" dirty="0"/>
              <a:t>/member/</a:t>
            </a:r>
            <a:r>
              <a:rPr lang="en-US" altLang="ko-KR" b="0" dirty="0" err="1"/>
              <a:t>processLoginMember.jsp</a:t>
            </a:r>
            <a:endParaRPr lang="en-US" altLang="ko-KR" b="0" dirty="0"/>
          </a:p>
          <a:p>
            <a:pPr lvl="1"/>
            <a:r>
              <a:rPr lang="ko-KR" altLang="en-US" b="0" dirty="0"/>
              <a:t>회원 로그아웃 페이지</a:t>
            </a:r>
            <a:endParaRPr lang="en-US" altLang="ko-KR" b="0" dirty="0"/>
          </a:p>
          <a:p>
            <a:pPr lvl="2"/>
            <a:r>
              <a:rPr lang="en-US" altLang="ko-KR" b="0" dirty="0" err="1"/>
              <a:t>WebMarket</a:t>
            </a:r>
            <a:r>
              <a:rPr lang="en-US" altLang="ko-KR" b="0" dirty="0"/>
              <a:t>/</a:t>
            </a:r>
            <a:r>
              <a:rPr lang="en-US" altLang="ko-KR" b="0" dirty="0" err="1"/>
              <a:t>WebContent</a:t>
            </a:r>
            <a:r>
              <a:rPr lang="en-US" altLang="ko-KR" b="0" dirty="0"/>
              <a:t>/member/</a:t>
            </a:r>
            <a:r>
              <a:rPr lang="en-US" altLang="ko-KR" b="0" dirty="0" err="1"/>
              <a:t>logoutMember.jsp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회원 가입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탈퇴하기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2019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b="0" dirty="0"/>
              <a:t>회원 정보 수정</a:t>
            </a:r>
            <a:r>
              <a:rPr lang="en-US" altLang="ko-KR" b="0" dirty="0"/>
              <a:t>, </a:t>
            </a:r>
            <a:r>
              <a:rPr lang="ko-KR" altLang="en-US" b="0" dirty="0"/>
              <a:t>회원 탈퇴와 관련된 페이지 작성</a:t>
            </a:r>
            <a:endParaRPr lang="en-US" altLang="ko-KR" b="0" dirty="0"/>
          </a:p>
          <a:p>
            <a:pPr lvl="1"/>
            <a:r>
              <a:rPr lang="ko-KR" altLang="en-US" b="0" dirty="0"/>
              <a:t>회원 정보 수정 페이지</a:t>
            </a:r>
            <a:endParaRPr lang="en-US" altLang="ko-KR" dirty="0"/>
          </a:p>
          <a:p>
            <a:pPr lvl="2"/>
            <a:r>
              <a:rPr lang="en-US" altLang="ko-KR" b="0" dirty="0" err="1"/>
              <a:t>WebMarket</a:t>
            </a:r>
            <a:r>
              <a:rPr lang="en-US" altLang="ko-KR" b="0" dirty="0"/>
              <a:t>/</a:t>
            </a:r>
            <a:r>
              <a:rPr lang="en-US" altLang="ko-KR" b="0" dirty="0" err="1"/>
              <a:t>WebContent</a:t>
            </a:r>
            <a:r>
              <a:rPr lang="en-US" altLang="ko-KR" b="0" dirty="0"/>
              <a:t>/member/</a:t>
            </a:r>
            <a:r>
              <a:rPr lang="en-US" altLang="ko-KR" b="0" dirty="0" err="1"/>
              <a:t>updateMember.jsp</a:t>
            </a:r>
            <a:endParaRPr lang="en-US" altLang="ko-KR" b="0" dirty="0"/>
          </a:p>
          <a:p>
            <a:pPr lvl="1"/>
            <a:r>
              <a:rPr lang="ko-KR" altLang="en-US" b="0" dirty="0"/>
              <a:t>회원 정보 수정 처리 페이지</a:t>
            </a:r>
            <a:endParaRPr lang="en-US" altLang="ko-KR" b="0" dirty="0"/>
          </a:p>
          <a:p>
            <a:pPr lvl="2"/>
            <a:r>
              <a:rPr lang="en-US" altLang="ko-KR" b="0" dirty="0" err="1"/>
              <a:t>WebMarket</a:t>
            </a:r>
            <a:r>
              <a:rPr lang="en-US" altLang="ko-KR" b="0" dirty="0"/>
              <a:t>/</a:t>
            </a:r>
            <a:r>
              <a:rPr lang="en-US" altLang="ko-KR" b="0" dirty="0" err="1"/>
              <a:t>WebContent</a:t>
            </a:r>
            <a:r>
              <a:rPr lang="en-US" altLang="ko-KR" b="0" dirty="0"/>
              <a:t>/member/</a:t>
            </a:r>
            <a:r>
              <a:rPr lang="en-US" altLang="ko-KR" b="0" dirty="0" err="1"/>
              <a:t>processUpdateMember.jsp</a:t>
            </a:r>
            <a:endParaRPr lang="en-US" altLang="ko-KR" b="0" dirty="0"/>
          </a:p>
          <a:p>
            <a:pPr lvl="1"/>
            <a:r>
              <a:rPr lang="ko-KR" altLang="en-US" b="0" dirty="0"/>
              <a:t>회원 탈퇴 페이지</a:t>
            </a:r>
            <a:endParaRPr lang="en-US" altLang="ko-KR" b="0" dirty="0"/>
          </a:p>
          <a:p>
            <a:pPr lvl="2"/>
            <a:r>
              <a:rPr lang="en-US" altLang="ko-KR" b="0" dirty="0" err="1"/>
              <a:t>WebMarket</a:t>
            </a:r>
            <a:r>
              <a:rPr lang="en-US" altLang="ko-KR" b="0" dirty="0"/>
              <a:t>/</a:t>
            </a:r>
            <a:r>
              <a:rPr lang="en-US" altLang="ko-KR" b="0" dirty="0" err="1"/>
              <a:t>WebContent</a:t>
            </a:r>
            <a:r>
              <a:rPr lang="en-US" altLang="ko-KR" b="0" dirty="0"/>
              <a:t>/member/</a:t>
            </a:r>
            <a:r>
              <a:rPr lang="en-US" altLang="ko-KR" b="0" dirty="0" err="1"/>
              <a:t>deleteMember.jsp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3. [</a:t>
            </a:r>
            <a:r>
              <a:rPr lang="ko-KR" altLang="en-US" b="0" dirty="0"/>
              <a:t>웹 쇼핑몰</a:t>
            </a:r>
            <a:r>
              <a:rPr lang="en-US" altLang="ko-KR" b="0" dirty="0"/>
              <a:t>]</a:t>
            </a:r>
            <a:r>
              <a:rPr lang="ko-KR" altLang="en-US" b="0" dirty="0"/>
              <a:t> 회원 가입</a:t>
            </a:r>
            <a:r>
              <a:rPr lang="en-US" altLang="ko-KR" b="0" dirty="0"/>
              <a:t>, </a:t>
            </a:r>
            <a:r>
              <a:rPr lang="ko-KR" altLang="en-US" b="0" dirty="0"/>
              <a:t>수정</a:t>
            </a:r>
            <a:r>
              <a:rPr lang="en-US" altLang="ko-KR" b="0" dirty="0"/>
              <a:t>, </a:t>
            </a:r>
            <a:r>
              <a:rPr lang="ko-KR" altLang="en-US" b="0" dirty="0"/>
              <a:t>탈퇴하기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82918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1_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마스터</Template>
  <TotalTime>278</TotalTime>
  <Words>611</Words>
  <Application>Microsoft Office PowerPoint</Application>
  <PresentationFormat>화면 슬라이드 쇼(4:3)</PresentationFormat>
  <Paragraphs>87</Paragraphs>
  <Slides>33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2" baseType="lpstr">
      <vt:lpstr>HY견고딕</vt:lpstr>
      <vt:lpstr>HY견명조</vt:lpstr>
      <vt:lpstr>HY헤드라인M</vt:lpstr>
      <vt:lpstr>돋움</vt:lpstr>
      <vt:lpstr>맑은 고딕</vt:lpstr>
      <vt:lpstr>휴먼둥근헤드라인</vt:lpstr>
      <vt:lpstr>Arial</vt:lpstr>
      <vt:lpstr>Wingdings</vt:lpstr>
      <vt:lpstr>1_마스터</vt:lpstr>
      <vt:lpstr>JSP 표준 태그 라이브러리</vt:lpstr>
      <vt:lpstr>PowerPoint 프레젠테이션</vt:lpstr>
      <vt:lpstr>1. JSTL의 개요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2. JSTL이 제공하는 태그의 종류와 사용법</vt:lpstr>
      <vt:lpstr>3. [웹 쇼핑몰] 회원 가입, 수정, 탈퇴하기</vt:lpstr>
      <vt:lpstr>3. [웹 쇼핑몰] 회원 가입, 수정, 탈퇴하기</vt:lpstr>
      <vt:lpstr>3. [웹 쇼핑몰] 회원 가입, 수정, 탈퇴하기</vt:lpstr>
      <vt:lpstr>3. [웹 쇼핑몰] 회원 가입, 수정, 탈퇴하기</vt:lpstr>
      <vt:lpstr>3. [웹 쇼핑몰] 회원 가입, 수정, 탈퇴하기</vt:lpstr>
      <vt:lpstr>3. [웹 쇼핑몰] 회원 가입, 수정, 탈퇴하기</vt:lpstr>
      <vt:lpstr>3. [웹 쇼핑몰] 회원 가입, 수정, 탈퇴하기</vt:lpstr>
      <vt:lpstr>3. [웹 쇼핑몰] 회원 가입, 수정, 탈퇴하기</vt:lpstr>
      <vt:lpstr>3. [웹 쇼핑몰] 회원 가입, 수정, 탈퇴하기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e-비즈니스 전략 수립</dc:title>
  <dc:creator>bhkim</dc:creator>
  <cp:lastModifiedBy>AI-00</cp:lastModifiedBy>
  <cp:revision>351</cp:revision>
  <dcterms:created xsi:type="dcterms:W3CDTF">2011-01-05T15:14:06Z</dcterms:created>
  <dcterms:modified xsi:type="dcterms:W3CDTF">2024-11-08T01:51:19Z</dcterms:modified>
</cp:coreProperties>
</file>
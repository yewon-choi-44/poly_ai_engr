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9" r:id="rId1"/>
  </p:sldMasterIdLst>
  <p:notesMasterIdLst>
    <p:notesMasterId r:id="rId42"/>
  </p:notesMasterIdLst>
  <p:handoutMasterIdLst>
    <p:handoutMasterId r:id="rId43"/>
  </p:handoutMasterIdLst>
  <p:sldIdLst>
    <p:sldId id="256" r:id="rId2"/>
    <p:sldId id="877" r:id="rId3"/>
    <p:sldId id="878" r:id="rId4"/>
    <p:sldId id="880" r:id="rId5"/>
    <p:sldId id="881" r:id="rId6"/>
    <p:sldId id="882" r:id="rId7"/>
    <p:sldId id="883" r:id="rId8"/>
    <p:sldId id="884" r:id="rId9"/>
    <p:sldId id="885" r:id="rId10"/>
    <p:sldId id="886" r:id="rId11"/>
    <p:sldId id="887" r:id="rId12"/>
    <p:sldId id="888" r:id="rId13"/>
    <p:sldId id="889" r:id="rId14"/>
    <p:sldId id="890" r:id="rId15"/>
    <p:sldId id="891" r:id="rId16"/>
    <p:sldId id="892" r:id="rId17"/>
    <p:sldId id="893" r:id="rId18"/>
    <p:sldId id="894" r:id="rId19"/>
    <p:sldId id="895" r:id="rId20"/>
    <p:sldId id="896" r:id="rId21"/>
    <p:sldId id="917" r:id="rId22"/>
    <p:sldId id="897" r:id="rId23"/>
    <p:sldId id="898" r:id="rId24"/>
    <p:sldId id="899" r:id="rId25"/>
    <p:sldId id="900" r:id="rId26"/>
    <p:sldId id="902" r:id="rId27"/>
    <p:sldId id="903" r:id="rId28"/>
    <p:sldId id="904" r:id="rId29"/>
    <p:sldId id="905" r:id="rId30"/>
    <p:sldId id="918" r:id="rId31"/>
    <p:sldId id="906" r:id="rId32"/>
    <p:sldId id="908" r:id="rId33"/>
    <p:sldId id="909" r:id="rId34"/>
    <p:sldId id="910" r:id="rId35"/>
    <p:sldId id="911" r:id="rId36"/>
    <p:sldId id="912" r:id="rId37"/>
    <p:sldId id="913" r:id="rId38"/>
    <p:sldId id="915" r:id="rId39"/>
    <p:sldId id="916" r:id="rId40"/>
    <p:sldId id="275" r:id="rId41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1BE"/>
    <a:srgbClr val="D6E7E6"/>
    <a:srgbClr val="17928F"/>
    <a:srgbClr val="40C4C1"/>
    <a:srgbClr val="98D2D0"/>
    <a:srgbClr val="E2F1F0"/>
    <a:srgbClr val="66B9B7"/>
    <a:srgbClr val="64B7CE"/>
    <a:srgbClr val="5A8DDC"/>
    <a:srgbClr val="009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79930" autoAdjust="0"/>
  </p:normalViewPr>
  <p:slideViewPr>
    <p:cSldViewPr>
      <p:cViewPr varScale="1">
        <p:scale>
          <a:sx n="91" d="100"/>
          <a:sy n="91" d="100"/>
        </p:scale>
        <p:origin x="732" y="84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-7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2021-09-24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2021-09-24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04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올바른 데이터 값을 </a:t>
            </a:r>
            <a:r>
              <a:rPr lang="en-US" altLang="ko-KR" dirty="0"/>
              <a:t>client </a:t>
            </a:r>
            <a:r>
              <a:rPr lang="ko-KR" altLang="en-US" dirty="0"/>
              <a:t>쪽에서 받기 위해서 하는 작업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2B80C-8298-46FE-B90D-EE0F7614A21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544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rgbClr val="D6E7E6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ltGray">
          <a:xfrm>
            <a:off x="1409130" y="5099566"/>
            <a:ext cx="7137400" cy="533400"/>
          </a:xfrm>
          <a:prstGeom prst="roundRect">
            <a:avLst>
              <a:gd name="adj" fmla="val 16667"/>
            </a:avLst>
          </a:prstGeom>
          <a:solidFill>
            <a:srgbClr val="50C1BE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8" name="TextBox 19"/>
          <p:cNvSpPr txBox="1">
            <a:spLocks noChangeArrowheads="1"/>
          </p:cNvSpPr>
          <p:nvPr userDrawn="1"/>
        </p:nvSpPr>
        <p:spPr bwMode="auto">
          <a:xfrm>
            <a:off x="1409130" y="5181600"/>
            <a:ext cx="713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쉽게 배우는 </a:t>
            </a: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JSP 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웹 프로그래밍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4267201"/>
            <a:ext cx="7620000" cy="838200"/>
          </a:xfrm>
        </p:spPr>
        <p:txBody>
          <a:bodyPr/>
          <a:lstStyle>
            <a:lvl1pPr marL="717550" indent="0">
              <a:defRPr sz="3600" b="1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352" y="6477000"/>
            <a:ext cx="1228725" cy="257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F1E9C-21A3-41D4-8B65-A0F4F21F6AC7}"/>
              </a:ext>
            </a:extLst>
          </p:cNvPr>
          <p:cNvSpPr txBox="1"/>
          <p:nvPr userDrawn="1"/>
        </p:nvSpPr>
        <p:spPr>
          <a:xfrm>
            <a:off x="1499169" y="1340768"/>
            <a:ext cx="6531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JSP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웹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44763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b="1" dirty="0">
                <a:solidFill>
                  <a:srgbClr val="191E70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b="1" dirty="0">
              <a:solidFill>
                <a:srgbClr val="191E7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19050">
            <a:solidFill>
              <a:schemeClr val="bg2">
                <a:lumMod val="90000"/>
              </a:schemeClr>
            </a:solidFill>
            <a:prstDash val="sysDot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 sz="220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  <a:lvl2pPr marL="539750" marR="0" indent="-182563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마스터 텍스트 스타일을 편집합니다</a:t>
            </a:r>
          </a:p>
          <a:p>
            <a:pPr marL="539750" marR="0" lvl="1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9497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633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5"/>
          <p:cNvSpPr>
            <a:spLocks noChangeShapeType="1"/>
          </p:cNvSpPr>
          <p:nvPr userDrawn="1">
            <p:custDataLst>
              <p:tags r:id="rId1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AutoShape 3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ext Box 4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2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95936" y="3004317"/>
            <a:ext cx="5148064" cy="63143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95936" y="3635752"/>
            <a:ext cx="5148064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941933" y="1659835"/>
            <a:ext cx="2693964" cy="3515469"/>
            <a:chOff x="1619672" y="548680"/>
            <a:chExt cx="5904656" cy="5778928"/>
          </a:xfrm>
        </p:grpSpPr>
        <p:sp>
          <p:nvSpPr>
            <p:cNvPr id="9" name="Oval 8"/>
            <p:cNvSpPr/>
            <p:nvPr userDrawn="1"/>
          </p:nvSpPr>
          <p:spPr>
            <a:xfrm>
              <a:off x="2411760" y="1268760"/>
              <a:ext cx="4320480" cy="4320480"/>
            </a:xfrm>
            <a:prstGeom prst="ellips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800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2483768" y="1340768"/>
              <a:ext cx="4176464" cy="4176464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800"/>
            </a:p>
          </p:txBody>
        </p:sp>
        <p:cxnSp>
          <p:nvCxnSpPr>
            <p:cNvPr id="13" name="Straight Connector 12"/>
            <p:cNvCxnSpPr/>
            <p:nvPr userDrawn="1"/>
          </p:nvCxnSpPr>
          <p:spPr>
            <a:xfrm>
              <a:off x="4572000" y="548680"/>
              <a:ext cx="0" cy="720080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4572000" y="5607528"/>
              <a:ext cx="0" cy="720080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6732240" y="3429000"/>
              <a:ext cx="792088" cy="0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619672" y="3429000"/>
              <a:ext cx="792088" cy="0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6156176" y="2378312"/>
              <a:ext cx="792088" cy="330608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 flipV="1">
              <a:off x="5431496" y="1124744"/>
              <a:ext cx="432048" cy="792088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3094136" y="1131624"/>
              <a:ext cx="613768" cy="785208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2195736" y="2090992"/>
              <a:ext cx="898400" cy="492240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 flipV="1">
              <a:off x="3180984" y="4941168"/>
              <a:ext cx="526920" cy="576064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 flipV="1">
              <a:off x="2456304" y="4329100"/>
              <a:ext cx="637832" cy="396044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5979584" y="4142812"/>
              <a:ext cx="968680" cy="510324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5431496" y="4875464"/>
              <a:ext cx="490068" cy="732064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446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휴먼옛체" panose="02030504000101010101" pitchFamily="18" charset="-127"/>
                <a:ea typeface="휴먼옛체" panose="02030504000101010101" pitchFamily="18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47531" y="1124744"/>
            <a:ext cx="8474901" cy="5376597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38A4A1"/>
              </a:buClr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990575" indent="-380990">
              <a:buClr>
                <a:srgbClr val="FED2AB"/>
              </a:buClr>
              <a:buSzPct val="70000"/>
              <a:buFont typeface="Wingdings" panose="05000000000000000000" pitchFamily="2" charset="2"/>
              <a:buChar char="l"/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>
              <a:buClr>
                <a:srgbClr val="38A4A1"/>
              </a:buCl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65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238125" cy="6858000"/>
          </a:xfrm>
          <a:prstGeom prst="rect">
            <a:avLst/>
          </a:prstGeom>
          <a:pattFill prst="ltHorz">
            <a:fgClr>
              <a:srgbClr val="C0C0C0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 userDrawn="1"/>
        </p:nvSpPr>
        <p:spPr bwMode="auto">
          <a:xfrm>
            <a:off x="8100392" y="6516688"/>
            <a:ext cx="96740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/>
            <a:fld id="{E5A18F57-D258-470C-BB46-B83A1BEE3C43}" type="slidenum">
              <a:rPr lang="ko-KR" altLang="en-US" sz="120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r"/>
              <a:t>‹#›</a:t>
            </a:fld>
            <a:r>
              <a:rPr lang="en-US" altLang="ko-KR" sz="1200" dirty="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/40</a:t>
            </a:r>
          </a:p>
        </p:txBody>
      </p:sp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grpSp>
        <p:nvGrpSpPr>
          <p:cNvPr id="3" name="Group 192"/>
          <p:cNvGrpSpPr>
            <a:grpSpLocks/>
          </p:cNvGrpSpPr>
          <p:nvPr userDrawn="1"/>
        </p:nvGrpSpPr>
        <p:grpSpPr bwMode="auto">
          <a:xfrm>
            <a:off x="226419" y="668709"/>
            <a:ext cx="8675591" cy="131762"/>
            <a:chOff x="192" y="446"/>
            <a:chExt cx="5513" cy="78"/>
          </a:xfrm>
          <a:solidFill>
            <a:srgbClr val="92D050"/>
          </a:solidFill>
        </p:grpSpPr>
        <p:sp>
          <p:nvSpPr>
            <p:cNvPr id="27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solidFill>
              <a:srgbClr val="50C1BE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굴림" charset="-127"/>
              </a:endParaRPr>
            </a:p>
          </p:txBody>
        </p:sp>
        <p:sp>
          <p:nvSpPr>
            <p:cNvPr id="28" name="Line 194"/>
            <p:cNvSpPr>
              <a:spLocks noChangeShapeType="1"/>
            </p:cNvSpPr>
            <p:nvPr userDrawn="1"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ln>
              <a:solidFill>
                <a:srgbClr val="191E70"/>
              </a:solidFill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+mn-ea"/>
              </a:endParaRPr>
            </a:p>
          </p:txBody>
        </p:sp>
      </p:grpSp>
      <p:pic>
        <p:nvPicPr>
          <p:cNvPr id="1033" name="그림 29" descr="쿡북로고.jp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458788"/>
            <a:ext cx="1079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53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4" r:id="rId4"/>
    <p:sldLayoutId id="2147484676" r:id="rId5"/>
    <p:sldLayoutId id="2147484677" r:id="rId6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b="1" kern="1200">
          <a:solidFill>
            <a:srgbClr val="191D76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100"/>
        </a:spcAft>
        <a:buClr>
          <a:srgbClr val="5A8DDC"/>
        </a:buClr>
        <a:buFont typeface="Wingdings" panose="05000000000000000000" pitchFamily="2" charset="2"/>
        <a:buChar char="v"/>
        <a:defRPr sz="22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ts val="100"/>
        </a:spcAft>
        <a:buClr>
          <a:srgbClr val="B1AE6B"/>
        </a:buClr>
        <a:buFont typeface="Wingdings" panose="05000000000000000000" pitchFamily="2" charset="2"/>
        <a:buChar char="§"/>
        <a:defRPr sz="19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-185738" algn="l" rtl="0" eaLnBrk="0" fontAlgn="base" latinLnBrk="1" hangingPunct="0">
        <a:spcBef>
          <a:spcPct val="20000"/>
        </a:spcBef>
        <a:spcAft>
          <a:spcPts val="100"/>
        </a:spcAft>
        <a:buClr>
          <a:srgbClr val="ADB9AD"/>
        </a:buClr>
        <a:buChar char="•"/>
        <a:defRPr sz="1700"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436"/>
          <p:cNvSpPr>
            <a:spLocks noChangeArrowheads="1" noChangeShapeType="1" noTextEdit="1"/>
          </p:cNvSpPr>
          <p:nvPr/>
        </p:nvSpPr>
        <p:spPr bwMode="auto">
          <a:xfrm>
            <a:off x="1701833" y="3914710"/>
            <a:ext cx="533400" cy="1080000"/>
          </a:xfrm>
          <a:prstGeom prst="rect">
            <a:avLst/>
          </a:prstGeom>
          <a:ln>
            <a:noFill/>
          </a:ln>
        </p:spPr>
        <p:txBody>
          <a:bodyPr wrap="none" fromWordArt="1">
            <a:prstTxWarp prst="textCascadeUp">
              <a:avLst>
                <a:gd name="adj" fmla="val 99838"/>
              </a:avLst>
            </a:prstTxWarp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latinLnBrk="0" hangingPunct="0">
              <a:defRPr/>
            </a:pPr>
            <a:r>
              <a:rPr kumimoji="0" lang="en-US" altLang="ko-KR" sz="4800" b="1" i="1" kern="10" spc="150" dirty="0">
                <a:ln w="11430">
                  <a:solidFill>
                    <a:srgbClr val="452103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휴먼둥근헤드라인"/>
                <a:ea typeface="휴먼둥근헤드라인"/>
              </a:rPr>
              <a:t>8</a:t>
            </a:r>
            <a:endParaRPr kumimoji="0" lang="ko-KR" altLang="en-US" sz="4800" b="1" i="1" kern="10" spc="150" dirty="0">
              <a:ln w="11430">
                <a:solidFill>
                  <a:srgbClr val="452103"/>
                </a:solidFill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휴먼둥근헤드라인"/>
              <a:ea typeface="휴먼둥근헤드라인"/>
            </a:endParaRPr>
          </a:p>
        </p:txBody>
      </p:sp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유효성 검사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id="{F71D86D2-9A5A-436C-BF82-D67BDBFA3162}"/>
              </a:ext>
            </a:extLst>
          </p:cNvPr>
          <p:cNvSpPr/>
          <p:nvPr/>
        </p:nvSpPr>
        <p:spPr>
          <a:xfrm>
            <a:off x="1087060" y="1125017"/>
            <a:ext cx="7085340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40D9FBBA-2095-4493-930B-54EB43818DE9}"/>
              </a:ext>
            </a:extLst>
          </p:cNvPr>
          <p:cNvSpPr txBox="1"/>
          <p:nvPr/>
        </p:nvSpPr>
        <p:spPr bwMode="auto">
          <a:xfrm>
            <a:off x="1683837" y="1219842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유효성 검사의 개요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2A9FECBD-702A-4BA1-88AB-67BBCAFAED1F}"/>
              </a:ext>
            </a:extLst>
          </p:cNvPr>
          <p:cNvSpPr/>
          <p:nvPr/>
        </p:nvSpPr>
        <p:spPr>
          <a:xfrm>
            <a:off x="755576" y="1094712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BF5C5-2F04-4802-A8CF-73191AEB43D8}"/>
              </a:ext>
            </a:extLst>
          </p:cNvPr>
          <p:cNvSpPr txBox="1"/>
          <p:nvPr/>
        </p:nvSpPr>
        <p:spPr>
          <a:xfrm>
            <a:off x="879457" y="1175362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1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F87AFBBE-263B-456C-A0CE-E79DEEC79E2B}"/>
              </a:ext>
            </a:extLst>
          </p:cNvPr>
          <p:cNvSpPr/>
          <p:nvPr/>
        </p:nvSpPr>
        <p:spPr>
          <a:xfrm>
            <a:off x="1059502" y="1773090"/>
            <a:ext cx="7116018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1C8BBBE-666B-476A-B7E7-D3888F6B2AC5}"/>
              </a:ext>
            </a:extLst>
          </p:cNvPr>
          <p:cNvSpPr txBox="1"/>
          <p:nvPr/>
        </p:nvSpPr>
        <p:spPr bwMode="auto">
          <a:xfrm>
            <a:off x="1683837" y="1867915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유효성 검사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val 33">
            <a:extLst>
              <a:ext uri="{FF2B5EF4-FFF2-40B4-BE49-F238E27FC236}">
                <a16:creationId xmlns:a16="http://schemas.microsoft.com/office/drawing/2014/main" id="{72F09F89-0230-43A5-A4A3-5239F66A6865}"/>
              </a:ext>
            </a:extLst>
          </p:cNvPr>
          <p:cNvSpPr/>
          <p:nvPr/>
        </p:nvSpPr>
        <p:spPr>
          <a:xfrm>
            <a:off x="755576" y="1742784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rgbClr val="40C4C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036CA4-28CD-44F9-B258-DDA77AD699B0}"/>
              </a:ext>
            </a:extLst>
          </p:cNvPr>
          <p:cNvSpPr txBox="1"/>
          <p:nvPr/>
        </p:nvSpPr>
        <p:spPr>
          <a:xfrm>
            <a:off x="879457" y="1823435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2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A1D087A5-BC02-4A12-A503-0123A850BC88}"/>
              </a:ext>
            </a:extLst>
          </p:cNvPr>
          <p:cNvSpPr/>
          <p:nvPr/>
        </p:nvSpPr>
        <p:spPr>
          <a:xfrm>
            <a:off x="1087060" y="2421162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228991CF-971D-4BD1-9444-A3ADF601E98D}"/>
              </a:ext>
            </a:extLst>
          </p:cNvPr>
          <p:cNvSpPr txBox="1"/>
          <p:nvPr/>
        </p:nvSpPr>
        <p:spPr bwMode="auto">
          <a:xfrm>
            <a:off x="1683837" y="2515987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형식 유효성 검사</a:t>
            </a: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id="{EFB909A1-2553-431D-8951-2FCAB83352F3}"/>
              </a:ext>
            </a:extLst>
          </p:cNvPr>
          <p:cNvSpPr/>
          <p:nvPr/>
        </p:nvSpPr>
        <p:spPr>
          <a:xfrm>
            <a:off x="755576" y="2390856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6723D6-6106-4E80-84D8-C064B79C73D4}"/>
              </a:ext>
            </a:extLst>
          </p:cNvPr>
          <p:cNvSpPr txBox="1"/>
          <p:nvPr/>
        </p:nvSpPr>
        <p:spPr>
          <a:xfrm>
            <a:off x="879457" y="2471508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3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46" name="Rectangle 36">
            <a:extLst>
              <a:ext uri="{FF2B5EF4-FFF2-40B4-BE49-F238E27FC236}">
                <a16:creationId xmlns:a16="http://schemas.microsoft.com/office/drawing/2014/main" id="{DF00DCCC-102E-4145-BABA-D22898295518}"/>
              </a:ext>
            </a:extLst>
          </p:cNvPr>
          <p:cNvSpPr/>
          <p:nvPr/>
        </p:nvSpPr>
        <p:spPr>
          <a:xfrm>
            <a:off x="1087060" y="3069234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303F313C-C501-479B-9D28-10531B623A70}"/>
              </a:ext>
            </a:extLst>
          </p:cNvPr>
          <p:cNvSpPr txBox="1"/>
          <p:nvPr/>
        </p:nvSpPr>
        <p:spPr bwMode="auto">
          <a:xfrm>
            <a:off x="1683837" y="3164059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맑은 고딕" panose="020B0503020000020004" pitchFamily="50" charset="-127"/>
              </a:rPr>
              <a:t>[</a:t>
            </a:r>
            <a:r>
              <a:rPr lang="ko-KR" altLang="en-US" b="1" dirty="0">
                <a:latin typeface="맑은 고딕" panose="020B0503020000020004" pitchFamily="50" charset="-127"/>
              </a:rPr>
              <a:t>웹 쇼핑몰</a:t>
            </a:r>
            <a:r>
              <a:rPr lang="en-US" altLang="ko-KR" b="1" dirty="0">
                <a:latin typeface="맑은 고딕" panose="020B0503020000020004" pitchFamily="50" charset="-127"/>
              </a:rPr>
              <a:t>] </a:t>
            </a:r>
            <a:r>
              <a:rPr lang="ko-KR" altLang="en-US" b="1" dirty="0">
                <a:latin typeface="맑은 고딕" panose="020B0503020000020004" pitchFamily="50" charset="-127"/>
              </a:rPr>
              <a:t>상품 등록 데이터의 유효성 검사하기</a:t>
            </a:r>
          </a:p>
        </p:txBody>
      </p:sp>
      <p:sp>
        <p:nvSpPr>
          <p:cNvPr id="48" name="Oval 38">
            <a:extLst>
              <a:ext uri="{FF2B5EF4-FFF2-40B4-BE49-F238E27FC236}">
                <a16:creationId xmlns:a16="http://schemas.microsoft.com/office/drawing/2014/main" id="{D68CA34E-6EE0-4926-ABBC-012D5C2B9515}"/>
              </a:ext>
            </a:extLst>
          </p:cNvPr>
          <p:cNvSpPr/>
          <p:nvPr/>
        </p:nvSpPr>
        <p:spPr>
          <a:xfrm>
            <a:off x="755576" y="3038928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1026EB-829B-4499-8EEA-C09E64B8D656}"/>
              </a:ext>
            </a:extLst>
          </p:cNvPr>
          <p:cNvSpPr txBox="1"/>
          <p:nvPr/>
        </p:nvSpPr>
        <p:spPr>
          <a:xfrm>
            <a:off x="879457" y="3119581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4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9DA83C-0E30-44FD-B981-CD2EAE71A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23" y="4099103"/>
            <a:ext cx="79533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47AFA1-DBAB-4254-AD78-5960E59612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</a:p>
          <a:p>
            <a:pPr lvl="1"/>
            <a:r>
              <a:rPr lang="ko-KR" altLang="en-US" b="0" dirty="0"/>
              <a:t>사용자가 폼 페이지에서 입력한 데이터 값이 서버로 전송되기 전에 특정 규칙에 맞게 입력되었는지 검증하는 것</a:t>
            </a:r>
            <a:endParaRPr lang="en-US" altLang="ko-KR" b="0" dirty="0"/>
          </a:p>
          <a:p>
            <a:pPr lvl="1"/>
            <a:r>
              <a:rPr lang="ko-KR" altLang="en-US" b="0" dirty="0"/>
              <a:t>사용자가 실수로 유효하지 않은 데이터 값을 입력하면 부적합하다고 판단하여 다시 폼 페이지로 되돌려 사용자에게 오류가 있음을 알려줌</a:t>
            </a:r>
            <a:endParaRPr lang="en-US" altLang="ko-KR" b="0" dirty="0"/>
          </a:p>
          <a:p>
            <a:pPr lvl="1"/>
            <a:r>
              <a:rPr lang="ko-KR" altLang="en-US" b="0" dirty="0"/>
              <a:t>유효성 검사의 예</a:t>
            </a:r>
            <a:endParaRPr lang="en-US" altLang="ko-KR" b="0" dirty="0"/>
          </a:p>
          <a:p>
            <a:pPr lvl="2"/>
            <a:r>
              <a:rPr lang="ko-KR" altLang="en-US" b="0" dirty="0"/>
              <a:t>폼 페이지에서 나이를 입력할 때 숫자를 인식하는 검사</a:t>
            </a:r>
            <a:r>
              <a:rPr lang="en-US" altLang="ko-KR" b="0" dirty="0"/>
              <a:t>, </a:t>
            </a:r>
            <a:r>
              <a:rPr lang="ko-KR" altLang="en-US" b="0" dirty="0"/>
              <a:t>회원 가입 시 아이디 중복 검사</a:t>
            </a:r>
            <a:r>
              <a:rPr lang="en-US" altLang="ko-KR" b="0" dirty="0"/>
              <a:t>, </a:t>
            </a:r>
            <a:r>
              <a:rPr lang="ko-KR" altLang="en-US" b="0" dirty="0"/>
              <a:t>로그인 인증 시 아이디와 비밀번호 검사</a:t>
            </a:r>
            <a:r>
              <a:rPr lang="en-US" altLang="ko-KR" b="0" dirty="0"/>
              <a:t>, IP </a:t>
            </a:r>
            <a:r>
              <a:rPr lang="ko-KR" altLang="en-US" b="0" dirty="0"/>
              <a:t>패킷 검사 등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B1366D-9170-441B-9164-6CC1D3BD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유효성 검사의 개요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EAC8CD-209D-4A4C-91E6-DE58C8D7A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789040"/>
            <a:ext cx="7344816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0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58345CA-8612-4668-87C7-C4B1C3BE56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807896" cy="5715000"/>
          </a:xfrm>
        </p:spPr>
        <p:txBody>
          <a:bodyPr/>
          <a:lstStyle/>
          <a:p>
            <a:r>
              <a:rPr lang="ko-KR" altLang="en-US" dirty="0"/>
              <a:t>유효성 검사를 위한 </a:t>
            </a:r>
            <a:r>
              <a:rPr lang="ko-KR" altLang="en-US" dirty="0" err="1"/>
              <a:t>핸들러</a:t>
            </a:r>
            <a:r>
              <a:rPr lang="ko-KR" altLang="en-US" dirty="0"/>
              <a:t> 함수</a:t>
            </a:r>
            <a:endParaRPr lang="en-US" altLang="ko-KR" dirty="0"/>
          </a:p>
          <a:p>
            <a:pPr lvl="1"/>
            <a:r>
              <a:rPr lang="ko-KR" altLang="en-US" b="0" dirty="0" err="1"/>
              <a:t>핸들러</a:t>
            </a:r>
            <a:r>
              <a:rPr lang="ko-KR" altLang="en-US" b="0" dirty="0"/>
              <a:t> 함수는 폼 페이지에서 이벤트가 발생했을 때</a:t>
            </a:r>
            <a:r>
              <a:rPr lang="en-US" altLang="ko-KR" b="0" dirty="0"/>
              <a:t>(&lt;submit&gt;</a:t>
            </a:r>
            <a:r>
              <a:rPr lang="ko-KR" altLang="en-US" b="0" dirty="0"/>
              <a:t>를 클릭한 경우</a:t>
            </a:r>
            <a:r>
              <a:rPr lang="en-US" altLang="ko-KR" b="0" dirty="0"/>
              <a:t>)</a:t>
            </a:r>
            <a:r>
              <a:rPr lang="ko-KR" altLang="en-US" b="0" dirty="0"/>
              <a:t>의 유효성 검사를 위해 </a:t>
            </a:r>
            <a:r>
              <a:rPr lang="ko-KR" altLang="en-US" b="0" dirty="0" err="1"/>
              <a:t>매핑하는</a:t>
            </a:r>
            <a:r>
              <a:rPr lang="ko-KR" altLang="en-US" b="0" dirty="0"/>
              <a:t> </a:t>
            </a:r>
            <a:r>
              <a:rPr lang="ko-KR" altLang="en-US" b="0" dirty="0" err="1"/>
              <a:t>메소드</a:t>
            </a:r>
            <a:endParaRPr lang="en-US" altLang="ko-KR" b="0" dirty="0"/>
          </a:p>
          <a:p>
            <a:pPr lvl="1"/>
            <a:r>
              <a:rPr lang="ko-KR" altLang="en-US" b="0" dirty="0"/>
              <a:t>자바스크립트를 이용하여 유효성 검사를 위한 코드를 작성</a:t>
            </a:r>
            <a:endParaRPr lang="en-US" altLang="ko-KR" b="0" dirty="0"/>
          </a:p>
          <a:p>
            <a:pPr lvl="2"/>
            <a:r>
              <a:rPr lang="ko-KR" altLang="en-US" b="0" dirty="0"/>
              <a:t>자바스크립트는 웹 브라우저에서 유효성 검사를 처리하므로 서버에서 처리하는 </a:t>
            </a:r>
            <a:br>
              <a:rPr lang="en-US" altLang="ko-KR" b="0" dirty="0"/>
            </a:br>
            <a:r>
              <a:rPr lang="ko-KR" altLang="en-US" b="0" dirty="0"/>
              <a:t>것보다 속도가 빠르고 서버에 과부하를 주지 않음</a:t>
            </a:r>
            <a:endParaRPr lang="en-US" altLang="ko-KR" b="0" dirty="0"/>
          </a:p>
          <a:p>
            <a:pPr lvl="1"/>
            <a:r>
              <a:rPr lang="ko-KR" altLang="en-US" b="0" dirty="0"/>
              <a:t>사용자가 폼 페이지에 입력한 데이터 값이 서버로 전송되기 전에 특정 규칙에 맞게 입력되었는지를 검사</a:t>
            </a:r>
            <a:r>
              <a:rPr lang="en-US" altLang="ko-KR" b="0" dirty="0"/>
              <a:t> </a:t>
            </a:r>
          </a:p>
          <a:p>
            <a:pPr lvl="1"/>
            <a:r>
              <a:rPr lang="ko-KR" altLang="en-US" b="0" dirty="0"/>
              <a:t>입력된 데이터가 유효성 검사를 통과하면 서버로 전송하고</a:t>
            </a:r>
            <a:r>
              <a:rPr lang="en-US" altLang="ko-KR" b="0" dirty="0"/>
              <a:t>, </a:t>
            </a:r>
            <a:r>
              <a:rPr lang="ko-KR" altLang="en-US" b="0" dirty="0"/>
              <a:t>그렇지 않으면 </a:t>
            </a:r>
            <a:br>
              <a:rPr lang="en-US" altLang="ko-KR" b="0" dirty="0"/>
            </a:br>
            <a:r>
              <a:rPr lang="ko-KR" altLang="en-US" b="0" dirty="0"/>
              <a:t>서버 전송을 취소하고 사용자에게 오류 메시지를 보여주는 역할을 함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D40949-2BE6-4E37-9422-3C2F2BE8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유효성 검사의 개요</a:t>
            </a:r>
          </a:p>
        </p:txBody>
      </p:sp>
    </p:spTree>
    <p:extLst>
      <p:ext uri="{BB962C8B-B14F-4D97-AF65-F5344CB8AC3E}">
        <p14:creationId xmlns:p14="http://schemas.microsoft.com/office/powerpoint/2010/main" val="103763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2A4974-42AD-4091-89A9-B930285227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유효성 검사를 위해 </a:t>
            </a:r>
            <a:r>
              <a:rPr lang="ko-KR" altLang="en-US" dirty="0" err="1"/>
              <a:t>핸들러</a:t>
            </a:r>
            <a:r>
              <a:rPr lang="ko-KR" altLang="en-US" dirty="0"/>
              <a:t> 함수를 만드는 과정</a:t>
            </a:r>
            <a:endParaRPr lang="en-US" altLang="ko-KR" b="0" dirty="0"/>
          </a:p>
          <a:p>
            <a:pPr marL="357187" lvl="1" indent="0">
              <a:buNone/>
            </a:pPr>
            <a:r>
              <a:rPr lang="ko-KR" altLang="en-US" b="0" dirty="0"/>
              <a:t>❶ </a:t>
            </a:r>
            <a:r>
              <a:rPr lang="en-US" altLang="ko-KR" b="0" dirty="0"/>
              <a:t>input </a:t>
            </a:r>
            <a:r>
              <a:rPr lang="ko-KR" altLang="en-US" b="0" dirty="0"/>
              <a:t>태그의 </a:t>
            </a:r>
            <a:r>
              <a:rPr lang="en-US" altLang="ko-KR" b="0" dirty="0"/>
              <a:t>type </a:t>
            </a:r>
            <a:r>
              <a:rPr lang="ko-KR" altLang="en-US" b="0" dirty="0"/>
              <a:t>속성 값이 </a:t>
            </a:r>
            <a:r>
              <a:rPr lang="en-US" altLang="ko-KR" b="0" dirty="0"/>
              <a:t>submit</a:t>
            </a:r>
            <a:r>
              <a:rPr lang="ko-KR" altLang="en-US" b="0" dirty="0"/>
              <a:t>인 경우 </a:t>
            </a:r>
            <a:r>
              <a:rPr lang="en-US" altLang="ko-KR" b="0" dirty="0" err="1"/>
              <a:t>onclick</a:t>
            </a:r>
            <a:r>
              <a:rPr lang="en-US" altLang="ko-KR" b="0" dirty="0"/>
              <a:t> </a:t>
            </a:r>
            <a:r>
              <a:rPr lang="ko-KR" altLang="en-US" b="0" dirty="0"/>
              <a:t>속성을 이용하여 </a:t>
            </a:r>
            <a:br>
              <a:rPr lang="en-US" altLang="ko-KR" b="0" dirty="0"/>
            </a:br>
            <a:r>
              <a:rPr lang="en-US" altLang="ko-KR" b="0" dirty="0"/>
              <a:t>    </a:t>
            </a:r>
            <a:r>
              <a:rPr lang="ko-KR" altLang="en-US" b="0" dirty="0" err="1"/>
              <a:t>핸들러</a:t>
            </a:r>
            <a:r>
              <a:rPr lang="ko-KR" altLang="en-US" b="0" dirty="0"/>
              <a:t> 함수를 설정</a:t>
            </a:r>
            <a:r>
              <a:rPr lang="en-US" altLang="ko-KR" b="0" dirty="0"/>
              <a:t> </a:t>
            </a:r>
            <a:r>
              <a:rPr lang="ko-KR" altLang="en-US" b="0" dirty="0"/>
              <a:t>또는 </a:t>
            </a:r>
            <a:r>
              <a:rPr lang="en-US" altLang="ko-KR" b="0" dirty="0"/>
              <a:t>form </a:t>
            </a:r>
            <a:r>
              <a:rPr lang="ko-KR" altLang="en-US" b="0" dirty="0"/>
              <a:t>태그의 </a:t>
            </a:r>
            <a:r>
              <a:rPr lang="en-US" altLang="ko-KR" b="0" dirty="0" err="1"/>
              <a:t>onsubmit</a:t>
            </a:r>
            <a:r>
              <a:rPr lang="en-US" altLang="ko-KR" b="0" dirty="0"/>
              <a:t> </a:t>
            </a:r>
            <a:r>
              <a:rPr lang="ko-KR" altLang="en-US" b="0" dirty="0"/>
              <a:t>속성 값에 설정</a:t>
            </a:r>
            <a:endParaRPr lang="en-US" altLang="ko-KR" b="0" dirty="0"/>
          </a:p>
          <a:p>
            <a:pPr marL="357187" lvl="1" indent="0">
              <a:buNone/>
            </a:pPr>
            <a:r>
              <a:rPr lang="ko-KR" altLang="en-US" b="0" dirty="0"/>
              <a:t>❷ 자바스크립트를 이용하여 </a:t>
            </a:r>
            <a:r>
              <a:rPr lang="en-US" altLang="ko-KR" b="0" dirty="0"/>
              <a:t>&lt;/script&gt;…&lt;script&gt; </a:t>
            </a:r>
            <a:r>
              <a:rPr lang="ko-KR" altLang="en-US" b="0" dirty="0"/>
              <a:t>내에 </a:t>
            </a:r>
            <a:r>
              <a:rPr lang="ko-KR" altLang="en-US" b="0" dirty="0" err="1"/>
              <a:t>핸들러</a:t>
            </a:r>
            <a:r>
              <a:rPr lang="ko-KR" altLang="en-US" b="0" dirty="0"/>
              <a:t> 함수를 작성</a:t>
            </a:r>
            <a:r>
              <a:rPr lang="en-US" altLang="ko-KR" b="0" dirty="0"/>
              <a:t> </a:t>
            </a:r>
            <a:br>
              <a:rPr lang="en-US" altLang="ko-KR" b="0" dirty="0"/>
            </a:br>
            <a:r>
              <a:rPr lang="en-US" altLang="ko-KR" b="0" dirty="0"/>
              <a:t>    &lt;script&gt;…&lt;/script&gt; </a:t>
            </a:r>
            <a:r>
              <a:rPr lang="ko-KR" altLang="en-US" b="0" dirty="0"/>
              <a:t>구문은 </a:t>
            </a:r>
            <a:r>
              <a:rPr lang="en-US" altLang="ko-KR" b="0" dirty="0"/>
              <a:t>JSP </a:t>
            </a:r>
            <a:r>
              <a:rPr lang="ko-KR" altLang="en-US" b="0" dirty="0"/>
              <a:t>페이지의 어디에 위치해도 상관없음</a:t>
            </a:r>
            <a:r>
              <a:rPr lang="en-US" altLang="ko-KR" b="0" dirty="0"/>
              <a:t>.</a:t>
            </a:r>
          </a:p>
          <a:p>
            <a:pPr marL="357187" lvl="1" indent="0">
              <a:buNone/>
            </a:pPr>
            <a:r>
              <a:rPr lang="ko-KR" altLang="en-US" b="0" dirty="0"/>
              <a:t>❸ 폼 페이지에서 입력된 데이터 값을 </a:t>
            </a:r>
            <a:r>
              <a:rPr lang="ko-KR" altLang="en-US" b="0" dirty="0" err="1"/>
              <a:t>핸들러</a:t>
            </a:r>
            <a:r>
              <a:rPr lang="ko-KR" altLang="en-US" b="0" dirty="0"/>
              <a:t> 함수로 가져오기 위해 </a:t>
            </a:r>
            <a:r>
              <a:rPr lang="en-US" altLang="ko-KR" b="0" dirty="0"/>
              <a:t>form </a:t>
            </a:r>
            <a:br>
              <a:rPr lang="en-US" altLang="ko-KR" b="0" dirty="0"/>
            </a:br>
            <a:r>
              <a:rPr lang="en-US" altLang="ko-KR" b="0" dirty="0"/>
              <a:t>    </a:t>
            </a:r>
            <a:r>
              <a:rPr lang="ko-KR" altLang="en-US" b="0" dirty="0"/>
              <a:t>태그의 </a:t>
            </a:r>
            <a:r>
              <a:rPr lang="en-US" altLang="ko-KR" b="0" dirty="0"/>
              <a:t>name </a:t>
            </a:r>
            <a:r>
              <a:rPr lang="ko-KR" altLang="en-US" b="0" dirty="0"/>
              <a:t>속성 또는 </a:t>
            </a:r>
            <a:r>
              <a:rPr lang="en-US" altLang="ko-KR" b="0" dirty="0"/>
              <a:t>forms </a:t>
            </a:r>
            <a:r>
              <a:rPr lang="ko-KR" altLang="en-US" b="0" dirty="0"/>
              <a:t>객체를 이용</a:t>
            </a:r>
            <a:r>
              <a:rPr lang="en-US" altLang="ko-KR" b="0" dirty="0"/>
              <a:t> </a:t>
            </a:r>
          </a:p>
          <a:p>
            <a:pPr lvl="2"/>
            <a:r>
              <a:rPr lang="en-US" altLang="ko-KR" b="0" dirty="0"/>
              <a:t>forms </a:t>
            </a:r>
            <a:r>
              <a:rPr lang="ko-KR" altLang="en-US" b="0" dirty="0"/>
              <a:t>객체를 이용하는 경우</a:t>
            </a:r>
            <a:r>
              <a:rPr lang="en-US" altLang="ko-KR" b="0" dirty="0"/>
              <a:t>, forms </a:t>
            </a:r>
            <a:r>
              <a:rPr lang="ko-KR" altLang="en-US" b="0" dirty="0"/>
              <a:t>객체는 배열의 형태이기 때문에 </a:t>
            </a:r>
            <a:r>
              <a:rPr lang="en-US" altLang="ko-KR" b="0" dirty="0"/>
              <a:t>length </a:t>
            </a:r>
            <a:r>
              <a:rPr lang="ko-KR" altLang="en-US" b="0" dirty="0"/>
              <a:t>속성으로 크기를 알 수 있고 배열 값인 </a:t>
            </a:r>
            <a:r>
              <a:rPr lang="en-US" altLang="ko-KR" b="0" dirty="0"/>
              <a:t>index</a:t>
            </a:r>
            <a:r>
              <a:rPr lang="ko-KR" altLang="en-US" b="0" dirty="0"/>
              <a:t>는 </a:t>
            </a:r>
            <a:r>
              <a:rPr lang="en-US" altLang="ko-KR" b="0" dirty="0"/>
              <a:t>form </a:t>
            </a:r>
            <a:r>
              <a:rPr lang="ko-KR" altLang="en-US" b="0" dirty="0"/>
              <a:t>태그가 나타나는 순서로 </a:t>
            </a:r>
            <a:r>
              <a:rPr lang="en-US" altLang="ko-KR" b="0" dirty="0"/>
              <a:t>0</a:t>
            </a:r>
            <a:r>
              <a:rPr lang="ko-KR" altLang="en-US" b="0" dirty="0"/>
              <a:t>부터 시작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4AA8B83-A569-4D64-BDCC-447AC4D5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유효성 검사의 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E3D357-2255-4D3F-BC71-A45B9ACB3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1" y="4149080"/>
            <a:ext cx="7060431" cy="25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4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ECFD87E-74D4-4712-A57D-84B6DAABA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유효성 검사의 개요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6DAD746-8A4F-4245-878F-CFC0C0F69EC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24534" y="1196752"/>
            <a:ext cx="7569581" cy="17497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01FB0A9-0EB6-4029-90A4-ACEAEA231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75" y="2927488"/>
            <a:ext cx="7560840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9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14826"/>
            <a:ext cx="6912768" cy="554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F2823FCE-7283-4BFC-8AA8-03EA61F2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유효성 검사의 개요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79" y="879564"/>
            <a:ext cx="8201025" cy="523875"/>
          </a:xfrm>
          <a:prstGeom prst="rect">
            <a:avLst/>
          </a:prstGeom>
        </p:spPr>
      </p:pic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84" y="3650086"/>
            <a:ext cx="1515443" cy="1251887"/>
          </a:xfr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299" y="2132856"/>
            <a:ext cx="2316298" cy="146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4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938714-6489-48F2-8E3E-D4CA731FD1F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유효성 검사 처리 방법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FAB8CCE-3582-4936-A490-623B0117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유효성 검사의 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A920AA-60FE-43F7-8F78-7A79F4AAC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56792"/>
            <a:ext cx="8258175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99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8F657D-05E2-4916-A422-B015A22B0C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기본 유효성 검사</a:t>
            </a:r>
            <a:endParaRPr lang="en-US" altLang="ko-KR" dirty="0"/>
          </a:p>
          <a:p>
            <a:pPr lvl="1"/>
            <a:r>
              <a:rPr lang="ko-KR" altLang="en-US" b="0" dirty="0"/>
              <a:t>사용자가 폼 페이지의 입력 항목에 입력한 데이터 값이 있는지 없는지 </a:t>
            </a:r>
            <a:br>
              <a:rPr lang="en-US" altLang="ko-KR" b="0" dirty="0"/>
            </a:br>
            <a:r>
              <a:rPr lang="ko-KR" altLang="en-US" b="0" dirty="0"/>
              <a:t>확인하고 데이터 길이</a:t>
            </a:r>
            <a:r>
              <a:rPr lang="en-US" altLang="ko-KR" b="0" dirty="0"/>
              <a:t>, </a:t>
            </a:r>
            <a:r>
              <a:rPr lang="ko-KR" altLang="en-US" b="0" dirty="0"/>
              <a:t>숫자 등 기본적인 것이 맞는지 검사</a:t>
            </a:r>
            <a:endParaRPr lang="en-US" altLang="ko-KR" b="0" dirty="0"/>
          </a:p>
          <a:p>
            <a:pPr lvl="1"/>
            <a:r>
              <a:rPr lang="ko-KR" altLang="en-US" b="0" dirty="0"/>
              <a:t>폼 페이지의 입력 데이터 길이를 확인하여 데이터의 유무를 검증하는 것은 </a:t>
            </a:r>
            <a:br>
              <a:rPr lang="en-US" altLang="ko-KR" b="0" dirty="0"/>
            </a:br>
            <a:r>
              <a:rPr lang="ko-KR" altLang="en-US" b="0" dirty="0"/>
              <a:t>기본 유효성 검사에 해당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845117-3875-4381-9FA3-9055B86A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379590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3C295B0-C0DC-49E5-843B-14B43085BA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데이터 유무 확인하기</a:t>
            </a:r>
            <a:endParaRPr lang="en-US" altLang="ko-KR" dirty="0"/>
          </a:p>
          <a:p>
            <a:pPr lvl="1"/>
            <a:r>
              <a:rPr lang="ko-KR" altLang="en-US" b="0" dirty="0"/>
              <a:t>데이터 값의 유무에 대한 검사</a:t>
            </a:r>
            <a:endParaRPr lang="en-US" altLang="ko-KR" b="0" dirty="0"/>
          </a:p>
          <a:p>
            <a:pPr lvl="2"/>
            <a:r>
              <a:rPr lang="ko-KR" altLang="en-US" b="0" dirty="0"/>
              <a:t>회원 가입 페이지에서 사용자가 아이디와 비밀번호 등의 필수 입력 항목을 입력하지 않고 </a:t>
            </a:r>
            <a:r>
              <a:rPr lang="en-US" altLang="ko-KR" b="0" dirty="0"/>
              <a:t>&lt;</a:t>
            </a:r>
            <a:r>
              <a:rPr lang="ko-KR" altLang="en-US" b="0" dirty="0"/>
              <a:t>전송</a:t>
            </a:r>
            <a:r>
              <a:rPr lang="en-US" altLang="ko-KR" b="0" dirty="0"/>
              <a:t>&gt;</a:t>
            </a:r>
            <a:r>
              <a:rPr lang="ko-KR" altLang="en-US" b="0" dirty="0"/>
              <a:t>을 클릭하면 입력하지 않았다는 오류 메시지가 나타나는 것</a:t>
            </a:r>
            <a:endParaRPr lang="en-US" altLang="ko-KR" b="0" dirty="0"/>
          </a:p>
          <a:p>
            <a:pPr lvl="2"/>
            <a:endParaRPr lang="en-US" altLang="ko-KR" b="0" dirty="0"/>
          </a:p>
          <a:p>
            <a:pPr lvl="1"/>
            <a:r>
              <a:rPr lang="ko-KR" altLang="en-US" b="0" dirty="0"/>
              <a:t>입력 데이터의 유무를 검사하는 형식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1699DFB-6D37-4554-B200-36FE988F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1A52D3-F5DD-4214-8603-75675B3F9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03518"/>
            <a:ext cx="767824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75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6B46F6-8340-448F-8B01-46DB62F7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539552" y="1196752"/>
            <a:ext cx="7247136" cy="4990007"/>
            <a:chOff x="361405" y="1114624"/>
            <a:chExt cx="8362950" cy="550418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8C9440A-D082-4362-8C3C-84509635D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405" y="1114624"/>
              <a:ext cx="8362950" cy="397192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2AEC3B8-83ED-4857-AC26-C921B8CFD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230" y="3551757"/>
              <a:ext cx="8239125" cy="3067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788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4C8C823-AF95-40D9-9443-2EBE2C23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18324A-4454-444C-8778-6F4C82BF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31818"/>
            <a:ext cx="8181975" cy="514350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484265" y="1556792"/>
            <a:ext cx="6680023" cy="5174633"/>
            <a:chOff x="379717" y="68883"/>
            <a:chExt cx="8364233" cy="93535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1BAB648-EE2E-4E8C-B485-288FD122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050" y="68883"/>
              <a:ext cx="8343900" cy="675322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F581348-7DBA-4969-88B9-8F37BB4F1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717" y="6698283"/>
              <a:ext cx="8353425" cy="2724150"/>
            </a:xfrm>
            <a:prstGeom prst="rect">
              <a:avLst/>
            </a:prstGeom>
          </p:spPr>
        </p:pic>
      </p:grp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57423"/>
            <a:ext cx="2232248" cy="1408358"/>
          </a:xfrm>
        </p:spPr>
      </p:pic>
    </p:spTree>
    <p:extLst>
      <p:ext uri="{BB962C8B-B14F-4D97-AF65-F5344CB8AC3E}">
        <p14:creationId xmlns:p14="http://schemas.microsoft.com/office/powerpoint/2010/main" val="893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600BB14-1E87-49C0-AED8-C3890529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94144" y="1052736"/>
            <a:ext cx="7392544" cy="4944599"/>
            <a:chOff x="394144" y="950071"/>
            <a:chExt cx="8349806" cy="569533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392D533-B5E5-40C0-97F7-4B1D21C32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050" y="950071"/>
              <a:ext cx="8343900" cy="45624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DC0E0D6-19CB-49BB-9DF8-619803DCB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144" y="5483357"/>
              <a:ext cx="8315325" cy="1162050"/>
            </a:xfrm>
            <a:prstGeom prst="rect">
              <a:avLst/>
            </a:prstGeom>
          </p:spPr>
        </p:pic>
      </p:grpSp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556792"/>
            <a:ext cx="2464080" cy="1368152"/>
          </a:xfrm>
        </p:spPr>
      </p:pic>
    </p:spTree>
    <p:extLst>
      <p:ext uri="{BB962C8B-B14F-4D97-AF65-F5344CB8AC3E}">
        <p14:creationId xmlns:p14="http://schemas.microsoft.com/office/powerpoint/2010/main" val="2877458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42F68F2-FB24-4C9F-91AC-5B8AE21AD8D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데이터 길이 확인하기</a:t>
            </a:r>
            <a:endParaRPr lang="en-US" altLang="ko-KR" dirty="0"/>
          </a:p>
          <a:p>
            <a:pPr lvl="1"/>
            <a:r>
              <a:rPr lang="ko-KR" altLang="en-US" b="0" dirty="0"/>
              <a:t>회원 가입 페이지에서 아이디</a:t>
            </a:r>
            <a:r>
              <a:rPr lang="en-US" altLang="ko-KR" b="0" dirty="0"/>
              <a:t>, </a:t>
            </a:r>
            <a:r>
              <a:rPr lang="ko-KR" altLang="en-US" b="0" dirty="0"/>
              <a:t>비밀번호 등과 같은 입력 데이터의 제한 길이를 검사하는 것</a:t>
            </a:r>
            <a:endParaRPr lang="en-US" altLang="ko-KR" b="0" dirty="0"/>
          </a:p>
          <a:p>
            <a:pPr lvl="1"/>
            <a:r>
              <a:rPr lang="ko-KR" altLang="en-US" b="0" dirty="0"/>
              <a:t>예를 들면 입력 데이터의 조건으로 아이디와 비밀번호는 </a:t>
            </a:r>
            <a:r>
              <a:rPr lang="en-US" altLang="ko-KR" b="0" dirty="0"/>
              <a:t>4~12</a:t>
            </a:r>
            <a:r>
              <a:rPr lang="ko-KR" altLang="en-US" b="0" dirty="0"/>
              <a:t>자 이내로 영어와 숫자를 혼합해서 입력할 것</a:t>
            </a:r>
            <a:r>
              <a:rPr lang="en-US" altLang="ko-KR" b="0" dirty="0"/>
              <a:t>, </a:t>
            </a:r>
            <a:r>
              <a:rPr lang="ko-KR" altLang="en-US" b="0" dirty="0"/>
              <a:t>첫 문자는 숫자로 시작할 수 없음 등을 검사하는 것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4EFC090-AAE1-4065-904F-D002D6CC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AB7A8E-09B8-4081-BB78-CD1D85C87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33" y="3140968"/>
            <a:ext cx="7848872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8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E6B2A14-288B-4D29-904A-7ACFC527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67544" y="1006191"/>
            <a:ext cx="8338187" cy="5521518"/>
            <a:chOff x="404812" y="1052736"/>
            <a:chExt cx="8338187" cy="687166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8F238AB-728A-4AEB-A660-09BACB377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4812" y="1052736"/>
              <a:ext cx="8334375" cy="36480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62EF788-A2FB-494D-8C63-1FB0BB894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249" y="4581128"/>
              <a:ext cx="8286750" cy="3343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6446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C7A4FE5-08CF-4044-9BCE-F98BDD21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CFEF45-E71D-484C-A987-75DA8DB0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60" y="955301"/>
            <a:ext cx="8201025" cy="514350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-180528" y="1990119"/>
            <a:ext cx="7848872" cy="5184576"/>
            <a:chOff x="390525" y="565105"/>
            <a:chExt cx="8393023" cy="1062660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7346180-7C40-46E5-A8B9-335E27FDE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0525" y="565105"/>
              <a:ext cx="8362950" cy="644842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61AA9B9-51AD-4B00-8A7A-1A3D969DB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648" y="6943561"/>
              <a:ext cx="8343900" cy="4248150"/>
            </a:xfrm>
            <a:prstGeom prst="rect">
              <a:avLst/>
            </a:prstGeom>
          </p:spPr>
        </p:pic>
      </p:grp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995313"/>
            <a:ext cx="2304256" cy="1199187"/>
          </a:xfr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458" y="2032825"/>
            <a:ext cx="2304256" cy="114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2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71796AB-B7DE-4EAF-AFE4-FA8274A6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90525" y="959811"/>
            <a:ext cx="8362950" cy="5687007"/>
            <a:chOff x="390525" y="1052736"/>
            <a:chExt cx="8362950" cy="569776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4862FC6-0FC4-48E1-83F4-15FBE26F5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9575" y="1052736"/>
              <a:ext cx="8324850" cy="42481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48215CD-480B-4144-B189-1BE4E076C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0525" y="5188401"/>
              <a:ext cx="8362950" cy="1562100"/>
            </a:xfrm>
            <a:prstGeom prst="rect">
              <a:avLst/>
            </a:prstGeom>
          </p:spPr>
        </p:pic>
      </p:grpSp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789510"/>
            <a:ext cx="2736304" cy="1731838"/>
          </a:xfr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996952"/>
            <a:ext cx="2668566" cy="14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67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AC083E-FC9F-42AA-91FB-2251EE6D1C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숫자 여부 확인하기</a:t>
            </a:r>
            <a:endParaRPr lang="en-US" altLang="ko-KR" dirty="0"/>
          </a:p>
          <a:p>
            <a:pPr lvl="1"/>
            <a:r>
              <a:rPr lang="ko-KR" altLang="en-US" b="0" dirty="0"/>
              <a:t>숫자 여부는 </a:t>
            </a:r>
            <a:r>
              <a:rPr lang="en-US" altLang="ko-KR" b="0" dirty="0" err="1"/>
              <a:t>isNaN</a:t>
            </a:r>
            <a:r>
              <a:rPr lang="en-US" altLang="ko-KR" b="0" dirty="0"/>
              <a:t>( ) </a:t>
            </a:r>
            <a:r>
              <a:rPr lang="ko-KR" altLang="en-US" b="0" dirty="0"/>
              <a:t>함수를 활용하여 검사</a:t>
            </a:r>
            <a:endParaRPr lang="en-US" altLang="ko-KR" b="0" dirty="0"/>
          </a:p>
          <a:p>
            <a:pPr lvl="1"/>
            <a:r>
              <a:rPr lang="en-US" altLang="ko-KR" b="0" dirty="0" err="1"/>
              <a:t>isNaN</a:t>
            </a:r>
            <a:endParaRPr lang="en-US" altLang="ko-KR" b="0" dirty="0"/>
          </a:p>
          <a:p>
            <a:pPr lvl="2"/>
            <a:r>
              <a:rPr lang="en-US" altLang="ko-KR" b="0" dirty="0" err="1"/>
              <a:t>isNotaNumber</a:t>
            </a:r>
            <a:r>
              <a:rPr lang="ko-KR" altLang="en-US" b="0" dirty="0"/>
              <a:t>의 약자</a:t>
            </a:r>
            <a:endParaRPr lang="en-US" altLang="ko-KR" b="0" dirty="0"/>
          </a:p>
          <a:p>
            <a:pPr lvl="2"/>
            <a:r>
              <a:rPr lang="en-US" altLang="ko-KR" b="0" dirty="0" err="1"/>
              <a:t>isNaN</a:t>
            </a:r>
            <a:r>
              <a:rPr lang="en-US" altLang="ko-KR" b="0" dirty="0"/>
              <a:t>( ) </a:t>
            </a:r>
            <a:r>
              <a:rPr lang="ko-KR" altLang="en-US" b="0" dirty="0"/>
              <a:t>함수의 인자 값이 숫자이면 </a:t>
            </a:r>
            <a:r>
              <a:rPr lang="en-US" altLang="ko-KR" b="0" dirty="0"/>
              <a:t>false</a:t>
            </a:r>
            <a:r>
              <a:rPr lang="ko-KR" altLang="en-US" b="0" dirty="0"/>
              <a:t>를 반환하고 숫자가 아니면 </a:t>
            </a:r>
            <a:r>
              <a:rPr lang="en-US" altLang="ko-KR" b="0" dirty="0"/>
              <a:t>true</a:t>
            </a:r>
            <a:r>
              <a:rPr lang="ko-KR" altLang="en-US" b="0" dirty="0"/>
              <a:t>를 반환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A949D5-7418-49B3-9184-4351AC0C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675F06-22AF-463A-BC38-B86E176D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2924944"/>
            <a:ext cx="82391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11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BC4AD50-20BD-4F87-A076-DEC3BE1E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23528" y="931818"/>
            <a:ext cx="8343453" cy="5715000"/>
            <a:chOff x="414337" y="370681"/>
            <a:chExt cx="8343453" cy="72626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50C7721-C660-4686-B1E8-799E349AD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337" y="370681"/>
              <a:ext cx="8315325" cy="43053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3FE59EA-68F4-4270-96A2-3C66EF364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415" y="4509120"/>
              <a:ext cx="8334375" cy="3124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5345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18FB4FB-33FD-465D-9165-9AEA866E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478921" cy="602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그룹 9"/>
          <p:cNvGrpSpPr/>
          <p:nvPr/>
        </p:nvGrpSpPr>
        <p:grpSpPr>
          <a:xfrm>
            <a:off x="323528" y="1556792"/>
            <a:ext cx="7082912" cy="5132683"/>
            <a:chOff x="323528" y="1341401"/>
            <a:chExt cx="6756175" cy="4895911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341401"/>
              <a:ext cx="6439011" cy="4895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 descr="D:\송미영jsp\2쇄수정\수정그림\p267_그림1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3221" y="1844824"/>
              <a:ext cx="2107523" cy="1276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3" name="Picture 5" descr="D:\송미영jsp\2쇄수정\수정그림\p267_그림2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4914" y="3204669"/>
              <a:ext cx="2554789" cy="122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8471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18FB4FB-33FD-465D-9165-9AEA866E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7034033" cy="4621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8633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A9EDFE4-9DFE-43C1-A0CC-F1C9FCEF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기본 유효성 검사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54819" y="1268760"/>
            <a:ext cx="8077621" cy="5235183"/>
            <a:chOff x="454819" y="812756"/>
            <a:chExt cx="8362950" cy="569118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E401D7F-AE44-42B1-B3A5-E33702B7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494" y="812756"/>
              <a:ext cx="8296275" cy="309562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F6D4593-199B-446C-9278-683D257BC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819" y="3789318"/>
              <a:ext cx="8362950" cy="2714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3128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68FE6D5-319C-422A-AF70-93A718ACE3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데이터 형식 유효성 검사</a:t>
            </a:r>
            <a:endParaRPr lang="en-US" altLang="ko-KR" dirty="0"/>
          </a:p>
          <a:p>
            <a:pPr lvl="1"/>
            <a:r>
              <a:rPr lang="ko-KR" altLang="en-US" b="0" dirty="0"/>
              <a:t>사용자가 폼 페이지의 입력 항목에 입력한 데이터 값이 특정 형태에 적합한지 검사하기 위해 정규 표현식</a:t>
            </a:r>
            <a:r>
              <a:rPr lang="en-US" altLang="ko-KR" b="0" dirty="0"/>
              <a:t>(regular expression)</a:t>
            </a:r>
            <a:r>
              <a:rPr lang="ko-KR" altLang="en-US" b="0" dirty="0"/>
              <a:t>을 사용하는 방법</a:t>
            </a:r>
            <a:endParaRPr lang="en-US" altLang="ko-KR" b="0" dirty="0"/>
          </a:p>
          <a:p>
            <a:pPr lvl="1"/>
            <a:r>
              <a:rPr lang="ko-KR" altLang="en-US" b="0" dirty="0"/>
              <a:t>기본 유효성검사보다 복잡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D319099-AF63-47EB-B785-CBE7219E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305012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6D4640-ED70-4C48-A623-6541C2585F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정규 표현식 사용하기</a:t>
            </a:r>
            <a:endParaRPr lang="en-US" altLang="ko-KR" dirty="0"/>
          </a:p>
          <a:p>
            <a:pPr lvl="1"/>
            <a:r>
              <a:rPr lang="ko-KR" altLang="en-US" b="0" dirty="0"/>
              <a:t>정규 </a:t>
            </a:r>
            <a:r>
              <a:rPr lang="ko-KR" altLang="en-US" b="0" dirty="0" err="1"/>
              <a:t>표현식</a:t>
            </a:r>
            <a:endParaRPr lang="en-US" altLang="ko-KR" b="0" dirty="0"/>
          </a:p>
          <a:p>
            <a:pPr lvl="2"/>
            <a:r>
              <a:rPr lang="ko-KR" altLang="en-US" b="0" dirty="0"/>
              <a:t>특정한 규칙을 가진 문자열의 집합을 표현하는 데 사용하는 형식 언어</a:t>
            </a:r>
            <a:endParaRPr lang="en-US" altLang="ko-KR" b="0" dirty="0"/>
          </a:p>
          <a:p>
            <a:pPr lvl="2"/>
            <a:r>
              <a:rPr lang="ko-KR" altLang="en-US" b="0" dirty="0"/>
              <a:t>문자열의 특정 형태를 찾아내기 위해 패턴으로 표현한 수식</a:t>
            </a:r>
            <a:endParaRPr lang="en-US" altLang="ko-KR" b="0" dirty="0"/>
          </a:p>
          <a:p>
            <a:pPr lvl="2"/>
            <a:r>
              <a:rPr lang="ko-KR" altLang="en-US" b="0" dirty="0"/>
              <a:t>주민등록번호</a:t>
            </a:r>
            <a:r>
              <a:rPr lang="en-US" altLang="ko-KR" b="0" dirty="0"/>
              <a:t>, </a:t>
            </a:r>
            <a:r>
              <a:rPr lang="ko-KR" altLang="en-US" b="0" dirty="0"/>
              <a:t>전화번호</a:t>
            </a:r>
            <a:r>
              <a:rPr lang="en-US" altLang="ko-KR" b="0" dirty="0"/>
              <a:t>, </a:t>
            </a:r>
            <a:r>
              <a:rPr lang="ko-KR" altLang="en-US" b="0" dirty="0"/>
              <a:t>이메일과 같이 데이터 형식의 패턴이 일정한 데이터를 검사하는 데 이용</a:t>
            </a:r>
            <a:endParaRPr lang="en-US" altLang="ko-KR" b="0" dirty="0"/>
          </a:p>
          <a:p>
            <a:pPr lvl="2"/>
            <a:endParaRPr lang="en-US" altLang="ko-KR" b="0" dirty="0"/>
          </a:p>
          <a:p>
            <a:pPr lvl="1"/>
            <a:r>
              <a:rPr lang="ko-KR" altLang="en-US" dirty="0"/>
              <a:t>정규 </a:t>
            </a:r>
            <a:r>
              <a:rPr lang="ko-KR" altLang="en-US" dirty="0" err="1"/>
              <a:t>표현식의</a:t>
            </a:r>
            <a:r>
              <a:rPr lang="ko-KR" altLang="en-US" dirty="0"/>
              <a:t> 사용 형식</a:t>
            </a:r>
            <a:endParaRPr lang="en-US" altLang="ko-KR" dirty="0"/>
          </a:p>
          <a:p>
            <a:pPr lvl="3"/>
            <a:r>
              <a:rPr lang="ko-KR" altLang="en-US" b="0" dirty="0"/>
              <a:t>객체 초기화</a:t>
            </a:r>
            <a:r>
              <a:rPr lang="en-US" altLang="ko-KR" b="0" dirty="0"/>
              <a:t>(object initializer)</a:t>
            </a:r>
            <a:r>
              <a:rPr lang="ko-KR" altLang="en-US" b="0" dirty="0"/>
              <a:t>를 사용하는 방법으로</a:t>
            </a:r>
            <a:r>
              <a:rPr lang="en-US" altLang="ko-KR" b="0" dirty="0"/>
              <a:t>, </a:t>
            </a:r>
            <a:r>
              <a:rPr lang="ko-KR" altLang="en-US" b="0" dirty="0"/>
              <a:t>입력된 표현식이 거의 바뀌지 않는 상수 형태일 때 주로 사용</a:t>
            </a:r>
            <a:endParaRPr lang="en-US" altLang="ko-KR" b="0" dirty="0"/>
          </a:p>
          <a:p>
            <a:pPr lvl="3"/>
            <a:endParaRPr lang="en-US" altLang="ko-KR" dirty="0"/>
          </a:p>
          <a:p>
            <a:pPr lvl="3"/>
            <a:endParaRPr lang="en-US" altLang="ko-KR" b="0" dirty="0"/>
          </a:p>
          <a:p>
            <a:pPr lvl="3"/>
            <a:endParaRPr lang="en-US" altLang="ko-KR" dirty="0"/>
          </a:p>
          <a:p>
            <a:pPr marL="720725" lvl="3" indent="0">
              <a:buNone/>
            </a:pPr>
            <a:r>
              <a:rPr lang="en-US" altLang="ko-KR" b="0" dirty="0"/>
              <a:t> </a:t>
            </a:r>
          </a:p>
          <a:p>
            <a:pPr lvl="3"/>
            <a:r>
              <a:rPr lang="en-US" altLang="ko-KR" b="0" dirty="0" err="1"/>
              <a:t>RegExp</a:t>
            </a:r>
            <a:r>
              <a:rPr lang="en-US" altLang="ko-KR" b="0" dirty="0"/>
              <a:t> </a:t>
            </a:r>
            <a:r>
              <a:rPr lang="ko-KR" altLang="en-US" b="0" dirty="0"/>
              <a:t>객체를 이용하는 방법으로</a:t>
            </a:r>
            <a:r>
              <a:rPr lang="en-US" altLang="ko-KR" b="0" dirty="0"/>
              <a:t>, </a:t>
            </a:r>
            <a:r>
              <a:rPr lang="ko-KR" altLang="en-US" b="0" dirty="0"/>
              <a:t>정규 표현식이 자주 변경될 때 주로 사용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77716B0-01B0-4665-9133-EA039D3B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75B639-8D11-46A7-8356-B8ECD9DE0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293096"/>
            <a:ext cx="6910388" cy="609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AB5FA7-9756-40D6-91FF-E38ACF799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14" y="5589240"/>
            <a:ext cx="7128792" cy="609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B302EE-35F4-42BF-BD34-DBDE881DC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5" y="4005064"/>
            <a:ext cx="3852961" cy="98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99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C4F4625-1D41-4FF2-8AF6-C1A6753BBC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정규 표현식의 메소드 종류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DFC30D-BE77-4DF1-8685-148458CC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84ABD0-D9D3-4D79-A355-39FF49407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28" y="1484784"/>
            <a:ext cx="7770544" cy="10953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A72510-A113-412F-B86A-468EEE4E3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28" y="2627122"/>
            <a:ext cx="7557680" cy="403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15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2EF1DA-E685-45E4-A237-1ABDDCF2424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정규 표현식의 표현 방법</a:t>
            </a:r>
            <a:endParaRPr lang="en-US" altLang="ko-KR" dirty="0"/>
          </a:p>
          <a:p>
            <a:pPr lvl="1"/>
            <a:r>
              <a:rPr lang="ko-KR" altLang="en-US" b="0" dirty="0"/>
              <a:t>기본 메타 문자의 종류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CB8012-83D6-4DB4-91C3-BAE73666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4749C3-3562-4DC8-B065-5A42CE137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86" y="1844824"/>
            <a:ext cx="6846342" cy="454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53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C334FF2-667D-44F8-9CCA-F1C05088E0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정규 </a:t>
            </a:r>
            <a:r>
              <a:rPr lang="ko-KR" altLang="en-US" dirty="0" err="1"/>
              <a:t>표현식의</a:t>
            </a:r>
            <a:r>
              <a:rPr lang="ko-KR" altLang="en-US" dirty="0"/>
              <a:t> 표현 방법</a:t>
            </a:r>
            <a:endParaRPr lang="en-US" altLang="ko-KR" dirty="0"/>
          </a:p>
          <a:p>
            <a:pPr lvl="1"/>
            <a:r>
              <a:rPr lang="ko-KR" altLang="en-US" b="0" dirty="0"/>
              <a:t>문자 클래스의 종류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3C4C41D-1375-48AD-863E-2E26C6FA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C8316D-DD3C-4FFA-9713-4742137F7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673" y="1774632"/>
            <a:ext cx="6057900" cy="30243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1E57E6-CA8B-405F-9F1E-3A8A1DD27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23" y="4937812"/>
            <a:ext cx="6038850" cy="163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19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805A6DB-C250-4BA3-8CA1-1D9087B9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4C8A8C-A01D-454C-AF04-64A4A13A1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40946"/>
            <a:ext cx="7973568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86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00"/>
          <a:stretch/>
        </p:blipFill>
        <p:spPr bwMode="auto">
          <a:xfrm>
            <a:off x="265166" y="1338516"/>
            <a:ext cx="6264696" cy="546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FBAD4D17-8FCC-41C6-9CB4-AB0A4F7B8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FFFA7A-B377-4327-A6BA-2C3E380E0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836712"/>
            <a:ext cx="7464136" cy="467591"/>
          </a:xfrm>
          <a:prstGeom prst="rect">
            <a:avLst/>
          </a:prstGeom>
        </p:spPr>
      </p:pic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772816"/>
            <a:ext cx="2485131" cy="2448272"/>
          </a:xfrm>
        </p:spPr>
      </p:pic>
    </p:spTree>
    <p:extLst>
      <p:ext uri="{BB962C8B-B14F-4D97-AF65-F5344CB8AC3E}">
        <p14:creationId xmlns:p14="http://schemas.microsoft.com/office/powerpoint/2010/main" val="2048857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50"/>
          <a:stretch/>
        </p:blipFill>
        <p:spPr bwMode="auto">
          <a:xfrm>
            <a:off x="395536" y="908720"/>
            <a:ext cx="5813250" cy="28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FBAD4D17-8FCC-41C6-9CB4-AB0A4F7B8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66" y="3669651"/>
            <a:ext cx="6062966" cy="321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1030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76EEABE-7039-4B49-A0AF-13FEBDAA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6382458" cy="4855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0944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B637CD-F90A-4251-85EF-96C86CDA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형식 유효성 검사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708764-D86D-47A1-9664-833B4E75D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836712"/>
            <a:ext cx="8420100" cy="27336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1562F4-E869-46CB-8864-FB97F6A48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45" y="3451253"/>
            <a:ext cx="8353425" cy="3314700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1418088"/>
            <a:ext cx="2808311" cy="1944216"/>
          </a:xfrm>
        </p:spPr>
      </p:pic>
    </p:spTree>
    <p:extLst>
      <p:ext uri="{BB962C8B-B14F-4D97-AF65-F5344CB8AC3E}">
        <p14:creationId xmlns:p14="http://schemas.microsoft.com/office/powerpoint/2010/main" val="16155980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07B9E29-DE78-4D11-A0EE-072EC99B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8017395" cy="576263"/>
          </a:xfrm>
        </p:spPr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등록 데이터의 유효성 검사하기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D972D6-CE9F-4F00-9F8E-985C89A1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556792"/>
            <a:ext cx="80295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28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84893FC-0001-4DC2-9603-070B3BCA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945387" cy="576263"/>
          </a:xfrm>
        </p:spPr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등록 데이터의 유효성 검사하기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97" y="1340768"/>
            <a:ext cx="6544014" cy="5184576"/>
          </a:xfrm>
          <a:prstGeom prst="rect">
            <a:avLst/>
          </a:prstGeom>
        </p:spPr>
      </p:pic>
      <p:pic>
        <p:nvPicPr>
          <p:cNvPr id="10" name="내용 개체 틀 9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3429000"/>
            <a:ext cx="2699126" cy="1368152"/>
          </a:xfrm>
        </p:spPr>
      </p:pic>
    </p:spTree>
    <p:extLst>
      <p:ext uri="{BB962C8B-B14F-4D97-AF65-F5344CB8AC3E}">
        <p14:creationId xmlns:p14="http://schemas.microsoft.com/office/powerpoint/2010/main" val="38831178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842EEBB-2AE5-4F71-8EDA-2B1DF22A07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자바스크립트 관리 폴더 만들기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B3A1358-C7A6-49E7-B11D-702F7309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873379" cy="576263"/>
          </a:xfrm>
        </p:spPr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등록 데이터의 유효성 검사하기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F6687F-CAE9-463A-9C9D-F6A4909F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37272"/>
            <a:ext cx="8201025" cy="5143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92896"/>
            <a:ext cx="2942857" cy="2285714"/>
          </a:xfrm>
          <a:prstGeom prst="rect">
            <a:avLst/>
          </a:prstGeom>
          <a:ln>
            <a:solidFill>
              <a:srgbClr val="50C1BE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2258953" y="4365104"/>
            <a:ext cx="1592967" cy="43204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423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16030DA-4F4F-4CC7-BA03-1E76592179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유효성 검사를 위한 </a:t>
            </a:r>
            <a:r>
              <a:rPr lang="ko-KR" altLang="en-US" b="0" dirty="0" err="1"/>
              <a:t>핸들러</a:t>
            </a:r>
            <a:r>
              <a:rPr lang="ko-KR" altLang="en-US" b="0" dirty="0"/>
              <a:t> 함수 작성하기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A8B067-5898-442C-A2F3-07FC44214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873379" cy="576263"/>
          </a:xfrm>
        </p:spPr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등록 데이터의 유효성 검사하기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D97F7B-7D6A-41E9-9CF9-11E9DA663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12776"/>
            <a:ext cx="6408712" cy="50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22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F019B9C-1894-4E24-9528-1C78BD09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8089403" cy="576263"/>
          </a:xfrm>
        </p:spPr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등록 데이터의 유효성 검사하기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227013" y="908720"/>
            <a:ext cx="7153299" cy="5904656"/>
            <a:chOff x="296024" y="82550"/>
            <a:chExt cx="8429625" cy="847102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79E92F7-3B06-4DE5-9710-2F7FEB4BC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82550"/>
              <a:ext cx="6768752" cy="5112568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C7CC629-7C58-42B2-8409-591C91892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024" y="5203746"/>
              <a:ext cx="8429625" cy="3349830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D9C97FCA-0A4A-4633-B440-190A9079D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051" y="3789318"/>
            <a:ext cx="5112568" cy="99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12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E565D4F-47C1-4DD3-ADC2-C33D0A5837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등록 페이지 수정하기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FC25F6-9F60-44AF-BBD9-490F21CF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873379" cy="576263"/>
          </a:xfrm>
        </p:spPr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등록 데이터의 유효성 검사하기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83568" y="1340768"/>
            <a:ext cx="7346776" cy="5162203"/>
            <a:chOff x="468631" y="1124744"/>
            <a:chExt cx="8305800" cy="761047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A9A348D-2ED5-4139-A32E-876B97386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631" y="1124744"/>
              <a:ext cx="8305800" cy="12001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F14158A-8466-4180-B177-24A6FCE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406" y="2324894"/>
              <a:ext cx="8201025" cy="6410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097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87BC125-01A2-4E3F-822E-F84E8725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873379" cy="576263"/>
          </a:xfrm>
        </p:spPr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등록 데이터의 유효성 검사하기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227013" y="1052736"/>
            <a:ext cx="7297315" cy="5709617"/>
            <a:chOff x="227013" y="1213477"/>
            <a:chExt cx="9312523" cy="72050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D1C76AB-2E6C-49AB-9413-D301C1632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213477"/>
              <a:ext cx="9144000" cy="515168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BC0A439-BDED-402A-AB19-D56C18F91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013" y="6237312"/>
              <a:ext cx="8353425" cy="2181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5436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461</TotalTime>
  <Words>814</Words>
  <Application>Microsoft Office PowerPoint</Application>
  <PresentationFormat>화면 슬라이드 쇼(4:3)</PresentationFormat>
  <Paragraphs>108</Paragraphs>
  <Slides>40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HY견고딕</vt:lpstr>
      <vt:lpstr>HY견명조</vt:lpstr>
      <vt:lpstr>HY헤드라인M</vt:lpstr>
      <vt:lpstr>굴림</vt:lpstr>
      <vt:lpstr>돋움</vt:lpstr>
      <vt:lpstr>맑은 고딕</vt:lpstr>
      <vt:lpstr>휴먼둥근헤드라인</vt:lpstr>
      <vt:lpstr>휴먼옛체</vt:lpstr>
      <vt:lpstr>Arial</vt:lpstr>
      <vt:lpstr>Wingdings</vt:lpstr>
      <vt:lpstr>1_마스터</vt:lpstr>
      <vt:lpstr>유효성 검사</vt:lpstr>
      <vt:lpstr>PowerPoint 프레젠테이션</vt:lpstr>
      <vt:lpstr>1. 유효성 검사의 개요</vt:lpstr>
      <vt:lpstr>1. 유효성 검사의 개요</vt:lpstr>
      <vt:lpstr>1. 유효성 검사의 개요</vt:lpstr>
      <vt:lpstr>1. 유효성 검사의 개요</vt:lpstr>
      <vt:lpstr>1. 유효성 검사의 개요</vt:lpstr>
      <vt:lpstr>1. 유효성 검사의 개요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2. 기본 유효성 검사</vt:lpstr>
      <vt:lpstr>3. 데이터 형식 유효성 검사</vt:lpstr>
      <vt:lpstr>3. 데이터 형식 유효성 검사</vt:lpstr>
      <vt:lpstr>3. 데이터 형식 유효성 검사</vt:lpstr>
      <vt:lpstr>3. 데이터 형식 유효성 검사</vt:lpstr>
      <vt:lpstr>3. 데이터 형식 유효성 검사</vt:lpstr>
      <vt:lpstr>3. 데이터 형식 유효성 검사</vt:lpstr>
      <vt:lpstr>3. 데이터 형식 유효성 검사</vt:lpstr>
      <vt:lpstr>3. 데이터 형식 유효성 검사</vt:lpstr>
      <vt:lpstr>3. 데이터 형식 유효성 검사</vt:lpstr>
      <vt:lpstr>3. 데이터 형식 유효성 검사</vt:lpstr>
      <vt:lpstr>4. [웹 쇼핑몰] 상품 등록 데이터의 유효성 검사하기</vt:lpstr>
      <vt:lpstr>4. [웹 쇼핑몰] 상품 등록 데이터의 유효성 검사하기</vt:lpstr>
      <vt:lpstr>4. [웹 쇼핑몰] 상품 등록 데이터의 유효성 검사하기</vt:lpstr>
      <vt:lpstr>4. [웹 쇼핑몰] 상품 등록 데이터의 유효성 검사하기</vt:lpstr>
      <vt:lpstr>4. [웹 쇼핑몰] 상품 등록 데이터의 유효성 검사하기</vt:lpstr>
      <vt:lpstr>4. [웹 쇼핑몰] 상품 등록 데이터의 유효성 검사하기</vt:lpstr>
      <vt:lpstr>4. [웹 쇼핑몰] 상품 등록 데이터의 유효성 검사하기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김미경</cp:lastModifiedBy>
  <cp:revision>314</cp:revision>
  <dcterms:created xsi:type="dcterms:W3CDTF">2011-01-05T15:14:06Z</dcterms:created>
  <dcterms:modified xsi:type="dcterms:W3CDTF">2021-09-24T04:23:39Z</dcterms:modified>
</cp:coreProperties>
</file>
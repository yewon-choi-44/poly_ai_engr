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669" r:id="rId1"/>
  </p:sldMasterIdLst>
  <p:notesMasterIdLst>
    <p:notesMasterId r:id="rId48"/>
  </p:notesMasterIdLst>
  <p:handoutMasterIdLst>
    <p:handoutMasterId r:id="rId49"/>
  </p:handoutMasterIdLst>
  <p:sldIdLst>
    <p:sldId id="256" r:id="rId2"/>
    <p:sldId id="877" r:id="rId3"/>
    <p:sldId id="881" r:id="rId4"/>
    <p:sldId id="882" r:id="rId5"/>
    <p:sldId id="883" r:id="rId6"/>
    <p:sldId id="884" r:id="rId7"/>
    <p:sldId id="885" r:id="rId8"/>
    <p:sldId id="886" r:id="rId9"/>
    <p:sldId id="887" r:id="rId10"/>
    <p:sldId id="888" r:id="rId11"/>
    <p:sldId id="890" r:id="rId12"/>
    <p:sldId id="891" r:id="rId13"/>
    <p:sldId id="892" r:id="rId14"/>
    <p:sldId id="893" r:id="rId15"/>
    <p:sldId id="926" r:id="rId16"/>
    <p:sldId id="894" r:id="rId17"/>
    <p:sldId id="896" r:id="rId18"/>
    <p:sldId id="897" r:id="rId19"/>
    <p:sldId id="898" r:id="rId20"/>
    <p:sldId id="899" r:id="rId21"/>
    <p:sldId id="900" r:id="rId22"/>
    <p:sldId id="901" r:id="rId23"/>
    <p:sldId id="902" r:id="rId24"/>
    <p:sldId id="903" r:id="rId25"/>
    <p:sldId id="904" r:id="rId26"/>
    <p:sldId id="905" r:id="rId27"/>
    <p:sldId id="906" r:id="rId28"/>
    <p:sldId id="907" r:id="rId29"/>
    <p:sldId id="908" r:id="rId30"/>
    <p:sldId id="909" r:id="rId31"/>
    <p:sldId id="910" r:id="rId32"/>
    <p:sldId id="911" r:id="rId33"/>
    <p:sldId id="912" r:id="rId34"/>
    <p:sldId id="913" r:id="rId35"/>
    <p:sldId id="914" r:id="rId36"/>
    <p:sldId id="915" r:id="rId37"/>
    <p:sldId id="916" r:id="rId38"/>
    <p:sldId id="917" r:id="rId39"/>
    <p:sldId id="918" r:id="rId40"/>
    <p:sldId id="920" r:id="rId41"/>
    <p:sldId id="921" r:id="rId42"/>
    <p:sldId id="922" r:id="rId43"/>
    <p:sldId id="923" r:id="rId44"/>
    <p:sldId id="924" r:id="rId45"/>
    <p:sldId id="925" r:id="rId46"/>
    <p:sldId id="927" r:id="rId47"/>
  </p:sldIdLst>
  <p:sldSz cx="9144000" cy="6858000" type="screen4x3"/>
  <p:notesSz cx="6797675" cy="9874250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5pPr>
    <a:lvl6pPr marL="22860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6pPr>
    <a:lvl7pPr marL="27432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7pPr>
    <a:lvl8pPr marL="32004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8pPr>
    <a:lvl9pPr marL="3657600" algn="l" defTabSz="914400" rtl="0" eaLnBrk="1" latinLnBrk="1" hangingPunct="1">
      <a:defRPr kumimoji="1" sz="2000" kern="1200">
        <a:solidFill>
          <a:schemeClr val="tx1"/>
        </a:solidFill>
        <a:latin typeface="돋움" panose="020B0600000101010101" pitchFamily="50" charset="-127"/>
        <a:ea typeface="돋움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7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C1BE"/>
    <a:srgbClr val="D6E7E6"/>
    <a:srgbClr val="17928F"/>
    <a:srgbClr val="40C4C1"/>
    <a:srgbClr val="98D2D0"/>
    <a:srgbClr val="E2F1F0"/>
    <a:srgbClr val="66B9B7"/>
    <a:srgbClr val="64B7CE"/>
    <a:srgbClr val="5A8DDC"/>
    <a:srgbClr val="009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80" autoAdjust="0"/>
    <p:restoredTop sz="94362" autoAdjust="0"/>
  </p:normalViewPr>
  <p:slideViewPr>
    <p:cSldViewPr>
      <p:cViewPr varScale="1">
        <p:scale>
          <a:sx n="105" d="100"/>
          <a:sy n="105" d="100"/>
        </p:scale>
        <p:origin x="-1914" y="-96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-7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3330" y="-90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FE15F021-6D0B-46FD-9B8A-5A08A6D483D0}" type="datetimeFigureOut">
              <a:rPr lang="ko-KR" altLang="en-US"/>
              <a:pPr>
                <a:defRPr/>
              </a:pPr>
              <a:t>2021-05-21</a:t>
            </a:fld>
            <a:endParaRPr lang="en-US" altLang="ko-KR"/>
          </a:p>
        </p:txBody>
      </p:sp>
      <p:sp>
        <p:nvSpPr>
          <p:cNvPr id="962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latinLnBrk="0" hangingPunct="0"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62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378950"/>
            <a:ext cx="2946400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C632109F-8AB7-46AB-9E12-1769705C79CA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76761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latinLnBrk="0" hangingPunct="0">
              <a:defRPr kumimoji="0" sz="1200"/>
            </a:lvl1pPr>
          </a:lstStyle>
          <a:p>
            <a:pPr>
              <a:defRPr/>
            </a:pPr>
            <a:fld id="{06771228-0F89-41D8-B079-3DC885FFF304}" type="datetimeFigureOut">
              <a:rPr lang="ko-KR" altLang="en-US"/>
              <a:pPr>
                <a:defRPr/>
              </a:pPr>
              <a:t>2021-05-21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91063"/>
            <a:ext cx="5438775" cy="444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8950"/>
            <a:ext cx="2946400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latinLnBrk="0" hangingPunct="0">
              <a:defRPr kumimoji="0"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8950"/>
            <a:ext cx="2946400" cy="49371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latinLnBrk="0" hangingPunct="0">
              <a:defRPr kumimoji="0" sz="1200"/>
            </a:lvl1pPr>
          </a:lstStyle>
          <a:p>
            <a:fld id="{1FF2B80C-8298-46FE-B90D-EE0F7614A21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25974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4516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882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앞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 descr="Light horizontal"/>
          <p:cNvSpPr>
            <a:spLocks noChangeArrowheads="1"/>
          </p:cNvSpPr>
          <p:nvPr/>
        </p:nvSpPr>
        <p:spPr bwMode="gray">
          <a:xfrm>
            <a:off x="1588" y="1588"/>
            <a:ext cx="1473200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invGray">
          <a:xfrm>
            <a:off x="-7938" y="4267200"/>
            <a:ext cx="9153526" cy="1103313"/>
          </a:xfrm>
          <a:prstGeom prst="rect">
            <a:avLst/>
          </a:prstGeom>
          <a:solidFill>
            <a:srgbClr val="D6E7E6"/>
          </a:solidFill>
          <a:ln w="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6" name="AutoShape 11"/>
          <p:cNvSpPr>
            <a:spLocks noChangeArrowheads="1"/>
          </p:cNvSpPr>
          <p:nvPr/>
        </p:nvSpPr>
        <p:spPr bwMode="ltGray">
          <a:xfrm>
            <a:off x="1409130" y="5099566"/>
            <a:ext cx="7137400" cy="533400"/>
          </a:xfrm>
          <a:prstGeom prst="roundRect">
            <a:avLst>
              <a:gd name="adj" fmla="val 16667"/>
            </a:avLst>
          </a:prstGeom>
          <a:solidFill>
            <a:srgbClr val="50C1BE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/>
          <a:p>
            <a:pPr eaLnBrk="0" latinLnBrk="0" hangingPunct="0">
              <a:defRPr/>
            </a:pPr>
            <a:endParaRPr kumimoji="0" lang="ko-KR" altLang="en-US"/>
          </a:p>
        </p:txBody>
      </p:sp>
      <p:sp>
        <p:nvSpPr>
          <p:cNvPr id="8" name="TextBox 19"/>
          <p:cNvSpPr txBox="1">
            <a:spLocks noChangeArrowheads="1"/>
          </p:cNvSpPr>
          <p:nvPr userDrawn="1"/>
        </p:nvSpPr>
        <p:spPr bwMode="auto">
          <a:xfrm>
            <a:off x="1409130" y="5181600"/>
            <a:ext cx="71374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쉽게 배우는 </a:t>
            </a:r>
            <a:r>
              <a:rPr lang="en-US" altLang="ko-KR" sz="1800" b="1" dirty="0">
                <a:solidFill>
                  <a:schemeClr val="bg1"/>
                </a:solidFill>
                <a:latin typeface="+mj-ea"/>
                <a:ea typeface="+mj-ea"/>
              </a:rPr>
              <a:t>JSP </a:t>
            </a:r>
            <a:r>
              <a:rPr lang="ko-KR" altLang="en-US" sz="1800" b="1" dirty="0">
                <a:solidFill>
                  <a:schemeClr val="bg1"/>
                </a:solidFill>
                <a:latin typeface="+mj-ea"/>
                <a:ea typeface="+mj-ea"/>
              </a:rPr>
              <a:t>웹 프로그래밍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0" y="4267201"/>
            <a:ext cx="7620000" cy="838200"/>
          </a:xfrm>
        </p:spPr>
        <p:txBody>
          <a:bodyPr/>
          <a:lstStyle>
            <a:lvl1pPr marL="717550" indent="0">
              <a:defRPr sz="3600" b="1" baseline="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40352" y="6477000"/>
            <a:ext cx="1228725" cy="2571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8BF1E9C-21A3-41D4-8B65-A0F4F21F6AC7}"/>
              </a:ext>
            </a:extLst>
          </p:cNvPr>
          <p:cNvSpPr txBox="1"/>
          <p:nvPr userDrawn="1"/>
        </p:nvSpPr>
        <p:spPr>
          <a:xfrm>
            <a:off x="1499169" y="1340768"/>
            <a:ext cx="65312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JSP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웹</a:t>
            </a:r>
            <a:r>
              <a:rPr lang="en-US" altLang="ko-KR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 </a:t>
            </a:r>
            <a:r>
              <a:rPr lang="ko-KR" altLang="en-US" sz="60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헤드라인M"/>
              </a:rPr>
              <a:t>프로그래밍</a:t>
            </a:r>
          </a:p>
        </p:txBody>
      </p:sp>
    </p:spTree>
    <p:extLst>
      <p:ext uri="{BB962C8B-B14F-4D97-AF65-F5344CB8AC3E}">
        <p14:creationId xmlns:p14="http://schemas.microsoft.com/office/powerpoint/2010/main" val="3447631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8"/>
          <p:cNvSpPr txBox="1">
            <a:spLocks/>
          </p:cNvSpPr>
          <p:nvPr userDrawn="1"/>
        </p:nvSpPr>
        <p:spPr bwMode="auto">
          <a:xfrm>
            <a:off x="227013" y="93663"/>
            <a:ext cx="61722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0" latinLnBrk="0" hangingPunct="0">
              <a:defRPr/>
            </a:pPr>
            <a:r>
              <a:rPr kumimoji="0" lang="en-US" altLang="ko-KR" sz="2800" b="1" dirty="0">
                <a:solidFill>
                  <a:srgbClr val="191E70"/>
                </a:solidFill>
                <a:latin typeface="HY견고딕" pitchFamily="18" charset="-127"/>
                <a:ea typeface="HY견고딕" pitchFamily="18" charset="-127"/>
              </a:rPr>
              <a:t>Contents</a:t>
            </a:r>
            <a:endParaRPr kumimoji="0" lang="ko-KR" altLang="en-US" sz="2800" b="1" dirty="0">
              <a:solidFill>
                <a:srgbClr val="191E70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내용 개체 틀 5"/>
          <p:cNvSpPr>
            <a:spLocks noGrp="1"/>
          </p:cNvSpPr>
          <p:nvPr>
            <p:ph sz="quarter" idx="10"/>
          </p:nvPr>
        </p:nvSpPr>
        <p:spPr>
          <a:xfrm>
            <a:off x="263436" y="1016727"/>
            <a:ext cx="8568000" cy="5400000"/>
          </a:xfrm>
          <a:prstGeom prst="roundRect">
            <a:avLst>
              <a:gd name="adj" fmla="val 4285"/>
            </a:avLst>
          </a:prstGeom>
          <a:ln w="19050">
            <a:solidFill>
              <a:schemeClr val="bg2">
                <a:lumMod val="90000"/>
              </a:schemeClr>
            </a:solidFill>
            <a:prstDash val="sysDot"/>
          </a:ln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 sz="220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defRPr>
            </a:lvl1pPr>
            <a:lvl2pPr marL="357187" marR="0" indent="0" algn="l" defTabSz="914400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None/>
              <a:tabLst/>
              <a:defRPr sz="1800">
                <a:latin typeface="+mn-ea"/>
                <a:ea typeface="+mn-ea"/>
              </a:defRPr>
            </a:lvl2pPr>
            <a:lvl3pPr marL="809625" marR="0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ADB9AD"/>
              </a:buClr>
              <a:buSzTx/>
              <a:buFontTx/>
              <a:buChar char="•"/>
              <a:tabLst/>
              <a:defRPr/>
            </a:lvl3pPr>
          </a:lstStyle>
          <a:p>
            <a:pPr marL="342900" marR="0" lvl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200"/>
              </a:spcAft>
              <a:buClr>
                <a:srgbClr val="5A8DDC"/>
              </a:buClr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마스터 텍스트 스타일을 편집합니다</a:t>
            </a:r>
          </a:p>
          <a:p>
            <a:pPr marL="539750" marR="0" lvl="1" indent="-182563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B1AE6B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둘째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수준</a:t>
            </a:r>
          </a:p>
        </p:txBody>
      </p:sp>
    </p:spTree>
    <p:extLst>
      <p:ext uri="{BB962C8B-B14F-4D97-AF65-F5344CB8AC3E}">
        <p14:creationId xmlns:p14="http://schemas.microsoft.com/office/powerpoint/2010/main" val="194972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4"/>
          <p:cNvSpPr>
            <a:spLocks noGrp="1"/>
          </p:cNvSpPr>
          <p:nvPr>
            <p:ph sz="quarter" idx="10"/>
          </p:nvPr>
        </p:nvSpPr>
        <p:spPr>
          <a:xfrm>
            <a:off x="228600" y="931818"/>
            <a:ext cx="8686800" cy="5715000"/>
          </a:xfrm>
        </p:spPr>
        <p:txBody>
          <a:bodyPr/>
          <a:lstStyle>
            <a:lvl1pPr marL="342900" marR="0" indent="-34290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ts val="100"/>
              </a:spcAft>
              <a:buClr>
                <a:srgbClr val="5A8DDC"/>
              </a:buClr>
              <a:buSzTx/>
              <a:buFont typeface="Wingdings" pitchFamily="2" charset="2"/>
              <a:buChar char="v"/>
              <a:tabLst/>
              <a:defRPr sz="2200"/>
            </a:lvl1pPr>
            <a:lvl2pPr marL="539750" marR="0" indent="-182563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B1AE6B"/>
              </a:buClr>
              <a:buSzTx/>
              <a:buFont typeface="Wingdings" pitchFamily="2" charset="2"/>
              <a:buChar char="§"/>
              <a:tabLst/>
              <a:defRPr sz="1800"/>
            </a:lvl2pPr>
            <a:lvl3pPr marL="720725" marR="0" indent="-185738" algn="l" defTabSz="914400" rtl="0" eaLnBrk="0" fontAlgn="base" latinLnBrk="1" hangingPunct="0">
              <a:lnSpc>
                <a:spcPct val="110000"/>
              </a:lnSpc>
              <a:spcBef>
                <a:spcPct val="20000"/>
              </a:spcBef>
              <a:spcAft>
                <a:spcPts val="100"/>
              </a:spcAft>
              <a:buClr>
                <a:srgbClr val="ADB9AD"/>
              </a:buClr>
              <a:buSzTx/>
              <a:buFontTx/>
              <a:buChar char="•"/>
              <a:tabLst/>
              <a:defRPr sz="1600"/>
            </a:lvl3pPr>
            <a:lvl4pPr marL="898525" indent="-177800">
              <a:buClr>
                <a:schemeClr val="bg1">
                  <a:lumMod val="50000"/>
                </a:schemeClr>
              </a:buClr>
              <a:buSzPct val="90000"/>
              <a:buFont typeface="Arial" panose="020B0604020202020204" pitchFamily="34" charset="0"/>
              <a:buChar char="−"/>
              <a:tabLst>
                <a:tab pos="898525" algn="l"/>
              </a:tabLst>
              <a:defRPr sz="1400" b="0">
                <a:latin typeface="맑은 고딕" pitchFamily="50" charset="-127"/>
                <a:ea typeface="맑은 고딕" pitchFamily="50" charset="-127"/>
              </a:defRPr>
            </a:lvl4pPr>
            <a:lvl5pPr>
              <a:defRPr sz="1200"/>
            </a:lvl5pPr>
          </a:lstStyle>
          <a:p>
            <a:pPr lvl="0"/>
            <a:r>
              <a:rPr lang="ko-KR" altLang="en-US" noProof="0" dirty="0"/>
              <a:t>마스터 텍스트 스타일을 편집합니다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/>
              <a:t>셋째 수준</a:t>
            </a:r>
          </a:p>
          <a:p>
            <a:pPr lvl="3"/>
            <a:r>
              <a:rPr lang="ko-KR" altLang="en-US" noProof="0" dirty="0"/>
              <a:t>넷째 수준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6633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ine 5"/>
          <p:cNvSpPr>
            <a:spLocks noChangeShapeType="1"/>
          </p:cNvSpPr>
          <p:nvPr userDrawn="1">
            <p:custDataLst>
              <p:tags r:id="rId1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AutoShape 3"/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auto">
          <a:xfrm>
            <a:off x="2765425" y="1447800"/>
            <a:ext cx="3587750" cy="3886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0">
            <a:gsLst>
              <a:gs pos="0">
                <a:srgbClr val="FFFFFF"/>
              </a:gs>
              <a:gs pos="50000">
                <a:srgbClr val="EEEEEE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11" name="Line 5"/>
          <p:cNvSpPr>
            <a:spLocks noChangeShapeType="1"/>
          </p:cNvSpPr>
          <p:nvPr userDrawn="1">
            <p:custDataLst>
              <p:tags r:id="rId3"/>
            </p:custDataLst>
          </p:nvPr>
        </p:nvSpPr>
        <p:spPr bwMode="auto">
          <a:xfrm>
            <a:off x="2506663" y="3706813"/>
            <a:ext cx="4151312" cy="0"/>
          </a:xfrm>
          <a:prstGeom prst="line">
            <a:avLst/>
          </a:prstGeom>
          <a:ln>
            <a:prstDash val="dash"/>
            <a:headEnd/>
            <a:tailEnd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Text Box 4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735263" y="3048000"/>
            <a:ext cx="365760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ko-KR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Thank</a:t>
            </a:r>
            <a:r>
              <a:rPr lang="en-US" altLang="ko-KR" sz="4400" b="1" baseline="0" dirty="0">
                <a:solidFill>
                  <a:schemeClr val="tx2">
                    <a:lumMod val="40000"/>
                    <a:lumOff val="60000"/>
                  </a:schemeClr>
                </a:solidFill>
                <a:latin typeface="HY견명조" pitchFamily="18" charset="-127"/>
                <a:ea typeface="HY견명조" pitchFamily="18" charset="-127"/>
              </a:rPr>
              <a:t> You</a:t>
            </a:r>
            <a:endParaRPr lang="en-US" altLang="ko-KR" sz="4400" b="1" dirty="0">
              <a:solidFill>
                <a:schemeClr val="tx2">
                  <a:lumMod val="40000"/>
                  <a:lumOff val="60000"/>
                </a:schemeClr>
              </a:solidFill>
              <a:latin typeface="HY견명조" pitchFamily="18" charset="-127"/>
              <a:ea typeface="HY견명조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642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238125" cy="6858000"/>
          </a:xfrm>
          <a:prstGeom prst="rect">
            <a:avLst/>
          </a:prstGeom>
          <a:pattFill prst="ltHorz">
            <a:fgClr>
              <a:srgbClr val="C0C0C0"/>
            </a:fgClr>
            <a:bgClr>
              <a:srgbClr val="FFFFFF"/>
            </a:bgClr>
          </a:pattFill>
          <a:ln w="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eaLnBrk="0" hangingPunct="0">
              <a:defRPr/>
            </a:pPr>
            <a:endParaRPr lang="ko-KR" altLang="en-US">
              <a:solidFill>
                <a:srgbClr val="1D4940"/>
              </a:solidFill>
            </a:endParaRPr>
          </a:p>
        </p:txBody>
      </p:sp>
      <p:sp>
        <p:nvSpPr>
          <p:cNvPr id="1028" name="Rectangle 18"/>
          <p:cNvSpPr>
            <a:spLocks noChangeArrowheads="1"/>
          </p:cNvSpPr>
          <p:nvPr userDrawn="1"/>
        </p:nvSpPr>
        <p:spPr bwMode="auto">
          <a:xfrm>
            <a:off x="8100392" y="6516688"/>
            <a:ext cx="967408" cy="26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  <a:lvl2pPr marL="742950" indent="-28575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2pPr>
            <a:lvl3pPr marL="11430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3pPr>
            <a:lvl4pPr marL="16002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4pPr>
            <a:lvl5pPr marL="2057400" indent="-228600" eaLnBrk="0" hangingPunct="0"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>
                <a:solidFill>
                  <a:schemeClr val="tx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9pPr>
          </a:lstStyle>
          <a:p>
            <a:pPr algn="r"/>
            <a:fld id="{E5A18F57-D258-470C-BB46-B83A1BEE3C43}" type="slidenum">
              <a:rPr lang="ko-KR" altLang="en-US" sz="120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pPr algn="r"/>
              <a:t>‹#›</a:t>
            </a:fld>
            <a:r>
              <a:rPr lang="en-US" altLang="ko-KR" sz="1200" dirty="0" smtClean="0">
                <a:solidFill>
                  <a:srgbClr val="452103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/46</a:t>
            </a:r>
            <a:endParaRPr lang="en-US" altLang="ko-KR" sz="1200" dirty="0">
              <a:solidFill>
                <a:srgbClr val="452103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29" name="텍스트 개체 틀 22"/>
          <p:cNvSpPr>
            <a:spLocks noGrp="1"/>
          </p:cNvSpPr>
          <p:nvPr>
            <p:ph type="body" idx="1"/>
          </p:nvPr>
        </p:nvSpPr>
        <p:spPr bwMode="auto">
          <a:xfrm>
            <a:off x="228600" y="931863"/>
            <a:ext cx="8686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endParaRPr lang="en-US" altLang="ko-KR" dirty="0"/>
          </a:p>
        </p:txBody>
      </p:sp>
      <p:sp>
        <p:nvSpPr>
          <p:cNvPr id="1030" name="제목 개체 틀 23"/>
          <p:cNvSpPr>
            <a:spLocks noGrp="1"/>
          </p:cNvSpPr>
          <p:nvPr>
            <p:ph type="title"/>
          </p:nvPr>
        </p:nvSpPr>
        <p:spPr bwMode="auto">
          <a:xfrm>
            <a:off x="227013" y="82550"/>
            <a:ext cx="7559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31" name="Freeform 126"/>
          <p:cNvSpPr>
            <a:spLocks/>
          </p:cNvSpPr>
          <p:nvPr/>
        </p:nvSpPr>
        <p:spPr bwMode="gray">
          <a:xfrm>
            <a:off x="-12700" y="342900"/>
            <a:ext cx="6032500" cy="679450"/>
          </a:xfrm>
          <a:custGeom>
            <a:avLst/>
            <a:gdLst>
              <a:gd name="T0" fmla="*/ 0 w 3800"/>
              <a:gd name="T1" fmla="*/ 0 h 428"/>
              <a:gd name="T2" fmla="*/ 6032500 w 3800"/>
              <a:gd name="T3" fmla="*/ 0 h 428"/>
              <a:gd name="T4" fmla="*/ 5486400 w 3800"/>
              <a:gd name="T5" fmla="*/ 679450 h 42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800" h="428">
                <a:moveTo>
                  <a:pt x="0" y="0"/>
                </a:moveTo>
                <a:lnTo>
                  <a:pt x="3800" y="0"/>
                </a:lnTo>
                <a:lnTo>
                  <a:pt x="3456" y="428"/>
                </a:lnTo>
              </a:path>
            </a:pathLst>
          </a:cu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  <p:grpSp>
        <p:nvGrpSpPr>
          <p:cNvPr id="3" name="Group 192"/>
          <p:cNvGrpSpPr>
            <a:grpSpLocks/>
          </p:cNvGrpSpPr>
          <p:nvPr userDrawn="1"/>
        </p:nvGrpSpPr>
        <p:grpSpPr bwMode="auto">
          <a:xfrm>
            <a:off x="226419" y="668709"/>
            <a:ext cx="8675591" cy="131762"/>
            <a:chOff x="192" y="446"/>
            <a:chExt cx="5513" cy="78"/>
          </a:xfrm>
          <a:solidFill>
            <a:srgbClr val="92D050"/>
          </a:solidFill>
        </p:grpSpPr>
        <p:sp>
          <p:nvSpPr>
            <p:cNvPr id="27" name="Rectangle 193"/>
            <p:cNvSpPr>
              <a:spLocks noChangeArrowheads="1"/>
            </p:cNvSpPr>
            <p:nvPr/>
          </p:nvSpPr>
          <p:spPr bwMode="gray">
            <a:xfrm>
              <a:off x="192" y="446"/>
              <a:ext cx="1488" cy="78"/>
            </a:xfrm>
            <a:prstGeom prst="rect">
              <a:avLst/>
            </a:prstGeom>
            <a:solidFill>
              <a:srgbClr val="50C1BE"/>
            </a:solidFill>
            <a:ln w="9525">
              <a:solidFill>
                <a:srgbClr val="92D05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굴림" charset="-127"/>
              </a:endParaRPr>
            </a:p>
          </p:txBody>
        </p:sp>
        <p:sp>
          <p:nvSpPr>
            <p:cNvPr id="28" name="Line 194"/>
            <p:cNvSpPr>
              <a:spLocks noChangeShapeType="1"/>
            </p:cNvSpPr>
            <p:nvPr userDrawn="1"/>
          </p:nvSpPr>
          <p:spPr bwMode="gray">
            <a:xfrm>
              <a:off x="192" y="519"/>
              <a:ext cx="5513" cy="0"/>
            </a:xfrm>
            <a:prstGeom prst="line">
              <a:avLst/>
            </a:prstGeom>
            <a:ln>
              <a:solidFill>
                <a:srgbClr val="191E70"/>
              </a:solidFill>
              <a:headEnd/>
              <a:tailEnd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pPr latinLnBrk="0">
                <a:defRPr/>
              </a:pPr>
              <a:endParaRPr kumimoji="0" lang="ko-KR" altLang="en-US" sz="1800">
                <a:solidFill>
                  <a:srgbClr val="000000"/>
                </a:solidFill>
                <a:latin typeface="Arial" charset="0"/>
                <a:ea typeface="+mn-ea"/>
              </a:endParaRPr>
            </a:p>
          </p:txBody>
        </p:sp>
      </p:grpSp>
      <p:pic>
        <p:nvPicPr>
          <p:cNvPr id="1033" name="그림 29" descr="쿡북로고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088" y="458788"/>
            <a:ext cx="1079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9534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70" r:id="rId1"/>
    <p:sldLayoutId id="2147484671" r:id="rId2"/>
    <p:sldLayoutId id="2147484672" r:id="rId3"/>
    <p:sldLayoutId id="2147484674" r:id="rId4"/>
  </p:sldLayoutIdLst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600" b="1" kern="1200">
          <a:solidFill>
            <a:srgbClr val="191D76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rgbClr val="660033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24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ts val="100"/>
        </a:spcAft>
        <a:buClr>
          <a:srgbClr val="5A8DDC"/>
        </a:buClr>
        <a:buFont typeface="Wingdings" panose="05000000000000000000" pitchFamily="2" charset="2"/>
        <a:buChar char="v"/>
        <a:defRPr sz="2200" b="1" kern="1200">
          <a:solidFill>
            <a:schemeClr val="tx1"/>
          </a:solidFill>
          <a:latin typeface="+mn-ea"/>
          <a:ea typeface="+mn-ea"/>
          <a:cs typeface="+mn-cs"/>
        </a:defRPr>
      </a:lvl1pPr>
      <a:lvl2pPr marL="539750" indent="-182563" algn="l" rtl="0" eaLnBrk="0" fontAlgn="base" latinLnBrk="1" hangingPunct="0">
        <a:spcBef>
          <a:spcPct val="20000"/>
        </a:spcBef>
        <a:spcAft>
          <a:spcPts val="100"/>
        </a:spcAft>
        <a:buClr>
          <a:srgbClr val="B1AE6B"/>
        </a:buClr>
        <a:buFont typeface="Wingdings" panose="05000000000000000000" pitchFamily="2" charset="2"/>
        <a:buChar char="§"/>
        <a:defRPr sz="1900" kern="1200">
          <a:solidFill>
            <a:schemeClr val="tx1"/>
          </a:solidFill>
          <a:latin typeface="+mn-ea"/>
          <a:ea typeface="+mn-ea"/>
          <a:cs typeface="+mn-cs"/>
        </a:defRPr>
      </a:lvl2pPr>
      <a:lvl3pPr marL="720725" indent="-185738" algn="l" rtl="0" eaLnBrk="0" fontAlgn="base" latinLnBrk="1" hangingPunct="0">
        <a:spcBef>
          <a:spcPct val="20000"/>
        </a:spcBef>
        <a:spcAft>
          <a:spcPts val="100"/>
        </a:spcAft>
        <a:buClr>
          <a:srgbClr val="ADB9AD"/>
        </a:buClr>
        <a:buChar char="•"/>
        <a:defRPr sz="1700" kern="1200">
          <a:solidFill>
            <a:schemeClr val="tx1"/>
          </a:solidFill>
          <a:latin typeface="+mn-ea"/>
          <a:ea typeface="+mn-ea"/>
          <a:cs typeface="+mn-cs"/>
        </a:defRPr>
      </a:lvl3pPr>
      <a:lvl4pPr marL="1162050" indent="-2667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5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WordArt 436"/>
          <p:cNvSpPr>
            <a:spLocks noChangeArrowheads="1" noChangeShapeType="1" noTextEdit="1"/>
          </p:cNvSpPr>
          <p:nvPr/>
        </p:nvSpPr>
        <p:spPr bwMode="auto">
          <a:xfrm>
            <a:off x="1701833" y="3914710"/>
            <a:ext cx="533400" cy="1080000"/>
          </a:xfrm>
          <a:prstGeom prst="rect">
            <a:avLst/>
          </a:prstGeom>
          <a:ln>
            <a:noFill/>
          </a:ln>
        </p:spPr>
        <p:txBody>
          <a:bodyPr wrap="none" fromWordArt="1">
            <a:prstTxWarp prst="textCascadeUp">
              <a:avLst>
                <a:gd name="adj" fmla="val 99838"/>
              </a:avLst>
            </a:prstTxWarp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 eaLnBrk="0" latinLnBrk="0" hangingPunct="0">
              <a:defRPr/>
            </a:pPr>
            <a:r>
              <a:rPr kumimoji="0" lang="en-US" altLang="ko-KR" sz="4800" b="1" i="1" kern="10" spc="150" dirty="0">
                <a:ln w="11430">
                  <a:solidFill>
                    <a:srgbClr val="452103"/>
                  </a:solidFill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휴먼둥근헤드라인"/>
                <a:ea typeface="휴먼둥근헤드라인"/>
              </a:rPr>
              <a:t>1</a:t>
            </a:r>
            <a:endParaRPr kumimoji="0" lang="ko-KR" altLang="en-US" sz="4800" b="1" i="1" kern="10" spc="150" dirty="0">
              <a:ln w="11430">
                <a:solidFill>
                  <a:srgbClr val="452103"/>
                </a:solidFill>
              </a:ln>
              <a:solidFill>
                <a:schemeClr val="accent5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휴먼둥근헤드라인"/>
              <a:ea typeface="휴먼둥근헤드라인"/>
            </a:endParaRPr>
          </a:p>
        </p:txBody>
      </p:sp>
      <p:sp>
        <p:nvSpPr>
          <p:cNvPr id="5123" name="제목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JSP </a:t>
            </a:r>
            <a:r>
              <a:rPr lang="ko-KR" altLang="en-US" dirty="0"/>
              <a:t>개요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>
            <a:extLst>
              <a:ext uri="{FF2B5EF4-FFF2-40B4-BE49-F238E27FC236}">
                <a16:creationId xmlns="" xmlns:a16="http://schemas.microsoft.com/office/drawing/2014/main" id="{15179EC9-C880-4310-8BB5-61D6DEA36D93}"/>
              </a:ext>
            </a:extLst>
          </p:cNvPr>
          <p:cNvSpPr/>
          <p:nvPr/>
        </p:nvSpPr>
        <p:spPr>
          <a:xfrm>
            <a:off x="1087060" y="1155049"/>
            <a:ext cx="7085340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="" xmlns:a16="http://schemas.microsoft.com/office/drawing/2014/main" id="{0C793EB3-440C-4247-96D7-06FEFF4152E4}"/>
              </a:ext>
            </a:extLst>
          </p:cNvPr>
          <p:cNvSpPr txBox="1"/>
          <p:nvPr/>
        </p:nvSpPr>
        <p:spPr bwMode="auto">
          <a:xfrm>
            <a:off x="1683837" y="1249874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웹과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JSP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프로그래밍 이해하기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5174CD31-BF8A-404E-B363-1815188385BA}"/>
              </a:ext>
            </a:extLst>
          </p:cNvPr>
          <p:cNvSpPr/>
          <p:nvPr/>
        </p:nvSpPr>
        <p:spPr>
          <a:xfrm>
            <a:off x="755576" y="1124744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B635BFB-0E90-4908-8D89-928DE4D56A3C}"/>
              </a:ext>
            </a:extLst>
          </p:cNvPr>
          <p:cNvSpPr txBox="1"/>
          <p:nvPr/>
        </p:nvSpPr>
        <p:spPr>
          <a:xfrm>
            <a:off x="879457" y="1205394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1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7" name="Rectangle 31">
            <a:extLst>
              <a:ext uri="{FF2B5EF4-FFF2-40B4-BE49-F238E27FC236}">
                <a16:creationId xmlns="" xmlns:a16="http://schemas.microsoft.com/office/drawing/2014/main" id="{0607668C-84D6-4A78-8A81-16F0A5C1BD5E}"/>
              </a:ext>
            </a:extLst>
          </p:cNvPr>
          <p:cNvSpPr/>
          <p:nvPr/>
        </p:nvSpPr>
        <p:spPr>
          <a:xfrm>
            <a:off x="1059502" y="1803122"/>
            <a:ext cx="7116018" cy="545486"/>
          </a:xfrm>
          <a:prstGeom prst="rect">
            <a:avLst/>
          </a:prstGeom>
          <a:solidFill>
            <a:srgbClr val="D6E7E6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="" xmlns:a16="http://schemas.microsoft.com/office/drawing/2014/main" id="{C0A8F129-DFB5-41CC-A1A3-36627220DCD5}"/>
              </a:ext>
            </a:extLst>
          </p:cNvPr>
          <p:cNvSpPr txBox="1"/>
          <p:nvPr/>
        </p:nvSpPr>
        <p:spPr bwMode="auto">
          <a:xfrm>
            <a:off x="1683837" y="1897947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JSP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개발 환경 구축하기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Oval 33">
            <a:extLst>
              <a:ext uri="{FF2B5EF4-FFF2-40B4-BE49-F238E27FC236}">
                <a16:creationId xmlns="" xmlns:a16="http://schemas.microsoft.com/office/drawing/2014/main" id="{8EA7DCCE-EAAA-4A91-8FCD-B6647EED91CE}"/>
              </a:ext>
            </a:extLst>
          </p:cNvPr>
          <p:cNvSpPr/>
          <p:nvPr/>
        </p:nvSpPr>
        <p:spPr>
          <a:xfrm>
            <a:off x="755576" y="1772816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rgbClr val="40C4C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>
              <a:solidFill>
                <a:srgbClr val="50C1B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853CBAF-0D9A-48E8-8B23-5E54A35CD307}"/>
              </a:ext>
            </a:extLst>
          </p:cNvPr>
          <p:cNvSpPr txBox="1"/>
          <p:nvPr/>
        </p:nvSpPr>
        <p:spPr>
          <a:xfrm>
            <a:off x="879457" y="1853467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2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sp>
        <p:nvSpPr>
          <p:cNvPr id="11" name="Rectangle 36">
            <a:extLst>
              <a:ext uri="{FF2B5EF4-FFF2-40B4-BE49-F238E27FC236}">
                <a16:creationId xmlns="" xmlns:a16="http://schemas.microsoft.com/office/drawing/2014/main" id="{B0D84BDB-03E5-48FA-A8D3-DCFD39CB59D0}"/>
              </a:ext>
            </a:extLst>
          </p:cNvPr>
          <p:cNvSpPr/>
          <p:nvPr/>
        </p:nvSpPr>
        <p:spPr>
          <a:xfrm>
            <a:off x="1087060" y="2451194"/>
            <a:ext cx="7085340" cy="545486"/>
          </a:xfrm>
          <a:prstGeom prst="rect">
            <a:avLst/>
          </a:prstGeom>
          <a:solidFill>
            <a:srgbClr val="E2F1F0"/>
          </a:solidFill>
          <a:ln w="12700">
            <a:solidFill>
              <a:srgbClr val="40C4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="" xmlns:a16="http://schemas.microsoft.com/office/drawing/2014/main" id="{616A9CE2-7A18-4FC0-9ECA-F1EFF4FFDF86}"/>
              </a:ext>
            </a:extLst>
          </p:cNvPr>
          <p:cNvSpPr txBox="1"/>
          <p:nvPr/>
        </p:nvSpPr>
        <p:spPr bwMode="auto">
          <a:xfrm>
            <a:off x="1683837" y="2546019"/>
            <a:ext cx="6188110" cy="369332"/>
          </a:xfrm>
          <a:prstGeom prst="rect">
            <a:avLst/>
          </a:prstGeom>
          <a:noFill/>
          <a:effectLst/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웹 쇼핑몰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생성하기</a:t>
            </a:r>
          </a:p>
        </p:txBody>
      </p:sp>
      <p:sp>
        <p:nvSpPr>
          <p:cNvPr id="13" name="Oval 38">
            <a:extLst>
              <a:ext uri="{FF2B5EF4-FFF2-40B4-BE49-F238E27FC236}">
                <a16:creationId xmlns="" xmlns:a16="http://schemas.microsoft.com/office/drawing/2014/main" id="{C4B585F2-7552-4961-8664-08AE6D46097C}"/>
              </a:ext>
            </a:extLst>
          </p:cNvPr>
          <p:cNvSpPr/>
          <p:nvPr/>
        </p:nvSpPr>
        <p:spPr>
          <a:xfrm>
            <a:off x="755576" y="2420888"/>
            <a:ext cx="662971" cy="606096"/>
          </a:xfrm>
          <a:prstGeom prst="ellipse">
            <a:avLst/>
          </a:prstGeom>
          <a:solidFill>
            <a:srgbClr val="98D2D0"/>
          </a:solidFill>
          <a:ln w="12700">
            <a:solidFill>
              <a:schemeClr val="accent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5C8F98B-CB44-4C5B-B3F9-5C6BDBB51677}"/>
              </a:ext>
            </a:extLst>
          </p:cNvPr>
          <p:cNvSpPr txBox="1"/>
          <p:nvPr/>
        </p:nvSpPr>
        <p:spPr>
          <a:xfrm>
            <a:off x="879457" y="2501540"/>
            <a:ext cx="415209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400" b="1" dirty="0">
                <a:solidFill>
                  <a:srgbClr val="17928F"/>
                </a:solidFill>
                <a:cs typeface="Arial" pitchFamily="34" charset="0"/>
              </a:rPr>
              <a:t>3</a:t>
            </a:r>
            <a:endParaRPr lang="ko-KR" altLang="en-US" sz="2400" b="1" dirty="0">
              <a:solidFill>
                <a:srgbClr val="17928F"/>
              </a:solidFill>
              <a:cs typeface="Arial" pitchFamily="34" charset="0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20711DDA-531B-42EC-BF4E-35E1F835F8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850316"/>
            <a:ext cx="7929323" cy="238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01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인터넷과 웹의 개요</a:t>
            </a:r>
            <a:endParaRPr lang="en-US" altLang="ko-KR" dirty="0"/>
          </a:p>
          <a:p>
            <a:pPr lvl="1"/>
            <a:r>
              <a:rPr lang="ko-KR" altLang="en-US" dirty="0"/>
              <a:t>인터넷</a:t>
            </a:r>
            <a:endParaRPr lang="en-US" altLang="ko-KR" dirty="0"/>
          </a:p>
          <a:p>
            <a:pPr lvl="2"/>
            <a:r>
              <a:rPr lang="ko-KR" altLang="en-US" dirty="0"/>
              <a:t>컴퓨터가 서로 연결되어 </a:t>
            </a:r>
            <a:r>
              <a:rPr lang="en-US" altLang="ko-KR" dirty="0"/>
              <a:t>TCP/IP</a:t>
            </a:r>
            <a:r>
              <a:rPr lang="ko-KR" altLang="en-US" dirty="0"/>
              <a:t>라는 통신 프로토콜을 이용하여 정보를 주고받는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전 </a:t>
            </a:r>
            <a:r>
              <a:rPr lang="ko-KR" altLang="en-US" dirty="0"/>
              <a:t>세계의 컴퓨터 네트워크</a:t>
            </a:r>
            <a:r>
              <a:rPr lang="en-US" altLang="ko-KR" dirty="0"/>
              <a:t> </a:t>
            </a:r>
            <a:endParaRPr lang="ko-KR" altLang="en-US" dirty="0"/>
          </a:p>
          <a:p>
            <a:pPr lvl="1"/>
            <a:r>
              <a:rPr lang="ko-KR" altLang="en-US" dirty="0"/>
              <a:t>웹</a:t>
            </a:r>
            <a:endParaRPr lang="en-US" altLang="ko-KR" dirty="0"/>
          </a:p>
          <a:p>
            <a:pPr lvl="2"/>
            <a:r>
              <a:rPr lang="ko-KR" altLang="en-US" dirty="0"/>
              <a:t>인터넷에 연결된 컴퓨터들을 통해 사람들이 정보를 공유할 수 있는 정보 공간</a:t>
            </a:r>
            <a:endParaRPr lang="en-US" altLang="ko-KR" dirty="0"/>
          </a:p>
          <a:p>
            <a:pPr lvl="2"/>
            <a:r>
              <a:rPr lang="ko-KR" altLang="en-US" dirty="0"/>
              <a:t>월드 와이드 웹</a:t>
            </a:r>
            <a:r>
              <a:rPr lang="en-US" altLang="ko-KR" dirty="0"/>
              <a:t>(world wide web)</a:t>
            </a:r>
            <a:r>
              <a:rPr lang="ko-KR" altLang="en-US" dirty="0"/>
              <a:t>의 </a:t>
            </a:r>
            <a:r>
              <a:rPr lang="ko-KR" altLang="en-US" dirty="0" err="1"/>
              <a:t>줄임말</a:t>
            </a:r>
            <a:r>
              <a:rPr lang="en-US" altLang="ko-KR" dirty="0"/>
              <a:t> </a:t>
            </a:r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="" xmlns:a16="http://schemas.microsoft.com/office/drawing/2014/main" id="{06783CB3-0CC1-4F66-AD3A-1DBAC838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0FC15975-AA7C-4C0C-94D5-A99848B64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490664"/>
            <a:ext cx="4568955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061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8">
            <a:extLst>
              <a:ext uri="{FF2B5EF4-FFF2-40B4-BE49-F238E27FC236}">
                <a16:creationId xmlns="" xmlns:a16="http://schemas.microsoft.com/office/drawing/2014/main" id="{6BB9202A-7266-4E30-8FF0-A40B69EAAFC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웹의 동작 원리</a:t>
            </a:r>
            <a:endParaRPr lang="en-US" altLang="ko-KR" dirty="0"/>
          </a:p>
          <a:p>
            <a:pPr lvl="1"/>
            <a:r>
              <a:rPr lang="ko-KR" altLang="en-US" dirty="0"/>
              <a:t>웹은 기본적으로 클라이언트</a:t>
            </a:r>
            <a:r>
              <a:rPr lang="en-US" altLang="ko-KR" dirty="0"/>
              <a:t>/</a:t>
            </a:r>
            <a:r>
              <a:rPr lang="ko-KR" altLang="en-US" dirty="0"/>
              <a:t>서버 방식으로 동작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가장 널리 쓰이는 웹 서버</a:t>
            </a:r>
            <a:endParaRPr lang="en-US" altLang="ko-KR" dirty="0"/>
          </a:p>
          <a:p>
            <a:pPr lvl="2"/>
            <a:r>
              <a:rPr lang="ko-KR" altLang="en-US" dirty="0"/>
              <a:t>아파치</a:t>
            </a:r>
            <a:r>
              <a:rPr lang="en-US" altLang="ko-KR" dirty="0"/>
              <a:t>(Apache</a:t>
            </a:r>
            <a:r>
              <a:rPr lang="en-US" altLang="ko-KR" dirty="0" smtClean="0"/>
              <a:t>)</a:t>
            </a:r>
          </a:p>
          <a:p>
            <a:pPr lvl="2"/>
            <a:r>
              <a:rPr lang="ko-KR" altLang="en-US" dirty="0" err="1" smtClean="0"/>
              <a:t>톰캣</a:t>
            </a:r>
            <a:r>
              <a:rPr lang="en-US" altLang="ko-KR" dirty="0"/>
              <a:t>(Tomcat</a:t>
            </a:r>
            <a:r>
              <a:rPr lang="en-US" altLang="ko-KR" dirty="0" smtClean="0"/>
              <a:t>)</a:t>
            </a:r>
          </a:p>
          <a:p>
            <a:pPr lvl="2"/>
            <a:r>
              <a:rPr lang="en-US" altLang="ko-KR" dirty="0" smtClean="0"/>
              <a:t>IIS(Internet </a:t>
            </a:r>
            <a:r>
              <a:rPr lang="en-US" altLang="ko-KR" dirty="0"/>
              <a:t>Information Server) </a:t>
            </a:r>
          </a:p>
          <a:p>
            <a:pPr marL="609585" lvl="1" indent="0">
              <a:buNone/>
            </a:pP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6" name="제목 5">
            <a:extLst>
              <a:ext uri="{FF2B5EF4-FFF2-40B4-BE49-F238E27FC236}">
                <a16:creationId xmlns="" xmlns:a16="http://schemas.microsoft.com/office/drawing/2014/main" id="{1772D07C-8269-4C90-AB9B-7E8D9BB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139953" y="281387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EB1E9CAD-B03B-48A5-9394-B726054EA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9571" y="2348880"/>
            <a:ext cx="2892747" cy="21302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FA4AB1E7-83A6-47C3-97C2-975E5E1C8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284" y="2204864"/>
            <a:ext cx="3147219" cy="259786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71323" y="4479086"/>
            <a:ext cx="246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서버와 클라이언트</a:t>
            </a: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551578" y="4879196"/>
            <a:ext cx="24686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요청 및 응답 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644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정적 웹 페이지와 동적 웹 페이지</a:t>
            </a:r>
            <a:endParaRPr lang="en-US" altLang="ko-KR" dirty="0"/>
          </a:p>
          <a:p>
            <a:pPr lvl="1"/>
            <a:r>
              <a:rPr lang="ko-KR" altLang="en-US" dirty="0"/>
              <a:t>정적 웹 페이지</a:t>
            </a:r>
            <a:endParaRPr lang="en-US" altLang="ko-KR" dirty="0"/>
          </a:p>
          <a:p>
            <a:pPr lvl="2"/>
            <a:r>
              <a:rPr lang="ko-KR" altLang="en-US" dirty="0"/>
              <a:t>컴퓨터에 저장된 텍스트 파일을 그대로 보는 것</a:t>
            </a:r>
            <a:endParaRPr lang="en-US" altLang="ko-KR" dirty="0"/>
          </a:p>
          <a:p>
            <a:pPr lvl="2"/>
            <a:r>
              <a:rPr lang="en-US" altLang="ko-KR" dirty="0"/>
              <a:t>HTML(</a:t>
            </a:r>
            <a:r>
              <a:rPr lang="en-US" altLang="ko-KR" dirty="0" err="1"/>
              <a:t>HyperText</a:t>
            </a:r>
            <a:r>
              <a:rPr lang="en-US" altLang="ko-KR" dirty="0"/>
              <a:t> Markup Language)</a:t>
            </a:r>
          </a:p>
          <a:p>
            <a:endParaRPr lang="ko-KR" altLang="en-US" dirty="0"/>
          </a:p>
          <a:p>
            <a:pPr lvl="1"/>
            <a:r>
              <a:rPr lang="ko-KR" altLang="en-US" dirty="0"/>
              <a:t>동적 웹 페이지 </a:t>
            </a:r>
            <a:endParaRPr lang="en-US" altLang="ko-KR" dirty="0"/>
          </a:p>
          <a:p>
            <a:pPr lvl="2"/>
            <a:r>
              <a:rPr lang="ko-KR" altLang="en-US" dirty="0"/>
              <a:t>저장된 내용을 다른 변수로 가공 처리하여 보는 것</a:t>
            </a:r>
          </a:p>
          <a:p>
            <a:pPr lvl="2"/>
            <a:r>
              <a:rPr lang="en-US" altLang="ko-KR" dirty="0"/>
              <a:t>PHP(Personal Home Page), ASP(Active Server Page), JSP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4CC3418-552B-4A49-84E1-CADE974AA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</p:spTree>
    <p:extLst>
      <p:ext uri="{BB962C8B-B14F-4D97-AF65-F5344CB8AC3E}">
        <p14:creationId xmlns:p14="http://schemas.microsoft.com/office/powerpoint/2010/main" val="168781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정적 웹 페이지의 동작 방식</a:t>
            </a:r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="" xmlns:a16="http://schemas.microsoft.com/office/drawing/2014/main" id="{A083513B-D334-4D19-A895-73BC2EC4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3"/>
            <a:ext cx="7943947" cy="3312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00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동적 웹 페이지의 동작 방식</a:t>
            </a:r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="" xmlns:a16="http://schemas.microsoft.com/office/drawing/2014/main" id="{551F2627-0043-46AA-9DFC-8A1CA0EE8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621446"/>
            <a:ext cx="7662232" cy="3601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4009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웹 프로그래밍과 </a:t>
            </a:r>
            <a:r>
              <a:rPr lang="en-US" altLang="ko-KR" dirty="0"/>
              <a:t>JSP</a:t>
            </a:r>
            <a:endParaRPr lang="ko-KR" altLang="en-US" dirty="0"/>
          </a:p>
          <a:p>
            <a:pPr lvl="1"/>
            <a:r>
              <a:rPr lang="ko-KR" altLang="en-US" dirty="0"/>
              <a:t>웹 프로그래밍 언어</a:t>
            </a:r>
            <a:endParaRPr lang="en-US" altLang="ko-KR" dirty="0"/>
          </a:p>
          <a:p>
            <a:pPr lvl="2"/>
            <a:r>
              <a:rPr lang="ko-KR" altLang="en-US" dirty="0"/>
              <a:t>클라이언트 측 실행 언어와 서버 측 실행 언어로 구분</a:t>
            </a:r>
            <a:endParaRPr lang="en-US" altLang="ko-KR" dirty="0"/>
          </a:p>
          <a:p>
            <a:pPr lvl="2"/>
            <a:r>
              <a:rPr lang="ko-KR" altLang="en-US" dirty="0"/>
              <a:t>자바를 기반으로 하는 </a:t>
            </a:r>
            <a:r>
              <a:rPr lang="en-US" altLang="ko-KR" dirty="0"/>
              <a:t>JSP</a:t>
            </a:r>
            <a:r>
              <a:rPr lang="ko-KR" altLang="en-US" dirty="0"/>
              <a:t>는 서버 측 웹 프로그래밍 언어 중 하나</a:t>
            </a:r>
            <a:endParaRPr lang="en-US" altLang="ko-KR" dirty="0"/>
          </a:p>
          <a:p>
            <a:pPr marL="534987" lvl="2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JSP</a:t>
            </a:r>
            <a:r>
              <a:rPr lang="ko-KR" altLang="en-US" dirty="0"/>
              <a:t>의 특징</a:t>
            </a:r>
            <a:endParaRPr lang="en-US" altLang="ko-KR" dirty="0"/>
          </a:p>
          <a:p>
            <a:pPr lvl="2"/>
            <a:r>
              <a:rPr lang="en-US" altLang="ko-KR" dirty="0"/>
              <a:t>JSP</a:t>
            </a:r>
            <a:r>
              <a:rPr lang="ko-KR" altLang="en-US" dirty="0"/>
              <a:t>는 </a:t>
            </a:r>
            <a:r>
              <a:rPr lang="ko-KR" altLang="en-US" dirty="0" err="1"/>
              <a:t>서블릿</a:t>
            </a:r>
            <a:r>
              <a:rPr lang="ko-KR" altLang="en-US" dirty="0"/>
              <a:t> 기술의 </a:t>
            </a:r>
            <a:r>
              <a:rPr lang="ko-KR" altLang="en-US" dirty="0" smtClean="0"/>
              <a:t>확장</a:t>
            </a:r>
            <a:endParaRPr lang="ko-KR" altLang="en-US" dirty="0"/>
          </a:p>
          <a:p>
            <a:pPr lvl="2"/>
            <a:r>
              <a:rPr lang="en-US" altLang="ko-KR" dirty="0"/>
              <a:t>JSP</a:t>
            </a:r>
            <a:r>
              <a:rPr lang="ko-KR" altLang="en-US" dirty="0"/>
              <a:t>는 유지 관리가 </a:t>
            </a:r>
            <a:r>
              <a:rPr lang="ko-KR" altLang="en-US" dirty="0" smtClean="0"/>
              <a:t>용이</a:t>
            </a:r>
            <a:endParaRPr lang="ko-KR" altLang="en-US" dirty="0"/>
          </a:p>
          <a:p>
            <a:pPr lvl="2"/>
            <a:r>
              <a:rPr lang="en-US" altLang="ko-KR" dirty="0"/>
              <a:t>JSP</a:t>
            </a:r>
            <a:r>
              <a:rPr lang="ko-KR" altLang="en-US" dirty="0"/>
              <a:t>는 빠른 개발이 </a:t>
            </a:r>
            <a:r>
              <a:rPr lang="ko-KR" altLang="en-US" dirty="0" smtClean="0"/>
              <a:t>가능</a:t>
            </a:r>
            <a:endParaRPr lang="ko-KR" altLang="en-US" dirty="0"/>
          </a:p>
          <a:p>
            <a:pPr lvl="2"/>
            <a:r>
              <a:rPr lang="en-US" altLang="ko-KR" dirty="0"/>
              <a:t>JSP</a:t>
            </a:r>
            <a:r>
              <a:rPr lang="ko-KR" altLang="en-US" dirty="0"/>
              <a:t>로 개발하면 코드 길이를 줄일 수 </a:t>
            </a:r>
            <a:r>
              <a:rPr lang="ko-KR" altLang="en-US" dirty="0" smtClean="0"/>
              <a:t>있음</a:t>
            </a:r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5C65B88-8C71-4EB7-870C-DCD4A4EA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</p:spTree>
    <p:extLst>
      <p:ext uri="{BB962C8B-B14F-4D97-AF65-F5344CB8AC3E}">
        <p14:creationId xmlns:p14="http://schemas.microsoft.com/office/powerpoint/2010/main" val="1904763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en-US" altLang="ko-KR" dirty="0" err="1"/>
              <a:t>페이지의</a:t>
            </a:r>
            <a:r>
              <a:rPr lang="en-US" altLang="ko-KR" dirty="0"/>
              <a:t> </a:t>
            </a:r>
            <a:r>
              <a:rPr lang="en-US" altLang="ko-KR" dirty="0" err="1"/>
              <a:t>처리</a:t>
            </a:r>
            <a:r>
              <a:rPr lang="en-US" altLang="ko-KR" dirty="0"/>
              <a:t> </a:t>
            </a:r>
            <a:r>
              <a:rPr lang="en-US" altLang="ko-KR" dirty="0" err="1"/>
              <a:t>과정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="" xmlns:a16="http://schemas.microsoft.com/office/drawing/2014/main" id="{2B728791-98FE-47D1-8C33-125E25435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700808"/>
            <a:ext cx="8136904" cy="35829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0209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생명주기</a:t>
            </a:r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67A2974C-7739-4357-8BA1-6512988C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웹과 </a:t>
            </a:r>
            <a:r>
              <a:rPr lang="en-US" altLang="ko-KR" dirty="0"/>
              <a:t>JSP </a:t>
            </a:r>
            <a:r>
              <a:rPr lang="ko-KR" altLang="en-US" dirty="0"/>
              <a:t>프로그래밍 이해하기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765636"/>
            <a:ext cx="8280920" cy="329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8381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JSP </a:t>
            </a:r>
            <a:r>
              <a:rPr lang="ko-KR" altLang="en-US" dirty="0"/>
              <a:t>개발 환경 도구</a:t>
            </a:r>
            <a:endParaRPr lang="en-US" altLang="ko-KR" dirty="0"/>
          </a:p>
          <a:p>
            <a:pPr lvl="1"/>
            <a:r>
              <a:rPr lang="ko-KR" altLang="en-US" dirty="0"/>
              <a:t>자바 개발환경 </a:t>
            </a:r>
            <a:r>
              <a:rPr lang="en-US" altLang="ko-KR" dirty="0"/>
              <a:t>: JDK</a:t>
            </a:r>
          </a:p>
          <a:p>
            <a:pPr lvl="1"/>
            <a:r>
              <a:rPr lang="ko-KR" altLang="en-US" dirty="0"/>
              <a:t>웹서버 </a:t>
            </a:r>
            <a:r>
              <a:rPr lang="en-US" altLang="ko-KR" dirty="0"/>
              <a:t>: </a:t>
            </a:r>
            <a:r>
              <a:rPr lang="ko-KR" altLang="en-US" dirty="0" err="1"/>
              <a:t>톰캣</a:t>
            </a:r>
            <a:endParaRPr lang="en-US" altLang="ko-KR" dirty="0"/>
          </a:p>
          <a:p>
            <a:pPr lvl="1"/>
            <a:r>
              <a:rPr lang="ko-KR" altLang="en-US" dirty="0"/>
              <a:t>통합 개발 환경 </a:t>
            </a:r>
            <a:r>
              <a:rPr lang="en-US" altLang="ko-KR" dirty="0"/>
              <a:t>:</a:t>
            </a:r>
            <a:r>
              <a:rPr lang="ko-KR" altLang="en-US" dirty="0"/>
              <a:t>이클립스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7E7A18D-D4D2-45D7-9F89-F0CB92B28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625824"/>
            <a:ext cx="8532440" cy="3621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3167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자바 설치하고 환경 설정하기</a:t>
            </a:r>
            <a:endParaRPr lang="en-US" altLang="ko-KR" dirty="0"/>
          </a:p>
          <a:p>
            <a:pPr lvl="1"/>
            <a:r>
              <a:rPr lang="ko-KR" altLang="en-US" kern="0" dirty="0">
                <a:solidFill>
                  <a:srgbClr val="000000"/>
                </a:solidFill>
              </a:rPr>
              <a:t>자바 개발 키트</a:t>
            </a:r>
            <a:endParaRPr lang="en-US" altLang="ko-KR" kern="0" dirty="0">
              <a:solidFill>
                <a:srgbClr val="000000"/>
              </a:solidFill>
            </a:endParaRPr>
          </a:p>
          <a:p>
            <a:pPr lvl="2"/>
            <a:r>
              <a:rPr lang="en-US" altLang="ko-KR" kern="0" dirty="0">
                <a:solidFill>
                  <a:srgbClr val="000000"/>
                </a:solidFill>
              </a:rPr>
              <a:t>JDK(Java Development Kit)</a:t>
            </a:r>
            <a:endParaRPr lang="ko-KR" altLang="en-US" dirty="0"/>
          </a:p>
          <a:p>
            <a:pPr lvl="1"/>
            <a:r>
              <a:rPr lang="ko-KR" altLang="en-US" kern="0" dirty="0">
                <a:solidFill>
                  <a:srgbClr val="000000"/>
                </a:solidFill>
              </a:rPr>
              <a:t>자바 실행 환경</a:t>
            </a:r>
            <a:endParaRPr lang="en-US" altLang="ko-KR" kern="0" dirty="0">
              <a:solidFill>
                <a:srgbClr val="000000"/>
              </a:solidFill>
            </a:endParaRPr>
          </a:p>
          <a:p>
            <a:pPr lvl="2"/>
            <a:r>
              <a:rPr lang="en-US" altLang="ko-KR" kern="0" dirty="0">
                <a:solidFill>
                  <a:srgbClr val="000000"/>
                </a:solidFill>
              </a:rPr>
              <a:t>JRE(Java Runtime Environment)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901C743-8982-4622-9860-C023ED33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0236" y="2852936"/>
            <a:ext cx="3672408" cy="3163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6837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오라클 사이트에 접속하기</a:t>
            </a:r>
            <a:endParaRPr lang="en-US" altLang="ko-KR" dirty="0"/>
          </a:p>
          <a:p>
            <a:pPr lvl="2"/>
            <a:r>
              <a:rPr lang="en-US" altLang="ko-KR" dirty="0"/>
              <a:t>http://www.oracle.com/kr/java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CE4B885-742A-4D88-B6B8-1E489EAE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31641" y="12875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898628"/>
            <a:ext cx="8497366" cy="504825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827584" y="2492896"/>
            <a:ext cx="7613286" cy="3634591"/>
            <a:chOff x="827584" y="2492896"/>
            <a:chExt cx="7613286" cy="3634591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584" y="2492896"/>
              <a:ext cx="7613286" cy="36345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" name="직사각형 2"/>
            <p:cNvSpPr/>
            <p:nvPr/>
          </p:nvSpPr>
          <p:spPr>
            <a:xfrm>
              <a:off x="7631848" y="2924944"/>
              <a:ext cx="712879" cy="2613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0059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2</a:t>
            </a:r>
            <a:r>
              <a:rPr lang="en-US" altLang="ko-KR" dirty="0" smtClean="0"/>
              <a:t>. JDK </a:t>
            </a:r>
            <a:r>
              <a:rPr lang="ko-KR" altLang="en-US" dirty="0"/>
              <a:t>선택하기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D946C1F-1EC0-4E57-B6BD-F5D89E82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076873" y="2446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19673" y="12875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7951"/>
            <a:ext cx="8497366" cy="504825"/>
          </a:xfrm>
          <a:prstGeom prst="rect">
            <a:avLst/>
          </a:prstGeom>
        </p:spPr>
      </p:pic>
      <p:grpSp>
        <p:nvGrpSpPr>
          <p:cNvPr id="3" name="그룹 2"/>
          <p:cNvGrpSpPr/>
          <p:nvPr/>
        </p:nvGrpSpPr>
        <p:grpSpPr>
          <a:xfrm>
            <a:off x="899593" y="2420888"/>
            <a:ext cx="6264696" cy="3168352"/>
            <a:chOff x="4393224" y="1772816"/>
            <a:chExt cx="4361015" cy="223224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93224" y="1772816"/>
              <a:ext cx="4361015" cy="22322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직사각형 9"/>
            <p:cNvSpPr/>
            <p:nvPr/>
          </p:nvSpPr>
          <p:spPr>
            <a:xfrm>
              <a:off x="6793110" y="3302402"/>
              <a:ext cx="948842" cy="21602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 smtClean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96510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 smtClean="0"/>
              <a:t>3</a:t>
            </a:r>
            <a:r>
              <a:rPr lang="en-US" altLang="ko-KR" dirty="0"/>
              <a:t>. </a:t>
            </a:r>
            <a:r>
              <a:rPr lang="ko-KR" altLang="en-US" dirty="0"/>
              <a:t>라이선스 동의 및 </a:t>
            </a:r>
            <a:r>
              <a:rPr lang="ko-KR" altLang="en-US" dirty="0" smtClean="0"/>
              <a:t>운영체제 </a:t>
            </a:r>
            <a:r>
              <a:rPr lang="ko-KR" altLang="en-US" dirty="0"/>
              <a:t>버전에 맞는 설치 파일 선택하기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D946C1F-1EC0-4E57-B6BD-F5D89E826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19673" y="128754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7951"/>
            <a:ext cx="8497366" cy="504825"/>
          </a:xfrm>
          <a:prstGeom prst="rect">
            <a:avLst/>
          </a:prstGeom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670" y="2276872"/>
            <a:ext cx="6811859" cy="426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8237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자바 설치하기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7823FBA-7288-42BB-AC77-588ED1F35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99593" y="164758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98" y="942755"/>
            <a:ext cx="8497366" cy="504825"/>
          </a:xfrm>
          <a:prstGeom prst="rect">
            <a:avLst/>
          </a:prstGeom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20888"/>
            <a:ext cx="8430532" cy="3484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0651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1. [</a:t>
            </a:r>
            <a:r>
              <a:rPr lang="ko-KR" altLang="en-US" dirty="0"/>
              <a:t>환경 변수</a:t>
            </a:r>
            <a:r>
              <a:rPr lang="en-US" altLang="ko-KR" dirty="0"/>
              <a:t>] </a:t>
            </a:r>
            <a:r>
              <a:rPr lang="ko-KR" altLang="en-US" dirty="0"/>
              <a:t>대화상자 열기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D2E0F50-D490-47C0-8106-FF8672120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83569" y="179159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13" y="897859"/>
            <a:ext cx="8474902" cy="504825"/>
          </a:xfrm>
          <a:prstGeom prst="rect">
            <a:avLst/>
          </a:prstGeom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76872"/>
            <a:ext cx="6776311" cy="38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9440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자바 환경 변수 설정하기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9565DA2-317C-427B-B907-AA1155983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403649" y="96972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8720"/>
            <a:ext cx="8474902" cy="504825"/>
          </a:xfrm>
          <a:prstGeom prst="rect">
            <a:avLst/>
          </a:prstGeom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276872"/>
            <a:ext cx="6192599" cy="4346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3754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자바에 설정한 환경 변수 확인하기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7496C94-F3E4-44F3-8102-57DB53635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9513" y="48129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07951"/>
            <a:ext cx="8474902" cy="504825"/>
          </a:xfrm>
          <a:prstGeom prst="rect">
            <a:avLst/>
          </a:prstGeom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09862"/>
            <a:ext cx="605790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7438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웹 서버와 통합 개발 환경 설치하기</a:t>
            </a:r>
          </a:p>
          <a:p>
            <a:pPr lvl="1"/>
            <a:r>
              <a:rPr lang="ko-KR" altLang="en-US" dirty="0"/>
              <a:t>웹</a:t>
            </a:r>
            <a:r>
              <a:rPr lang="en-US" altLang="ko-KR" dirty="0"/>
              <a:t> </a:t>
            </a:r>
            <a:r>
              <a:rPr lang="ko-KR" altLang="en-US" dirty="0"/>
              <a:t>서버 </a:t>
            </a:r>
            <a:endParaRPr lang="en-US" altLang="ko-KR" dirty="0"/>
          </a:p>
          <a:p>
            <a:pPr lvl="2"/>
            <a:r>
              <a:rPr lang="ko-KR" altLang="en-US" dirty="0" err="1"/>
              <a:t>톰캣</a:t>
            </a:r>
            <a:r>
              <a:rPr lang="ko-KR" altLang="en-US" dirty="0"/>
              <a:t> </a:t>
            </a:r>
            <a:endParaRPr lang="en-US" altLang="ko-KR" dirty="0"/>
          </a:p>
          <a:p>
            <a:pPr lvl="3"/>
            <a:r>
              <a:rPr lang="ko-KR" altLang="en-US" dirty="0"/>
              <a:t>아파치 소프트웨어재단</a:t>
            </a:r>
            <a:r>
              <a:rPr lang="en-US" altLang="ko-KR" dirty="0"/>
              <a:t>(Apache Software Foundation)</a:t>
            </a:r>
            <a:r>
              <a:rPr lang="ko-KR" altLang="en-US" dirty="0"/>
              <a:t>에서 개발한 웹 애플리케이션 서버</a:t>
            </a:r>
            <a:endParaRPr lang="en-US" altLang="ko-KR" dirty="0"/>
          </a:p>
          <a:p>
            <a:pPr lvl="3"/>
            <a:r>
              <a:rPr lang="ko-KR" altLang="en-US" dirty="0"/>
              <a:t>자바 만들어진 웹 페이지를 구동하기 위한 엔진</a:t>
            </a:r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ko-KR" altLang="en-US" dirty="0"/>
              <a:t>통합 개발 환경</a:t>
            </a:r>
            <a:endParaRPr lang="en-US" altLang="ko-KR" dirty="0"/>
          </a:p>
          <a:p>
            <a:pPr lvl="2"/>
            <a:r>
              <a:rPr lang="ko-KR" altLang="en-US" dirty="0"/>
              <a:t>이클립스</a:t>
            </a:r>
            <a:endParaRPr lang="en-US" altLang="ko-KR" dirty="0"/>
          </a:p>
          <a:p>
            <a:pPr lvl="3"/>
            <a:r>
              <a:rPr lang="ko-KR" altLang="en-US" dirty="0"/>
              <a:t>자바 통합 개발 환경</a:t>
            </a:r>
            <a:r>
              <a:rPr lang="en-US" altLang="ko-KR" dirty="0"/>
              <a:t>(IDE) </a:t>
            </a:r>
            <a:r>
              <a:rPr lang="ko-KR" altLang="en-US" dirty="0"/>
              <a:t>중 가장 많이 사용되는 개발 도구</a:t>
            </a:r>
            <a:endParaRPr lang="en-US" altLang="ko-KR" dirty="0"/>
          </a:p>
          <a:p>
            <a:pPr lvl="3"/>
            <a:r>
              <a:rPr lang="ko-KR" altLang="en-US" dirty="0"/>
              <a:t>자바를 기반으로 애플리케이션을 개발하기 위해 이클립스를 사용</a:t>
            </a:r>
            <a:endParaRPr lang="en-US" altLang="ko-KR" dirty="0"/>
          </a:p>
          <a:p>
            <a:pPr lvl="2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8F490F0-F933-4200-B10D-025F5707D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11561" y="186360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045557" y="276556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319968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아파치 사이트에 접속 및 다운로드하기</a:t>
            </a:r>
          </a:p>
          <a:p>
            <a:pPr lvl="2"/>
            <a:r>
              <a:rPr lang="en-US" altLang="ko-KR" dirty="0"/>
              <a:t>Http://tomcat.apache.org</a:t>
            </a:r>
          </a:p>
          <a:p>
            <a:pPr lvl="1"/>
            <a:endParaRPr lang="en-US" altLang="ko-KR" dirty="0"/>
          </a:p>
        </p:txBody>
      </p:sp>
      <p:sp>
        <p:nvSpPr>
          <p:cNvPr id="7" name="제목 6">
            <a:extLst>
              <a:ext uri="{FF2B5EF4-FFF2-40B4-BE49-F238E27FC236}">
                <a16:creationId xmlns="" xmlns:a16="http://schemas.microsoft.com/office/drawing/2014/main" id="{F89E70F6-88C7-4BC5-97F9-D13BA9B8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931818"/>
            <a:ext cx="8474901" cy="504825"/>
          </a:xfrm>
          <a:prstGeom prst="rect">
            <a:avLst/>
          </a:prstGeom>
        </p:spPr>
      </p:pic>
      <p:pic>
        <p:nvPicPr>
          <p:cNvPr id="5" name="_x210300800" descr="EMB000018a8499c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7" y="2732923"/>
            <a:ext cx="4106863" cy="295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_x316297656" descr="EMB000018a8499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0329" y="2721438"/>
            <a:ext cx="4106863" cy="294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074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pPr marL="357187" lvl="1" indent="0">
              <a:buNone/>
            </a:pPr>
            <a:r>
              <a:rPr lang="en-US" altLang="ko-KR" dirty="0" smtClean="0"/>
              <a:t>2. </a:t>
            </a:r>
            <a:r>
              <a:rPr lang="ko-KR" altLang="en-US" dirty="0" err="1" smtClean="0"/>
              <a:t>다운로드한</a:t>
            </a:r>
            <a:r>
              <a:rPr lang="ko-KR" altLang="en-US" dirty="0" smtClean="0"/>
              <a:t> </a:t>
            </a:r>
            <a:r>
              <a:rPr lang="en-US" altLang="ko-KR" dirty="0"/>
              <a:t>apache-tomcat-9.0.2-windows-x64.zip</a:t>
            </a:r>
            <a:r>
              <a:rPr lang="ko-KR" altLang="en-US" dirty="0"/>
              <a:t>의 압축을 풀고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</a:t>
            </a:r>
            <a:r>
              <a:rPr lang="ko-KR" altLang="en-US" dirty="0" smtClean="0"/>
              <a:t>하위에 </a:t>
            </a:r>
            <a:r>
              <a:rPr lang="ko-KR" altLang="en-US" dirty="0"/>
              <a:t>있는 </a:t>
            </a:r>
            <a:r>
              <a:rPr lang="en-US" altLang="ko-KR" dirty="0"/>
              <a:t>apache-tomcat-9.0.2 </a:t>
            </a:r>
            <a:r>
              <a:rPr lang="ko-KR" altLang="en-US" dirty="0"/>
              <a:t>폴더를 </a:t>
            </a:r>
            <a:r>
              <a:rPr lang="en-US" altLang="ko-KR" dirty="0"/>
              <a:t>C </a:t>
            </a:r>
            <a:r>
              <a:rPr lang="ko-KR" altLang="en-US" dirty="0"/>
              <a:t>드라이브로 </a:t>
            </a:r>
            <a:r>
              <a:rPr lang="ko-KR" altLang="en-US" dirty="0" smtClean="0"/>
              <a:t>옮기기</a:t>
            </a:r>
            <a:endParaRPr lang="en-US" altLang="ko-KR" dirty="0"/>
          </a:p>
          <a:p>
            <a:pPr marL="357187" lvl="1" indent="0">
              <a:buNone/>
            </a:pPr>
            <a:r>
              <a:rPr lang="en-US" altLang="ko-KR" dirty="0" smtClean="0"/>
              <a:t>    (</a:t>
            </a:r>
            <a:r>
              <a:rPr lang="en-US" altLang="ko-KR" dirty="0"/>
              <a:t>C:\ </a:t>
            </a:r>
            <a:r>
              <a:rPr lang="ko-KR" altLang="en-US" dirty="0"/>
              <a:t>경로에 바로 압축을 풀어도 됨</a:t>
            </a:r>
            <a:r>
              <a:rPr lang="en-US" altLang="ko-KR" dirty="0" smtClean="0"/>
              <a:t>)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7E898C4-FD31-43BE-93A8-1A1CDA2B3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99593" y="171959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5361" name="_x210300720" descr="EMB000018a8499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3212976"/>
            <a:ext cx="5940660" cy="2376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27564"/>
            <a:ext cx="8474901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89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이클립스 사이트에 접속하기</a:t>
            </a:r>
          </a:p>
          <a:p>
            <a:pPr lvl="2"/>
            <a:r>
              <a:rPr lang="en-US" altLang="ko-KR" dirty="0"/>
              <a:t>http://www.eclipse.org/downloads/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2B3F472-77E8-481B-8B8B-48585CBB8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11561" y="200762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6385" name="_x210300720" descr="EMB000018a8499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673" y="2769127"/>
            <a:ext cx="5544616" cy="3396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661023" y="230131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82923" y="385949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31818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549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이클립스 설치 파일 다운로드하기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8AAD9A-510F-48CE-A9B4-3A644474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11561" y="200762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661023" y="230131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6387" name="_x115456848" descr="EMB000018a849a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15" y="2223219"/>
            <a:ext cx="4116512" cy="278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182923" y="385949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6389" name="_x316297576" descr="EMB000018a849a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721" y="2223219"/>
            <a:ext cx="3896735" cy="2789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979959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85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설치 완료하고 실행하기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BE6E988-915F-4BA2-A4E7-FF2EE5B8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66912" y="229565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7409" name="_x115456848" descr="EMB000018a849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95655"/>
            <a:ext cx="6105349" cy="2501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31818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21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이클립스 작업 공간 설정하기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2B843C6-C83A-4372-AB81-3BEA71D13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11561" y="186360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8433" name="_x115456848" descr="EMB000018a849a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513463"/>
            <a:ext cx="5688632" cy="2190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69867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4024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이클립스 실행 화면 </a:t>
            </a:r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1933683-729B-4ACE-B964-DE7A0B6FD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79371" y="1431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19457" name="_x116123648" descr="DRW000018a84a1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204864"/>
            <a:ext cx="6336704" cy="420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79959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284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 smtClean="0"/>
              <a:t>1. [Server</a:t>
            </a:r>
            <a:r>
              <a:rPr lang="en-US" altLang="ko-KR" dirty="0"/>
              <a:t>] </a:t>
            </a:r>
            <a:r>
              <a:rPr lang="ko-KR" altLang="en-US" dirty="0"/>
              <a:t>프로젝트 생성하기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337F678-E6E1-4B00-A85D-2C76E3B1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99593" y="207963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0481" name="_x115456848" descr="EMB000018a849a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82" b="36548"/>
          <a:stretch>
            <a:fillRect/>
          </a:stretch>
        </p:blipFill>
        <p:spPr bwMode="auto">
          <a:xfrm>
            <a:off x="2105497" y="2329543"/>
            <a:ext cx="4464496" cy="3992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79959"/>
            <a:ext cx="81724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9430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웹 서버 유형 설정하기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41F414B-FDD8-4C03-AB49-DECDEF4D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1505" name="_x115456848" descr="EMB000018a849a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13470"/>
            <a:ext cx="3923039" cy="377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1507" name="_x48535360" descr="EMB000018a849a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83" b="9528"/>
          <a:stretch>
            <a:fillRect/>
          </a:stretch>
        </p:blipFill>
        <p:spPr bwMode="auto">
          <a:xfrm>
            <a:off x="4572000" y="2302842"/>
            <a:ext cx="3528392" cy="4344133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983963"/>
            <a:ext cx="81724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355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웹 서버 위치와 </a:t>
            </a:r>
            <a:r>
              <a:rPr lang="en-US" altLang="ko-KR" dirty="0"/>
              <a:t>JRE </a:t>
            </a:r>
            <a:r>
              <a:rPr lang="ko-KR" altLang="en-US" dirty="0"/>
              <a:t>설정하기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E9CA94B-F94A-4E80-9D8C-09015103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2529" name="_x48535440" descr="EMB000018a849a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348880"/>
            <a:ext cx="4176464" cy="3332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80728"/>
            <a:ext cx="81724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2821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pPr lvl="1"/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연동 확인하기</a:t>
            </a:r>
            <a:r>
              <a:rPr lang="en-US" altLang="ko-KR" dirty="0"/>
              <a:t>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7E3085D-F688-4B4B-930F-3479D83F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3553" name="_x115456688" descr="EMB000018a849a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114150"/>
            <a:ext cx="5400675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779913" y="23419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3555" name="_x48535360" descr="EMB000018a849a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520507"/>
            <a:ext cx="3941763" cy="312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013" y="931818"/>
            <a:ext cx="8172450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270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프로젝트 만들고 실행하기</a:t>
            </a:r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="" xmlns:a16="http://schemas.microsoft.com/office/drawing/2014/main" id="{0419C779-1D50-4E80-8B20-2395F8F90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43609" y="164758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132856"/>
            <a:ext cx="61626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985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동적 웹 프로젝트의 구조 </a:t>
            </a:r>
          </a:p>
          <a:p>
            <a:endParaRPr lang="ko-KR" altLang="en-US" dirty="0"/>
          </a:p>
        </p:txBody>
      </p:sp>
      <p:sp>
        <p:nvSpPr>
          <p:cNvPr id="5" name="제목 4">
            <a:extLst>
              <a:ext uri="{FF2B5EF4-FFF2-40B4-BE49-F238E27FC236}">
                <a16:creationId xmlns="" xmlns:a16="http://schemas.microsoft.com/office/drawing/2014/main" id="{4867759A-FAE8-485E-8D8B-33A1D62F0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899593" y="1863607"/>
            <a:ext cx="7400037" cy="4392339"/>
            <a:chOff x="899593" y="1863607"/>
            <a:chExt cx="7400037" cy="4392339"/>
          </a:xfrm>
        </p:grpSpPr>
        <p:sp>
          <p:nvSpPr>
            <p:cNvPr id="4" name="Rectangle 2"/>
            <p:cNvSpPr>
              <a:spLocks noChangeArrowheads="1"/>
            </p:cNvSpPr>
            <p:nvPr/>
          </p:nvSpPr>
          <p:spPr bwMode="auto">
            <a:xfrm>
              <a:off x="899593" y="1863607"/>
              <a:ext cx="1847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endParaRPr lang="ko-KR" altLang="en-US" sz="1800"/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9593" y="1863607"/>
              <a:ext cx="7400037" cy="4392339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4168" y="3501008"/>
              <a:ext cx="1800200" cy="312034"/>
            </a:xfrm>
            <a:prstGeom prst="rect">
              <a:avLst/>
            </a:prstGeom>
          </p:spPr>
        </p:pic>
        <p:sp>
          <p:nvSpPr>
            <p:cNvPr id="8" name="직사각형 7"/>
            <p:cNvSpPr/>
            <p:nvPr/>
          </p:nvSpPr>
          <p:spPr>
            <a:xfrm>
              <a:off x="6084168" y="4005063"/>
              <a:ext cx="1728192" cy="216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34539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동적 웹 프로젝트 생성하기</a:t>
            </a:r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93F3CB90-C355-406D-9E67-C6249AD7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6625" name="_x48535360" descr="EMB000018a849a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71" b="75136"/>
          <a:stretch>
            <a:fillRect/>
          </a:stretch>
        </p:blipFill>
        <p:spPr bwMode="auto">
          <a:xfrm>
            <a:off x="1691680" y="2564904"/>
            <a:ext cx="5593283" cy="2024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99585" y="449995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067945" y="24642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91906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802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프로젝트명 설정하기</a:t>
            </a:r>
          </a:p>
          <a:p>
            <a:pPr marL="0" indent="0">
              <a:buNone/>
            </a:pPr>
            <a:r>
              <a:rPr lang="ko-KR" altLang="en-US" dirty="0"/>
              <a:t> </a:t>
            </a:r>
          </a:p>
          <a:p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="" xmlns:a16="http://schemas.microsoft.com/office/drawing/2014/main" id="{1EA9707A-5B07-4190-BB44-18EC06586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5399585" y="449995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6627" name="_x48535360" descr="EMB000018a849a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666" y="2454587"/>
            <a:ext cx="3528392" cy="385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067945" y="246425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6629" name="_x210300720" descr="EMB000018a849b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026" y="3212976"/>
            <a:ext cx="2213334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071263"/>
            <a:ext cx="8181975" cy="504825"/>
          </a:xfrm>
          <a:prstGeom prst="rect">
            <a:avLst/>
          </a:prstGeom>
        </p:spPr>
      </p:pic>
      <p:sp>
        <p:nvSpPr>
          <p:cNvPr id="2" name="모서리가 둥근 사각형 설명선 1"/>
          <p:cNvSpPr/>
          <p:nvPr/>
        </p:nvSpPr>
        <p:spPr>
          <a:xfrm>
            <a:off x="5491950" y="2659980"/>
            <a:ext cx="2195137" cy="456986"/>
          </a:xfrm>
          <a:prstGeom prst="wedgeRoundRectCallout">
            <a:avLst>
              <a:gd name="adj1" fmla="val -154102"/>
              <a:gd name="adj2" fmla="val 113430"/>
              <a:gd name="adj3" fmla="val 1666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Y엽서M" panose="02030600000101010101" pitchFamily="18" charset="-127"/>
              </a:rPr>
              <a:t>JSPBook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입력</a:t>
            </a:r>
          </a:p>
        </p:txBody>
      </p:sp>
    </p:spTree>
    <p:extLst>
      <p:ext uri="{BB962C8B-B14F-4D97-AF65-F5344CB8AC3E}">
        <p14:creationId xmlns:p14="http://schemas.microsoft.com/office/powerpoint/2010/main" val="29008360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3. JSP </a:t>
            </a:r>
            <a:r>
              <a:rPr lang="ko-KR" altLang="en-US" dirty="0"/>
              <a:t>파일 생성하기 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A76D2E1-3A4E-4E91-9551-7D15C547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15617" y="1431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7649" name="_x210300800" descr="EMB000018a849b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7982" y="2420888"/>
            <a:ext cx="6728036" cy="4080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917483" y="369063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96856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5256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4. JSP </a:t>
            </a:r>
            <a:r>
              <a:rPr lang="ko-KR" altLang="en-US" dirty="0"/>
              <a:t>페이지 코드 작성하기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B1FD676-6E31-440E-987E-932BA369C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15617" y="1431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917483" y="369063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7651" name="_x210300720" descr="EMB000018a849b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603133"/>
            <a:ext cx="5056255" cy="2410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07951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2356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5. </a:t>
            </a:r>
            <a:r>
              <a:rPr lang="ko-KR" altLang="en-US" dirty="0" err="1"/>
              <a:t>톰캣</a:t>
            </a:r>
            <a:r>
              <a:rPr lang="ko-KR" altLang="en-US" dirty="0"/>
              <a:t> 서버에 등록하기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5DEC616-76D5-4600-9558-B204FE98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8673" name="_x316297736" descr="EMB000018a849b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980" y="2204864"/>
            <a:ext cx="6372708" cy="424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07951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866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실행 결과 확인하기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66984E6-C0B0-4A86-9A35-64A896EA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JSP </a:t>
            </a:r>
            <a:r>
              <a:rPr lang="ko-KR" altLang="en-US" dirty="0"/>
              <a:t>개발 환경 구축하기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51521" y="186360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9697" name="_x210300800" descr="EMB000018a849b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86" y="2378827"/>
            <a:ext cx="5616624" cy="3625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123509" y="64869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9699" name="_x210300880" descr="EMB000018a849b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160" y="2409145"/>
            <a:ext cx="2766282" cy="2532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703637" y="352401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29701" name="_x210300880" descr="EMB000018a849b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917" y="5484998"/>
            <a:ext cx="4308475" cy="119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0" y="907951"/>
            <a:ext cx="8181975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317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05CC985-C84A-4CF3-841D-1A2F6C796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프로젝트 생성하기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55577" y="107151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30721" name="_x316297736" descr="EMB000018a849b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492895"/>
            <a:ext cx="5400675" cy="188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29415"/>
            <a:ext cx="8449837" cy="50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42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프로젝트 생성</a:t>
            </a:r>
            <a:r>
              <a:rPr lang="en-US" altLang="ko-KR" dirty="0"/>
              <a:t>]</a:t>
            </a:r>
          </a:p>
          <a:p>
            <a:pPr marL="357187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동적 웹 프로젝트 생성하기</a:t>
            </a:r>
            <a:endParaRPr lang="en-US" altLang="ko-KR" dirty="0"/>
          </a:p>
          <a:p>
            <a:pPr lvl="2"/>
            <a:r>
              <a:rPr lang="ko-KR" altLang="en-US" dirty="0"/>
              <a:t>이클립스의 </a:t>
            </a:r>
            <a:r>
              <a:rPr lang="en-US" altLang="ko-KR" dirty="0"/>
              <a:t>[File]-[New]-[Dynamic Web Project]</a:t>
            </a:r>
            <a:r>
              <a:rPr lang="ko-KR" altLang="en-US" dirty="0"/>
              <a:t>를 선택</a:t>
            </a:r>
            <a:endParaRPr lang="en-US" altLang="ko-KR" dirty="0"/>
          </a:p>
          <a:p>
            <a:endParaRPr lang="en-US" altLang="ko-KR" dirty="0"/>
          </a:p>
          <a:p>
            <a:pPr marL="357187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프로젝트명 설정하기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A41CFCE-9784-415D-85A2-50E82E6F1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프로젝트 생성하기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519265" y="283317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31747" name="_x210300800" descr="EMB000018a849b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135733"/>
            <a:ext cx="3384376" cy="343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899593" y="4393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31749" name="_x210300800" descr="EMB000018a849bb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3284984"/>
            <a:ext cx="223224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모서리가 둥근 사각형 설명선 8"/>
          <p:cNvSpPr/>
          <p:nvPr/>
        </p:nvSpPr>
        <p:spPr>
          <a:xfrm>
            <a:off x="5272529" y="2675221"/>
            <a:ext cx="2195137" cy="609763"/>
          </a:xfrm>
          <a:prstGeom prst="wedgeRoundRectCallout">
            <a:avLst>
              <a:gd name="adj1" fmla="val -151744"/>
              <a:gd name="adj2" fmla="val 160116"/>
              <a:gd name="adj3" fmla="val 1666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Y엽서M" panose="02030600000101010101" pitchFamily="18" charset="-127"/>
              </a:rPr>
              <a:t>WebMarket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입력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632696" y="6237313"/>
            <a:ext cx="723280" cy="26402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844854" y="4753679"/>
            <a:ext cx="2439114" cy="26402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5363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[JSP </a:t>
            </a:r>
            <a:r>
              <a:rPr lang="ko-KR" altLang="en-US" dirty="0"/>
              <a:t>페이지 작성하기</a:t>
            </a:r>
            <a:r>
              <a:rPr lang="en-US" altLang="ko-KR" dirty="0"/>
              <a:t>]</a:t>
            </a:r>
            <a:endParaRPr lang="ko-KR" altLang="en-US" dirty="0"/>
          </a:p>
          <a:p>
            <a:pPr marL="357187" lvl="1" indent="0">
              <a:buNone/>
            </a:pPr>
            <a:r>
              <a:rPr lang="en-US" altLang="ko-KR" dirty="0"/>
              <a:t>3. JSP </a:t>
            </a:r>
            <a:r>
              <a:rPr lang="ko-KR" altLang="en-US" dirty="0"/>
              <a:t>파일 생성하기</a:t>
            </a:r>
          </a:p>
          <a:p>
            <a:endParaRPr lang="ko-KR" altLang="en-US" dirty="0"/>
          </a:p>
        </p:txBody>
      </p:sp>
      <p:sp>
        <p:nvSpPr>
          <p:cNvPr id="7" name="제목 6">
            <a:extLst>
              <a:ext uri="{FF2B5EF4-FFF2-40B4-BE49-F238E27FC236}">
                <a16:creationId xmlns="" xmlns:a16="http://schemas.microsoft.com/office/drawing/2014/main" id="{19E802A2-8B22-46B5-9DFF-DB0375C4A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프로젝트 생성하기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27585" y="193561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32769" name="_x316297736" descr="EMB000018a849b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120281"/>
            <a:ext cx="3528392" cy="3684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모서리가 둥근 사각형 설명선 5"/>
          <p:cNvSpPr/>
          <p:nvPr/>
        </p:nvSpPr>
        <p:spPr>
          <a:xfrm>
            <a:off x="5724128" y="3657890"/>
            <a:ext cx="2195137" cy="609763"/>
          </a:xfrm>
          <a:prstGeom prst="wedgeRoundRectCallout">
            <a:avLst>
              <a:gd name="adj1" fmla="val -158032"/>
              <a:gd name="adj2" fmla="val 93624"/>
              <a:gd name="adj3" fmla="val 16667"/>
            </a:avLst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HY엽서M" panose="02030600000101010101" pitchFamily="18" charset="-127"/>
              </a:rPr>
              <a:t>welcome.jsp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입력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763688" y="3212976"/>
            <a:ext cx="1152128" cy="144016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27884" y="5445224"/>
            <a:ext cx="828092" cy="26402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86212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[JSP </a:t>
            </a:r>
            <a:r>
              <a:rPr lang="ko-KR" altLang="en-US" dirty="0"/>
              <a:t>페이지 작성하기</a:t>
            </a:r>
            <a:r>
              <a:rPr lang="en-US" altLang="ko-KR" dirty="0"/>
              <a:t>]</a:t>
            </a:r>
            <a:endParaRPr lang="ko-KR" altLang="en-US" dirty="0"/>
          </a:p>
          <a:p>
            <a:pPr marL="357187" lvl="1" indent="0">
              <a:buNone/>
            </a:pPr>
            <a:r>
              <a:rPr lang="en-US" altLang="ko-KR" dirty="0"/>
              <a:t>4. JSP </a:t>
            </a:r>
            <a:r>
              <a:rPr lang="ko-KR" altLang="en-US" dirty="0"/>
              <a:t>페이지 코드 작성하기</a:t>
            </a:r>
          </a:p>
          <a:p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="" xmlns:a16="http://schemas.microsoft.com/office/drawing/2014/main" id="{C251D481-E26D-4757-90A3-BD9FA791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프로젝트 생성하기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27585" y="193561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grpSp>
        <p:nvGrpSpPr>
          <p:cNvPr id="2" name="그룹 1"/>
          <p:cNvGrpSpPr/>
          <p:nvPr/>
        </p:nvGrpSpPr>
        <p:grpSpPr>
          <a:xfrm>
            <a:off x="1259632" y="2145935"/>
            <a:ext cx="6840760" cy="3356301"/>
            <a:chOff x="1988097" y="2834878"/>
            <a:chExt cx="6219825" cy="2677296"/>
          </a:xfrm>
        </p:grpSpPr>
        <p:pic>
          <p:nvPicPr>
            <p:cNvPr id="6" name="그림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2859" y="2834878"/>
              <a:ext cx="6210300" cy="1581151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88097" y="4378699"/>
              <a:ext cx="6219825" cy="1133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16418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프로젝트 실행하기</a:t>
            </a:r>
            <a:r>
              <a:rPr lang="en-US" altLang="ko-KR" dirty="0"/>
              <a:t>]</a:t>
            </a:r>
            <a:endParaRPr lang="ko-KR" altLang="en-US" dirty="0"/>
          </a:p>
          <a:p>
            <a:pPr marL="357187" lvl="1" indent="0">
              <a:buNone/>
            </a:pPr>
            <a:r>
              <a:rPr lang="en-US" altLang="ko-KR" dirty="0"/>
              <a:t>5. </a:t>
            </a:r>
            <a:r>
              <a:rPr lang="ko-KR" altLang="en-US" dirty="0" err="1"/>
              <a:t>톰캣</a:t>
            </a:r>
            <a:r>
              <a:rPr lang="ko-KR" altLang="en-US" dirty="0"/>
              <a:t> 서버에 등록하기</a:t>
            </a:r>
            <a:endParaRPr lang="en-US" altLang="ko-KR" dirty="0"/>
          </a:p>
          <a:p>
            <a:pPr lvl="2"/>
            <a:r>
              <a:rPr lang="ko-KR" altLang="en-US" dirty="0"/>
              <a:t>이클립스의 아래쪽 창 </a:t>
            </a:r>
            <a:r>
              <a:rPr lang="en-US" altLang="ko-KR" dirty="0"/>
              <a:t>[Servers] </a:t>
            </a:r>
            <a:r>
              <a:rPr lang="ko-KR" altLang="en-US" dirty="0"/>
              <a:t>탭에 있는 </a:t>
            </a:r>
            <a:r>
              <a:rPr lang="en-US" altLang="ko-KR" dirty="0"/>
              <a:t>Tomcat v9.0 Server at localhost</a:t>
            </a:r>
            <a:r>
              <a:rPr lang="ko-KR" altLang="en-US" dirty="0"/>
              <a:t>에서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마우스 </a:t>
            </a:r>
            <a:r>
              <a:rPr lang="ko-KR" altLang="en-US" dirty="0"/>
              <a:t>오른쪽 버튼을 누르고 </a:t>
            </a:r>
            <a:r>
              <a:rPr lang="en-US" altLang="ko-KR" dirty="0"/>
              <a:t>[Add and Remove]</a:t>
            </a:r>
            <a:r>
              <a:rPr lang="ko-KR" altLang="en-US" dirty="0"/>
              <a:t>를 선택</a:t>
            </a:r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3C89475-188C-415A-8C7E-C80CB3067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[</a:t>
            </a:r>
            <a:r>
              <a:rPr lang="ko-KR" altLang="en-US" dirty="0"/>
              <a:t>웹 쇼핑몰</a:t>
            </a:r>
            <a:r>
              <a:rPr lang="en-US" altLang="ko-KR" dirty="0"/>
              <a:t>] </a:t>
            </a:r>
            <a:r>
              <a:rPr lang="ko-KR" altLang="en-US" dirty="0"/>
              <a:t>프로젝트 생성하기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2447257" y="454737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33793" name="_x316297576" descr="EMB000018a849b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764" y="2492896"/>
            <a:ext cx="4032448" cy="322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763689" y="1935615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33795" name="_x316297576" descr="EMB000018a849b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471124"/>
            <a:ext cx="3744416" cy="3265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/>
          <p:cNvSpPr/>
          <p:nvPr/>
        </p:nvSpPr>
        <p:spPr>
          <a:xfrm>
            <a:off x="2177982" y="4490674"/>
            <a:ext cx="953858" cy="30647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8729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프로젝트 실행하기</a:t>
            </a:r>
            <a:r>
              <a:rPr lang="en-US" altLang="ko-KR" dirty="0"/>
              <a:t>]</a:t>
            </a:r>
            <a:endParaRPr lang="ko-KR" altLang="en-US" dirty="0"/>
          </a:p>
          <a:p>
            <a:pPr marL="357187" lvl="1" indent="0">
              <a:buNone/>
            </a:pPr>
            <a:r>
              <a:rPr lang="en-US" altLang="ko-KR" dirty="0"/>
              <a:t>6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실행 </a:t>
            </a:r>
            <a:r>
              <a:rPr lang="ko-KR" altLang="en-US" dirty="0"/>
              <a:t>결과 확인하기</a:t>
            </a:r>
          </a:p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3AC723E-E27F-4F99-A1F4-08BF5C9D9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cs typeface="Ebrima" panose="02000000000000000000" pitchFamily="2" charset="0"/>
              </a:rPr>
              <a:t>3. [</a:t>
            </a:r>
            <a:r>
              <a:rPr lang="ko-KR" altLang="en-US" dirty="0">
                <a:cs typeface="Ebrima" panose="02000000000000000000" pitchFamily="2" charset="0"/>
              </a:rPr>
              <a:t>웹 쇼핑몰</a:t>
            </a:r>
            <a:r>
              <a:rPr lang="en-US" altLang="ko-KR" dirty="0">
                <a:cs typeface="Ebrima" panose="02000000000000000000" pitchFamily="2" charset="0"/>
              </a:rPr>
              <a:t>] </a:t>
            </a:r>
            <a:r>
              <a:rPr lang="ko-KR" altLang="en-US" dirty="0">
                <a:cs typeface="Ebrima" panose="02000000000000000000" pitchFamily="2" charset="0"/>
              </a:rPr>
              <a:t>프로젝트 생성하기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611561" y="171959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/>
          </a:p>
        </p:txBody>
      </p:sp>
      <p:pic>
        <p:nvPicPr>
          <p:cNvPr id="34823" name="_x48535440" descr="EMB000018a849b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79983"/>
            <a:ext cx="6624736" cy="4220397"/>
          </a:xfrm>
          <a:prstGeom prst="rect">
            <a:avLst/>
          </a:prstGeom>
          <a:noFill/>
          <a:ln>
            <a:solidFill>
              <a:srgbClr val="50C1BE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2915816" y="3284984"/>
            <a:ext cx="1944216" cy="26402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872032" y="3284984"/>
            <a:ext cx="2004223" cy="26402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825163" y="2575396"/>
            <a:ext cx="178885" cy="26402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763689" y="5445224"/>
            <a:ext cx="792088" cy="264028"/>
          </a:xfrm>
          <a:prstGeom prst="rect">
            <a:avLst/>
          </a:prstGeom>
          <a:noFill/>
          <a:ln>
            <a:solidFill>
              <a:srgbClr val="50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5944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1670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mrJcpDEHKI9Cmj7M6klC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DXEE9qJ3A1uChqGXbC2ta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AXERznfiRjRIu5yfcUEaH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dN8Ho1F7ROPKA1bGalCcV"/>
</p:tagLst>
</file>

<file path=ppt/theme/theme1.xml><?xml version="1.0" encoding="utf-8"?>
<a:theme xmlns:a="http://schemas.openxmlformats.org/drawingml/2006/main" name="1_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마스터</Template>
  <TotalTime>160</TotalTime>
  <Words>776</Words>
  <Application>Microsoft Office PowerPoint</Application>
  <PresentationFormat>화면 슬라이드 쇼(4:3)</PresentationFormat>
  <Paragraphs>216</Paragraphs>
  <Slides>46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47" baseType="lpstr">
      <vt:lpstr>1_마스터</vt:lpstr>
      <vt:lpstr>JSP 개요</vt:lpstr>
      <vt:lpstr>PowerPoint 프레젠테이션</vt:lpstr>
      <vt:lpstr>1. 웹과 JSP 프로그래밍 이해하기</vt:lpstr>
      <vt:lpstr>1. 웹과 JSP 프로그래밍 이해하기</vt:lpstr>
      <vt:lpstr>1. 웹과 JSP 프로그래밍 이해하기</vt:lpstr>
      <vt:lpstr>1. 웹과 JSP 프로그래밍 이해하기</vt:lpstr>
      <vt:lpstr>1. 웹과 JSP 프로그래밍 이해하기</vt:lpstr>
      <vt:lpstr>1. 웹과 JSP 프로그래밍 이해하기</vt:lpstr>
      <vt:lpstr>1. 웹과 JSP 프로그래밍 이해하기</vt:lpstr>
      <vt:lpstr>1. 웹과 JSP 프로그래밍 이해하기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2. JSP 개발 환경 구축하기</vt:lpstr>
      <vt:lpstr>3. [웹 쇼핑몰] 프로젝트 생성하기</vt:lpstr>
      <vt:lpstr>3. [웹 쇼핑몰] 프로젝트 생성하기</vt:lpstr>
      <vt:lpstr>3. [웹 쇼핑몰] 프로젝트 생성하기</vt:lpstr>
      <vt:lpstr>3. [웹 쇼핑몰] 프로젝트 생성하기</vt:lpstr>
      <vt:lpstr>3. [웹 쇼핑몰] 프로젝트 생성하기</vt:lpstr>
      <vt:lpstr>3. [웹 쇼핑몰] 프로젝트 생성하기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e-비즈니스 전략 수립</dc:title>
  <dc:creator>bhkim</dc:creator>
  <cp:lastModifiedBy>ninny</cp:lastModifiedBy>
  <cp:revision>271</cp:revision>
  <dcterms:created xsi:type="dcterms:W3CDTF">2011-01-05T15:14:06Z</dcterms:created>
  <dcterms:modified xsi:type="dcterms:W3CDTF">2021-05-21T05:09:54Z</dcterms:modified>
</cp:coreProperties>
</file>
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55"/>
  </p:notesMasterIdLst>
  <p:handoutMasterIdLst>
    <p:handoutMasterId r:id="rId56"/>
  </p:handoutMasterIdLst>
  <p:sldIdLst>
    <p:sldId id="256" r:id="rId3"/>
    <p:sldId id="461" r:id="rId4"/>
    <p:sldId id="459" r:id="rId5"/>
    <p:sldId id="498" r:id="rId6"/>
    <p:sldId id="500" r:id="rId7"/>
    <p:sldId id="501" r:id="rId8"/>
    <p:sldId id="502" r:id="rId9"/>
    <p:sldId id="529" r:id="rId10"/>
    <p:sldId id="503" r:id="rId11"/>
    <p:sldId id="504" r:id="rId12"/>
    <p:sldId id="462" r:id="rId13"/>
    <p:sldId id="463" r:id="rId14"/>
    <p:sldId id="505" r:id="rId15"/>
    <p:sldId id="506" r:id="rId16"/>
    <p:sldId id="507" r:id="rId17"/>
    <p:sldId id="508" r:id="rId18"/>
    <p:sldId id="527" r:id="rId19"/>
    <p:sldId id="528" r:id="rId20"/>
    <p:sldId id="509" r:id="rId21"/>
    <p:sldId id="510" r:id="rId22"/>
    <p:sldId id="640" r:id="rId23"/>
    <p:sldId id="512" r:id="rId24"/>
    <p:sldId id="513" r:id="rId25"/>
    <p:sldId id="514" r:id="rId26"/>
    <p:sldId id="515" r:id="rId27"/>
    <p:sldId id="516" r:id="rId28"/>
    <p:sldId id="517" r:id="rId29"/>
    <p:sldId id="518" r:id="rId30"/>
    <p:sldId id="519" r:id="rId31"/>
    <p:sldId id="520" r:id="rId32"/>
    <p:sldId id="641" r:id="rId33"/>
    <p:sldId id="642" r:id="rId34"/>
    <p:sldId id="525" r:id="rId35"/>
    <p:sldId id="389" r:id="rId36"/>
    <p:sldId id="397" r:id="rId37"/>
    <p:sldId id="398" r:id="rId38"/>
    <p:sldId id="399" r:id="rId39"/>
    <p:sldId id="400" r:id="rId40"/>
    <p:sldId id="401" r:id="rId41"/>
    <p:sldId id="402" r:id="rId42"/>
    <p:sldId id="403" r:id="rId43"/>
    <p:sldId id="404" r:id="rId44"/>
    <p:sldId id="405" r:id="rId45"/>
    <p:sldId id="406" r:id="rId46"/>
    <p:sldId id="407" r:id="rId47"/>
    <p:sldId id="408" r:id="rId48"/>
    <p:sldId id="409" r:id="rId49"/>
    <p:sldId id="410" r:id="rId50"/>
    <p:sldId id="411" r:id="rId51"/>
    <p:sldId id="412" r:id="rId52"/>
    <p:sldId id="413" r:id="rId53"/>
    <p:sldId id="414" r:id="rId54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E0BDA7-D220-4D18-8163-951D3B7721D7}" v="10" dt="2024-03-17T08:33:44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58" autoAdjust="0"/>
    <p:restoredTop sz="99281" autoAdjust="0"/>
  </p:normalViewPr>
  <p:slideViewPr>
    <p:cSldViewPr>
      <p:cViewPr varScale="1">
        <p:scale>
          <a:sx n="130" d="100"/>
          <a:sy n="130" d="100"/>
        </p:scale>
        <p:origin x="64" y="84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63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commentAuthors" Target="commentAuthor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7EE0BDA7-D220-4D18-8163-951D3B7721D7}"/>
    <pc:docChg chg="addSld delSld modSld sldOrd">
      <pc:chgData name="준영 장" userId="0c9b8532fd537bfe" providerId="LiveId" clId="{7EE0BDA7-D220-4D18-8163-951D3B7721D7}" dt="2024-03-17T08:33:52.969" v="378" actId="20577"/>
      <pc:docMkLst>
        <pc:docMk/>
      </pc:docMkLst>
      <pc:sldChg chg="modSp mod">
        <pc:chgData name="준영 장" userId="0c9b8532fd537bfe" providerId="LiveId" clId="{7EE0BDA7-D220-4D18-8163-951D3B7721D7}" dt="2024-03-17T05:19:20.102" v="40" actId="20577"/>
        <pc:sldMkLst>
          <pc:docMk/>
          <pc:sldMk cId="0" sldId="256"/>
        </pc:sldMkLst>
        <pc:spChg chg="mod">
          <ac:chgData name="준영 장" userId="0c9b8532fd537bfe" providerId="LiveId" clId="{7EE0BDA7-D220-4D18-8163-951D3B7721D7}" dt="2024-03-17T05:19:20.102" v="40" actId="20577"/>
          <ac:spMkLst>
            <pc:docMk/>
            <pc:sldMk cId="0" sldId="256"/>
            <ac:spMk id="2" creationId="{00000000-0000-0000-0000-000000000000}"/>
          </ac:spMkLst>
        </pc:spChg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1795100531" sldId="38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267649508" sldId="3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224813733" sldId="39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8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8"/>
        </pc:sldMkLst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0" sldId="4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39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40"/>
        </pc:sldMkLst>
      </pc:sldChg>
      <pc:sldChg chg="modSp add del mod">
        <pc:chgData name="준영 장" userId="0c9b8532fd537bfe" providerId="LiveId" clId="{7EE0BDA7-D220-4D18-8163-951D3B7721D7}" dt="2024-03-17T08:03:25.905" v="56" actId="20577"/>
        <pc:sldMkLst>
          <pc:docMk/>
          <pc:sldMk cId="0" sldId="441"/>
        </pc:sldMkLst>
        <pc:graphicFrameChg chg="modGraphic">
          <ac:chgData name="준영 장" userId="0c9b8532fd537bfe" providerId="LiveId" clId="{7EE0BDA7-D220-4D18-8163-951D3B7721D7}" dt="2024-03-17T08:03:25.905" v="56" actId="20577"/>
          <ac:graphicFrameMkLst>
            <pc:docMk/>
            <pc:sldMk cId="0" sldId="441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2"/>
        </pc:sldMkLst>
      </pc:sldChg>
      <pc:sldChg chg="modSp add del mod">
        <pc:chgData name="준영 장" userId="0c9b8532fd537bfe" providerId="LiveId" clId="{7EE0BDA7-D220-4D18-8163-951D3B7721D7}" dt="2024-03-17T08:03:38.446" v="66" actId="20577"/>
        <pc:sldMkLst>
          <pc:docMk/>
          <pc:sldMk cId="0" sldId="443"/>
        </pc:sldMkLst>
        <pc:graphicFrameChg chg="modGraphic">
          <ac:chgData name="준영 장" userId="0c9b8532fd537bfe" providerId="LiveId" clId="{7EE0BDA7-D220-4D18-8163-951D3B7721D7}" dt="2024-03-17T08:03:38.446" v="66" actId="20577"/>
          <ac:graphicFrameMkLst>
            <pc:docMk/>
            <pc:sldMk cId="0" sldId="443"/>
            <ac:graphicFrameMk id="4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3:43.870" v="76" actId="20577"/>
        <pc:sldMkLst>
          <pc:docMk/>
          <pc:sldMk cId="0" sldId="444"/>
        </pc:sldMkLst>
        <pc:graphicFrameChg chg="modGraphic">
          <ac:chgData name="준영 장" userId="0c9b8532fd537bfe" providerId="LiveId" clId="{7EE0BDA7-D220-4D18-8163-951D3B7721D7}" dt="2024-03-17T08:03:43.870" v="76" actId="20577"/>
          <ac:graphicFrameMkLst>
            <pc:docMk/>
            <pc:sldMk cId="0" sldId="444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46"/>
        </pc:sldMkLst>
      </pc:sldChg>
      <pc:sldChg chg="modSp add mod">
        <pc:chgData name="준영 장" userId="0c9b8532fd537bfe" providerId="LiveId" clId="{7EE0BDA7-D220-4D18-8163-951D3B7721D7}" dt="2024-03-17T08:04:13.925" v="126" actId="20577"/>
        <pc:sldMkLst>
          <pc:docMk/>
          <pc:sldMk cId="0" sldId="447"/>
        </pc:sldMkLst>
        <pc:graphicFrameChg chg="modGraphic">
          <ac:chgData name="준영 장" userId="0c9b8532fd537bfe" providerId="LiveId" clId="{7EE0BDA7-D220-4D18-8163-951D3B7721D7}" dt="2024-03-17T08:03:56.809" v="86" actId="20577"/>
          <ac:graphicFrameMkLst>
            <pc:docMk/>
            <pc:sldMk cId="0" sldId="447"/>
            <ac:graphicFrameMk id="4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1.812" v="96" actId="20577"/>
          <ac:graphicFrameMkLst>
            <pc:docMk/>
            <pc:sldMk cId="0" sldId="447"/>
            <ac:graphicFrameMk id="6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6.063" v="106" actId="20577"/>
          <ac:graphicFrameMkLst>
            <pc:docMk/>
            <pc:sldMk cId="0" sldId="447"/>
            <ac:graphicFrameMk id="8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0.145" v="116" actId="20577"/>
          <ac:graphicFrameMkLst>
            <pc:docMk/>
            <pc:sldMk cId="0" sldId="447"/>
            <ac:graphicFrameMk id="10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3.925" v="126" actId="20577"/>
          <ac:graphicFrameMkLst>
            <pc:docMk/>
            <pc:sldMk cId="0" sldId="447"/>
            <ac:graphicFrameMk id="12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24.300" v="146" actId="20577"/>
        <pc:sldMkLst>
          <pc:docMk/>
          <pc:sldMk cId="0" sldId="448"/>
        </pc:sldMkLst>
        <pc:graphicFrameChg chg="modGraphic">
          <ac:chgData name="준영 장" userId="0c9b8532fd537bfe" providerId="LiveId" clId="{7EE0BDA7-D220-4D18-8163-951D3B7721D7}" dt="2024-03-17T08:04:20.656" v="136" actId="20577"/>
          <ac:graphicFrameMkLst>
            <pc:docMk/>
            <pc:sldMk cId="0" sldId="448"/>
            <ac:graphicFrameMk id="5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24.300" v="146" actId="20577"/>
          <ac:graphicFrameMkLst>
            <pc:docMk/>
            <pc:sldMk cId="0" sldId="448"/>
            <ac:graphicFrameMk id="7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33.343" v="156" actId="20577"/>
        <pc:sldMkLst>
          <pc:docMk/>
          <pc:sldMk cId="0" sldId="449"/>
        </pc:sldMkLst>
        <pc:graphicFrameChg chg="modGraphic">
          <ac:chgData name="준영 장" userId="0c9b8532fd537bfe" providerId="LiveId" clId="{7EE0BDA7-D220-4D18-8163-951D3B7721D7}" dt="2024-03-17T08:04:33.343" v="156" actId="20577"/>
          <ac:graphicFrameMkLst>
            <pc:docMk/>
            <pc:sldMk cId="0" sldId="449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38.254" v="166" actId="20577"/>
        <pc:sldMkLst>
          <pc:docMk/>
          <pc:sldMk cId="0" sldId="450"/>
        </pc:sldMkLst>
        <pc:graphicFrameChg chg="modGraphic">
          <ac:chgData name="준영 장" userId="0c9b8532fd537bfe" providerId="LiveId" clId="{7EE0BDA7-D220-4D18-8163-951D3B7721D7}" dt="2024-03-17T08:04:38.254" v="166" actId="20577"/>
          <ac:graphicFrameMkLst>
            <pc:docMk/>
            <pc:sldMk cId="0" sldId="450"/>
            <ac:graphicFrameMk id="5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45.329" v="176" actId="20577"/>
        <pc:sldMkLst>
          <pc:docMk/>
          <pc:sldMk cId="0" sldId="451"/>
        </pc:sldMkLst>
        <pc:graphicFrameChg chg="modGraphic">
          <ac:chgData name="준영 장" userId="0c9b8532fd537bfe" providerId="LiveId" clId="{7EE0BDA7-D220-4D18-8163-951D3B7721D7}" dt="2024-03-17T08:04:45.329" v="176" actId="20577"/>
          <ac:graphicFrameMkLst>
            <pc:docMk/>
            <pc:sldMk cId="0" sldId="451"/>
            <ac:graphicFrameMk id="4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55.457" v="186" actId="20577"/>
        <pc:sldMkLst>
          <pc:docMk/>
          <pc:sldMk cId="0" sldId="452"/>
        </pc:sldMkLst>
        <pc:graphicFrameChg chg="modGraphic">
          <ac:chgData name="준영 장" userId="0c9b8532fd537bfe" providerId="LiveId" clId="{7EE0BDA7-D220-4D18-8163-951D3B7721D7}" dt="2024-03-17T08:04:55.457" v="186" actId="20577"/>
          <ac:graphicFrameMkLst>
            <pc:docMk/>
            <pc:sldMk cId="0" sldId="452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5:03.820" v="196" actId="20577"/>
        <pc:sldMkLst>
          <pc:docMk/>
          <pc:sldMk cId="0" sldId="453"/>
        </pc:sldMkLst>
        <pc:graphicFrameChg chg="modGraphic">
          <ac:chgData name="준영 장" userId="0c9b8532fd537bfe" providerId="LiveId" clId="{7EE0BDA7-D220-4D18-8163-951D3B7721D7}" dt="2024-03-17T08:05:03.820" v="196" actId="20577"/>
          <ac:graphicFrameMkLst>
            <pc:docMk/>
            <pc:sldMk cId="0" sldId="453"/>
            <ac:graphicFrameMk id="10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821445475" sldId="45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48208073" sldId="462"/>
        </pc:sldMkLst>
      </pc:sldChg>
      <pc:sldChg chg="modSp add mod">
        <pc:chgData name="준영 장" userId="0c9b8532fd537bfe" providerId="LiveId" clId="{7EE0BDA7-D220-4D18-8163-951D3B7721D7}" dt="2024-03-17T08:27:48.832" v="235"/>
        <pc:sldMkLst>
          <pc:docMk/>
          <pc:sldMk cId="550768095" sldId="464"/>
        </pc:sldMkLst>
        <pc:spChg chg="mod">
          <ac:chgData name="준영 장" userId="0c9b8532fd537bfe" providerId="LiveId" clId="{7EE0BDA7-D220-4D18-8163-951D3B7721D7}" dt="2024-03-17T08:27:48.832" v="235"/>
          <ac:spMkLst>
            <pc:docMk/>
            <pc:sldMk cId="550768095" sldId="464"/>
            <ac:spMk id="2" creationId="{00000000-0000-0000-0000-000000000000}"/>
          </ac:spMkLst>
        </pc:spChg>
      </pc:sldChg>
      <pc:sldChg chg="modSp add del mod">
        <pc:chgData name="준영 장" userId="0c9b8532fd537bfe" providerId="LiveId" clId="{7EE0BDA7-D220-4D18-8163-951D3B7721D7}" dt="2024-03-17T08:33:39.148" v="375" actId="2696"/>
        <pc:sldMkLst>
          <pc:docMk/>
          <pc:sldMk cId="2509887895" sldId="465"/>
        </pc:sldMkLst>
        <pc:spChg chg="mod">
          <ac:chgData name="준영 장" userId="0c9b8532fd537bfe" providerId="LiveId" clId="{7EE0BDA7-D220-4D18-8163-951D3B7721D7}" dt="2024-03-17T08:33:32.356" v="374" actId="20577"/>
          <ac:spMkLst>
            <pc:docMk/>
            <pc:sldMk cId="2509887895" sldId="465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3:52.969" v="378" actId="20577"/>
        <pc:sldMkLst>
          <pc:docMk/>
          <pc:sldMk cId="4021339892" sldId="465"/>
        </pc:sldMkLst>
        <pc:spChg chg="mod">
          <ac:chgData name="준영 장" userId="0c9b8532fd537bfe" providerId="LiveId" clId="{7EE0BDA7-D220-4D18-8163-951D3B7721D7}" dt="2024-03-17T08:33:52.969" v="378" actId="20577"/>
          <ac:spMkLst>
            <pc:docMk/>
            <pc:sldMk cId="4021339892" sldId="465"/>
            <ac:spMk id="2" creationId="{00000000-0000-0000-0000-000000000000}"/>
          </ac:spMkLst>
        </pc:sp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80336600" sldId="46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583120060" sldId="46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092686599" sldId="46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054166525" sldId="46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9219039" sldId="47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844223270" sldId="47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3902602" sldId="47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16769537" sldId="47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94190825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71671829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730728" sldId="47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1026583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94462071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40084813" sldId="47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72731654" sldId="47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34720889" sldId="47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2670110645" sldId="480"/>
        </pc:sldMkLst>
      </pc:sldChg>
      <pc:sldChg chg="modSp add mod">
        <pc:chgData name="준영 장" userId="0c9b8532fd537bfe" providerId="LiveId" clId="{7EE0BDA7-D220-4D18-8163-951D3B7721D7}" dt="2024-03-17T08:29:03.211" v="237"/>
        <pc:sldMkLst>
          <pc:docMk/>
          <pc:sldMk cId="2052940579" sldId="481"/>
        </pc:sldMkLst>
        <pc:spChg chg="mod">
          <ac:chgData name="준영 장" userId="0c9b8532fd537bfe" providerId="LiveId" clId="{7EE0BDA7-D220-4D18-8163-951D3B7721D7}" dt="2024-03-17T08:29:03.211" v="237"/>
          <ac:spMkLst>
            <pc:docMk/>
            <pc:sldMk cId="2052940579" sldId="481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72465745" sldId="482"/>
        </pc:sldMkLst>
        <pc:spChg chg="mod">
          <ac:chgData name="준영 장" userId="0c9b8532fd537bfe" providerId="LiveId" clId="{7EE0BDA7-D220-4D18-8163-951D3B7721D7}" dt="2024-03-17T08:32:54.813" v="371" actId="20577"/>
          <ac:spMkLst>
            <pc:docMk/>
            <pc:sldMk cId="472465745" sldId="482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0:12.345" v="285" actId="20577"/>
        <pc:sldMkLst>
          <pc:docMk/>
          <pc:sldMk cId="328123263" sldId="483"/>
        </pc:sldMkLst>
        <pc:spChg chg="mod">
          <ac:chgData name="준영 장" userId="0c9b8532fd537bfe" providerId="LiveId" clId="{7EE0BDA7-D220-4D18-8163-951D3B7721D7}" dt="2024-03-17T08:30:12.345" v="285" actId="20577"/>
          <ac:spMkLst>
            <pc:docMk/>
            <pc:sldMk cId="328123263" sldId="483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604721528" sldId="484"/>
        </pc:sldMkLst>
      </pc:sldChg>
      <pc:sldChg chg="modSp add mod">
        <pc:chgData name="준영 장" userId="0c9b8532fd537bfe" providerId="LiveId" clId="{7EE0BDA7-D220-4D18-8163-951D3B7721D7}" dt="2024-03-17T08:30:54.079" v="329" actId="20577"/>
        <pc:sldMkLst>
          <pc:docMk/>
          <pc:sldMk cId="322928739" sldId="485"/>
        </pc:sldMkLst>
        <pc:spChg chg="mod">
          <ac:chgData name="준영 장" userId="0c9b8532fd537bfe" providerId="LiveId" clId="{7EE0BDA7-D220-4D18-8163-951D3B7721D7}" dt="2024-03-17T08:30:54.079" v="329" actId="20577"/>
          <ac:spMkLst>
            <pc:docMk/>
            <pc:sldMk cId="322928739" sldId="485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56524837" sldId="487"/>
        </pc:sldMkLst>
      </pc:sldChg>
      <pc:sldChg chg="modSp add mod">
        <pc:chgData name="준영 장" userId="0c9b8532fd537bfe" providerId="LiveId" clId="{7EE0BDA7-D220-4D18-8163-951D3B7721D7}" dt="2024-03-17T08:29:10.187" v="239"/>
        <pc:sldMkLst>
          <pc:docMk/>
          <pc:sldMk cId="3504341406" sldId="487"/>
        </pc:sldMkLst>
        <pc:spChg chg="mod">
          <ac:chgData name="준영 장" userId="0c9b8532fd537bfe" providerId="LiveId" clId="{7EE0BDA7-D220-4D18-8163-951D3B7721D7}" dt="2024-03-17T08:29:10.187" v="239"/>
          <ac:spMkLst>
            <pc:docMk/>
            <pc:sldMk cId="3504341406" sldId="487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48757022" sldId="4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643148115" sldId="49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817662580" sldId="49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61123242" sldId="49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12038957" sldId="50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595753438" sldId="50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19696612" sldId="50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723364011" sldId="50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567508" sldId="5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1642180285" sldId="524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3717674541" sldId="525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2896855821" sldId="526"/>
        </pc:sldMkLst>
      </pc:sldChg>
      <pc:sldChg chg="modSp add mod">
        <pc:chgData name="준영 장" userId="0c9b8532fd537bfe" providerId="LiveId" clId="{7EE0BDA7-D220-4D18-8163-951D3B7721D7}" dt="2024-03-17T08:05:12.903" v="206" actId="20577"/>
        <pc:sldMkLst>
          <pc:docMk/>
          <pc:sldMk cId="1924720216" sldId="527"/>
        </pc:sldMkLst>
        <pc:graphicFrameChg chg="modGraphic">
          <ac:chgData name="준영 장" userId="0c9b8532fd537bfe" providerId="LiveId" clId="{7EE0BDA7-D220-4D18-8163-951D3B7721D7}" dt="2024-03-17T08:05:12.903" v="206" actId="20577"/>
          <ac:graphicFrameMkLst>
            <pc:docMk/>
            <pc:sldMk cId="1924720216" sldId="527"/>
            <ac:graphicFrameMk id="5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1807172272" sldId="528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758960080" sldId="529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339514813" sldId="530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719729634" sldId="531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898360436" sldId="532"/>
        </pc:sldMkLst>
      </pc:sldChg>
    </pc:docChg>
  </pc:docChgLst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78033660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258312006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092686599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4054166525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054166525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4054166525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29219039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84422327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413902602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3902602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413902602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16769537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769537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16769537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4265730728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65730728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4265730728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140084813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572731654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72731654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572731654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572731654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434720889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434720889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34720889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434720889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2670110645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2670110645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2670110645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2052940579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52940579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2052940579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2052940579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472465745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72465745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472465745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472465745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328123263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8123263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328123263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328123263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1604721528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04721528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1604721528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1604721528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322928739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2928739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322928739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0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0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0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0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0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3219696612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19696612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3219696612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0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0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0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0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0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0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0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0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0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0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              데이터베이스 </a:t>
              </a:r>
              <a:endParaRPr kumimoji="1" lang="en-US" altLang="ko-KR" sz="2800" b="1" kern="1200" spc="-30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B4BA2D2-52F7-42A1-8EBA-192AEC431238}"/>
              </a:ext>
            </a:extLst>
          </p:cNvPr>
          <p:cNvGrpSpPr/>
          <p:nvPr userDrawn="1"/>
        </p:nvGrpSpPr>
        <p:grpSpPr>
          <a:xfrm>
            <a:off x="0" y="907564"/>
            <a:ext cx="9144000" cy="487"/>
            <a:chOff x="0" y="907564"/>
            <a:chExt cx="9144000" cy="487"/>
          </a:xfrm>
        </p:grpSpPr>
        <p:cxnSp>
          <p:nvCxnSpPr>
            <p:cNvPr id="9" name="직선 연결선 8"/>
            <p:cNvCxnSpPr/>
            <p:nvPr userDrawn="1"/>
          </p:nvCxnSpPr>
          <p:spPr>
            <a:xfrm>
              <a:off x="2124744" y="908051"/>
              <a:ext cx="2339752" cy="0"/>
            </a:xfrm>
            <a:prstGeom prst="line">
              <a:avLst/>
            </a:prstGeom>
            <a:ln w="76200">
              <a:solidFill>
                <a:srgbClr val="9DCBA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 userDrawn="1"/>
          </p:nvCxnSpPr>
          <p:spPr>
            <a:xfrm>
              <a:off x="4464496" y="908051"/>
              <a:ext cx="2339752" cy="0"/>
            </a:xfrm>
            <a:prstGeom prst="line">
              <a:avLst/>
            </a:prstGeom>
            <a:ln w="76200">
              <a:solidFill>
                <a:srgbClr val="C0DEC2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 userDrawn="1"/>
          </p:nvCxnSpPr>
          <p:spPr>
            <a:xfrm>
              <a:off x="6804248" y="907564"/>
              <a:ext cx="2339752" cy="0"/>
            </a:xfrm>
            <a:prstGeom prst="line">
              <a:avLst/>
            </a:prstGeom>
            <a:ln w="76200">
              <a:solidFill>
                <a:srgbClr val="DCECDD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 userDrawn="1"/>
          </p:nvCxnSpPr>
          <p:spPr>
            <a:xfrm>
              <a:off x="0" y="908051"/>
              <a:ext cx="2339752" cy="0"/>
            </a:xfrm>
            <a:prstGeom prst="line">
              <a:avLst/>
            </a:prstGeom>
            <a:ln w="76200">
              <a:solidFill>
                <a:srgbClr val="559E5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59E5B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rgbClr val="9DCBA0"/>
              </a:buClr>
              <a:buFont typeface="Wingdings" pitchFamily="2" charset="2"/>
              <a:buChar char="§"/>
              <a:defRPr sz="1400"/>
            </a:lvl2pPr>
            <a:lvl3pPr marL="628650" indent="-180975">
              <a:spcAft>
                <a:spcPts val="300"/>
              </a:spcAft>
              <a:buClr>
                <a:srgbClr val="9DCBA0"/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Clr>
                <a:srgbClr val="9DCBA0"/>
              </a:buClr>
              <a:buSzPct val="96000"/>
              <a:defRPr sz="1050"/>
            </a:lvl4pPr>
            <a:lvl5pPr marL="990600" indent="-180975">
              <a:buClr>
                <a:srgbClr val="9DCBA0"/>
              </a:buClr>
              <a:defRPr sz="9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D98C4-AD35-4759-9571-E1AA62A00DA9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3028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2026-05-07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2026-05-07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  <p:sldLayoutId id="2147483703" r:id="rId6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8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2026-05-07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</a:br>
            <a:r>
              <a:rPr lang="ko-KR" altLang="en-US" sz="4600" b="1">
                <a:solidFill>
                  <a:prstClr val="black">
                    <a:lumMod val="85000"/>
                    <a:lumOff val="15000"/>
                  </a:prstClr>
                </a:solidFill>
                <a:latin typeface="맑은 고딕"/>
                <a:ea typeface="맑은 고딕" panose="020B0503020000020004" pitchFamily="50" charset="-127"/>
              </a:rPr>
              <a:t>데이터베이스실습</a:t>
            </a:r>
            <a:endParaRPr kumimoji="1" lang="ko-KR" altLang="en-US" sz="46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611560" y="1871768"/>
            <a:ext cx="593432" cy="598112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eaLnBrk="1" latinLnBrk="1" hangingPunct="1"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latin typeface="HY견고딕" pitchFamily="18" charset="-127"/>
                <a:ea typeface="HY견고딕" pitchFamily="18" charset="-127"/>
                <a:cs typeface="+mj-cs"/>
              </a:rPr>
              <a:t>뷰</a:t>
            </a:r>
            <a:endParaRPr lang="ko-KR" altLang="en-US" sz="3400" b="1" spc="-150" dirty="0">
              <a:latin typeface="HY견고딕" pitchFamily="18" charset="-127"/>
              <a:ea typeface="HY견고딕" pitchFamily="18" charset="-127"/>
              <a:cs typeface="+mj-cs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1475656" y="2780927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뷰의 생성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뷰의 수정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뷰의 삭제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2919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뷰의 생성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604448" cy="5472608"/>
          </a:xfrm>
        </p:spPr>
        <p:txBody>
          <a:bodyPr/>
          <a:lstStyle/>
          <a:p>
            <a:pPr lvl="1"/>
            <a:r>
              <a:rPr lang="ko-KR" altLang="en-US" dirty="0"/>
              <a:t>마당서점을 운영하려면 서점의 매출 정보나 고객의 취향 등을 분석하기 위해 다양한 보고서가 필요</a:t>
            </a:r>
            <a:endParaRPr lang="en-US" altLang="ko-KR" dirty="0"/>
          </a:p>
          <a:p>
            <a:pPr lvl="1"/>
            <a:r>
              <a:rPr lang="ko-KR" altLang="en-US"/>
              <a:t>마당서점의 </a:t>
            </a:r>
            <a:r>
              <a:rPr lang="ko-KR" altLang="en-US" dirty="0"/>
              <a:t>프로그래머가 보고서를 만들기 위해 </a:t>
            </a:r>
            <a:r>
              <a:rPr lang="en-US" altLang="ko-KR" dirty="0"/>
              <a:t>Orders </a:t>
            </a:r>
            <a:r>
              <a:rPr lang="ko-KR" altLang="en-US" dirty="0"/>
              <a:t>테이블과 </a:t>
            </a:r>
            <a:r>
              <a:rPr lang="en-US" altLang="ko-KR" dirty="0"/>
              <a:t>Customer </a:t>
            </a:r>
            <a:r>
              <a:rPr lang="ko-KR" altLang="en-US" dirty="0"/>
              <a:t>테이블</a:t>
            </a:r>
            <a:r>
              <a:rPr lang="en-US" altLang="ko-KR" dirty="0"/>
              <a:t>, Book </a:t>
            </a:r>
            <a:r>
              <a:rPr lang="ko-KR" altLang="en-US"/>
              <a:t>테이블을 </a:t>
            </a:r>
            <a:endParaRPr lang="en-US" altLang="ko-KR"/>
          </a:p>
          <a:p>
            <a:pPr marL="266700" lvl="1" indent="0">
              <a:buNone/>
            </a:pPr>
            <a:r>
              <a:rPr lang="en-US" altLang="ko-KR"/>
              <a:t>    </a:t>
            </a:r>
            <a:r>
              <a:rPr lang="ko-KR" altLang="en-US"/>
              <a:t>조인하거나 </a:t>
            </a:r>
            <a:r>
              <a:rPr lang="ko-KR" altLang="en-US" dirty="0"/>
              <a:t>부속질의를 한다고 가정</a:t>
            </a:r>
            <a:endParaRPr lang="en-US" altLang="ko-KR" dirty="0"/>
          </a:p>
          <a:p>
            <a:pPr lvl="1"/>
            <a:r>
              <a:rPr lang="en-US" altLang="ko-KR" dirty="0"/>
              <a:t>Orders </a:t>
            </a:r>
            <a:r>
              <a:rPr lang="ko-KR" altLang="en-US" dirty="0"/>
              <a:t>테이블에 고객이름과 도서이름을 추가하는 방법은 두 가지</a:t>
            </a:r>
            <a:endParaRPr lang="en-US" altLang="ko-KR" dirty="0"/>
          </a:p>
          <a:p>
            <a:pPr marL="266700" lvl="1" indent="0">
              <a:buNone/>
            </a:pPr>
            <a:r>
              <a:rPr lang="en-US" altLang="ko-KR"/>
              <a:t>        </a:t>
            </a:r>
            <a:r>
              <a:rPr lang="ko-KR" altLang="en-US"/>
              <a:t>① </a:t>
            </a:r>
            <a:r>
              <a:rPr lang="ko-KR" altLang="en-US" dirty="0"/>
              <a:t>실제 물리적인 테이블에 열을 추가하여 데이터를 넣는 방법</a:t>
            </a:r>
            <a:endParaRPr lang="en-US" altLang="ko-KR" dirty="0"/>
          </a:p>
          <a:p>
            <a:pPr marL="266700" lvl="1" indent="0">
              <a:buNone/>
            </a:pPr>
            <a:r>
              <a:rPr lang="en-US" altLang="ko-KR"/>
              <a:t>       </a:t>
            </a:r>
            <a:r>
              <a:rPr lang="en-US" altLang="ko-KR" dirty="0"/>
              <a:t> </a:t>
            </a:r>
            <a:r>
              <a:rPr lang="en-US" altLang="ko-KR"/>
              <a:t>② </a:t>
            </a:r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4-6]</a:t>
            </a:r>
            <a:r>
              <a:rPr lang="ko-KR" altLang="en-US" dirty="0"/>
              <a:t>과 같이 </a:t>
            </a:r>
            <a:r>
              <a:rPr lang="en-US" altLang="ko-KR" dirty="0"/>
              <a:t>Orders </a:t>
            </a:r>
            <a:r>
              <a:rPr lang="ko-KR" altLang="en-US" dirty="0"/>
              <a:t>테이블</a:t>
            </a:r>
            <a:r>
              <a:rPr lang="en-US" altLang="ko-KR" dirty="0"/>
              <a:t>, Customer </a:t>
            </a:r>
            <a:r>
              <a:rPr lang="ko-KR" altLang="en-US" dirty="0"/>
              <a:t>테이블</a:t>
            </a:r>
            <a:r>
              <a:rPr lang="en-US" altLang="ko-KR" dirty="0"/>
              <a:t>, Book </a:t>
            </a:r>
            <a:r>
              <a:rPr lang="ko-KR" altLang="en-US" dirty="0"/>
              <a:t>테이블을 </a:t>
            </a:r>
            <a:r>
              <a:rPr lang="ko-KR" altLang="en-US"/>
              <a:t>조인한 후 가상의 </a:t>
            </a:r>
            <a:r>
              <a:rPr lang="ko-KR" altLang="en-US" dirty="0"/>
              <a:t>테이블인 뷰 </a:t>
            </a:r>
            <a:r>
              <a:rPr lang="en-US" altLang="ko-KR" dirty="0"/>
              <a:t>Vorders</a:t>
            </a:r>
            <a:r>
              <a:rPr lang="ko-KR" altLang="en-US"/>
              <a:t>를          </a:t>
            </a:r>
            <a:endParaRPr lang="en-US" altLang="ko-KR"/>
          </a:p>
          <a:p>
            <a:pPr marL="266700" lvl="1" indent="0">
              <a:buNone/>
            </a:pPr>
            <a:r>
              <a:rPr lang="en-US" altLang="ko-KR"/>
              <a:t>            </a:t>
            </a:r>
            <a:r>
              <a:rPr lang="ko-KR" altLang="en-US"/>
              <a:t>생성하는 </a:t>
            </a:r>
            <a:r>
              <a:rPr lang="ko-KR" altLang="en-US" dirty="0"/>
              <a:t>방법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62" b="50000"/>
          <a:stretch/>
        </p:blipFill>
        <p:spPr>
          <a:xfrm>
            <a:off x="1024768" y="3645024"/>
            <a:ext cx="7634016" cy="2088232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1920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뷰의 생성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99"/>
          <a:stretch/>
        </p:blipFill>
        <p:spPr>
          <a:xfrm>
            <a:off x="1115616" y="1124745"/>
            <a:ext cx="6912768" cy="1582056"/>
          </a:xfr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852936"/>
            <a:ext cx="6768752" cy="3917692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4753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뷰의 생성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뷰</a:t>
            </a:r>
            <a:endParaRPr lang="en-US" altLang="ko-KR" dirty="0"/>
          </a:p>
          <a:p>
            <a:pPr lvl="1"/>
            <a:r>
              <a:rPr lang="ko-KR" altLang="en-US" b="0" dirty="0"/>
              <a:t>실제 </a:t>
            </a:r>
            <a:r>
              <a:rPr lang="en-US" altLang="ko-KR" b="0" dirty="0"/>
              <a:t>SQL </a:t>
            </a:r>
            <a:r>
              <a:rPr lang="ko-KR" altLang="en-US" b="0" dirty="0"/>
              <a:t>문에서 테이블과 동일하게 사용할 수 있는 데이터베이스 개체</a:t>
            </a:r>
            <a:endParaRPr lang="en-US" altLang="ko-KR" b="0" dirty="0"/>
          </a:p>
          <a:p>
            <a:pPr lvl="1"/>
            <a:r>
              <a:rPr lang="ko-KR" altLang="en-US" dirty="0"/>
              <a:t>뷰의 정의를 뷰의 생성이라고도 함</a:t>
            </a:r>
            <a:endParaRPr lang="en-US" altLang="ko-KR" dirty="0"/>
          </a:p>
          <a:p>
            <a:pPr lvl="1"/>
            <a:r>
              <a:rPr lang="ko-KR" altLang="en-US" dirty="0"/>
              <a:t>뷰를 생성하는 문법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/>
          </a:p>
          <a:p>
            <a:pPr lvl="1"/>
            <a:r>
              <a:rPr lang="en-US" altLang="ko-KR"/>
              <a:t>Book </a:t>
            </a:r>
            <a:r>
              <a:rPr lang="ko-KR" altLang="en-US" dirty="0"/>
              <a:t>테이블에서 ‘축구’라는 문구가 포함된 자료만 보여주는 뷰를 만들어보기</a:t>
            </a:r>
            <a:endParaRPr lang="en-US" altLang="ko-KR" dirty="0"/>
          </a:p>
          <a:p>
            <a:pPr lvl="2"/>
            <a:r>
              <a:rPr lang="ko-KR" altLang="en-US" dirty="0"/>
              <a:t>뷰에 사용할 </a:t>
            </a:r>
            <a:r>
              <a:rPr lang="en-US" altLang="ko-KR" dirty="0"/>
              <a:t>SELECT </a:t>
            </a:r>
            <a:r>
              <a:rPr lang="ko-KR" altLang="en-US" dirty="0"/>
              <a:t>문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위 </a:t>
            </a:r>
            <a:r>
              <a:rPr lang="en-US" altLang="ko-KR" dirty="0"/>
              <a:t>SELECT </a:t>
            </a:r>
            <a:r>
              <a:rPr lang="ko-KR" altLang="en-US" dirty="0"/>
              <a:t>문을 이용해 뷰 정의문을 작성하면 다음과 같음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381363"/>
            <a:ext cx="7056784" cy="83021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4000150"/>
            <a:ext cx="5976664" cy="88988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413" y="5276655"/>
            <a:ext cx="5976664" cy="1109693"/>
          </a:xfrm>
          <a:prstGeom prst="rect">
            <a:avLst/>
          </a:prstGeom>
        </p:spPr>
      </p:pic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7663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뷰의 생성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412776"/>
            <a:ext cx="6984776" cy="116412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79" y="2780928"/>
            <a:ext cx="3740337" cy="112496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4581128"/>
            <a:ext cx="6908633" cy="1362151"/>
          </a:xfrm>
          <a:prstGeom prst="rect">
            <a:avLst/>
          </a:prstGeom>
        </p:spPr>
      </p:pic>
      <p:sp>
        <p:nvSpPr>
          <p:cNvPr id="11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971600" y="4109918"/>
            <a:ext cx="30963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0000CC"/>
                </a:solidFill>
              </a:rPr>
              <a:t>뷰를 사용한 </a:t>
            </a:r>
            <a:r>
              <a:rPr lang="en-US" altLang="ko-KR" sz="1400">
                <a:solidFill>
                  <a:srgbClr val="0000CC"/>
                </a:solidFill>
              </a:rPr>
              <a:t>SELECT </a:t>
            </a:r>
            <a:r>
              <a:rPr lang="ko-KR" altLang="en-US" sz="1400">
                <a:solidFill>
                  <a:srgbClr val="0000CC"/>
                </a:solidFill>
              </a:rPr>
              <a:t>문</a:t>
            </a:r>
            <a:endParaRPr lang="en-US" altLang="ko-KR" sz="14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170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뷰의 생성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184065"/>
            <a:ext cx="6912768" cy="113143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1" y="2564904"/>
            <a:ext cx="6912768" cy="181655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14" y="5085183"/>
            <a:ext cx="6914856" cy="961022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899592" y="4615569"/>
            <a:ext cx="30963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0000CC"/>
                </a:solidFill>
              </a:rPr>
              <a:t>뷰를 사용한 </a:t>
            </a:r>
            <a:r>
              <a:rPr lang="en-US" altLang="ko-KR" sz="1400">
                <a:solidFill>
                  <a:srgbClr val="0000CC"/>
                </a:solidFill>
              </a:rPr>
              <a:t>SELECT </a:t>
            </a:r>
            <a:r>
              <a:rPr lang="ko-KR" altLang="en-US" sz="1400">
                <a:solidFill>
                  <a:srgbClr val="0000CC"/>
                </a:solidFill>
              </a:rPr>
              <a:t>문</a:t>
            </a:r>
            <a:endParaRPr lang="en-US" altLang="ko-KR" sz="14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600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뷰의 생성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뷰의 장점</a:t>
            </a:r>
            <a:endParaRPr lang="en-US" altLang="ko-KR" dirty="0"/>
          </a:p>
          <a:p>
            <a:pPr lvl="1" algn="just"/>
            <a:r>
              <a:rPr lang="ko-KR" altLang="en-US"/>
              <a:t>편리성</a:t>
            </a:r>
            <a:r>
              <a:rPr lang="en-US" altLang="ko-KR"/>
              <a:t>(</a:t>
            </a:r>
            <a:r>
              <a:rPr lang="ko-KR" altLang="en-US"/>
              <a:t>및 재사용성</a:t>
            </a:r>
            <a:r>
              <a:rPr lang="en-US" altLang="ko-KR"/>
              <a:t>) : </a:t>
            </a:r>
            <a:r>
              <a:rPr lang="ko-KR" altLang="en-US"/>
              <a:t>자주 사용되는 복잡한 질의를 뷰로 미리 정의해 놓을 수 있음</a:t>
            </a:r>
            <a:r>
              <a:rPr lang="en-US" altLang="ko-KR"/>
              <a:t> </a:t>
            </a:r>
          </a:p>
          <a:p>
            <a:pPr marL="266700" lvl="1" indent="0" algn="just">
              <a:buNone/>
            </a:pPr>
            <a:r>
              <a:rPr lang="en-US" altLang="ko-KR"/>
              <a:t>   </a:t>
            </a:r>
            <a:r>
              <a:rPr lang="ko-KR" altLang="en-US" sz="1400">
                <a:solidFill>
                  <a:srgbClr val="0000CC"/>
                </a:solidFill>
              </a:rPr>
              <a:t>→</a:t>
            </a:r>
            <a:r>
              <a:rPr lang="en-US" altLang="ko-KR" sz="1400">
                <a:solidFill>
                  <a:srgbClr val="0000CC"/>
                </a:solidFill>
              </a:rPr>
              <a:t> </a:t>
            </a:r>
            <a:r>
              <a:rPr lang="ko-KR" altLang="en-US" sz="1400">
                <a:solidFill>
                  <a:srgbClr val="0000CC"/>
                </a:solidFill>
              </a:rPr>
              <a:t>복잡한</a:t>
            </a:r>
            <a:r>
              <a:rPr lang="en-US" altLang="ko-KR" sz="1400">
                <a:solidFill>
                  <a:srgbClr val="0000CC"/>
                </a:solidFill>
              </a:rPr>
              <a:t> </a:t>
            </a:r>
            <a:r>
              <a:rPr lang="ko-KR" altLang="en-US" sz="1400">
                <a:solidFill>
                  <a:srgbClr val="0000CC"/>
                </a:solidFill>
              </a:rPr>
              <a:t>질의를 간단히 작성</a:t>
            </a:r>
            <a:endParaRPr lang="en-US" altLang="ko-KR" sz="1400" dirty="0">
              <a:solidFill>
                <a:srgbClr val="0000CC"/>
              </a:solidFill>
            </a:endParaRPr>
          </a:p>
          <a:p>
            <a:pPr lvl="1" algn="just"/>
            <a:r>
              <a:rPr lang="ko-KR" altLang="en-US"/>
              <a:t>보안성 </a:t>
            </a:r>
            <a:r>
              <a:rPr lang="en-US" altLang="ko-KR"/>
              <a:t>: </a:t>
            </a:r>
            <a:r>
              <a:rPr lang="ko-KR" altLang="en-US"/>
              <a:t>사용자별로 필요한 데이터만 선별하여 보여줄 수 있고</a:t>
            </a:r>
            <a:r>
              <a:rPr lang="en-US" altLang="ko-KR"/>
              <a:t>, </a:t>
            </a:r>
            <a:r>
              <a:rPr lang="ko-KR" altLang="en-US"/>
              <a:t>중요한 질의의 경우 질의 내용을 암호화할 수 있음</a:t>
            </a:r>
            <a:endParaRPr lang="en-US" altLang="ko-KR"/>
          </a:p>
          <a:p>
            <a:pPr marL="266700" lvl="1" indent="0" algn="just">
              <a:buNone/>
            </a:pPr>
            <a:r>
              <a:rPr lang="en-US" altLang="ko-KR"/>
              <a:t>   </a:t>
            </a:r>
            <a:r>
              <a:rPr lang="ko-KR" altLang="en-US" sz="1400">
                <a:solidFill>
                  <a:srgbClr val="0000CC"/>
                </a:solidFill>
              </a:rPr>
              <a:t>→</a:t>
            </a:r>
            <a:r>
              <a:rPr lang="en-US" altLang="ko-KR" sz="1400">
                <a:solidFill>
                  <a:srgbClr val="0000CC"/>
                </a:solidFill>
              </a:rPr>
              <a:t> </a:t>
            </a:r>
            <a:r>
              <a:rPr lang="ko-KR" altLang="en-US" sz="1400">
                <a:solidFill>
                  <a:srgbClr val="0000CC"/>
                </a:solidFill>
              </a:rPr>
              <a:t>개인정보</a:t>
            </a:r>
            <a:r>
              <a:rPr lang="en-US" altLang="ko-KR" sz="1400">
                <a:solidFill>
                  <a:srgbClr val="0000CC"/>
                </a:solidFill>
              </a:rPr>
              <a:t>(</a:t>
            </a:r>
            <a:r>
              <a:rPr lang="ko-KR" altLang="en-US" sz="1400">
                <a:solidFill>
                  <a:srgbClr val="0000CC"/>
                </a:solidFill>
              </a:rPr>
              <a:t>주민번호</a:t>
            </a:r>
            <a:r>
              <a:rPr lang="en-US" altLang="ko-KR" sz="1400">
                <a:solidFill>
                  <a:srgbClr val="0000CC"/>
                </a:solidFill>
              </a:rPr>
              <a:t>)</a:t>
            </a:r>
            <a:r>
              <a:rPr lang="ko-KR" altLang="en-US" sz="1400">
                <a:solidFill>
                  <a:srgbClr val="0000CC"/>
                </a:solidFill>
              </a:rPr>
              <a:t>나 급여</a:t>
            </a:r>
            <a:r>
              <a:rPr lang="en-US" altLang="ko-KR" sz="1400">
                <a:solidFill>
                  <a:srgbClr val="0000CC"/>
                </a:solidFill>
              </a:rPr>
              <a:t>, </a:t>
            </a:r>
            <a:r>
              <a:rPr lang="ko-KR" altLang="en-US" sz="1400">
                <a:solidFill>
                  <a:srgbClr val="0000CC"/>
                </a:solidFill>
              </a:rPr>
              <a:t>건강 같은 민감한 정보를 제외한 테이블을 만들어 사용 </a:t>
            </a:r>
            <a:endParaRPr lang="en-US" altLang="ko-KR" sz="1400" dirty="0">
              <a:solidFill>
                <a:srgbClr val="0000CC"/>
              </a:solidFill>
            </a:endParaRPr>
          </a:p>
          <a:p>
            <a:pPr lvl="1"/>
            <a:r>
              <a:rPr lang="ko-KR" altLang="en-US"/>
              <a:t>독립성 </a:t>
            </a:r>
            <a:r>
              <a:rPr lang="en-US" altLang="ko-KR"/>
              <a:t>: </a:t>
            </a:r>
            <a:r>
              <a:rPr lang="ko-KR" altLang="en-US"/>
              <a:t>원본 테이블의 구조가 변해도 응용에 영향을 주지 않도록 함 </a:t>
            </a:r>
            <a:endParaRPr lang="en-US" altLang="ko-KR"/>
          </a:p>
          <a:p>
            <a:pPr marL="266700" lvl="1" indent="0">
              <a:buNone/>
            </a:pPr>
            <a:r>
              <a:rPr lang="ko-KR" altLang="en-US" sz="1400">
                <a:solidFill>
                  <a:srgbClr val="0000CC"/>
                </a:solidFill>
              </a:rPr>
              <a:t>   →</a:t>
            </a:r>
            <a:r>
              <a:rPr lang="en-US" altLang="ko-KR" sz="1400">
                <a:solidFill>
                  <a:srgbClr val="0000CC"/>
                </a:solidFill>
              </a:rPr>
              <a:t> </a:t>
            </a:r>
            <a:r>
              <a:rPr lang="ko-KR" altLang="en-US" sz="1400">
                <a:solidFill>
                  <a:srgbClr val="0000CC"/>
                </a:solidFill>
              </a:rPr>
              <a:t>논리적 데이터 독립성 제공 방법</a:t>
            </a:r>
            <a:r>
              <a:rPr lang="en-US" altLang="ko-KR" sz="1400">
                <a:solidFill>
                  <a:srgbClr val="0000CC"/>
                </a:solidFill>
              </a:rPr>
              <a:t>(</a:t>
            </a:r>
            <a:r>
              <a:rPr lang="ko-KR" altLang="en-US" sz="1400">
                <a:solidFill>
                  <a:srgbClr val="0000CC"/>
                </a:solidFill>
              </a:rPr>
              <a:t>외부스키마와 개념스키마 분리</a:t>
            </a:r>
            <a:r>
              <a:rPr lang="en-US" altLang="ko-KR" sz="1400">
                <a:solidFill>
                  <a:srgbClr val="0000CC"/>
                </a:solidFill>
              </a:rPr>
              <a:t>)</a:t>
            </a:r>
          </a:p>
          <a:p>
            <a:pPr marL="266700" lvl="1" indent="0">
              <a:buNone/>
            </a:pPr>
            <a:endParaRPr lang="en-US" altLang="ko-KR" sz="1400" dirty="0"/>
          </a:p>
          <a:p>
            <a:r>
              <a:rPr lang="ko-KR" altLang="en-US"/>
              <a:t>뷰의 특징</a:t>
            </a:r>
            <a:endParaRPr lang="en-US" altLang="ko-KR"/>
          </a:p>
          <a:p>
            <a:pPr lvl="1" algn="just"/>
            <a:r>
              <a:rPr lang="ko-KR" altLang="en-US" sz="1400"/>
              <a:t>원본 데이터 값에 따라 같이 변함</a:t>
            </a:r>
            <a:endParaRPr lang="en-US" altLang="ko-KR" sz="1400"/>
          </a:p>
          <a:p>
            <a:pPr lvl="1" algn="just"/>
            <a:r>
              <a:rPr lang="ko-KR" altLang="en-US" sz="1400"/>
              <a:t>독립적인 인덱스 생성이 어려움</a:t>
            </a:r>
            <a:endParaRPr lang="en-US" altLang="ko-KR" sz="1400"/>
          </a:p>
          <a:p>
            <a:pPr lvl="1" algn="just"/>
            <a:r>
              <a:rPr lang="ko-KR" altLang="en-US" sz="1400"/>
              <a:t>삽입</a:t>
            </a:r>
            <a:r>
              <a:rPr lang="en-US" altLang="ko-KR" sz="1400"/>
              <a:t>, </a:t>
            </a:r>
            <a:r>
              <a:rPr lang="ko-KR" altLang="en-US" sz="1400"/>
              <a:t>삭제</a:t>
            </a:r>
            <a:r>
              <a:rPr lang="en-US" altLang="ko-KR" sz="1400"/>
              <a:t>, </a:t>
            </a:r>
            <a:r>
              <a:rPr lang="ko-KR" altLang="en-US" sz="1400"/>
              <a:t>갱신 연산에 많은 제약이 따름</a:t>
            </a:r>
            <a:endParaRPr lang="en-US" altLang="ko-KR" sz="140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6144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뷰의 수정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/>
          <a:p>
            <a:r>
              <a:rPr lang="ko-KR" altLang="en-US" dirty="0"/>
              <a:t>뷰를 수정하는 문장</a:t>
            </a:r>
            <a:endParaRPr lang="en-US" altLang="ko-KR" dirty="0"/>
          </a:p>
          <a:p>
            <a:pPr lvl="1"/>
            <a:r>
              <a:rPr lang="en-US" altLang="ko-KR" b="0" dirty="0"/>
              <a:t>CREATE VIEW </a:t>
            </a:r>
            <a:r>
              <a:rPr lang="ko-KR" altLang="en-US" b="0" dirty="0"/>
              <a:t>문에 </a:t>
            </a:r>
            <a:r>
              <a:rPr lang="en-US" altLang="ko-KR" b="0" dirty="0"/>
              <a:t>OR REPLACE </a:t>
            </a:r>
            <a:r>
              <a:rPr lang="ko-KR" altLang="en-US" b="0" dirty="0"/>
              <a:t>명령을 더하여 작성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060848"/>
            <a:ext cx="7056784" cy="82153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325" y="3001091"/>
            <a:ext cx="6818035" cy="112273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1" y="4270856"/>
            <a:ext cx="6840760" cy="127100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487" y="5913868"/>
            <a:ext cx="5314705" cy="681373"/>
          </a:xfrm>
          <a:prstGeom prst="rect">
            <a:avLst/>
          </a:prstGeom>
        </p:spPr>
      </p:pic>
      <p:sp>
        <p:nvSpPr>
          <p:cNvPr id="11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959171" y="5596683"/>
            <a:ext cx="30963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rgbClr val="0000CC"/>
                </a:solidFill>
              </a:rPr>
              <a:t>뷰를 사용한 </a:t>
            </a:r>
            <a:r>
              <a:rPr lang="en-US" altLang="ko-KR" sz="1400">
                <a:solidFill>
                  <a:srgbClr val="0000CC"/>
                </a:solidFill>
              </a:rPr>
              <a:t>SELECT </a:t>
            </a:r>
            <a:r>
              <a:rPr lang="ko-KR" altLang="en-US" sz="1400">
                <a:solidFill>
                  <a:srgbClr val="0000CC"/>
                </a:solidFill>
              </a:rPr>
              <a:t>문</a:t>
            </a:r>
            <a:endParaRPr lang="en-US" altLang="ko-KR" sz="14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599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뷰의 삭제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/>
          <a:p>
            <a:pPr lvl="1"/>
            <a:r>
              <a:rPr lang="ko-KR" altLang="en-US"/>
              <a:t>뷰가 </a:t>
            </a:r>
            <a:r>
              <a:rPr lang="ko-KR" altLang="en-US" dirty="0"/>
              <a:t>필요 없어졌다면 </a:t>
            </a:r>
            <a:r>
              <a:rPr lang="en-US" altLang="ko-KR" dirty="0"/>
              <a:t>DROP </a:t>
            </a:r>
            <a:r>
              <a:rPr lang="ko-KR" altLang="en-US" dirty="0"/>
              <a:t>문을 사용하여 뷰를 삭제함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556792"/>
            <a:ext cx="7128792" cy="56803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573016"/>
            <a:ext cx="4495800" cy="4953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564904"/>
            <a:ext cx="6984776" cy="8192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1" y="4581128"/>
            <a:ext cx="6264696" cy="1839421"/>
          </a:xfrm>
          <a:prstGeom prst="rect">
            <a:avLst/>
          </a:prstGeom>
        </p:spPr>
      </p:pic>
      <p:sp>
        <p:nvSpPr>
          <p:cNvPr id="8" name="슬라이드 번호 개체 틀 7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349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611560" y="1871768"/>
            <a:ext cx="1410964" cy="598112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eaLnBrk="1" latinLnBrk="1" hangingPunct="1"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latin typeface="HY견고딕" pitchFamily="18" charset="-127"/>
                <a:ea typeface="HY견고딕" pitchFamily="18" charset="-127"/>
                <a:cs typeface="+mj-cs"/>
              </a:rPr>
              <a:t>인덱스</a:t>
            </a:r>
            <a:endParaRPr lang="ko-KR" altLang="en-US" sz="3400" b="1" spc="-150" dirty="0">
              <a:latin typeface="HY견고딕" pitchFamily="18" charset="-127"/>
              <a:ea typeface="HY견고딕" pitchFamily="18" charset="-127"/>
              <a:cs typeface="+mj-cs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1475656" y="2780927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데이터베이스의 물리적 저장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인덱스와 </a:t>
            </a: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B-tree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MySQL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인덱스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인덱스의 생성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인덱스의 재구성과 삭제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0202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데이터베이스의 물리적 저장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우리가 테이블을 생성하고 테이블에 데이터를 저장할 때 </a:t>
            </a:r>
            <a:r>
              <a:rPr lang="en-US" altLang="ko-KR" dirty="0"/>
              <a:t>DBMS</a:t>
            </a:r>
            <a:r>
              <a:rPr lang="ko-KR" altLang="en-US" dirty="0"/>
              <a:t>는 데이터를 어디에 어떻게 저장할까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DBMS </a:t>
            </a:r>
            <a:r>
              <a:rPr lang="ko-KR" altLang="en-US" dirty="0"/>
              <a:t>역시 데이터를 </a:t>
            </a:r>
            <a:r>
              <a:rPr lang="en-US" altLang="ko-KR" dirty="0"/>
              <a:t>DBMS</a:t>
            </a:r>
            <a:r>
              <a:rPr lang="ko-KR" altLang="en-US" dirty="0"/>
              <a:t>만의 고유한 방식으로 저장하여 관리함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275656"/>
            <a:ext cx="645795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044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데이터베이스의 물리적 저장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실제 데이터가 저장되는 곳이 보조기억장치</a:t>
            </a:r>
            <a:endParaRPr lang="en-US" altLang="ko-KR" dirty="0"/>
          </a:p>
          <a:p>
            <a:pPr lvl="1"/>
            <a:r>
              <a:rPr lang="ko-KR" altLang="en-US" dirty="0"/>
              <a:t>보조기억장치로는 일반적으로 하드디스크</a:t>
            </a:r>
            <a:r>
              <a:rPr lang="en-US" altLang="ko-KR" dirty="0"/>
              <a:t>, SSD, USB </a:t>
            </a:r>
            <a:r>
              <a:rPr lang="ko-KR" altLang="en-US" dirty="0"/>
              <a:t>메모리 등이 있는데</a:t>
            </a:r>
            <a:r>
              <a:rPr lang="en-US" altLang="ko-KR" dirty="0"/>
              <a:t>, </a:t>
            </a:r>
            <a:r>
              <a:rPr lang="ko-KR" altLang="en-US" dirty="0"/>
              <a:t>그중 하드디스크를 가장 많이 사용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348880"/>
            <a:ext cx="4497056" cy="3240360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ED7F8EB-D85F-4BE0-B04B-0BE9052D48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064" y="2060848"/>
            <a:ext cx="2536328" cy="1882901"/>
          </a:xfrm>
          <a:prstGeom prst="rect">
            <a:avLst/>
          </a:prstGeom>
        </p:spPr>
      </p:pic>
      <p:pic>
        <p:nvPicPr>
          <p:cNvPr id="7" name="Picture 2" descr="https://t1.daumcdn.net/cfile/tistory/217E6B4551C1BCAD2F">
            <a:extLst>
              <a:ext uri="{FF2B5EF4-FFF2-40B4-BE49-F238E27FC236}">
                <a16:creationId xmlns:a16="http://schemas.microsoft.com/office/drawing/2014/main" id="{AD7D6F38-C8E7-407E-A278-5F982C76E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023" y="4022457"/>
            <a:ext cx="2785106" cy="168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7545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데이터베이스의 물리적 저장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액세스 시간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sz="1400" dirty="0"/>
              <a:t>디스크의 입출력 시간</a:t>
            </a:r>
            <a:endParaRPr lang="en-US" altLang="ko-KR" sz="1400" dirty="0"/>
          </a:p>
          <a:p>
            <a:pPr lvl="1">
              <a:lnSpc>
                <a:spcPct val="150000"/>
              </a:lnSpc>
            </a:pPr>
            <a:r>
              <a:rPr lang="ko-KR" altLang="en-US" sz="1400" dirty="0"/>
              <a:t>액세스 시간은 데이터의 저장 및 읽기에 많은 </a:t>
            </a:r>
            <a:r>
              <a:rPr lang="ko-KR" altLang="en-US" sz="1400"/>
              <a:t>영향을 끼침</a:t>
            </a:r>
            <a:endParaRPr lang="en-US" altLang="ko-KR" sz="1400" dirty="0"/>
          </a:p>
          <a:p>
            <a:pPr lvl="1">
              <a:lnSpc>
                <a:spcPct val="150000"/>
              </a:lnSpc>
            </a:pPr>
            <a:r>
              <a:rPr lang="ko-KR" altLang="en-US" sz="1400" dirty="0"/>
              <a:t>액세스 시간은 다음과 같은 식으로 표현할 </a:t>
            </a:r>
            <a:r>
              <a:rPr lang="ko-KR" altLang="en-US" sz="1400"/>
              <a:t>수 있음</a:t>
            </a:r>
            <a:br>
              <a:rPr lang="en-US" altLang="ko-KR" sz="1400"/>
            </a:br>
            <a:r>
              <a:rPr lang="ko-KR" altLang="en-US" sz="1400"/>
              <a:t>액세스 </a:t>
            </a:r>
            <a:r>
              <a:rPr lang="ko-KR" altLang="en-US" sz="1400" dirty="0"/>
              <a:t>시간 </a:t>
            </a:r>
            <a:r>
              <a:rPr lang="en-US" altLang="ko-KR" sz="1400" dirty="0"/>
              <a:t>= </a:t>
            </a:r>
            <a:r>
              <a:rPr lang="ko-KR" altLang="en-US" sz="1400" dirty="0"/>
              <a:t>탐색시간</a:t>
            </a:r>
            <a:r>
              <a:rPr lang="en-US" altLang="ko-KR" sz="1400" dirty="0"/>
              <a:t>(</a:t>
            </a:r>
            <a:r>
              <a:rPr lang="ko-KR" altLang="en-US" sz="1400" dirty="0"/>
              <a:t>액세스 헤드를 트랙에 이동시키는 시간</a:t>
            </a:r>
            <a:r>
              <a:rPr lang="en-US" altLang="ko-KR" sz="1400" dirty="0"/>
              <a:t>)+</a:t>
            </a:r>
            <a:r>
              <a:rPr lang="ko-KR" altLang="en-US" sz="1400" dirty="0"/>
              <a:t>회전 지연시간</a:t>
            </a:r>
            <a:r>
              <a:rPr lang="en-US" altLang="ko-KR" sz="1400" dirty="0"/>
              <a:t>(</a:t>
            </a:r>
            <a:r>
              <a:rPr lang="ko-KR" altLang="en-US" sz="1400" dirty="0"/>
              <a:t>섹터가 액세스 헤드에 접근하는 시간</a:t>
            </a:r>
            <a:r>
              <a:rPr lang="en-US" altLang="ko-KR" sz="1400" dirty="0"/>
              <a:t>)+</a:t>
            </a:r>
            <a:r>
              <a:rPr lang="ko-KR" altLang="en-US" sz="1400" dirty="0"/>
              <a:t>데이터 전송시간</a:t>
            </a:r>
            <a:r>
              <a:rPr lang="en-US" altLang="ko-KR" sz="1400" dirty="0"/>
              <a:t>(</a:t>
            </a:r>
            <a:r>
              <a:rPr lang="ko-KR" altLang="en-US" sz="1400" dirty="0"/>
              <a:t>데이터를 주기억장치로 읽어오는 시간</a:t>
            </a:r>
            <a:r>
              <a:rPr lang="en-US" altLang="ko-KR" sz="1400" dirty="0"/>
              <a:t>)</a:t>
            </a:r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 lvl="1">
              <a:lnSpc>
                <a:spcPct val="150000"/>
              </a:lnSpc>
            </a:pPr>
            <a:r>
              <a:rPr lang="en-US" altLang="ko-KR" sz="1400" dirty="0"/>
              <a:t>DBMS</a:t>
            </a:r>
            <a:r>
              <a:rPr lang="ko-KR" altLang="en-US" sz="1400" dirty="0"/>
              <a:t>가 하드디스크에 데이터를 저장하고 읽어올 때</a:t>
            </a:r>
            <a:r>
              <a:rPr lang="en-US" altLang="ko-KR" sz="1400" dirty="0"/>
              <a:t>, </a:t>
            </a:r>
            <a:r>
              <a:rPr lang="ko-KR" altLang="en-US" sz="1400" dirty="0"/>
              <a:t>속도 문제가 발생함</a:t>
            </a:r>
            <a:endParaRPr lang="en-US" altLang="ko-KR" sz="1400" dirty="0"/>
          </a:p>
          <a:p>
            <a:pPr lvl="2">
              <a:lnSpc>
                <a:spcPct val="150000"/>
              </a:lnSpc>
            </a:pPr>
            <a:r>
              <a:rPr lang="ko-KR" altLang="en-US" sz="1400" dirty="0"/>
              <a:t>컴퓨터 시스템에서 처리되는 연산 속도는 빠르지만</a:t>
            </a:r>
            <a:r>
              <a:rPr lang="en-US" altLang="ko-KR" sz="1400" dirty="0"/>
              <a:t>, </a:t>
            </a:r>
            <a:r>
              <a:rPr lang="ko-KR" altLang="en-US" sz="1400" dirty="0"/>
              <a:t>디스크의 액세스 속도는 상대적으로 느리기 때문</a:t>
            </a:r>
            <a:endParaRPr lang="en-US" altLang="ko-KR" sz="1400" dirty="0"/>
          </a:p>
          <a:p>
            <a:pPr lvl="2">
              <a:lnSpc>
                <a:spcPct val="150000"/>
              </a:lnSpc>
            </a:pPr>
            <a:r>
              <a:rPr lang="ko-KR" altLang="en-US" sz="1400" dirty="0"/>
              <a:t>이러한 속도 문제를 줄이기 위해 </a:t>
            </a:r>
            <a:r>
              <a:rPr lang="en-US" altLang="ko-KR" sz="1400" dirty="0"/>
              <a:t>DBMS</a:t>
            </a:r>
            <a:r>
              <a:rPr lang="ko-KR" altLang="en-US" sz="1400" dirty="0"/>
              <a:t>는 주기억장치에 사용하는 공간 중 일부를 버퍼 풀로 만들어 사용</a:t>
            </a:r>
            <a:endParaRPr lang="en-US" altLang="ko-KR" sz="1400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6399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데이터베이스의 물리적 저장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863" y="1504719"/>
            <a:ext cx="5632275" cy="5236649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0944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데이터베이스의 물리적 저장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lang="en-US" altLang="ko-KR" sz="1400" dirty="0"/>
              <a:t>DBMS</a:t>
            </a:r>
            <a:r>
              <a:rPr lang="ko-KR" altLang="en-US" sz="1400" dirty="0"/>
              <a:t>는 데이터베이스별로 하나 이상의 데이터 파일을 생성함</a:t>
            </a:r>
            <a:endParaRPr lang="en-US" altLang="ko-KR" sz="1400" dirty="0"/>
          </a:p>
          <a:p>
            <a:pPr lvl="1">
              <a:lnSpc>
                <a:spcPct val="150000"/>
              </a:lnSpc>
            </a:pPr>
            <a:r>
              <a:rPr lang="ko-KR" altLang="en-US" sz="1400" dirty="0"/>
              <a:t>테이블은 생성 시 정의된 내용에 따라 논리적으로 구분 지어져 각각의 데이터 </a:t>
            </a:r>
            <a:r>
              <a:rPr lang="ko-KR" altLang="en-US" sz="1400"/>
              <a:t>파일에 저장됨</a:t>
            </a:r>
            <a:endParaRPr lang="en-US" altLang="ko-KR" sz="1400" dirty="0"/>
          </a:p>
          <a:p>
            <a:pPr lvl="1">
              <a:lnSpc>
                <a:spcPct val="150000"/>
              </a:lnSpc>
            </a:pPr>
            <a:r>
              <a:rPr lang="en-US" altLang="ko-KR" sz="1400" dirty="0"/>
              <a:t>MySQL</a:t>
            </a:r>
            <a:r>
              <a:rPr lang="ko-KR" altLang="en-US" sz="1400" dirty="0"/>
              <a:t>의 저장장치 엔진 </a:t>
            </a:r>
            <a:r>
              <a:rPr lang="en-US" altLang="ko-KR" sz="1400" dirty="0"/>
              <a:t>Engines</a:t>
            </a:r>
            <a:r>
              <a:rPr lang="ko-KR" altLang="en-US" sz="1400" dirty="0"/>
              <a:t>은 플러그인 방식으로 선택할 수 있으며 </a:t>
            </a:r>
            <a:r>
              <a:rPr lang="en-US" altLang="ko-KR" sz="1400" dirty="0"/>
              <a:t>InnoDB </a:t>
            </a:r>
            <a:r>
              <a:rPr lang="ko-KR" altLang="en-US" sz="1400" dirty="0"/>
              <a:t>엔진이 기본으로 설치되어 있음</a:t>
            </a:r>
            <a:endParaRPr lang="en-US" altLang="ko-KR" sz="1400" dirty="0"/>
          </a:p>
          <a:p>
            <a:pPr lvl="1"/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140968"/>
            <a:ext cx="7884368" cy="2161716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4984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D52EF62C-D0B0-4C97-87B3-85F60AD212B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0206" y="1124744"/>
            <a:ext cx="8208912" cy="5400600"/>
          </a:xfrm>
        </p:spPr>
        <p:txBody>
          <a:bodyPr/>
          <a:lstStyle/>
          <a:p>
            <a:pPr defTabSz="914400" eaLnBrk="0" fontAlgn="base" hangingPunct="0">
              <a:spcAft>
                <a:spcPct val="0"/>
              </a:spcAft>
              <a:buClr>
                <a:srgbClr val="008000"/>
              </a:buClr>
            </a:pPr>
            <a:r>
              <a:rPr lang="ko-KR" altLang="en-US">
                <a:solidFill>
                  <a:prstClr val="black"/>
                </a:solidFill>
              </a:rPr>
              <a:t>인덱스의 필요성</a:t>
            </a:r>
            <a:r>
              <a:rPr lang="en-US" altLang="ko-KR">
                <a:solidFill>
                  <a:prstClr val="black"/>
                </a:solidFill>
              </a:rPr>
              <a:t>(</a:t>
            </a:r>
            <a:r>
              <a:rPr lang="ko-KR" altLang="en-US">
                <a:solidFill>
                  <a:prstClr val="black"/>
                </a:solidFill>
              </a:rPr>
              <a:t>저장장치간의 속도차이가 있으므로 필요한 데이터만 접근해야함</a:t>
            </a:r>
            <a:r>
              <a:rPr lang="en-US" altLang="ko-KR">
                <a:solidFill>
                  <a:prstClr val="black"/>
                </a:solidFill>
              </a:rPr>
              <a:t>)</a:t>
            </a:r>
            <a:br>
              <a:rPr lang="en-US" altLang="ko-KR" dirty="0">
                <a:solidFill>
                  <a:prstClr val="black"/>
                </a:solidFill>
              </a:rPr>
            </a:br>
            <a:r>
              <a:rPr lang="ko-KR" altLang="en-US" sz="1200" dirty="0">
                <a:solidFill>
                  <a:prstClr val="black"/>
                </a:solidFill>
              </a:rPr>
              <a:t>질의</a:t>
            </a:r>
            <a:r>
              <a:rPr lang="en-US" altLang="ko-KR" sz="1200" dirty="0">
                <a:solidFill>
                  <a:prstClr val="black"/>
                </a:solidFill>
              </a:rPr>
              <a:t> </a:t>
            </a:r>
            <a:r>
              <a:rPr lang="ko-KR" altLang="en-US" sz="1200" dirty="0" err="1">
                <a:solidFill>
                  <a:prstClr val="black"/>
                </a:solidFill>
              </a:rPr>
              <a:t>검색시</a:t>
            </a:r>
            <a:r>
              <a:rPr lang="ko-KR" altLang="en-US" sz="1200" dirty="0">
                <a:solidFill>
                  <a:prstClr val="black"/>
                </a:solidFill>
              </a:rPr>
              <a:t> </a:t>
            </a:r>
            <a:r>
              <a:rPr lang="en-US" altLang="ko-KR" sz="1200" dirty="0">
                <a:solidFill>
                  <a:prstClr val="black"/>
                </a:solidFill>
              </a:rPr>
              <a:t>data block(</a:t>
            </a:r>
            <a:r>
              <a:rPr lang="ko-KR" altLang="en-US" sz="1200" dirty="0">
                <a:solidFill>
                  <a:prstClr val="black"/>
                </a:solidFill>
              </a:rPr>
              <a:t>여러 개의</a:t>
            </a:r>
            <a:r>
              <a:rPr lang="en-US" altLang="ko-KR" sz="1200" dirty="0">
                <a:solidFill>
                  <a:prstClr val="black"/>
                </a:solidFill>
              </a:rPr>
              <a:t> record</a:t>
            </a:r>
            <a:r>
              <a:rPr lang="ko-KR" altLang="en-US" sz="1200" dirty="0">
                <a:solidFill>
                  <a:prstClr val="black"/>
                </a:solidFill>
              </a:rPr>
              <a:t>를 저장하는 저장단위</a:t>
            </a:r>
            <a:r>
              <a:rPr lang="en-US" altLang="ko-KR" sz="1200" dirty="0">
                <a:solidFill>
                  <a:prstClr val="black"/>
                </a:solidFill>
              </a:rPr>
              <a:t>, 2KB 4KB …) </a:t>
            </a:r>
            <a:r>
              <a:rPr lang="ko-KR" altLang="en-US" sz="1200" dirty="0">
                <a:solidFill>
                  <a:prstClr val="black"/>
                </a:solidFill>
              </a:rPr>
              <a:t>읽는 횟수를 최소화 필요</a:t>
            </a:r>
            <a:br>
              <a:rPr lang="en-US" altLang="ko-KR" sz="1200" dirty="0">
                <a:solidFill>
                  <a:prstClr val="black"/>
                </a:solidFill>
              </a:rPr>
            </a:br>
            <a:r>
              <a:rPr lang="en-US" altLang="ko-KR" sz="1200" dirty="0">
                <a:solidFill>
                  <a:prstClr val="black"/>
                </a:solidFill>
              </a:rPr>
              <a:t>disk</a:t>
            </a:r>
            <a:r>
              <a:rPr lang="ko-KR" altLang="en-US" sz="1200" dirty="0">
                <a:solidFill>
                  <a:prstClr val="black"/>
                </a:solidFill>
              </a:rPr>
              <a:t>에 있는 데이터는 </a:t>
            </a:r>
            <a:r>
              <a:rPr lang="en-US" altLang="ko-KR" sz="1200" dirty="0">
                <a:solidFill>
                  <a:prstClr val="black"/>
                </a:solidFill>
              </a:rPr>
              <a:t>memory</a:t>
            </a:r>
            <a:r>
              <a:rPr lang="ko-KR" altLang="en-US" sz="1200" dirty="0">
                <a:solidFill>
                  <a:prstClr val="black"/>
                </a:solidFill>
              </a:rPr>
              <a:t>에 있는 데이터에 비하여 </a:t>
            </a:r>
            <a:r>
              <a:rPr lang="ko-KR" altLang="en-US" sz="1200" dirty="0" err="1">
                <a:solidFill>
                  <a:prstClr val="black"/>
                </a:solidFill>
              </a:rPr>
              <a:t>읽어들이는</a:t>
            </a:r>
            <a:r>
              <a:rPr lang="ko-KR" altLang="en-US" sz="1200" dirty="0">
                <a:solidFill>
                  <a:prstClr val="black"/>
                </a:solidFill>
              </a:rPr>
              <a:t> 속도가 </a:t>
            </a:r>
            <a:r>
              <a:rPr lang="en-US" altLang="ko-KR" sz="1200" dirty="0">
                <a:solidFill>
                  <a:srgbClr val="FF0000"/>
                </a:solidFill>
              </a:rPr>
              <a:t>10000</a:t>
            </a:r>
            <a:r>
              <a:rPr lang="ko-KR" altLang="en-US" sz="1200" dirty="0">
                <a:solidFill>
                  <a:prstClr val="black"/>
                </a:solidFill>
              </a:rPr>
              <a:t>배 정도 소요된다</a:t>
            </a:r>
            <a:r>
              <a:rPr lang="en-US" altLang="ko-KR" sz="1200" dirty="0">
                <a:solidFill>
                  <a:prstClr val="black"/>
                </a:solidFill>
              </a:rPr>
              <a:t>.</a:t>
            </a:r>
            <a:r>
              <a:rPr lang="ko-KR" altLang="en-US" sz="1200" dirty="0">
                <a:solidFill>
                  <a:prstClr val="black"/>
                </a:solidFill>
              </a:rPr>
              <a:t> </a:t>
            </a:r>
            <a:endParaRPr lang="en-US" altLang="ko-KR" sz="1200" dirty="0">
              <a:solidFill>
                <a:prstClr val="black"/>
              </a:solidFill>
            </a:endParaRPr>
          </a:p>
          <a:p>
            <a:pPr algn="just"/>
            <a:endParaRPr lang="en-US" altLang="ko-KR" dirty="0">
              <a:latin typeface="+mn-ea"/>
            </a:endParaRPr>
          </a:p>
          <a:p>
            <a:pPr algn="just"/>
            <a:endParaRPr lang="en-US" altLang="ko-KR" dirty="0"/>
          </a:p>
          <a:p>
            <a:pPr algn="just"/>
            <a:endParaRPr lang="en-US" altLang="ko-KR" dirty="0">
              <a:latin typeface="+mn-ea"/>
            </a:endParaRPr>
          </a:p>
          <a:p>
            <a:pPr algn="just"/>
            <a:endParaRPr lang="en-US" altLang="ko-KR" dirty="0"/>
          </a:p>
          <a:p>
            <a:pPr algn="just"/>
            <a:endParaRPr lang="en-US" altLang="ko-KR" dirty="0">
              <a:latin typeface="+mn-ea"/>
            </a:endParaRPr>
          </a:p>
          <a:p>
            <a:pPr algn="just"/>
            <a:endParaRPr lang="en-US" altLang="ko-KR" dirty="0"/>
          </a:p>
          <a:p>
            <a:pPr algn="just"/>
            <a:endParaRPr lang="en-US" altLang="ko-KR" dirty="0">
              <a:latin typeface="+mn-ea"/>
            </a:endParaRPr>
          </a:p>
          <a:p>
            <a:pPr algn="just"/>
            <a:endParaRPr lang="en-US" altLang="ko-KR" dirty="0"/>
          </a:p>
          <a:p>
            <a:pPr algn="just"/>
            <a:endParaRPr lang="en-US" altLang="ko-KR" dirty="0">
              <a:latin typeface="+mn-ea"/>
            </a:endParaRPr>
          </a:p>
          <a:p>
            <a:pPr algn="just"/>
            <a:endParaRPr lang="en-US" altLang="ko-KR" dirty="0"/>
          </a:p>
          <a:p>
            <a:pPr algn="just"/>
            <a:endParaRPr lang="en-US" altLang="ko-KR" dirty="0">
              <a:latin typeface="+mn-ea"/>
            </a:endParaRPr>
          </a:p>
          <a:p>
            <a:pPr lvl="1" algn="just"/>
            <a:endParaRPr lang="ko-KR" altLang="en-US" dirty="0">
              <a:latin typeface="+mn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C6B0147-62AB-4B45-B12E-54553E20D0D5}"/>
              </a:ext>
            </a:extLst>
          </p:cNvPr>
          <p:cNvCxnSpPr/>
          <p:nvPr/>
        </p:nvCxnSpPr>
        <p:spPr>
          <a:xfrm>
            <a:off x="1331640" y="3463886"/>
            <a:ext cx="6367933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모서리가 둥근 직사각형 3">
            <a:extLst>
              <a:ext uri="{FF2B5EF4-FFF2-40B4-BE49-F238E27FC236}">
                <a16:creationId xmlns:a16="http://schemas.microsoft.com/office/drawing/2014/main" id="{DCE3AE91-B966-4E33-9E3F-0948887004F0}"/>
              </a:ext>
            </a:extLst>
          </p:cNvPr>
          <p:cNvSpPr/>
          <p:nvPr/>
        </p:nvSpPr>
        <p:spPr>
          <a:xfrm>
            <a:off x="1331639" y="2111697"/>
            <a:ext cx="2733770" cy="990063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8">
            <a:extLst>
              <a:ext uri="{FF2B5EF4-FFF2-40B4-BE49-F238E27FC236}">
                <a16:creationId xmlns:a16="http://schemas.microsoft.com/office/drawing/2014/main" id="{C9D9F1CC-6CB5-4EA8-8D39-6670A33A952A}"/>
              </a:ext>
            </a:extLst>
          </p:cNvPr>
          <p:cNvSpPr/>
          <p:nvPr/>
        </p:nvSpPr>
        <p:spPr>
          <a:xfrm>
            <a:off x="1331639" y="3942540"/>
            <a:ext cx="6367933" cy="2329657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3913296-18FE-4F6D-8E51-9F050CEB9AB4}"/>
              </a:ext>
            </a:extLst>
          </p:cNvPr>
          <p:cNvSpPr/>
          <p:nvPr/>
        </p:nvSpPr>
        <p:spPr>
          <a:xfrm>
            <a:off x="2053638" y="4995107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D81DDEB-6478-48F2-B9BD-37E61FD6A424}"/>
              </a:ext>
            </a:extLst>
          </p:cNvPr>
          <p:cNvSpPr/>
          <p:nvPr/>
        </p:nvSpPr>
        <p:spPr>
          <a:xfrm>
            <a:off x="1921332" y="4997497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59E4C12-084A-4AE7-860A-F270198EBAD4}"/>
              </a:ext>
            </a:extLst>
          </p:cNvPr>
          <p:cNvSpPr/>
          <p:nvPr/>
        </p:nvSpPr>
        <p:spPr>
          <a:xfrm>
            <a:off x="2450558" y="4993559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59FDC58-87C1-49D4-8BA3-F454A86730C7}"/>
              </a:ext>
            </a:extLst>
          </p:cNvPr>
          <p:cNvSpPr/>
          <p:nvPr/>
        </p:nvSpPr>
        <p:spPr>
          <a:xfrm>
            <a:off x="2185945" y="4998090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506B9F8-C9BC-4A9C-A451-71DB247AE3C3}"/>
              </a:ext>
            </a:extLst>
          </p:cNvPr>
          <p:cNvSpPr/>
          <p:nvPr/>
        </p:nvSpPr>
        <p:spPr>
          <a:xfrm>
            <a:off x="1813974" y="4921547"/>
            <a:ext cx="838953" cy="2160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C7FC159-2019-4C43-8858-47193B3E4808}"/>
              </a:ext>
            </a:extLst>
          </p:cNvPr>
          <p:cNvSpPr/>
          <p:nvPr/>
        </p:nvSpPr>
        <p:spPr>
          <a:xfrm>
            <a:off x="2229239" y="4261207"/>
            <a:ext cx="838953" cy="2160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6938923-A2F4-4971-A6C7-761A95DD432C}"/>
              </a:ext>
            </a:extLst>
          </p:cNvPr>
          <p:cNvSpPr/>
          <p:nvPr/>
        </p:nvSpPr>
        <p:spPr>
          <a:xfrm>
            <a:off x="2289527" y="4307859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6869AE8-5488-4D1B-A971-6324D7454EB4}"/>
              </a:ext>
            </a:extLst>
          </p:cNvPr>
          <p:cNvSpPr/>
          <p:nvPr/>
        </p:nvSpPr>
        <p:spPr>
          <a:xfrm>
            <a:off x="2449783" y="4289967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5F47F1E-F671-44DC-969B-E43D7330B5B7}"/>
              </a:ext>
            </a:extLst>
          </p:cNvPr>
          <p:cNvSpPr/>
          <p:nvPr/>
        </p:nvSpPr>
        <p:spPr>
          <a:xfrm>
            <a:off x="2677427" y="4307859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3538D9C-CC42-40E3-854D-604C7EB11ECD}"/>
              </a:ext>
            </a:extLst>
          </p:cNvPr>
          <p:cNvSpPr/>
          <p:nvPr/>
        </p:nvSpPr>
        <p:spPr>
          <a:xfrm>
            <a:off x="2563970" y="4362095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0FA1090-6757-440D-9DD0-EE87C42833BB}"/>
              </a:ext>
            </a:extLst>
          </p:cNvPr>
          <p:cNvSpPr/>
          <p:nvPr/>
        </p:nvSpPr>
        <p:spPr>
          <a:xfrm>
            <a:off x="2846949" y="4343859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F3DF4B1-FE14-4FB1-9804-BC65044ACF63}"/>
              </a:ext>
            </a:extLst>
          </p:cNvPr>
          <p:cNvSpPr/>
          <p:nvPr/>
        </p:nvSpPr>
        <p:spPr>
          <a:xfrm>
            <a:off x="2990725" y="4274159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BA30889-3D26-46B4-97C3-A013435B9F1D}"/>
              </a:ext>
            </a:extLst>
          </p:cNvPr>
          <p:cNvSpPr/>
          <p:nvPr/>
        </p:nvSpPr>
        <p:spPr>
          <a:xfrm>
            <a:off x="2140321" y="4025875"/>
            <a:ext cx="4956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/>
              <a:t>index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F82320C-57BA-4442-B0D1-16988D056CFC}"/>
              </a:ext>
            </a:extLst>
          </p:cNvPr>
          <p:cNvSpPr/>
          <p:nvPr/>
        </p:nvSpPr>
        <p:spPr>
          <a:xfrm>
            <a:off x="1691131" y="4673787"/>
            <a:ext cx="79701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/>
              <a:t>data block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002C4B9-376D-4119-A39D-42248431888C}"/>
              </a:ext>
            </a:extLst>
          </p:cNvPr>
          <p:cNvSpPr/>
          <p:nvPr/>
        </p:nvSpPr>
        <p:spPr>
          <a:xfrm>
            <a:off x="4196128" y="5445652"/>
            <a:ext cx="79701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/>
              <a:t>data block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BA5F22B-9848-4B73-A14B-C35FD581AF57}"/>
              </a:ext>
            </a:extLst>
          </p:cNvPr>
          <p:cNvSpPr/>
          <p:nvPr/>
        </p:nvSpPr>
        <p:spPr>
          <a:xfrm>
            <a:off x="6245273" y="2943275"/>
            <a:ext cx="838953" cy="2160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D8CB8C5-2840-4769-B3A7-5A6C24ACD90A}"/>
              </a:ext>
            </a:extLst>
          </p:cNvPr>
          <p:cNvSpPr/>
          <p:nvPr/>
        </p:nvSpPr>
        <p:spPr>
          <a:xfrm>
            <a:off x="6309352" y="3016844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D645FDBF-0679-4B91-8B7F-7274656FB288}"/>
              </a:ext>
            </a:extLst>
          </p:cNvPr>
          <p:cNvSpPr/>
          <p:nvPr/>
        </p:nvSpPr>
        <p:spPr>
          <a:xfrm>
            <a:off x="6471284" y="2980844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E61E17B0-86D1-476D-B22F-B90D880238CD}"/>
              </a:ext>
            </a:extLst>
          </p:cNvPr>
          <p:cNvSpPr/>
          <p:nvPr/>
        </p:nvSpPr>
        <p:spPr>
          <a:xfrm>
            <a:off x="6698928" y="2998736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5B20AC4D-AA4D-49BA-9DE0-5A213CB38933}"/>
              </a:ext>
            </a:extLst>
          </p:cNvPr>
          <p:cNvSpPr/>
          <p:nvPr/>
        </p:nvSpPr>
        <p:spPr>
          <a:xfrm>
            <a:off x="6585471" y="3052972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DF97157-99A5-4F2B-B9A7-9373B5D10B47}"/>
              </a:ext>
            </a:extLst>
          </p:cNvPr>
          <p:cNvSpPr/>
          <p:nvPr/>
        </p:nvSpPr>
        <p:spPr>
          <a:xfrm>
            <a:off x="6868450" y="3034736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3ADAD986-22F3-4CCA-A22C-6F0E36F5A588}"/>
              </a:ext>
            </a:extLst>
          </p:cNvPr>
          <p:cNvSpPr/>
          <p:nvPr/>
        </p:nvSpPr>
        <p:spPr>
          <a:xfrm>
            <a:off x="6995017" y="2966414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B7828A9-03FF-4FA1-857E-C807BD36A1FB}"/>
              </a:ext>
            </a:extLst>
          </p:cNvPr>
          <p:cNvSpPr/>
          <p:nvPr/>
        </p:nvSpPr>
        <p:spPr>
          <a:xfrm>
            <a:off x="6126212" y="2716734"/>
            <a:ext cx="95571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/>
              <a:t> Index blocks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E7CDCD4F-1C29-4459-8FBE-48AC1FFBA1E1}"/>
              </a:ext>
            </a:extLst>
          </p:cNvPr>
          <p:cNvSpPr/>
          <p:nvPr/>
        </p:nvSpPr>
        <p:spPr>
          <a:xfrm>
            <a:off x="2262180" y="5767607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3822DC5-3934-415C-8859-FBA872109841}"/>
              </a:ext>
            </a:extLst>
          </p:cNvPr>
          <p:cNvSpPr/>
          <p:nvPr/>
        </p:nvSpPr>
        <p:spPr>
          <a:xfrm>
            <a:off x="2129874" y="5769997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37642EA-672B-4804-8A2E-590A9583BF64}"/>
              </a:ext>
            </a:extLst>
          </p:cNvPr>
          <p:cNvSpPr/>
          <p:nvPr/>
        </p:nvSpPr>
        <p:spPr>
          <a:xfrm>
            <a:off x="2659100" y="5766059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BF9DC638-15B6-4CAB-9071-660D1AE79024}"/>
              </a:ext>
            </a:extLst>
          </p:cNvPr>
          <p:cNvSpPr/>
          <p:nvPr/>
        </p:nvSpPr>
        <p:spPr>
          <a:xfrm>
            <a:off x="2394487" y="5770590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545BA9C-E938-4E3A-8269-A26731E67C9E}"/>
              </a:ext>
            </a:extLst>
          </p:cNvPr>
          <p:cNvSpPr/>
          <p:nvPr/>
        </p:nvSpPr>
        <p:spPr>
          <a:xfrm>
            <a:off x="2022516" y="5694047"/>
            <a:ext cx="838953" cy="2160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01C03899-CFA6-451B-8192-0ABEC3402184}"/>
              </a:ext>
            </a:extLst>
          </p:cNvPr>
          <p:cNvSpPr/>
          <p:nvPr/>
        </p:nvSpPr>
        <p:spPr>
          <a:xfrm>
            <a:off x="3419425" y="5762916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ABB0BBC7-986B-4830-ACDF-6BBFF4E44396}"/>
              </a:ext>
            </a:extLst>
          </p:cNvPr>
          <p:cNvSpPr/>
          <p:nvPr/>
        </p:nvSpPr>
        <p:spPr>
          <a:xfrm>
            <a:off x="3287119" y="5765306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1E93EFBB-193C-4021-B0A2-5DD898179D35}"/>
              </a:ext>
            </a:extLst>
          </p:cNvPr>
          <p:cNvSpPr/>
          <p:nvPr/>
        </p:nvSpPr>
        <p:spPr>
          <a:xfrm>
            <a:off x="3816345" y="5761368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B73ED5E1-FC3B-44D9-AE8A-0755370D4751}"/>
              </a:ext>
            </a:extLst>
          </p:cNvPr>
          <p:cNvSpPr/>
          <p:nvPr/>
        </p:nvSpPr>
        <p:spPr>
          <a:xfrm>
            <a:off x="3551732" y="5765899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907010F-9F61-49C9-8D11-51CC01166B7E}"/>
              </a:ext>
            </a:extLst>
          </p:cNvPr>
          <p:cNvSpPr/>
          <p:nvPr/>
        </p:nvSpPr>
        <p:spPr>
          <a:xfrm>
            <a:off x="3179761" y="5689356"/>
            <a:ext cx="838953" cy="2160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B9F38A69-688C-42B0-B93D-54AD4DDABB3D}"/>
              </a:ext>
            </a:extLst>
          </p:cNvPr>
          <p:cNvSpPr/>
          <p:nvPr/>
        </p:nvSpPr>
        <p:spPr>
          <a:xfrm>
            <a:off x="6757007" y="4976547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4AACF6B-8375-4B7B-B1C0-6552B8B7A013}"/>
              </a:ext>
            </a:extLst>
          </p:cNvPr>
          <p:cNvSpPr/>
          <p:nvPr/>
        </p:nvSpPr>
        <p:spPr>
          <a:xfrm>
            <a:off x="6624701" y="4978937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AE8984E3-FE67-491A-9B03-925923068A5C}"/>
              </a:ext>
            </a:extLst>
          </p:cNvPr>
          <p:cNvSpPr/>
          <p:nvPr/>
        </p:nvSpPr>
        <p:spPr>
          <a:xfrm>
            <a:off x="7153927" y="4974999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2ED84D8F-E229-4562-B28A-667CE7928255}"/>
              </a:ext>
            </a:extLst>
          </p:cNvPr>
          <p:cNvSpPr/>
          <p:nvPr/>
        </p:nvSpPr>
        <p:spPr>
          <a:xfrm>
            <a:off x="6889314" y="4979530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C405C9B-B08F-423F-A2A7-60EB5633B37C}"/>
              </a:ext>
            </a:extLst>
          </p:cNvPr>
          <p:cNvSpPr/>
          <p:nvPr/>
        </p:nvSpPr>
        <p:spPr>
          <a:xfrm>
            <a:off x="6517343" y="4902987"/>
            <a:ext cx="838953" cy="2160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C65350BF-58AC-4AFB-83D6-D8B09FBAC718}"/>
              </a:ext>
            </a:extLst>
          </p:cNvPr>
          <p:cNvSpPr/>
          <p:nvPr/>
        </p:nvSpPr>
        <p:spPr>
          <a:xfrm>
            <a:off x="5546535" y="5765433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63293882-E1BD-4C4C-8BFE-62631E7589B0}"/>
              </a:ext>
            </a:extLst>
          </p:cNvPr>
          <p:cNvSpPr/>
          <p:nvPr/>
        </p:nvSpPr>
        <p:spPr>
          <a:xfrm>
            <a:off x="5414229" y="5767823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549AD69E-DD79-48D7-9E71-98B777FDB7FE}"/>
              </a:ext>
            </a:extLst>
          </p:cNvPr>
          <p:cNvSpPr/>
          <p:nvPr/>
        </p:nvSpPr>
        <p:spPr>
          <a:xfrm>
            <a:off x="5943455" y="5763885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EA50D8D4-CFCC-4C70-8529-B1421F38E886}"/>
              </a:ext>
            </a:extLst>
          </p:cNvPr>
          <p:cNvSpPr/>
          <p:nvPr/>
        </p:nvSpPr>
        <p:spPr>
          <a:xfrm>
            <a:off x="5678842" y="5768416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4F1E003-4410-4E59-88A8-52D1268F7389}"/>
              </a:ext>
            </a:extLst>
          </p:cNvPr>
          <p:cNvSpPr/>
          <p:nvPr/>
        </p:nvSpPr>
        <p:spPr>
          <a:xfrm>
            <a:off x="5306871" y="5691873"/>
            <a:ext cx="838953" cy="2160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F8134FB9-E41C-4823-8B3D-9A3F2D02BB0A}"/>
              </a:ext>
            </a:extLst>
          </p:cNvPr>
          <p:cNvSpPr/>
          <p:nvPr/>
        </p:nvSpPr>
        <p:spPr>
          <a:xfrm>
            <a:off x="3971394" y="4976547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C92ED961-CF2F-4F4B-8439-6540091196DE}"/>
              </a:ext>
            </a:extLst>
          </p:cNvPr>
          <p:cNvSpPr/>
          <p:nvPr/>
        </p:nvSpPr>
        <p:spPr>
          <a:xfrm>
            <a:off x="3839088" y="4978937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E1632573-CABE-4982-9416-8D6AC34A28D0}"/>
              </a:ext>
            </a:extLst>
          </p:cNvPr>
          <p:cNvSpPr/>
          <p:nvPr/>
        </p:nvSpPr>
        <p:spPr>
          <a:xfrm>
            <a:off x="4368314" y="4974999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9230F896-2F14-4153-A0A7-C650B3966A1F}"/>
              </a:ext>
            </a:extLst>
          </p:cNvPr>
          <p:cNvSpPr/>
          <p:nvPr/>
        </p:nvSpPr>
        <p:spPr>
          <a:xfrm>
            <a:off x="4103701" y="4979530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7E2C224-49CC-4CD0-AB1C-5942F85FFDD2}"/>
              </a:ext>
            </a:extLst>
          </p:cNvPr>
          <p:cNvSpPr/>
          <p:nvPr/>
        </p:nvSpPr>
        <p:spPr>
          <a:xfrm>
            <a:off x="3731730" y="4902987"/>
            <a:ext cx="838953" cy="2160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DE8FF69A-716E-437A-8983-4BC7C46F0AD5}"/>
              </a:ext>
            </a:extLst>
          </p:cNvPr>
          <p:cNvSpPr/>
          <p:nvPr/>
        </p:nvSpPr>
        <p:spPr>
          <a:xfrm>
            <a:off x="2999949" y="4988014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3487D9D0-5D65-40CA-8317-D2024A3D5B39}"/>
              </a:ext>
            </a:extLst>
          </p:cNvPr>
          <p:cNvSpPr/>
          <p:nvPr/>
        </p:nvSpPr>
        <p:spPr>
          <a:xfrm>
            <a:off x="2867643" y="4990404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83B2431D-CB8D-4AFC-8321-1F345D4E71E3}"/>
              </a:ext>
            </a:extLst>
          </p:cNvPr>
          <p:cNvSpPr/>
          <p:nvPr/>
        </p:nvSpPr>
        <p:spPr>
          <a:xfrm>
            <a:off x="3396869" y="4986466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A7F5BCE2-C77F-4DA1-AC07-3999A6A1A3CA}"/>
              </a:ext>
            </a:extLst>
          </p:cNvPr>
          <p:cNvSpPr/>
          <p:nvPr/>
        </p:nvSpPr>
        <p:spPr>
          <a:xfrm>
            <a:off x="3132256" y="4990997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97F4C36-6FD7-404E-A418-EBBF395DD290}"/>
              </a:ext>
            </a:extLst>
          </p:cNvPr>
          <p:cNvSpPr/>
          <p:nvPr/>
        </p:nvSpPr>
        <p:spPr>
          <a:xfrm>
            <a:off x="2760285" y="4914454"/>
            <a:ext cx="838953" cy="2160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7F6C089-D932-4CAE-94B7-CABBEFAC5462}"/>
              </a:ext>
            </a:extLst>
          </p:cNvPr>
          <p:cNvSpPr/>
          <p:nvPr/>
        </p:nvSpPr>
        <p:spPr>
          <a:xfrm>
            <a:off x="4528646" y="5762916"/>
            <a:ext cx="72000" cy="7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997314A8-7AA0-480C-9A02-11A02230EDF8}"/>
              </a:ext>
            </a:extLst>
          </p:cNvPr>
          <p:cNvSpPr/>
          <p:nvPr/>
        </p:nvSpPr>
        <p:spPr>
          <a:xfrm>
            <a:off x="4396340" y="5765306"/>
            <a:ext cx="72000" cy="7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2EE83C83-72AC-487B-A2AF-4F65DC3AFD06}"/>
              </a:ext>
            </a:extLst>
          </p:cNvPr>
          <p:cNvSpPr/>
          <p:nvPr/>
        </p:nvSpPr>
        <p:spPr>
          <a:xfrm>
            <a:off x="4925566" y="5761368"/>
            <a:ext cx="72000" cy="7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7F157E8B-A283-4823-9514-D120373321E7}"/>
              </a:ext>
            </a:extLst>
          </p:cNvPr>
          <p:cNvSpPr/>
          <p:nvPr/>
        </p:nvSpPr>
        <p:spPr>
          <a:xfrm>
            <a:off x="4660953" y="5765899"/>
            <a:ext cx="72000" cy="7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5CF13A1-CD08-40D7-8074-B9BE319211CF}"/>
              </a:ext>
            </a:extLst>
          </p:cNvPr>
          <p:cNvSpPr/>
          <p:nvPr/>
        </p:nvSpPr>
        <p:spPr>
          <a:xfrm>
            <a:off x="4288982" y="5689356"/>
            <a:ext cx="838953" cy="2160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63BEF7C2-6E06-4B9E-A4A4-28FD88441E0A}"/>
              </a:ext>
            </a:extLst>
          </p:cNvPr>
          <p:cNvSpPr/>
          <p:nvPr/>
        </p:nvSpPr>
        <p:spPr>
          <a:xfrm>
            <a:off x="6515204" y="5760866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61A90C3B-F406-4998-AD0F-E7FE3394CBE1}"/>
              </a:ext>
            </a:extLst>
          </p:cNvPr>
          <p:cNvSpPr/>
          <p:nvPr/>
        </p:nvSpPr>
        <p:spPr>
          <a:xfrm>
            <a:off x="6382898" y="5763256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21E87664-7EDB-4C85-9403-8B22D8243557}"/>
              </a:ext>
            </a:extLst>
          </p:cNvPr>
          <p:cNvSpPr/>
          <p:nvPr/>
        </p:nvSpPr>
        <p:spPr>
          <a:xfrm>
            <a:off x="6912124" y="5759318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A22C64DD-C0F1-40DF-B959-F87E975F6673}"/>
              </a:ext>
            </a:extLst>
          </p:cNvPr>
          <p:cNvSpPr/>
          <p:nvPr/>
        </p:nvSpPr>
        <p:spPr>
          <a:xfrm>
            <a:off x="6647511" y="5763849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79F593B-821A-418F-B3E1-720AD4513BF2}"/>
              </a:ext>
            </a:extLst>
          </p:cNvPr>
          <p:cNvSpPr/>
          <p:nvPr/>
        </p:nvSpPr>
        <p:spPr>
          <a:xfrm>
            <a:off x="6275540" y="5687306"/>
            <a:ext cx="838953" cy="2160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23605174-BF44-4D02-8F6A-195655B17861}"/>
              </a:ext>
            </a:extLst>
          </p:cNvPr>
          <p:cNvSpPr/>
          <p:nvPr/>
        </p:nvSpPr>
        <p:spPr>
          <a:xfrm>
            <a:off x="3510299" y="4310224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E0DB501F-BACE-4E5D-B36B-B4B5EF944BF8}"/>
              </a:ext>
            </a:extLst>
          </p:cNvPr>
          <p:cNvSpPr/>
          <p:nvPr/>
        </p:nvSpPr>
        <p:spPr>
          <a:xfrm>
            <a:off x="3377993" y="4312614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549A4EC-35B5-4301-AE80-DADFFDAE4247}"/>
              </a:ext>
            </a:extLst>
          </p:cNvPr>
          <p:cNvSpPr/>
          <p:nvPr/>
        </p:nvSpPr>
        <p:spPr>
          <a:xfrm>
            <a:off x="3907219" y="4308676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84CB166C-04AC-42AE-A398-DF035836F841}"/>
              </a:ext>
            </a:extLst>
          </p:cNvPr>
          <p:cNvSpPr/>
          <p:nvPr/>
        </p:nvSpPr>
        <p:spPr>
          <a:xfrm>
            <a:off x="3642606" y="4313207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A31B0270-E25B-46EA-B23F-9C2F7E5640AA}"/>
              </a:ext>
            </a:extLst>
          </p:cNvPr>
          <p:cNvSpPr/>
          <p:nvPr/>
        </p:nvSpPr>
        <p:spPr>
          <a:xfrm>
            <a:off x="3270635" y="4236664"/>
            <a:ext cx="838953" cy="2160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6CD0C1FA-B117-4B70-A96C-7E0CF906EFEC}"/>
              </a:ext>
            </a:extLst>
          </p:cNvPr>
          <p:cNvSpPr/>
          <p:nvPr/>
        </p:nvSpPr>
        <p:spPr>
          <a:xfrm>
            <a:off x="4996437" y="4973516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380C6075-04FD-4B5E-A6E5-AD32606A69F1}"/>
              </a:ext>
            </a:extLst>
          </p:cNvPr>
          <p:cNvSpPr/>
          <p:nvPr/>
        </p:nvSpPr>
        <p:spPr>
          <a:xfrm>
            <a:off x="4864131" y="4975906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0B61816A-1A3B-4CE1-8F2B-6FC3D0111A0C}"/>
              </a:ext>
            </a:extLst>
          </p:cNvPr>
          <p:cNvSpPr/>
          <p:nvPr/>
        </p:nvSpPr>
        <p:spPr>
          <a:xfrm>
            <a:off x="5393357" y="4971968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E53482BC-D8D3-4B94-878A-D48A9AC657C3}"/>
              </a:ext>
            </a:extLst>
          </p:cNvPr>
          <p:cNvSpPr/>
          <p:nvPr/>
        </p:nvSpPr>
        <p:spPr>
          <a:xfrm>
            <a:off x="5128744" y="4976499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5A5F60A2-60B8-42BF-9161-3596A94B31A9}"/>
              </a:ext>
            </a:extLst>
          </p:cNvPr>
          <p:cNvSpPr/>
          <p:nvPr/>
        </p:nvSpPr>
        <p:spPr>
          <a:xfrm>
            <a:off x="4756773" y="4899956"/>
            <a:ext cx="838953" cy="2160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49356CAE-0807-47DA-A5ED-69E69FC296B4}"/>
              </a:ext>
            </a:extLst>
          </p:cNvPr>
          <p:cNvSpPr/>
          <p:nvPr/>
        </p:nvSpPr>
        <p:spPr>
          <a:xfrm>
            <a:off x="6477658" y="2252300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E40524CF-2820-422E-9AE7-3E0291F3343A}"/>
              </a:ext>
            </a:extLst>
          </p:cNvPr>
          <p:cNvSpPr/>
          <p:nvPr/>
        </p:nvSpPr>
        <p:spPr>
          <a:xfrm>
            <a:off x="6345352" y="2254690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43BDCAF5-483A-451F-B5B9-7351E30DBF72}"/>
              </a:ext>
            </a:extLst>
          </p:cNvPr>
          <p:cNvSpPr/>
          <p:nvPr/>
        </p:nvSpPr>
        <p:spPr>
          <a:xfrm>
            <a:off x="6874578" y="2250752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B64DE2C7-A9AE-43B5-B4F8-099A43B74D1E}"/>
              </a:ext>
            </a:extLst>
          </p:cNvPr>
          <p:cNvSpPr/>
          <p:nvPr/>
        </p:nvSpPr>
        <p:spPr>
          <a:xfrm>
            <a:off x="6609965" y="2255283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479272B7-5452-4BA2-89E4-881FE7CF1290}"/>
              </a:ext>
            </a:extLst>
          </p:cNvPr>
          <p:cNvSpPr/>
          <p:nvPr/>
        </p:nvSpPr>
        <p:spPr>
          <a:xfrm>
            <a:off x="6237994" y="2178740"/>
            <a:ext cx="838953" cy="2160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9EF2CD07-2ADA-4F2C-BA1A-9BA0886B7ADF}"/>
              </a:ext>
            </a:extLst>
          </p:cNvPr>
          <p:cNvSpPr/>
          <p:nvPr/>
        </p:nvSpPr>
        <p:spPr>
          <a:xfrm>
            <a:off x="6477658" y="2539867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9CB95503-A874-47BC-ADBD-2631049533C8}"/>
              </a:ext>
            </a:extLst>
          </p:cNvPr>
          <p:cNvSpPr/>
          <p:nvPr/>
        </p:nvSpPr>
        <p:spPr>
          <a:xfrm>
            <a:off x="6345352" y="2542257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8ECF0078-51C0-429B-9649-25C493CCC0CA}"/>
              </a:ext>
            </a:extLst>
          </p:cNvPr>
          <p:cNvSpPr/>
          <p:nvPr/>
        </p:nvSpPr>
        <p:spPr>
          <a:xfrm>
            <a:off x="6874578" y="2538319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31E9DD37-05A1-4FF2-AE95-2BD82E51754F}"/>
              </a:ext>
            </a:extLst>
          </p:cNvPr>
          <p:cNvSpPr/>
          <p:nvPr/>
        </p:nvSpPr>
        <p:spPr>
          <a:xfrm>
            <a:off x="6609965" y="2542850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7861DCD8-4114-4B76-9C5C-224278B2EA75}"/>
              </a:ext>
            </a:extLst>
          </p:cNvPr>
          <p:cNvSpPr/>
          <p:nvPr/>
        </p:nvSpPr>
        <p:spPr>
          <a:xfrm>
            <a:off x="6237994" y="2466307"/>
            <a:ext cx="838953" cy="2160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위쪽/아래쪽 화살표 16">
            <a:extLst>
              <a:ext uri="{FF2B5EF4-FFF2-40B4-BE49-F238E27FC236}">
                <a16:creationId xmlns:a16="http://schemas.microsoft.com/office/drawing/2014/main" id="{B3F8D396-5B20-46B4-8BE7-BFE71AFF616A}"/>
              </a:ext>
            </a:extLst>
          </p:cNvPr>
          <p:cNvSpPr/>
          <p:nvPr/>
        </p:nvSpPr>
        <p:spPr>
          <a:xfrm>
            <a:off x="2659100" y="3172096"/>
            <a:ext cx="167130" cy="648072"/>
          </a:xfrm>
          <a:prstGeom prst="up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DBCCF54C-26E1-4525-BA3D-DF43444BBAE0}"/>
              </a:ext>
            </a:extLst>
          </p:cNvPr>
          <p:cNvSpPr/>
          <p:nvPr/>
        </p:nvSpPr>
        <p:spPr>
          <a:xfrm>
            <a:off x="125754" y="4792404"/>
            <a:ext cx="1071091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Hard Disk</a:t>
            </a:r>
          </a:p>
          <a:p>
            <a:pPr algn="ctr"/>
            <a:r>
              <a:rPr lang="en-US" altLang="ko-KR" sz="1200" dirty="0"/>
              <a:t>TB</a:t>
            </a:r>
            <a:r>
              <a:rPr lang="ko-KR" altLang="en-US" sz="1200" dirty="0"/>
              <a:t>단위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1ms-10ms</a:t>
            </a:r>
            <a:endParaRPr lang="ko-KR" altLang="en-US" sz="1200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5CF1FE0-96D2-4224-A91E-12B81C28E7DF}"/>
              </a:ext>
            </a:extLst>
          </p:cNvPr>
          <p:cNvSpPr/>
          <p:nvPr/>
        </p:nvSpPr>
        <p:spPr>
          <a:xfrm>
            <a:off x="125755" y="2146982"/>
            <a:ext cx="1071127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altLang="ko-KR" dirty="0"/>
              <a:t>memory</a:t>
            </a:r>
          </a:p>
          <a:p>
            <a:pPr algn="ctr"/>
            <a:r>
              <a:rPr lang="en-US" altLang="ko-KR" sz="1200" dirty="0"/>
              <a:t>GB</a:t>
            </a:r>
            <a:r>
              <a:rPr lang="ko-KR" altLang="en-US" sz="1200" dirty="0"/>
              <a:t>단위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70ns-100ns</a:t>
            </a:r>
            <a:endParaRPr lang="ko-KR" altLang="en-US" sz="1200" dirty="0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74306B13-17A3-4756-B21F-402C41F2FBA7}"/>
              </a:ext>
            </a:extLst>
          </p:cNvPr>
          <p:cNvSpPr/>
          <p:nvPr/>
        </p:nvSpPr>
        <p:spPr>
          <a:xfrm>
            <a:off x="125754" y="3231765"/>
            <a:ext cx="1071127" cy="10464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SSD</a:t>
            </a:r>
          </a:p>
          <a:p>
            <a:pPr algn="ctr"/>
            <a:r>
              <a:rPr lang="en-US" altLang="ko-KR" sz="1200" dirty="0"/>
              <a:t>GB</a:t>
            </a:r>
            <a:r>
              <a:rPr lang="ko-KR" altLang="en-US" sz="1200" dirty="0"/>
              <a:t>단위</a:t>
            </a:r>
            <a:endParaRPr lang="en-US" altLang="ko-KR" sz="1200" dirty="0"/>
          </a:p>
          <a:p>
            <a:pPr algn="ctr"/>
            <a:r>
              <a:rPr lang="en-US" altLang="ko-KR" sz="1200" dirty="0"/>
              <a:t>7</a:t>
            </a:r>
            <a:r>
              <a:rPr lang="el-GR" altLang="ko-KR" sz="1200" dirty="0"/>
              <a:t>μ</a:t>
            </a:r>
            <a:r>
              <a:rPr lang="en-US" altLang="ko-KR" sz="1200" dirty="0"/>
              <a:t>s-150</a:t>
            </a:r>
            <a:r>
              <a:rPr lang="el-GR" altLang="ko-KR" sz="1200" dirty="0"/>
              <a:t> μ</a:t>
            </a:r>
            <a:r>
              <a:rPr lang="en-US" altLang="ko-KR" sz="1200" dirty="0"/>
              <a:t>s</a:t>
            </a:r>
          </a:p>
          <a:p>
            <a:pPr algn="ctr"/>
            <a:r>
              <a:rPr lang="en-US" altLang="ko-KR" sz="1000" dirty="0"/>
              <a:t>HDD</a:t>
            </a:r>
            <a:r>
              <a:rPr lang="ko-KR" altLang="en-US" sz="1000" dirty="0"/>
              <a:t>보다 </a:t>
            </a:r>
            <a:r>
              <a:rPr lang="en-US" altLang="ko-KR" sz="1000" dirty="0"/>
              <a:t>10</a:t>
            </a:r>
            <a:r>
              <a:rPr lang="ko-KR" altLang="en-US" sz="1000" dirty="0"/>
              <a:t>배정도 빠름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117B18EA-1152-41E2-AE1E-91BD7FA32DC7}"/>
              </a:ext>
            </a:extLst>
          </p:cNvPr>
          <p:cNvSpPr/>
          <p:nvPr/>
        </p:nvSpPr>
        <p:spPr>
          <a:xfrm>
            <a:off x="196848" y="6549482"/>
            <a:ext cx="695483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㈜ </a:t>
            </a:r>
            <a:r>
              <a:rPr lang="en-US" altLang="ko-KR" sz="1000" dirty="0"/>
              <a:t>https://www.formulusblack.com/blog/compute-performance-distance-of-data-as-a-measure-of-latency/</a:t>
            </a:r>
            <a:endParaRPr lang="ko-KR" altLang="en-US" sz="100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7118219" y="2145063"/>
            <a:ext cx="10774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/>
              <a:t>Book</a:t>
            </a:r>
            <a:r>
              <a:rPr lang="ko-KR" altLang="en-US" sz="1600"/>
              <a:t> </a:t>
            </a:r>
            <a:endParaRPr lang="en-US" altLang="ko-KR" sz="1600"/>
          </a:p>
          <a:p>
            <a:r>
              <a:rPr lang="en-US" altLang="ko-KR" sz="1600"/>
              <a:t>Customer</a:t>
            </a:r>
            <a:endParaRPr lang="en-US" altLang="ko-KR" sz="1600" dirty="0"/>
          </a:p>
        </p:txBody>
      </p:sp>
      <p:sp>
        <p:nvSpPr>
          <p:cNvPr id="99" name="제목 1">
            <a:extLst>
              <a:ext uri="{FF2B5EF4-FFF2-40B4-BE49-F238E27FC236}">
                <a16:creationId xmlns:a16="http://schemas.microsoft.com/office/drawing/2014/main" id="{514510BA-6A8D-4547-8EEA-CC29FA963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/>
          <a:p>
            <a:r>
              <a:rPr lang="en-US" altLang="ko-KR" sz="2800" dirty="0">
                <a:latin typeface="HY견고딕" pitchFamily="18" charset="-127"/>
                <a:ea typeface="HY견고딕" pitchFamily="18" charset="-127"/>
              </a:rPr>
              <a:t>2. </a:t>
            </a:r>
            <a:r>
              <a:rPr lang="ko-KR" altLang="en-US" sz="2800" dirty="0">
                <a:latin typeface="HY견고딕" pitchFamily="18" charset="-127"/>
                <a:ea typeface="HY견고딕" pitchFamily="18" charset="-127"/>
              </a:rPr>
              <a:t>인덱스와 </a:t>
            </a:r>
            <a:r>
              <a:rPr lang="en-US" altLang="ko-KR" sz="2800" dirty="0">
                <a:latin typeface="HY견고딕" pitchFamily="18" charset="-127"/>
                <a:ea typeface="HY견고딕" pitchFamily="18" charset="-127"/>
              </a:rPr>
              <a:t>B-tree</a:t>
            </a:r>
            <a:endParaRPr lang="ko-KR" altLang="en-US" sz="2800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1447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D52EF62C-D0B0-4C97-87B3-85F60AD212B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0206" y="1124744"/>
            <a:ext cx="8208912" cy="5400600"/>
          </a:xfrm>
        </p:spPr>
        <p:txBody>
          <a:bodyPr/>
          <a:lstStyle/>
          <a:p>
            <a:pPr defTabSz="914400" eaLnBrk="0" fontAlgn="base" hangingPunct="0">
              <a:spcAft>
                <a:spcPct val="0"/>
              </a:spcAft>
              <a:buClr>
                <a:srgbClr val="008000"/>
              </a:buClr>
            </a:pPr>
            <a:r>
              <a:rPr lang="ko-KR" altLang="en-US" dirty="0">
                <a:solidFill>
                  <a:prstClr val="black"/>
                </a:solidFill>
              </a:rPr>
              <a:t>인덱스의 </a:t>
            </a:r>
            <a:r>
              <a:rPr lang="ko-KR" altLang="en-US">
                <a:solidFill>
                  <a:prstClr val="black"/>
                </a:solidFill>
              </a:rPr>
              <a:t>필요성 </a:t>
            </a:r>
            <a:r>
              <a:rPr lang="en-US" altLang="ko-KR"/>
              <a:t>memory</a:t>
            </a:r>
            <a:r>
              <a:rPr lang="ko-KR" altLang="en-US"/>
              <a:t>와</a:t>
            </a:r>
            <a:r>
              <a:rPr lang="en-US" altLang="ko-KR"/>
              <a:t> disk</a:t>
            </a:r>
            <a:br>
              <a:rPr lang="en-US" altLang="ko-KR" dirty="0">
                <a:solidFill>
                  <a:prstClr val="black"/>
                </a:solidFill>
              </a:rPr>
            </a:br>
            <a:endParaRPr lang="en-US" altLang="ko-KR" sz="1200" dirty="0">
              <a:solidFill>
                <a:prstClr val="black"/>
              </a:solidFill>
            </a:endParaRPr>
          </a:p>
          <a:p>
            <a:pPr algn="just"/>
            <a:endParaRPr lang="en-US" altLang="ko-KR" dirty="0">
              <a:latin typeface="+mn-ea"/>
            </a:endParaRPr>
          </a:p>
          <a:p>
            <a:pPr algn="just"/>
            <a:endParaRPr lang="en-US" altLang="ko-KR" dirty="0"/>
          </a:p>
          <a:p>
            <a:pPr algn="just"/>
            <a:endParaRPr lang="en-US" altLang="ko-KR" dirty="0">
              <a:latin typeface="+mn-ea"/>
            </a:endParaRPr>
          </a:p>
          <a:p>
            <a:pPr algn="just"/>
            <a:endParaRPr lang="en-US" altLang="ko-KR" dirty="0"/>
          </a:p>
          <a:p>
            <a:pPr algn="just"/>
            <a:endParaRPr lang="en-US" altLang="ko-KR" dirty="0">
              <a:latin typeface="+mn-ea"/>
            </a:endParaRPr>
          </a:p>
          <a:p>
            <a:pPr algn="just"/>
            <a:endParaRPr lang="en-US" altLang="ko-KR" dirty="0"/>
          </a:p>
          <a:p>
            <a:pPr algn="just"/>
            <a:endParaRPr lang="en-US" altLang="ko-KR" dirty="0">
              <a:latin typeface="+mn-ea"/>
            </a:endParaRPr>
          </a:p>
          <a:p>
            <a:pPr algn="just"/>
            <a:endParaRPr lang="en-US" altLang="ko-KR" dirty="0"/>
          </a:p>
          <a:p>
            <a:pPr algn="just"/>
            <a:endParaRPr lang="en-US" altLang="ko-KR" dirty="0">
              <a:latin typeface="+mn-ea"/>
            </a:endParaRPr>
          </a:p>
          <a:p>
            <a:pPr algn="just"/>
            <a:endParaRPr lang="en-US" altLang="ko-KR" dirty="0"/>
          </a:p>
          <a:p>
            <a:pPr algn="just"/>
            <a:endParaRPr lang="en-US" altLang="ko-KR" dirty="0">
              <a:latin typeface="+mn-ea"/>
            </a:endParaRPr>
          </a:p>
          <a:p>
            <a:pPr lvl="1" algn="just"/>
            <a:endParaRPr lang="ko-KR" altLang="en-US" dirty="0">
              <a:latin typeface="+mn-ea"/>
            </a:endParaRPr>
          </a:p>
        </p:txBody>
      </p: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E7C28046-67A7-42DE-B5E2-934C78B3EDDD}"/>
              </a:ext>
            </a:extLst>
          </p:cNvPr>
          <p:cNvCxnSpPr/>
          <p:nvPr/>
        </p:nvCxnSpPr>
        <p:spPr>
          <a:xfrm>
            <a:off x="1331640" y="3789041"/>
            <a:ext cx="6367933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모서리가 둥근 직사각형 3">
            <a:extLst>
              <a:ext uri="{FF2B5EF4-FFF2-40B4-BE49-F238E27FC236}">
                <a16:creationId xmlns:a16="http://schemas.microsoft.com/office/drawing/2014/main" id="{EE71A7B1-43F4-4020-B954-2817F451EFD1}"/>
              </a:ext>
            </a:extLst>
          </p:cNvPr>
          <p:cNvSpPr/>
          <p:nvPr/>
        </p:nvSpPr>
        <p:spPr>
          <a:xfrm>
            <a:off x="1331639" y="2238038"/>
            <a:ext cx="2733770" cy="1188877"/>
          </a:xfrm>
          <a:prstGeom prst="round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6" name="모서리가 둥근 직사각형 8">
            <a:extLst>
              <a:ext uri="{FF2B5EF4-FFF2-40B4-BE49-F238E27FC236}">
                <a16:creationId xmlns:a16="http://schemas.microsoft.com/office/drawing/2014/main" id="{6F804945-B840-4D73-A4BA-18777A76280D}"/>
              </a:ext>
            </a:extLst>
          </p:cNvPr>
          <p:cNvSpPr/>
          <p:nvPr/>
        </p:nvSpPr>
        <p:spPr>
          <a:xfrm>
            <a:off x="1331639" y="4267695"/>
            <a:ext cx="6367933" cy="2329657"/>
          </a:xfrm>
          <a:prstGeom prst="round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7" name="타원 196">
            <a:extLst>
              <a:ext uri="{FF2B5EF4-FFF2-40B4-BE49-F238E27FC236}">
                <a16:creationId xmlns:a16="http://schemas.microsoft.com/office/drawing/2014/main" id="{3D98AC6D-FD12-4B31-8058-6E19F96068EA}"/>
              </a:ext>
            </a:extLst>
          </p:cNvPr>
          <p:cNvSpPr/>
          <p:nvPr/>
        </p:nvSpPr>
        <p:spPr>
          <a:xfrm>
            <a:off x="2053638" y="5320262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8" name="타원 197">
            <a:extLst>
              <a:ext uri="{FF2B5EF4-FFF2-40B4-BE49-F238E27FC236}">
                <a16:creationId xmlns:a16="http://schemas.microsoft.com/office/drawing/2014/main" id="{791C744F-7BBC-4131-AC9E-13AF3599D3E2}"/>
              </a:ext>
            </a:extLst>
          </p:cNvPr>
          <p:cNvSpPr/>
          <p:nvPr/>
        </p:nvSpPr>
        <p:spPr>
          <a:xfrm>
            <a:off x="1921332" y="5322652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타원 198">
            <a:extLst>
              <a:ext uri="{FF2B5EF4-FFF2-40B4-BE49-F238E27FC236}">
                <a16:creationId xmlns:a16="http://schemas.microsoft.com/office/drawing/2014/main" id="{62278662-609D-4D25-AE6E-70DB2EB631DE}"/>
              </a:ext>
            </a:extLst>
          </p:cNvPr>
          <p:cNvSpPr/>
          <p:nvPr/>
        </p:nvSpPr>
        <p:spPr>
          <a:xfrm>
            <a:off x="2450558" y="5318714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5099FAA4-BC53-48CA-90EB-225490DBDE23}"/>
              </a:ext>
            </a:extLst>
          </p:cNvPr>
          <p:cNvSpPr/>
          <p:nvPr/>
        </p:nvSpPr>
        <p:spPr>
          <a:xfrm>
            <a:off x="2185945" y="5323245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FB19C8A6-3935-4FA7-82B7-31B12D3337C3}"/>
              </a:ext>
            </a:extLst>
          </p:cNvPr>
          <p:cNvSpPr/>
          <p:nvPr/>
        </p:nvSpPr>
        <p:spPr>
          <a:xfrm>
            <a:off x="1813974" y="5246702"/>
            <a:ext cx="838953" cy="21602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36D36DB3-BC3A-4D09-B0CB-7EE8FD6DBF3D}"/>
              </a:ext>
            </a:extLst>
          </p:cNvPr>
          <p:cNvSpPr/>
          <p:nvPr/>
        </p:nvSpPr>
        <p:spPr>
          <a:xfrm>
            <a:off x="2229239" y="4586362"/>
            <a:ext cx="838953" cy="21602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3" name="타원 202">
            <a:extLst>
              <a:ext uri="{FF2B5EF4-FFF2-40B4-BE49-F238E27FC236}">
                <a16:creationId xmlns:a16="http://schemas.microsoft.com/office/drawing/2014/main" id="{2491E8A4-681E-4581-8AD4-B97E428CAD32}"/>
              </a:ext>
            </a:extLst>
          </p:cNvPr>
          <p:cNvSpPr/>
          <p:nvPr/>
        </p:nvSpPr>
        <p:spPr>
          <a:xfrm>
            <a:off x="2289527" y="4633014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" name="타원 203">
            <a:extLst>
              <a:ext uri="{FF2B5EF4-FFF2-40B4-BE49-F238E27FC236}">
                <a16:creationId xmlns:a16="http://schemas.microsoft.com/office/drawing/2014/main" id="{CCD82B70-4E06-4676-956A-FD7BA0297411}"/>
              </a:ext>
            </a:extLst>
          </p:cNvPr>
          <p:cNvSpPr/>
          <p:nvPr/>
        </p:nvSpPr>
        <p:spPr>
          <a:xfrm>
            <a:off x="2449783" y="4615122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" name="타원 204">
            <a:extLst>
              <a:ext uri="{FF2B5EF4-FFF2-40B4-BE49-F238E27FC236}">
                <a16:creationId xmlns:a16="http://schemas.microsoft.com/office/drawing/2014/main" id="{5EEBC1F6-AF66-40FD-8BED-6C1ECD0427D5}"/>
              </a:ext>
            </a:extLst>
          </p:cNvPr>
          <p:cNvSpPr/>
          <p:nvPr/>
        </p:nvSpPr>
        <p:spPr>
          <a:xfrm>
            <a:off x="2677427" y="4633014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타원 205">
            <a:extLst>
              <a:ext uri="{FF2B5EF4-FFF2-40B4-BE49-F238E27FC236}">
                <a16:creationId xmlns:a16="http://schemas.microsoft.com/office/drawing/2014/main" id="{B18E5806-2EFE-4278-B777-2234F78FE78E}"/>
              </a:ext>
            </a:extLst>
          </p:cNvPr>
          <p:cNvSpPr/>
          <p:nvPr/>
        </p:nvSpPr>
        <p:spPr>
          <a:xfrm>
            <a:off x="2563970" y="4687250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095946B6-FA64-4D4A-ABF1-6F94185B6F40}"/>
              </a:ext>
            </a:extLst>
          </p:cNvPr>
          <p:cNvSpPr/>
          <p:nvPr/>
        </p:nvSpPr>
        <p:spPr>
          <a:xfrm>
            <a:off x="2846949" y="4669014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" name="타원 207">
            <a:extLst>
              <a:ext uri="{FF2B5EF4-FFF2-40B4-BE49-F238E27FC236}">
                <a16:creationId xmlns:a16="http://schemas.microsoft.com/office/drawing/2014/main" id="{CB593AF3-800E-4CC8-A177-86FEDBAA9014}"/>
              </a:ext>
            </a:extLst>
          </p:cNvPr>
          <p:cNvSpPr/>
          <p:nvPr/>
        </p:nvSpPr>
        <p:spPr>
          <a:xfrm>
            <a:off x="2990725" y="4599314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271463AF-36DE-424E-9C10-3D410E635B94}"/>
              </a:ext>
            </a:extLst>
          </p:cNvPr>
          <p:cNvSpPr/>
          <p:nvPr/>
        </p:nvSpPr>
        <p:spPr>
          <a:xfrm>
            <a:off x="2140321" y="4351030"/>
            <a:ext cx="4956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/>
              <a:t>index</a:t>
            </a: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B627367B-821F-415A-AE61-437198377BBB}"/>
              </a:ext>
            </a:extLst>
          </p:cNvPr>
          <p:cNvSpPr/>
          <p:nvPr/>
        </p:nvSpPr>
        <p:spPr>
          <a:xfrm>
            <a:off x="1691131" y="4998942"/>
            <a:ext cx="79701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/>
              <a:t>data block</a:t>
            </a: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C135B649-9C39-44E5-9538-A43E9267EA23}"/>
              </a:ext>
            </a:extLst>
          </p:cNvPr>
          <p:cNvSpPr/>
          <p:nvPr/>
        </p:nvSpPr>
        <p:spPr>
          <a:xfrm>
            <a:off x="4196128" y="5770807"/>
            <a:ext cx="79701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/>
              <a:t>data block</a:t>
            </a: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BEEBEF7E-2DBA-4D56-AD82-1F8566CE3EEA}"/>
              </a:ext>
            </a:extLst>
          </p:cNvPr>
          <p:cNvSpPr/>
          <p:nvPr/>
        </p:nvSpPr>
        <p:spPr>
          <a:xfrm>
            <a:off x="405671" y="5117559"/>
            <a:ext cx="663963" cy="553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altLang="ko-KR" dirty="0"/>
              <a:t>Disk</a:t>
            </a:r>
          </a:p>
          <a:p>
            <a:pPr algn="ctr"/>
            <a:r>
              <a:rPr lang="en-US" altLang="ko-KR" sz="1200" dirty="0"/>
              <a:t>TB</a:t>
            </a:r>
            <a:r>
              <a:rPr lang="ko-KR" altLang="en-US" sz="1200" dirty="0"/>
              <a:t>단위</a:t>
            </a: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836442F0-9501-45E8-A317-A2E932BC9E03}"/>
              </a:ext>
            </a:extLst>
          </p:cNvPr>
          <p:cNvSpPr/>
          <p:nvPr/>
        </p:nvSpPr>
        <p:spPr>
          <a:xfrm>
            <a:off x="154803" y="2263297"/>
            <a:ext cx="1058688" cy="553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altLang="ko-KR" dirty="0"/>
              <a:t>memory</a:t>
            </a:r>
          </a:p>
          <a:p>
            <a:pPr algn="ctr"/>
            <a:r>
              <a:rPr lang="en-US" altLang="ko-KR" sz="1200" dirty="0"/>
              <a:t>GB</a:t>
            </a:r>
            <a:r>
              <a:rPr lang="ko-KR" altLang="en-US" sz="1200" dirty="0"/>
              <a:t>단위</a:t>
            </a:r>
          </a:p>
        </p:txBody>
      </p:sp>
      <p:sp>
        <p:nvSpPr>
          <p:cNvPr id="214" name="타원 213">
            <a:extLst>
              <a:ext uri="{FF2B5EF4-FFF2-40B4-BE49-F238E27FC236}">
                <a16:creationId xmlns:a16="http://schemas.microsoft.com/office/drawing/2014/main" id="{E14B5A7E-93C3-4CBF-BA4A-D58BB7A79B19}"/>
              </a:ext>
            </a:extLst>
          </p:cNvPr>
          <p:cNvSpPr/>
          <p:nvPr/>
        </p:nvSpPr>
        <p:spPr>
          <a:xfrm>
            <a:off x="2262180" y="6092762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타원 214">
            <a:extLst>
              <a:ext uri="{FF2B5EF4-FFF2-40B4-BE49-F238E27FC236}">
                <a16:creationId xmlns:a16="http://schemas.microsoft.com/office/drawing/2014/main" id="{F9437C6E-3BB5-4EEF-BF2F-BADF2D2F9D72}"/>
              </a:ext>
            </a:extLst>
          </p:cNvPr>
          <p:cNvSpPr/>
          <p:nvPr/>
        </p:nvSpPr>
        <p:spPr>
          <a:xfrm>
            <a:off x="2129874" y="6095152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6" name="타원 215">
            <a:extLst>
              <a:ext uri="{FF2B5EF4-FFF2-40B4-BE49-F238E27FC236}">
                <a16:creationId xmlns:a16="http://schemas.microsoft.com/office/drawing/2014/main" id="{864105D5-9F67-4FCF-90DA-26157B53E3AE}"/>
              </a:ext>
            </a:extLst>
          </p:cNvPr>
          <p:cNvSpPr/>
          <p:nvPr/>
        </p:nvSpPr>
        <p:spPr>
          <a:xfrm>
            <a:off x="2659100" y="6091214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7" name="타원 216">
            <a:extLst>
              <a:ext uri="{FF2B5EF4-FFF2-40B4-BE49-F238E27FC236}">
                <a16:creationId xmlns:a16="http://schemas.microsoft.com/office/drawing/2014/main" id="{1393C266-CA07-4545-855D-3D3435161431}"/>
              </a:ext>
            </a:extLst>
          </p:cNvPr>
          <p:cNvSpPr/>
          <p:nvPr/>
        </p:nvSpPr>
        <p:spPr>
          <a:xfrm>
            <a:off x="2394487" y="6095745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AA300D2D-0BC1-4F2C-A2A1-786E96AB0ACA}"/>
              </a:ext>
            </a:extLst>
          </p:cNvPr>
          <p:cNvSpPr/>
          <p:nvPr/>
        </p:nvSpPr>
        <p:spPr>
          <a:xfrm>
            <a:off x="2022516" y="6019202"/>
            <a:ext cx="838953" cy="21602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" name="타원 218">
            <a:extLst>
              <a:ext uri="{FF2B5EF4-FFF2-40B4-BE49-F238E27FC236}">
                <a16:creationId xmlns:a16="http://schemas.microsoft.com/office/drawing/2014/main" id="{C5E07E58-11D2-4297-B4BB-9704424A070D}"/>
              </a:ext>
            </a:extLst>
          </p:cNvPr>
          <p:cNvSpPr/>
          <p:nvPr/>
        </p:nvSpPr>
        <p:spPr>
          <a:xfrm>
            <a:off x="3419425" y="6088071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0" name="타원 219">
            <a:extLst>
              <a:ext uri="{FF2B5EF4-FFF2-40B4-BE49-F238E27FC236}">
                <a16:creationId xmlns:a16="http://schemas.microsoft.com/office/drawing/2014/main" id="{2EBC46AE-5289-40A4-BF38-8CB27C9AA10E}"/>
              </a:ext>
            </a:extLst>
          </p:cNvPr>
          <p:cNvSpPr/>
          <p:nvPr/>
        </p:nvSpPr>
        <p:spPr>
          <a:xfrm>
            <a:off x="3287119" y="6090461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타원 220">
            <a:extLst>
              <a:ext uri="{FF2B5EF4-FFF2-40B4-BE49-F238E27FC236}">
                <a16:creationId xmlns:a16="http://schemas.microsoft.com/office/drawing/2014/main" id="{C587184B-1590-4E09-BD85-78B9962C9014}"/>
              </a:ext>
            </a:extLst>
          </p:cNvPr>
          <p:cNvSpPr/>
          <p:nvPr/>
        </p:nvSpPr>
        <p:spPr>
          <a:xfrm>
            <a:off x="3816345" y="6086523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2" name="타원 221">
            <a:extLst>
              <a:ext uri="{FF2B5EF4-FFF2-40B4-BE49-F238E27FC236}">
                <a16:creationId xmlns:a16="http://schemas.microsoft.com/office/drawing/2014/main" id="{E4F79096-9AF1-48AF-BE87-666E1AAD8446}"/>
              </a:ext>
            </a:extLst>
          </p:cNvPr>
          <p:cNvSpPr/>
          <p:nvPr/>
        </p:nvSpPr>
        <p:spPr>
          <a:xfrm>
            <a:off x="3551732" y="6091054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CAA92323-C4CB-411F-858A-E930DB8704E9}"/>
              </a:ext>
            </a:extLst>
          </p:cNvPr>
          <p:cNvSpPr/>
          <p:nvPr/>
        </p:nvSpPr>
        <p:spPr>
          <a:xfrm>
            <a:off x="3179761" y="6014511"/>
            <a:ext cx="838953" cy="21602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4" name="타원 223">
            <a:extLst>
              <a:ext uri="{FF2B5EF4-FFF2-40B4-BE49-F238E27FC236}">
                <a16:creationId xmlns:a16="http://schemas.microsoft.com/office/drawing/2014/main" id="{3986765D-AAA7-49D3-906C-BC78F7535377}"/>
              </a:ext>
            </a:extLst>
          </p:cNvPr>
          <p:cNvSpPr/>
          <p:nvPr/>
        </p:nvSpPr>
        <p:spPr>
          <a:xfrm>
            <a:off x="6757007" y="5301702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5" name="타원 224">
            <a:extLst>
              <a:ext uri="{FF2B5EF4-FFF2-40B4-BE49-F238E27FC236}">
                <a16:creationId xmlns:a16="http://schemas.microsoft.com/office/drawing/2014/main" id="{3956E77F-0C35-4B23-81E0-C4E57B9DCBF0}"/>
              </a:ext>
            </a:extLst>
          </p:cNvPr>
          <p:cNvSpPr/>
          <p:nvPr/>
        </p:nvSpPr>
        <p:spPr>
          <a:xfrm>
            <a:off x="6624701" y="5304092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6" name="타원 225">
            <a:extLst>
              <a:ext uri="{FF2B5EF4-FFF2-40B4-BE49-F238E27FC236}">
                <a16:creationId xmlns:a16="http://schemas.microsoft.com/office/drawing/2014/main" id="{5E7EDA9D-7D91-4531-BECC-12A273DCF284}"/>
              </a:ext>
            </a:extLst>
          </p:cNvPr>
          <p:cNvSpPr/>
          <p:nvPr/>
        </p:nvSpPr>
        <p:spPr>
          <a:xfrm>
            <a:off x="7153927" y="5300154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7" name="타원 226">
            <a:extLst>
              <a:ext uri="{FF2B5EF4-FFF2-40B4-BE49-F238E27FC236}">
                <a16:creationId xmlns:a16="http://schemas.microsoft.com/office/drawing/2014/main" id="{737E7F15-4CBF-459B-892F-365B03D6965A}"/>
              </a:ext>
            </a:extLst>
          </p:cNvPr>
          <p:cNvSpPr/>
          <p:nvPr/>
        </p:nvSpPr>
        <p:spPr>
          <a:xfrm>
            <a:off x="6889314" y="5304685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0F3FE20A-C0D7-4516-8EBA-BA3C238B8F0F}"/>
              </a:ext>
            </a:extLst>
          </p:cNvPr>
          <p:cNvSpPr/>
          <p:nvPr/>
        </p:nvSpPr>
        <p:spPr>
          <a:xfrm>
            <a:off x="6517343" y="5228142"/>
            <a:ext cx="838953" cy="21602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9" name="타원 228">
            <a:extLst>
              <a:ext uri="{FF2B5EF4-FFF2-40B4-BE49-F238E27FC236}">
                <a16:creationId xmlns:a16="http://schemas.microsoft.com/office/drawing/2014/main" id="{66E2BF12-C6E2-4D64-BA9E-D18E5C25B7E5}"/>
              </a:ext>
            </a:extLst>
          </p:cNvPr>
          <p:cNvSpPr/>
          <p:nvPr/>
        </p:nvSpPr>
        <p:spPr>
          <a:xfrm>
            <a:off x="5546535" y="6090588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0" name="타원 229">
            <a:extLst>
              <a:ext uri="{FF2B5EF4-FFF2-40B4-BE49-F238E27FC236}">
                <a16:creationId xmlns:a16="http://schemas.microsoft.com/office/drawing/2014/main" id="{1B84C3FF-ABA5-4A7E-81A1-D76D285EA2FD}"/>
              </a:ext>
            </a:extLst>
          </p:cNvPr>
          <p:cNvSpPr/>
          <p:nvPr/>
        </p:nvSpPr>
        <p:spPr>
          <a:xfrm>
            <a:off x="5414229" y="6092978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1" name="타원 230">
            <a:extLst>
              <a:ext uri="{FF2B5EF4-FFF2-40B4-BE49-F238E27FC236}">
                <a16:creationId xmlns:a16="http://schemas.microsoft.com/office/drawing/2014/main" id="{41571824-A3D0-4240-B8C0-B32A779DDC46}"/>
              </a:ext>
            </a:extLst>
          </p:cNvPr>
          <p:cNvSpPr/>
          <p:nvPr/>
        </p:nvSpPr>
        <p:spPr>
          <a:xfrm>
            <a:off x="5943455" y="6089040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2" name="타원 231">
            <a:extLst>
              <a:ext uri="{FF2B5EF4-FFF2-40B4-BE49-F238E27FC236}">
                <a16:creationId xmlns:a16="http://schemas.microsoft.com/office/drawing/2014/main" id="{5A521F3E-6055-4629-8717-001CE7B45A57}"/>
              </a:ext>
            </a:extLst>
          </p:cNvPr>
          <p:cNvSpPr/>
          <p:nvPr/>
        </p:nvSpPr>
        <p:spPr>
          <a:xfrm>
            <a:off x="5678842" y="6093571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A63C1A1D-218C-43A8-A87C-62EB0AFD22DC}"/>
              </a:ext>
            </a:extLst>
          </p:cNvPr>
          <p:cNvSpPr/>
          <p:nvPr/>
        </p:nvSpPr>
        <p:spPr>
          <a:xfrm>
            <a:off x="5306871" y="6017028"/>
            <a:ext cx="838953" cy="21602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4" name="타원 233">
            <a:extLst>
              <a:ext uri="{FF2B5EF4-FFF2-40B4-BE49-F238E27FC236}">
                <a16:creationId xmlns:a16="http://schemas.microsoft.com/office/drawing/2014/main" id="{A4934844-AEC1-499D-9A6D-533B10CE8317}"/>
              </a:ext>
            </a:extLst>
          </p:cNvPr>
          <p:cNvSpPr/>
          <p:nvPr/>
        </p:nvSpPr>
        <p:spPr>
          <a:xfrm>
            <a:off x="3971394" y="5301702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5" name="타원 234">
            <a:extLst>
              <a:ext uri="{FF2B5EF4-FFF2-40B4-BE49-F238E27FC236}">
                <a16:creationId xmlns:a16="http://schemas.microsoft.com/office/drawing/2014/main" id="{1E6DD321-4CF7-4786-A223-59A2CAE96E4A}"/>
              </a:ext>
            </a:extLst>
          </p:cNvPr>
          <p:cNvSpPr/>
          <p:nvPr/>
        </p:nvSpPr>
        <p:spPr>
          <a:xfrm>
            <a:off x="3839088" y="5304092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6" name="타원 235">
            <a:extLst>
              <a:ext uri="{FF2B5EF4-FFF2-40B4-BE49-F238E27FC236}">
                <a16:creationId xmlns:a16="http://schemas.microsoft.com/office/drawing/2014/main" id="{59D01B17-E1AD-4E52-BCF0-89154F08E047}"/>
              </a:ext>
            </a:extLst>
          </p:cNvPr>
          <p:cNvSpPr/>
          <p:nvPr/>
        </p:nvSpPr>
        <p:spPr>
          <a:xfrm>
            <a:off x="4368314" y="5300154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7" name="타원 236">
            <a:extLst>
              <a:ext uri="{FF2B5EF4-FFF2-40B4-BE49-F238E27FC236}">
                <a16:creationId xmlns:a16="http://schemas.microsoft.com/office/drawing/2014/main" id="{7270C2BB-F97C-47D2-8EB7-32C4B4DE7ACE}"/>
              </a:ext>
            </a:extLst>
          </p:cNvPr>
          <p:cNvSpPr/>
          <p:nvPr/>
        </p:nvSpPr>
        <p:spPr>
          <a:xfrm>
            <a:off x="4103701" y="5304685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463E2CB4-8B45-4A58-A216-8A7A3916F78F}"/>
              </a:ext>
            </a:extLst>
          </p:cNvPr>
          <p:cNvSpPr/>
          <p:nvPr/>
        </p:nvSpPr>
        <p:spPr>
          <a:xfrm>
            <a:off x="3731730" y="5228142"/>
            <a:ext cx="838953" cy="21602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9" name="타원 238">
            <a:extLst>
              <a:ext uri="{FF2B5EF4-FFF2-40B4-BE49-F238E27FC236}">
                <a16:creationId xmlns:a16="http://schemas.microsoft.com/office/drawing/2014/main" id="{14741508-B337-462C-BC3A-C130BA56C531}"/>
              </a:ext>
            </a:extLst>
          </p:cNvPr>
          <p:cNvSpPr/>
          <p:nvPr/>
        </p:nvSpPr>
        <p:spPr>
          <a:xfrm>
            <a:off x="2999949" y="5313169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타원 239">
            <a:extLst>
              <a:ext uri="{FF2B5EF4-FFF2-40B4-BE49-F238E27FC236}">
                <a16:creationId xmlns:a16="http://schemas.microsoft.com/office/drawing/2014/main" id="{A2EE5C66-009A-4E29-9B33-189DE805876B}"/>
              </a:ext>
            </a:extLst>
          </p:cNvPr>
          <p:cNvSpPr/>
          <p:nvPr/>
        </p:nvSpPr>
        <p:spPr>
          <a:xfrm>
            <a:off x="2867643" y="5315559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타원 240">
            <a:extLst>
              <a:ext uri="{FF2B5EF4-FFF2-40B4-BE49-F238E27FC236}">
                <a16:creationId xmlns:a16="http://schemas.microsoft.com/office/drawing/2014/main" id="{958385F2-FB7C-4E55-823E-65B6EBE88B8F}"/>
              </a:ext>
            </a:extLst>
          </p:cNvPr>
          <p:cNvSpPr/>
          <p:nvPr/>
        </p:nvSpPr>
        <p:spPr>
          <a:xfrm>
            <a:off x="3396869" y="5311621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2" name="타원 241">
            <a:extLst>
              <a:ext uri="{FF2B5EF4-FFF2-40B4-BE49-F238E27FC236}">
                <a16:creationId xmlns:a16="http://schemas.microsoft.com/office/drawing/2014/main" id="{731717E5-220E-444D-9234-151A3A0FAD88}"/>
              </a:ext>
            </a:extLst>
          </p:cNvPr>
          <p:cNvSpPr/>
          <p:nvPr/>
        </p:nvSpPr>
        <p:spPr>
          <a:xfrm>
            <a:off x="3132256" y="5316152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직사각형 242">
            <a:extLst>
              <a:ext uri="{FF2B5EF4-FFF2-40B4-BE49-F238E27FC236}">
                <a16:creationId xmlns:a16="http://schemas.microsoft.com/office/drawing/2014/main" id="{BF6C2DF5-3F82-4C75-97A6-024B7206508D}"/>
              </a:ext>
            </a:extLst>
          </p:cNvPr>
          <p:cNvSpPr/>
          <p:nvPr/>
        </p:nvSpPr>
        <p:spPr>
          <a:xfrm>
            <a:off x="2760285" y="5239609"/>
            <a:ext cx="838953" cy="21602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타원 243">
            <a:extLst>
              <a:ext uri="{FF2B5EF4-FFF2-40B4-BE49-F238E27FC236}">
                <a16:creationId xmlns:a16="http://schemas.microsoft.com/office/drawing/2014/main" id="{A182EC21-71FA-4A26-BEE1-1B6A67160E71}"/>
              </a:ext>
            </a:extLst>
          </p:cNvPr>
          <p:cNvSpPr/>
          <p:nvPr/>
        </p:nvSpPr>
        <p:spPr>
          <a:xfrm>
            <a:off x="4528646" y="6088071"/>
            <a:ext cx="72000" cy="7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타원 244">
            <a:extLst>
              <a:ext uri="{FF2B5EF4-FFF2-40B4-BE49-F238E27FC236}">
                <a16:creationId xmlns:a16="http://schemas.microsoft.com/office/drawing/2014/main" id="{44ADCC7C-599E-4021-8141-C51E38E51BE8}"/>
              </a:ext>
            </a:extLst>
          </p:cNvPr>
          <p:cNvSpPr/>
          <p:nvPr/>
        </p:nvSpPr>
        <p:spPr>
          <a:xfrm>
            <a:off x="4396340" y="6090461"/>
            <a:ext cx="72000" cy="7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6" name="타원 245">
            <a:extLst>
              <a:ext uri="{FF2B5EF4-FFF2-40B4-BE49-F238E27FC236}">
                <a16:creationId xmlns:a16="http://schemas.microsoft.com/office/drawing/2014/main" id="{3CD94210-1E6F-4A9A-A0D7-44FB163968C6}"/>
              </a:ext>
            </a:extLst>
          </p:cNvPr>
          <p:cNvSpPr/>
          <p:nvPr/>
        </p:nvSpPr>
        <p:spPr>
          <a:xfrm>
            <a:off x="4925566" y="6086523"/>
            <a:ext cx="72000" cy="7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타원 246">
            <a:extLst>
              <a:ext uri="{FF2B5EF4-FFF2-40B4-BE49-F238E27FC236}">
                <a16:creationId xmlns:a16="http://schemas.microsoft.com/office/drawing/2014/main" id="{E3A979F1-B91F-49DE-AEF8-AC7CC56B232B}"/>
              </a:ext>
            </a:extLst>
          </p:cNvPr>
          <p:cNvSpPr/>
          <p:nvPr/>
        </p:nvSpPr>
        <p:spPr>
          <a:xfrm>
            <a:off x="4660953" y="6091054"/>
            <a:ext cx="72000" cy="7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80E72587-4133-4CA2-8C95-F8BD817BD8B3}"/>
              </a:ext>
            </a:extLst>
          </p:cNvPr>
          <p:cNvSpPr/>
          <p:nvPr/>
        </p:nvSpPr>
        <p:spPr>
          <a:xfrm>
            <a:off x="4288982" y="6014511"/>
            <a:ext cx="838953" cy="21602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9" name="타원 248">
            <a:extLst>
              <a:ext uri="{FF2B5EF4-FFF2-40B4-BE49-F238E27FC236}">
                <a16:creationId xmlns:a16="http://schemas.microsoft.com/office/drawing/2014/main" id="{9D14DD93-D7FD-4B56-9201-EA8415230E4F}"/>
              </a:ext>
            </a:extLst>
          </p:cNvPr>
          <p:cNvSpPr/>
          <p:nvPr/>
        </p:nvSpPr>
        <p:spPr>
          <a:xfrm>
            <a:off x="6515204" y="6086021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타원 249">
            <a:extLst>
              <a:ext uri="{FF2B5EF4-FFF2-40B4-BE49-F238E27FC236}">
                <a16:creationId xmlns:a16="http://schemas.microsoft.com/office/drawing/2014/main" id="{9DCF2CE6-F928-4739-B057-B29B793F5BA5}"/>
              </a:ext>
            </a:extLst>
          </p:cNvPr>
          <p:cNvSpPr/>
          <p:nvPr/>
        </p:nvSpPr>
        <p:spPr>
          <a:xfrm>
            <a:off x="6382898" y="6088411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1" name="타원 250">
            <a:extLst>
              <a:ext uri="{FF2B5EF4-FFF2-40B4-BE49-F238E27FC236}">
                <a16:creationId xmlns:a16="http://schemas.microsoft.com/office/drawing/2014/main" id="{3D8CD2DA-16AE-4853-A28B-E8DCE56768C5}"/>
              </a:ext>
            </a:extLst>
          </p:cNvPr>
          <p:cNvSpPr/>
          <p:nvPr/>
        </p:nvSpPr>
        <p:spPr>
          <a:xfrm>
            <a:off x="6912124" y="6084473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2" name="타원 251">
            <a:extLst>
              <a:ext uri="{FF2B5EF4-FFF2-40B4-BE49-F238E27FC236}">
                <a16:creationId xmlns:a16="http://schemas.microsoft.com/office/drawing/2014/main" id="{B55AC37D-F911-4CB2-875A-68ABC29B9E6B}"/>
              </a:ext>
            </a:extLst>
          </p:cNvPr>
          <p:cNvSpPr/>
          <p:nvPr/>
        </p:nvSpPr>
        <p:spPr>
          <a:xfrm>
            <a:off x="6647511" y="6089004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3" name="직사각형 252">
            <a:extLst>
              <a:ext uri="{FF2B5EF4-FFF2-40B4-BE49-F238E27FC236}">
                <a16:creationId xmlns:a16="http://schemas.microsoft.com/office/drawing/2014/main" id="{1631B985-45F8-4B09-BB2E-D8C1283ED520}"/>
              </a:ext>
            </a:extLst>
          </p:cNvPr>
          <p:cNvSpPr/>
          <p:nvPr/>
        </p:nvSpPr>
        <p:spPr>
          <a:xfrm>
            <a:off x="6275540" y="6012461"/>
            <a:ext cx="838953" cy="21602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4" name="타원 253">
            <a:extLst>
              <a:ext uri="{FF2B5EF4-FFF2-40B4-BE49-F238E27FC236}">
                <a16:creationId xmlns:a16="http://schemas.microsoft.com/office/drawing/2014/main" id="{EF5264DE-5D59-4C15-A46F-3CBEE6C35FD1}"/>
              </a:ext>
            </a:extLst>
          </p:cNvPr>
          <p:cNvSpPr/>
          <p:nvPr/>
        </p:nvSpPr>
        <p:spPr>
          <a:xfrm>
            <a:off x="3510299" y="4635379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5" name="타원 254">
            <a:extLst>
              <a:ext uri="{FF2B5EF4-FFF2-40B4-BE49-F238E27FC236}">
                <a16:creationId xmlns:a16="http://schemas.microsoft.com/office/drawing/2014/main" id="{83EF3006-0470-4CF0-B1B5-C4A4E356C536}"/>
              </a:ext>
            </a:extLst>
          </p:cNvPr>
          <p:cNvSpPr/>
          <p:nvPr/>
        </p:nvSpPr>
        <p:spPr>
          <a:xfrm>
            <a:off x="3377993" y="4637769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6" name="타원 255">
            <a:extLst>
              <a:ext uri="{FF2B5EF4-FFF2-40B4-BE49-F238E27FC236}">
                <a16:creationId xmlns:a16="http://schemas.microsoft.com/office/drawing/2014/main" id="{D3EA0CEF-0E35-489E-B040-EA3024339846}"/>
              </a:ext>
            </a:extLst>
          </p:cNvPr>
          <p:cNvSpPr/>
          <p:nvPr/>
        </p:nvSpPr>
        <p:spPr>
          <a:xfrm>
            <a:off x="3907219" y="4633831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7" name="타원 256">
            <a:extLst>
              <a:ext uri="{FF2B5EF4-FFF2-40B4-BE49-F238E27FC236}">
                <a16:creationId xmlns:a16="http://schemas.microsoft.com/office/drawing/2014/main" id="{497FC42E-C989-4F16-A194-22DBF36FCD35}"/>
              </a:ext>
            </a:extLst>
          </p:cNvPr>
          <p:cNvSpPr/>
          <p:nvPr/>
        </p:nvSpPr>
        <p:spPr>
          <a:xfrm>
            <a:off x="3642606" y="4638362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8" name="직사각형 257">
            <a:extLst>
              <a:ext uri="{FF2B5EF4-FFF2-40B4-BE49-F238E27FC236}">
                <a16:creationId xmlns:a16="http://schemas.microsoft.com/office/drawing/2014/main" id="{4A750851-67BD-4AB8-89AC-4E387CC12F9B}"/>
              </a:ext>
            </a:extLst>
          </p:cNvPr>
          <p:cNvSpPr/>
          <p:nvPr/>
        </p:nvSpPr>
        <p:spPr>
          <a:xfrm>
            <a:off x="3270635" y="4561819"/>
            <a:ext cx="838953" cy="21602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9" name="타원 258">
            <a:extLst>
              <a:ext uri="{FF2B5EF4-FFF2-40B4-BE49-F238E27FC236}">
                <a16:creationId xmlns:a16="http://schemas.microsoft.com/office/drawing/2014/main" id="{D0400C59-BFA5-4738-8495-760226049B4A}"/>
              </a:ext>
            </a:extLst>
          </p:cNvPr>
          <p:cNvSpPr/>
          <p:nvPr/>
        </p:nvSpPr>
        <p:spPr>
          <a:xfrm>
            <a:off x="4996437" y="5298671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0" name="타원 259">
            <a:extLst>
              <a:ext uri="{FF2B5EF4-FFF2-40B4-BE49-F238E27FC236}">
                <a16:creationId xmlns:a16="http://schemas.microsoft.com/office/drawing/2014/main" id="{7A762BEB-5B74-4DAB-A5F3-DD767A1ABA4D}"/>
              </a:ext>
            </a:extLst>
          </p:cNvPr>
          <p:cNvSpPr/>
          <p:nvPr/>
        </p:nvSpPr>
        <p:spPr>
          <a:xfrm>
            <a:off x="4864131" y="5301061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1" name="타원 260">
            <a:extLst>
              <a:ext uri="{FF2B5EF4-FFF2-40B4-BE49-F238E27FC236}">
                <a16:creationId xmlns:a16="http://schemas.microsoft.com/office/drawing/2014/main" id="{6E60E4E7-1EF8-4FC1-97B3-950E06A8A30D}"/>
              </a:ext>
            </a:extLst>
          </p:cNvPr>
          <p:cNvSpPr/>
          <p:nvPr/>
        </p:nvSpPr>
        <p:spPr>
          <a:xfrm>
            <a:off x="5393357" y="5297123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2" name="타원 261">
            <a:extLst>
              <a:ext uri="{FF2B5EF4-FFF2-40B4-BE49-F238E27FC236}">
                <a16:creationId xmlns:a16="http://schemas.microsoft.com/office/drawing/2014/main" id="{DD76D8DB-DC8E-40DB-B31D-EFE825D321C6}"/>
              </a:ext>
            </a:extLst>
          </p:cNvPr>
          <p:cNvSpPr/>
          <p:nvPr/>
        </p:nvSpPr>
        <p:spPr>
          <a:xfrm>
            <a:off x="5128744" y="5301654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3" name="직사각형 262">
            <a:extLst>
              <a:ext uri="{FF2B5EF4-FFF2-40B4-BE49-F238E27FC236}">
                <a16:creationId xmlns:a16="http://schemas.microsoft.com/office/drawing/2014/main" id="{3A5BFBC6-BFEE-4C26-B47D-B9ACB718C7C2}"/>
              </a:ext>
            </a:extLst>
          </p:cNvPr>
          <p:cNvSpPr/>
          <p:nvPr/>
        </p:nvSpPr>
        <p:spPr>
          <a:xfrm>
            <a:off x="4756773" y="5225111"/>
            <a:ext cx="838953" cy="21602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4" name="위쪽/아래쪽 화살표 16">
            <a:extLst>
              <a:ext uri="{FF2B5EF4-FFF2-40B4-BE49-F238E27FC236}">
                <a16:creationId xmlns:a16="http://schemas.microsoft.com/office/drawing/2014/main" id="{1B523BB5-1628-4299-9F01-512BB3D3E02C}"/>
              </a:ext>
            </a:extLst>
          </p:cNvPr>
          <p:cNvSpPr/>
          <p:nvPr/>
        </p:nvSpPr>
        <p:spPr>
          <a:xfrm>
            <a:off x="2659100" y="3497251"/>
            <a:ext cx="167130" cy="648072"/>
          </a:xfrm>
          <a:prstGeom prst="up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D55B1126-C822-4188-BE18-F2D8E5286554}"/>
              </a:ext>
            </a:extLst>
          </p:cNvPr>
          <p:cNvSpPr/>
          <p:nvPr/>
        </p:nvSpPr>
        <p:spPr>
          <a:xfrm>
            <a:off x="1527075" y="2529407"/>
            <a:ext cx="838953" cy="21602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6" name="타원 265">
            <a:extLst>
              <a:ext uri="{FF2B5EF4-FFF2-40B4-BE49-F238E27FC236}">
                <a16:creationId xmlns:a16="http://schemas.microsoft.com/office/drawing/2014/main" id="{A85DFD83-6C8B-428A-9FCB-D06E92A4783C}"/>
              </a:ext>
            </a:extLst>
          </p:cNvPr>
          <p:cNvSpPr/>
          <p:nvPr/>
        </p:nvSpPr>
        <p:spPr>
          <a:xfrm>
            <a:off x="1587363" y="2576059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7" name="타원 266">
            <a:extLst>
              <a:ext uri="{FF2B5EF4-FFF2-40B4-BE49-F238E27FC236}">
                <a16:creationId xmlns:a16="http://schemas.microsoft.com/office/drawing/2014/main" id="{F5466195-C21D-4394-862C-5F478D8D859C}"/>
              </a:ext>
            </a:extLst>
          </p:cNvPr>
          <p:cNvSpPr/>
          <p:nvPr/>
        </p:nvSpPr>
        <p:spPr>
          <a:xfrm>
            <a:off x="1747619" y="2558167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8" name="타원 267">
            <a:extLst>
              <a:ext uri="{FF2B5EF4-FFF2-40B4-BE49-F238E27FC236}">
                <a16:creationId xmlns:a16="http://schemas.microsoft.com/office/drawing/2014/main" id="{7CB7FD09-BC41-4444-A1AE-8B19C828832A}"/>
              </a:ext>
            </a:extLst>
          </p:cNvPr>
          <p:cNvSpPr/>
          <p:nvPr/>
        </p:nvSpPr>
        <p:spPr>
          <a:xfrm>
            <a:off x="1975263" y="2576059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9" name="타원 268">
            <a:extLst>
              <a:ext uri="{FF2B5EF4-FFF2-40B4-BE49-F238E27FC236}">
                <a16:creationId xmlns:a16="http://schemas.microsoft.com/office/drawing/2014/main" id="{1B9381CC-A58D-4205-A988-989E9403CA9A}"/>
              </a:ext>
            </a:extLst>
          </p:cNvPr>
          <p:cNvSpPr/>
          <p:nvPr/>
        </p:nvSpPr>
        <p:spPr>
          <a:xfrm>
            <a:off x="1861806" y="2630295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0" name="타원 269">
            <a:extLst>
              <a:ext uri="{FF2B5EF4-FFF2-40B4-BE49-F238E27FC236}">
                <a16:creationId xmlns:a16="http://schemas.microsoft.com/office/drawing/2014/main" id="{26A84051-2A5F-4C56-9A23-1F0100E05B65}"/>
              </a:ext>
            </a:extLst>
          </p:cNvPr>
          <p:cNvSpPr/>
          <p:nvPr/>
        </p:nvSpPr>
        <p:spPr>
          <a:xfrm>
            <a:off x="2144785" y="2612059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1" name="타원 270">
            <a:extLst>
              <a:ext uri="{FF2B5EF4-FFF2-40B4-BE49-F238E27FC236}">
                <a16:creationId xmlns:a16="http://schemas.microsoft.com/office/drawing/2014/main" id="{C9677665-57F5-4F07-93D8-D92E232A097E}"/>
              </a:ext>
            </a:extLst>
          </p:cNvPr>
          <p:cNvSpPr/>
          <p:nvPr/>
        </p:nvSpPr>
        <p:spPr>
          <a:xfrm>
            <a:off x="2288561" y="2542359"/>
            <a:ext cx="72000" cy="7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2" name="직사각형 271">
            <a:extLst>
              <a:ext uri="{FF2B5EF4-FFF2-40B4-BE49-F238E27FC236}">
                <a16:creationId xmlns:a16="http://schemas.microsoft.com/office/drawing/2014/main" id="{634011FD-2E2E-4233-8E7D-1E1205496C21}"/>
              </a:ext>
            </a:extLst>
          </p:cNvPr>
          <p:cNvSpPr/>
          <p:nvPr/>
        </p:nvSpPr>
        <p:spPr>
          <a:xfrm>
            <a:off x="1438157" y="2294075"/>
            <a:ext cx="4956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/>
              <a:t>index</a:t>
            </a:r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FDE08AE1-C589-4F83-B213-D8910924F40A}"/>
              </a:ext>
            </a:extLst>
          </p:cNvPr>
          <p:cNvSpPr/>
          <p:nvPr/>
        </p:nvSpPr>
        <p:spPr>
          <a:xfrm>
            <a:off x="3152133" y="2588405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4" name="타원 273">
            <a:extLst>
              <a:ext uri="{FF2B5EF4-FFF2-40B4-BE49-F238E27FC236}">
                <a16:creationId xmlns:a16="http://schemas.microsoft.com/office/drawing/2014/main" id="{8E58A4B6-0707-4E3B-A00B-F46FE13C0B96}"/>
              </a:ext>
            </a:extLst>
          </p:cNvPr>
          <p:cNvSpPr/>
          <p:nvPr/>
        </p:nvSpPr>
        <p:spPr>
          <a:xfrm>
            <a:off x="3019827" y="2590795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5" name="타원 274">
            <a:extLst>
              <a:ext uri="{FF2B5EF4-FFF2-40B4-BE49-F238E27FC236}">
                <a16:creationId xmlns:a16="http://schemas.microsoft.com/office/drawing/2014/main" id="{6F53F008-90A2-45FB-929B-AA3121D0DB85}"/>
              </a:ext>
            </a:extLst>
          </p:cNvPr>
          <p:cNvSpPr/>
          <p:nvPr/>
        </p:nvSpPr>
        <p:spPr>
          <a:xfrm>
            <a:off x="3549053" y="2586857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DAA62773-7384-4497-9EFA-62D56F4063C7}"/>
              </a:ext>
            </a:extLst>
          </p:cNvPr>
          <p:cNvSpPr/>
          <p:nvPr/>
        </p:nvSpPr>
        <p:spPr>
          <a:xfrm>
            <a:off x="3284440" y="2591388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직사각형 276">
            <a:extLst>
              <a:ext uri="{FF2B5EF4-FFF2-40B4-BE49-F238E27FC236}">
                <a16:creationId xmlns:a16="http://schemas.microsoft.com/office/drawing/2014/main" id="{FDC59EBC-F596-48BC-9A1D-BE59E54BEC87}"/>
              </a:ext>
            </a:extLst>
          </p:cNvPr>
          <p:cNvSpPr/>
          <p:nvPr/>
        </p:nvSpPr>
        <p:spPr>
          <a:xfrm>
            <a:off x="2912469" y="2514845"/>
            <a:ext cx="838953" cy="21602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8" name="타원 277">
            <a:extLst>
              <a:ext uri="{FF2B5EF4-FFF2-40B4-BE49-F238E27FC236}">
                <a16:creationId xmlns:a16="http://schemas.microsoft.com/office/drawing/2014/main" id="{D455C0DD-7204-4DD7-916B-D4FBABE85604}"/>
              </a:ext>
            </a:extLst>
          </p:cNvPr>
          <p:cNvSpPr/>
          <p:nvPr/>
        </p:nvSpPr>
        <p:spPr>
          <a:xfrm>
            <a:off x="3152133" y="2880961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9" name="타원 278">
            <a:extLst>
              <a:ext uri="{FF2B5EF4-FFF2-40B4-BE49-F238E27FC236}">
                <a16:creationId xmlns:a16="http://schemas.microsoft.com/office/drawing/2014/main" id="{62946E77-2F69-4CD4-9E0A-4E90378678E7}"/>
              </a:ext>
            </a:extLst>
          </p:cNvPr>
          <p:cNvSpPr/>
          <p:nvPr/>
        </p:nvSpPr>
        <p:spPr>
          <a:xfrm>
            <a:off x="3019827" y="2883351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0" name="타원 279">
            <a:extLst>
              <a:ext uri="{FF2B5EF4-FFF2-40B4-BE49-F238E27FC236}">
                <a16:creationId xmlns:a16="http://schemas.microsoft.com/office/drawing/2014/main" id="{95CAFA9A-0E64-4353-8798-D9C8D8D8C804}"/>
              </a:ext>
            </a:extLst>
          </p:cNvPr>
          <p:cNvSpPr/>
          <p:nvPr/>
        </p:nvSpPr>
        <p:spPr>
          <a:xfrm>
            <a:off x="3549053" y="2879413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1" name="타원 280">
            <a:extLst>
              <a:ext uri="{FF2B5EF4-FFF2-40B4-BE49-F238E27FC236}">
                <a16:creationId xmlns:a16="http://schemas.microsoft.com/office/drawing/2014/main" id="{D4B08085-F964-42B8-B7D4-AE3092710DEB}"/>
              </a:ext>
            </a:extLst>
          </p:cNvPr>
          <p:cNvSpPr/>
          <p:nvPr/>
        </p:nvSpPr>
        <p:spPr>
          <a:xfrm>
            <a:off x="3284440" y="2883944"/>
            <a:ext cx="72000" cy="72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2" name="직사각형 281">
            <a:extLst>
              <a:ext uri="{FF2B5EF4-FFF2-40B4-BE49-F238E27FC236}">
                <a16:creationId xmlns:a16="http://schemas.microsoft.com/office/drawing/2014/main" id="{836DD297-BEE8-4F35-ADCB-0DE8A5F7FAEF}"/>
              </a:ext>
            </a:extLst>
          </p:cNvPr>
          <p:cNvSpPr/>
          <p:nvPr/>
        </p:nvSpPr>
        <p:spPr>
          <a:xfrm>
            <a:off x="2912469" y="2807401"/>
            <a:ext cx="838953" cy="21602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3" name="타원 282">
            <a:extLst>
              <a:ext uri="{FF2B5EF4-FFF2-40B4-BE49-F238E27FC236}">
                <a16:creationId xmlns:a16="http://schemas.microsoft.com/office/drawing/2014/main" id="{2BAE94FE-3B37-4CCA-BFA0-AF8DB39110CA}"/>
              </a:ext>
            </a:extLst>
          </p:cNvPr>
          <p:cNvSpPr/>
          <p:nvPr/>
        </p:nvSpPr>
        <p:spPr>
          <a:xfrm>
            <a:off x="3147865" y="3183283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4" name="타원 283">
            <a:extLst>
              <a:ext uri="{FF2B5EF4-FFF2-40B4-BE49-F238E27FC236}">
                <a16:creationId xmlns:a16="http://schemas.microsoft.com/office/drawing/2014/main" id="{117B4883-0EA6-432E-8D23-6B976633FE5C}"/>
              </a:ext>
            </a:extLst>
          </p:cNvPr>
          <p:cNvSpPr/>
          <p:nvPr/>
        </p:nvSpPr>
        <p:spPr>
          <a:xfrm>
            <a:off x="3015559" y="3185673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5" name="타원 284">
            <a:extLst>
              <a:ext uri="{FF2B5EF4-FFF2-40B4-BE49-F238E27FC236}">
                <a16:creationId xmlns:a16="http://schemas.microsoft.com/office/drawing/2014/main" id="{6D588559-45AA-4AC9-9900-BAB69DEB4E01}"/>
              </a:ext>
            </a:extLst>
          </p:cNvPr>
          <p:cNvSpPr/>
          <p:nvPr/>
        </p:nvSpPr>
        <p:spPr>
          <a:xfrm>
            <a:off x="3544785" y="3181735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6" name="타원 285">
            <a:extLst>
              <a:ext uri="{FF2B5EF4-FFF2-40B4-BE49-F238E27FC236}">
                <a16:creationId xmlns:a16="http://schemas.microsoft.com/office/drawing/2014/main" id="{CE07C972-47CC-45DD-A60C-8CF453FBC950}"/>
              </a:ext>
            </a:extLst>
          </p:cNvPr>
          <p:cNvSpPr/>
          <p:nvPr/>
        </p:nvSpPr>
        <p:spPr>
          <a:xfrm>
            <a:off x="3280172" y="3186266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7" name="직사각형 286">
            <a:extLst>
              <a:ext uri="{FF2B5EF4-FFF2-40B4-BE49-F238E27FC236}">
                <a16:creationId xmlns:a16="http://schemas.microsoft.com/office/drawing/2014/main" id="{364DB117-6AA9-4F60-BFC4-6B10E975B876}"/>
              </a:ext>
            </a:extLst>
          </p:cNvPr>
          <p:cNvSpPr/>
          <p:nvPr/>
        </p:nvSpPr>
        <p:spPr>
          <a:xfrm>
            <a:off x="2908201" y="3109723"/>
            <a:ext cx="838953" cy="21602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8" name="직선 화살표 연결선 287">
            <a:extLst>
              <a:ext uri="{FF2B5EF4-FFF2-40B4-BE49-F238E27FC236}">
                <a16:creationId xmlns:a16="http://schemas.microsoft.com/office/drawing/2014/main" id="{8A7988EC-C91C-4BA1-9C56-D25060DD2BFE}"/>
              </a:ext>
            </a:extLst>
          </p:cNvPr>
          <p:cNvCxnSpPr>
            <a:stCxn id="209" idx="1"/>
          </p:cNvCxnSpPr>
          <p:nvPr/>
        </p:nvCxnSpPr>
        <p:spPr>
          <a:xfrm flipH="1" flipV="1">
            <a:off x="1993333" y="2879413"/>
            <a:ext cx="146988" cy="1594728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화살표 연결선 288">
            <a:extLst>
              <a:ext uri="{FF2B5EF4-FFF2-40B4-BE49-F238E27FC236}">
                <a16:creationId xmlns:a16="http://schemas.microsoft.com/office/drawing/2014/main" id="{58D41C1F-D517-4A4D-86BE-40FA95CF98AD}"/>
              </a:ext>
            </a:extLst>
          </p:cNvPr>
          <p:cNvCxnSpPr>
            <a:stCxn id="243" idx="0"/>
            <a:endCxn id="282" idx="2"/>
          </p:cNvCxnSpPr>
          <p:nvPr/>
        </p:nvCxnSpPr>
        <p:spPr>
          <a:xfrm flipV="1">
            <a:off x="3179762" y="3023425"/>
            <a:ext cx="152184" cy="2216184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화살표 연결선 289">
            <a:extLst>
              <a:ext uri="{FF2B5EF4-FFF2-40B4-BE49-F238E27FC236}">
                <a16:creationId xmlns:a16="http://schemas.microsoft.com/office/drawing/2014/main" id="{0D3EA58F-BC0A-4031-A620-9BFF86C40565}"/>
              </a:ext>
            </a:extLst>
          </p:cNvPr>
          <p:cNvCxnSpPr>
            <a:stCxn id="263" idx="0"/>
            <a:endCxn id="287" idx="3"/>
          </p:cNvCxnSpPr>
          <p:nvPr/>
        </p:nvCxnSpPr>
        <p:spPr>
          <a:xfrm flipH="1" flipV="1">
            <a:off x="3747154" y="3217735"/>
            <a:ext cx="1429096" cy="2007376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18</a:t>
            </a:fld>
            <a:endParaRPr lang="ko-KR" altLang="en-US" dirty="0"/>
          </a:p>
        </p:txBody>
      </p:sp>
      <p:sp>
        <p:nvSpPr>
          <p:cNvPr id="106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/>
          <a:p>
            <a:r>
              <a:rPr lang="en-US" altLang="ko-KR" sz="2800" dirty="0">
                <a:latin typeface="HY견고딕" pitchFamily="18" charset="-127"/>
                <a:ea typeface="HY견고딕" pitchFamily="18" charset="-127"/>
              </a:rPr>
              <a:t>2. </a:t>
            </a:r>
            <a:r>
              <a:rPr lang="ko-KR" altLang="en-US" sz="2800" dirty="0">
                <a:latin typeface="HY견고딕" pitchFamily="18" charset="-127"/>
                <a:ea typeface="HY견고딕" pitchFamily="18" charset="-127"/>
              </a:rPr>
              <a:t>인덱스와 </a:t>
            </a:r>
            <a:r>
              <a:rPr lang="en-US" altLang="ko-KR" sz="2800" dirty="0">
                <a:latin typeface="HY견고딕" pitchFamily="18" charset="-127"/>
                <a:ea typeface="HY견고딕" pitchFamily="18" charset="-127"/>
              </a:rPr>
              <a:t>B-tree</a:t>
            </a:r>
            <a:endParaRPr lang="ko-KR" altLang="en-US" sz="2800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5951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인덱스와 </a:t>
            </a:r>
            <a:r>
              <a:rPr lang="en-US" altLang="ko-KR" dirty="0"/>
              <a:t>B-tree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2664296" cy="5472608"/>
          </a:xfrm>
        </p:spPr>
        <p:txBody>
          <a:bodyPr/>
          <a:lstStyle/>
          <a:p>
            <a:r>
              <a:rPr lang="ko-KR" altLang="en-US" dirty="0"/>
              <a:t>인덱스</a:t>
            </a:r>
            <a:r>
              <a:rPr lang="en-US" altLang="ko-KR" dirty="0"/>
              <a:t>(</a:t>
            </a:r>
            <a:r>
              <a:rPr lang="ko-KR" altLang="en-US" dirty="0"/>
              <a:t>색인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b="0" dirty="0"/>
              <a:t>데이터를 쉽고 빠르게 찾을 수 있도록 만든 데이터 구조</a:t>
            </a:r>
            <a:endParaRPr lang="en-US" altLang="ko-KR" b="0" dirty="0"/>
          </a:p>
          <a:p>
            <a:pPr lvl="1"/>
            <a:r>
              <a:rPr lang="ko-KR" altLang="en-US" dirty="0"/>
              <a:t>일반적인 </a:t>
            </a:r>
            <a:r>
              <a:rPr lang="en-US" altLang="ko-KR" dirty="0"/>
              <a:t>RDBMS</a:t>
            </a:r>
            <a:r>
              <a:rPr lang="ko-KR" altLang="en-US" dirty="0"/>
              <a:t>의 인덱스는 대부분 </a:t>
            </a:r>
            <a:r>
              <a:rPr lang="en-US" altLang="ko-KR" dirty="0"/>
              <a:t>B-tree </a:t>
            </a:r>
            <a:r>
              <a:rPr lang="ko-KR" altLang="en-US" dirty="0"/>
              <a:t>구조로 되어 있음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B-tree</a:t>
            </a:r>
          </a:p>
          <a:p>
            <a:pPr lvl="1"/>
            <a:r>
              <a:rPr lang="ko-KR" altLang="en-US" b="0" dirty="0"/>
              <a:t>데이터의 검색 시간을 단축하기 위한 자료구조</a:t>
            </a:r>
            <a:endParaRPr lang="en-US" altLang="ko-KR" b="0" dirty="0"/>
          </a:p>
          <a:p>
            <a:pPr lvl="1"/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1556793"/>
            <a:ext cx="5904656" cy="4517438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0010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인덱스와 </a:t>
            </a:r>
            <a:r>
              <a:rPr lang="en-US" altLang="ko-KR" dirty="0"/>
              <a:t>B-tree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7848872" cy="5472608"/>
          </a:xfrm>
        </p:spPr>
        <p:txBody>
          <a:bodyPr/>
          <a:lstStyle/>
          <a:p>
            <a:pPr lvl="1"/>
            <a:r>
              <a:rPr lang="en-US" altLang="ko-KR" dirty="0"/>
              <a:t>B-tree</a:t>
            </a:r>
            <a:r>
              <a:rPr lang="ko-KR" altLang="en-US" dirty="0"/>
              <a:t>의 각 노드는 키 값과 포인터를 가짐</a:t>
            </a:r>
            <a:endParaRPr lang="en-US" altLang="ko-KR" dirty="0"/>
          </a:p>
          <a:p>
            <a:pPr lvl="1"/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4-11]</a:t>
            </a:r>
            <a:r>
              <a:rPr lang="ko-KR" altLang="en-US" dirty="0"/>
              <a:t>과 같이 최대 세 개의 자식을 가지는 </a:t>
            </a:r>
            <a:r>
              <a:rPr lang="en-US" altLang="ko-KR" dirty="0"/>
              <a:t>B-tree</a:t>
            </a:r>
            <a:r>
              <a:rPr lang="ko-KR" altLang="en-US" dirty="0"/>
              <a:t>에서 </a:t>
            </a:r>
            <a:r>
              <a:rPr lang="en-US" altLang="ko-KR" dirty="0"/>
              <a:t>3</a:t>
            </a:r>
            <a:r>
              <a:rPr lang="ko-KR" altLang="en-US" dirty="0"/>
              <a:t>이라는 값을 찾는다고 가정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r>
              <a:rPr lang="en-US" altLang="ko-KR"/>
              <a:t>B-tree</a:t>
            </a:r>
            <a:r>
              <a:rPr lang="ko-KR" altLang="en-US" dirty="0"/>
              <a:t>에서 검색은 루트 노드에서부터 값을 비교하여 중간 단계인 내부 노드에서 해당 노드를 찾고</a:t>
            </a:r>
            <a:r>
              <a:rPr lang="en-US" altLang="ko-KR" dirty="0"/>
              <a:t>, </a:t>
            </a:r>
            <a:r>
              <a:rPr lang="ko-KR" altLang="en-US" dirty="0"/>
              <a:t>이런 단계를 거쳐 최종적으로 마지막 레벨인 리프 노드에 도달함</a:t>
            </a:r>
            <a:endParaRPr lang="en-US" altLang="ko-KR" dirty="0"/>
          </a:p>
          <a:p>
            <a:pPr lvl="2"/>
            <a:r>
              <a:rPr lang="en-US" altLang="ko-KR" dirty="0"/>
              <a:t>B-tree</a:t>
            </a:r>
            <a:r>
              <a:rPr lang="ko-KR" altLang="en-US" dirty="0"/>
              <a:t>는 데이터를 검색할 때 특유의 트리 구조를 이용하기 때문에 한 번 검색할 때마다 검색 </a:t>
            </a:r>
            <a:r>
              <a:rPr lang="ko-KR" altLang="en-US"/>
              <a:t>대상이 </a:t>
            </a:r>
            <a:r>
              <a:rPr lang="en-US" altLang="ko-KR"/>
              <a:t>1/m(m</a:t>
            </a:r>
            <a:r>
              <a:rPr lang="ko-KR" altLang="en-US"/>
              <a:t>은 자식의 개수</a:t>
            </a:r>
            <a:r>
              <a:rPr lang="en-US" altLang="ko-KR"/>
              <a:t>)</a:t>
            </a:r>
            <a:r>
              <a:rPr lang="ko-KR" altLang="en-US"/>
              <a:t>로 줄어 접근 </a:t>
            </a:r>
            <a:r>
              <a:rPr lang="ko-KR" altLang="en-US" dirty="0"/>
              <a:t>시간이 적게 걸림</a:t>
            </a:r>
            <a:endParaRPr lang="en-US" altLang="ko-KR" dirty="0"/>
          </a:p>
          <a:p>
            <a:pPr lvl="2"/>
            <a:r>
              <a:rPr lang="en-US" altLang="ko-KR" dirty="0"/>
              <a:t>100</a:t>
            </a:r>
            <a:r>
              <a:rPr lang="ko-KR" altLang="en-US" dirty="0"/>
              <a:t>만 개의 투플을 가진 데이터도 디스크 블록을 서너 번 읽으면 찾을 </a:t>
            </a:r>
            <a:r>
              <a:rPr lang="ko-KR" altLang="en-US"/>
              <a:t>수 있음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098" y="1916832"/>
            <a:ext cx="5501804" cy="2445246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7549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인덱스와 </a:t>
            </a:r>
            <a:r>
              <a:rPr lang="en-US" altLang="ko-KR" dirty="0"/>
              <a:t>B-tree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604448" cy="5472608"/>
          </a:xfrm>
        </p:spPr>
        <p:txBody>
          <a:bodyPr/>
          <a:lstStyle/>
          <a:p>
            <a:r>
              <a:rPr lang="ko-KR" altLang="en-US" dirty="0"/>
              <a:t>인덱스의 특징</a:t>
            </a:r>
            <a:endParaRPr lang="en-US" altLang="ko-KR" dirty="0"/>
          </a:p>
          <a:p>
            <a:pPr lvl="1"/>
            <a:r>
              <a:rPr lang="ko-KR" altLang="en-US" sz="1400" dirty="0"/>
              <a:t>인덱스는 테이블에서 한 개 이상의 속성을 이용하여 생성함</a:t>
            </a:r>
            <a:endParaRPr lang="en-US" altLang="ko-KR" sz="1400" dirty="0"/>
          </a:p>
          <a:p>
            <a:pPr lvl="1"/>
            <a:r>
              <a:rPr lang="ko-KR" altLang="en-US" sz="1400" dirty="0"/>
              <a:t>빠른 검색과 함께 효율적인 레코드 접근이 가능함</a:t>
            </a:r>
            <a:endParaRPr lang="en-US" altLang="ko-KR" sz="1400" dirty="0"/>
          </a:p>
          <a:p>
            <a:pPr lvl="1"/>
            <a:r>
              <a:rPr lang="ko-KR" altLang="en-US" sz="1400" dirty="0"/>
              <a:t>순서대로 정렬된 속성과 데이터의 위치만 보유하므로 테이블보다 작은 공간을 차지함</a:t>
            </a:r>
            <a:endParaRPr lang="en-US" altLang="ko-KR" sz="1400" dirty="0"/>
          </a:p>
          <a:p>
            <a:pPr lvl="1"/>
            <a:r>
              <a:rPr lang="ko-KR" altLang="en-US" sz="1400" dirty="0"/>
              <a:t>저장된 값들은 테이블의 부분집합이 됨</a:t>
            </a:r>
            <a:endParaRPr lang="en-US" altLang="ko-KR" sz="1400" dirty="0"/>
          </a:p>
          <a:p>
            <a:pPr lvl="1"/>
            <a:r>
              <a:rPr lang="ko-KR" altLang="en-US" sz="1400" dirty="0"/>
              <a:t>일반적으로 </a:t>
            </a:r>
            <a:r>
              <a:rPr lang="en-US" altLang="ko-KR" sz="1400" dirty="0"/>
              <a:t>B-tree </a:t>
            </a:r>
            <a:r>
              <a:rPr lang="ko-KR" altLang="en-US" sz="1400" dirty="0"/>
              <a:t>형태의 구조를 가짐</a:t>
            </a:r>
            <a:endParaRPr lang="en-US" altLang="ko-KR" sz="1400" dirty="0"/>
          </a:p>
          <a:p>
            <a:pPr lvl="1"/>
            <a:r>
              <a:rPr lang="ko-KR" altLang="en-US" sz="1400" dirty="0"/>
              <a:t>데이터에서 수정</a:t>
            </a:r>
            <a:r>
              <a:rPr lang="en-US" altLang="ko-KR" sz="1400" dirty="0"/>
              <a:t>, </a:t>
            </a:r>
            <a:r>
              <a:rPr lang="ko-KR" altLang="en-US" sz="1400" dirty="0"/>
              <a:t>삭제 등의 변경이 발생하면 인덱스를 재구성해야 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3051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785" y="1482002"/>
            <a:ext cx="6680663" cy="532199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MySQL </a:t>
            </a:r>
            <a:r>
              <a:rPr lang="ko-KR" altLang="en-US" dirty="0"/>
              <a:t>인덱스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b="0" dirty="0"/>
              <a:t>MySQL</a:t>
            </a:r>
            <a:r>
              <a:rPr lang="ko-KR" altLang="en-US" b="0" dirty="0"/>
              <a:t>의 인덱스는 클러스터 인덱스와 보조 인덱스로 나뉨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클러스터 인덱스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Book </a:t>
            </a:r>
            <a:r>
              <a:rPr lang="ko-KR" altLang="en-US"/>
              <a:t>테이블에 </a:t>
            </a:r>
            <a:br>
              <a:rPr lang="en-US" altLang="ko-KR"/>
            </a:br>
            <a:r>
              <a:rPr lang="ko-KR" altLang="en-US"/>
              <a:t>클러스터 인덱스를 </a:t>
            </a:r>
            <a:br>
              <a:rPr lang="en-US" altLang="ko-KR"/>
            </a:br>
            <a:r>
              <a:rPr lang="ko-KR" altLang="en-US"/>
              <a:t>생성한 경우</a:t>
            </a:r>
            <a:endParaRPr lang="en-US" altLang="ko-KR"/>
          </a:p>
          <a:p>
            <a:pPr lvl="1">
              <a:lnSpc>
                <a:spcPct val="150000"/>
              </a:lnSpc>
            </a:pPr>
            <a:r>
              <a:rPr lang="en-US" altLang="ko-KR"/>
              <a:t>Primary </a:t>
            </a:r>
            <a:r>
              <a:rPr lang="ko-KR" altLang="en-US"/>
              <a:t>키 기준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6375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MySQL </a:t>
            </a:r>
            <a:r>
              <a:rPr lang="ko-KR" altLang="en-US" dirty="0"/>
              <a:t>인덱스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보조 인덱스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04" y="1700808"/>
            <a:ext cx="7150993" cy="4791903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1336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MySQL </a:t>
            </a:r>
            <a:r>
              <a:rPr lang="ko-KR" altLang="en-US" dirty="0"/>
              <a:t>인덱스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MySQL </a:t>
            </a:r>
            <a:r>
              <a:rPr lang="ko-KR" altLang="en-US" dirty="0"/>
              <a:t>인덱스</a:t>
            </a:r>
            <a:endParaRPr lang="en-US" altLang="ko-KR" dirty="0"/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) Book </a:t>
            </a:r>
            <a:r>
              <a:rPr lang="ko-KR" altLang="en-US" dirty="0"/>
              <a:t>테이블에서 </a:t>
            </a:r>
            <a:r>
              <a:rPr lang="en-US" altLang="ko-KR" dirty="0"/>
              <a:t>bookid</a:t>
            </a:r>
            <a:r>
              <a:rPr lang="ko-KR" altLang="en-US" dirty="0"/>
              <a:t>를 클러스터 인덱스로</a:t>
            </a:r>
            <a:r>
              <a:rPr lang="en-US" altLang="ko-KR" dirty="0"/>
              <a:t>, bookname</a:t>
            </a:r>
            <a:r>
              <a:rPr lang="ko-KR" altLang="en-US" dirty="0"/>
              <a:t>을 보조 인덱스로 사용하여 </a:t>
            </a:r>
            <a:r>
              <a:rPr lang="en-US" altLang="ko-KR" dirty="0"/>
              <a:t>bookid</a:t>
            </a:r>
            <a:r>
              <a:rPr lang="ko-KR" altLang="en-US" dirty="0"/>
              <a:t>와 </a:t>
            </a:r>
            <a:r>
              <a:rPr lang="en-US" altLang="ko-KR" dirty="0"/>
              <a:t>bookname </a:t>
            </a:r>
            <a:r>
              <a:rPr lang="ko-KR" altLang="en-US" dirty="0"/>
              <a:t>모두 빠른 검색을 필요로 하는 경우</a:t>
            </a:r>
            <a:endParaRPr lang="en-US" altLang="ko-KR" dirty="0"/>
          </a:p>
          <a:p>
            <a:pPr lvl="2"/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4-14]</a:t>
            </a:r>
            <a:r>
              <a:rPr lang="ko-KR" altLang="en-US" dirty="0"/>
              <a:t>는 </a:t>
            </a:r>
            <a:r>
              <a:rPr lang="en-US" altLang="ko-KR" dirty="0"/>
              <a:t>bookname</a:t>
            </a:r>
            <a:r>
              <a:rPr lang="ko-KR" altLang="en-US" dirty="0"/>
              <a:t>으로 ‘야구를 부탁해’ 책을 찾는 과정을 나타냄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032" y="2461436"/>
            <a:ext cx="7171937" cy="4396564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6861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MySQL </a:t>
            </a:r>
            <a:r>
              <a:rPr lang="ko-KR" altLang="en-US" dirty="0"/>
              <a:t>인덱스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MySQL</a:t>
            </a:r>
            <a:r>
              <a:rPr lang="ko-KR" altLang="en-US"/>
              <a:t>의 인덱스 </a:t>
            </a:r>
            <a:r>
              <a:rPr lang="ko-KR" altLang="en-US" dirty="0"/>
              <a:t>정리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790782"/>
            <a:ext cx="7488832" cy="2548283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32744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인덱스의 생성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424936" cy="5472608"/>
          </a:xfrm>
        </p:spPr>
        <p:txBody>
          <a:bodyPr/>
          <a:lstStyle/>
          <a:p>
            <a:r>
              <a:rPr lang="ko-KR" altLang="en-US" dirty="0"/>
              <a:t>인덱스를 생성하기 전 고려사항</a:t>
            </a:r>
            <a:endParaRPr lang="en-US" altLang="ko-KR" dirty="0"/>
          </a:p>
          <a:p>
            <a:pPr lvl="1"/>
            <a:r>
              <a:rPr lang="ko-KR" altLang="en-US" dirty="0"/>
              <a:t>인덱스는 </a:t>
            </a:r>
            <a:r>
              <a:rPr lang="en-US" altLang="ko-KR" dirty="0"/>
              <a:t>WHERE </a:t>
            </a:r>
            <a:r>
              <a:rPr lang="ko-KR" altLang="en-US" dirty="0"/>
              <a:t>절에 자주 사용되는 속성이어야 함</a:t>
            </a:r>
            <a:endParaRPr lang="en-US" altLang="ko-KR" dirty="0"/>
          </a:p>
          <a:p>
            <a:pPr lvl="1"/>
            <a:r>
              <a:rPr lang="ko-KR" altLang="en-US" dirty="0"/>
              <a:t>인덱스는 조인에 자주 사용되는 속성이어야 함</a:t>
            </a:r>
            <a:endParaRPr lang="en-US" altLang="ko-KR" dirty="0"/>
          </a:p>
          <a:p>
            <a:pPr lvl="1"/>
            <a:r>
              <a:rPr lang="ko-KR" altLang="en-US" dirty="0"/>
              <a:t>단일 테이블에 인덱스가 많으면 속도가 느려질 수 있음</a:t>
            </a:r>
            <a:r>
              <a:rPr lang="en-US" altLang="ko-KR" dirty="0"/>
              <a:t>(</a:t>
            </a:r>
            <a:r>
              <a:rPr lang="ko-KR" altLang="en-US" dirty="0"/>
              <a:t>테이블당 </a:t>
            </a:r>
            <a:r>
              <a:rPr lang="en-US" altLang="ko-KR" dirty="0"/>
              <a:t>4~5</a:t>
            </a:r>
            <a:r>
              <a:rPr lang="ko-KR" altLang="en-US" dirty="0"/>
              <a:t>개 정도 권장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속성이 가공되는 경우에는 사용하지 않음</a:t>
            </a:r>
            <a:endParaRPr lang="en-US" altLang="ko-KR" dirty="0"/>
          </a:p>
          <a:p>
            <a:pPr lvl="1"/>
            <a:r>
              <a:rPr lang="ko-KR" altLang="en-US" dirty="0"/>
              <a:t>속성의 선택도가 낮을 때 유리함</a:t>
            </a:r>
            <a:r>
              <a:rPr lang="en-US" altLang="ko-KR" dirty="0"/>
              <a:t>(</a:t>
            </a:r>
            <a:r>
              <a:rPr lang="ko-KR" altLang="en-US" dirty="0"/>
              <a:t>속성의 모든 값이 다른 경우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인덱스를 생성할 때는 </a:t>
            </a:r>
            <a:r>
              <a:rPr lang="en-US" altLang="ko-KR" dirty="0"/>
              <a:t>CREATE INDEX </a:t>
            </a:r>
            <a:r>
              <a:rPr lang="ko-KR" altLang="en-US" dirty="0"/>
              <a:t>문을 이용하며</a:t>
            </a:r>
            <a:r>
              <a:rPr lang="en-US" altLang="ko-KR" dirty="0"/>
              <a:t>, </a:t>
            </a:r>
            <a:r>
              <a:rPr lang="ko-KR" altLang="en-US" dirty="0"/>
              <a:t>문법은 다음과 같음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[UNIQUE]</a:t>
            </a:r>
            <a:r>
              <a:rPr lang="ko-KR" altLang="en-US" dirty="0"/>
              <a:t>는 테이블의 속성값에 대하여 중복이 없는 유일한 인덱스를 생성하는 것을 말함</a:t>
            </a:r>
            <a:endParaRPr lang="en-US" altLang="ko-KR" dirty="0"/>
          </a:p>
          <a:p>
            <a:pPr lvl="2"/>
            <a:r>
              <a:rPr lang="en-US" altLang="ko-KR" dirty="0"/>
              <a:t>[ASC | DESC]</a:t>
            </a:r>
            <a:r>
              <a:rPr lang="ko-KR" altLang="en-US" dirty="0"/>
              <a:t>는 컬럼 값의 정렬 방식을 의미함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4077072"/>
            <a:ext cx="7344816" cy="864096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61547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인덱스의 생성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971600" y="1268760"/>
            <a:ext cx="6984776" cy="2016015"/>
            <a:chOff x="971600" y="1268760"/>
            <a:chExt cx="6984776" cy="2016015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600" y="1268760"/>
              <a:ext cx="6984776" cy="813153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2958" y="2276872"/>
              <a:ext cx="5838085" cy="1007903"/>
            </a:xfrm>
            <a:prstGeom prst="rect">
              <a:avLst/>
            </a:prstGeom>
          </p:spPr>
        </p:pic>
      </p:grpSp>
      <p:grpSp>
        <p:nvGrpSpPr>
          <p:cNvPr id="9" name="그룹 8"/>
          <p:cNvGrpSpPr/>
          <p:nvPr/>
        </p:nvGrpSpPr>
        <p:grpSpPr>
          <a:xfrm>
            <a:off x="944605" y="3861048"/>
            <a:ext cx="7011771" cy="2081601"/>
            <a:chOff x="944605" y="3645025"/>
            <a:chExt cx="7011771" cy="2081601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605" y="3645025"/>
              <a:ext cx="7011771" cy="804744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2958" y="4725146"/>
              <a:ext cx="5838085" cy="1001480"/>
            </a:xfrm>
            <a:prstGeom prst="rect">
              <a:avLst/>
            </a:prstGeom>
          </p:spPr>
        </p:pic>
      </p:grpSp>
      <p:sp>
        <p:nvSpPr>
          <p:cNvPr id="11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9708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인덱스의 생성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생성된 인덱스는 </a:t>
            </a:r>
            <a:r>
              <a:rPr lang="en-US" altLang="ko-KR" dirty="0"/>
              <a:t>SHOW INDEX </a:t>
            </a:r>
            <a:r>
              <a:rPr lang="ko-KR" altLang="en-US" dirty="0"/>
              <a:t>명령어로 확인 가능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en-US" altLang="ko-KR"/>
              <a:t>MySQL</a:t>
            </a:r>
            <a:r>
              <a:rPr lang="ko-KR" altLang="en-US" dirty="0"/>
              <a:t>이 생성된 인덱스를 활용하여 </a:t>
            </a:r>
            <a:r>
              <a:rPr lang="en-US" altLang="ko-KR" dirty="0"/>
              <a:t>SQL </a:t>
            </a:r>
            <a:r>
              <a:rPr lang="ko-KR" altLang="en-US" dirty="0"/>
              <a:t>문을 처리하는지 확인하려면 </a:t>
            </a:r>
            <a:r>
              <a:rPr lang="en-US" altLang="ko-KR"/>
              <a:t>MySQL Workbench</a:t>
            </a:r>
            <a:r>
              <a:rPr lang="ko-KR" altLang="en-US" dirty="0"/>
              <a:t>에서 </a:t>
            </a:r>
            <a:r>
              <a:rPr lang="en-US" altLang="ko-KR" dirty="0"/>
              <a:t>[Query] - [Explain Current Statement]</a:t>
            </a:r>
            <a:r>
              <a:rPr lang="ko-KR" altLang="en-US" dirty="0"/>
              <a:t>를 누르면 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272" y="1410514"/>
            <a:ext cx="6552728" cy="1945139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899592" y="4221088"/>
            <a:ext cx="8064896" cy="2303811"/>
            <a:chOff x="899592" y="4221088"/>
            <a:chExt cx="8064896" cy="2303811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07904" y="4221088"/>
              <a:ext cx="5256584" cy="2303811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9969"/>
            <a:stretch/>
          </p:blipFill>
          <p:spPr>
            <a:xfrm>
              <a:off x="899592" y="4725144"/>
              <a:ext cx="3933686" cy="860128"/>
            </a:xfrm>
            <a:prstGeom prst="rect">
              <a:avLst/>
            </a:prstGeom>
          </p:spPr>
        </p:pic>
      </p:grpSp>
      <p:sp>
        <p:nvSpPr>
          <p:cNvPr id="8" name="슬라이드 번호 개체 틀 7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3493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인덱스의 재구성과 삭제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인덱스의 재구성은 </a:t>
            </a:r>
            <a:r>
              <a:rPr lang="en-US" altLang="ko-KR" dirty="0"/>
              <a:t>ANALYZE TABLE </a:t>
            </a:r>
            <a:r>
              <a:rPr lang="ko-KR" altLang="en-US" dirty="0"/>
              <a:t>명령을 사용하여 수행함</a:t>
            </a:r>
            <a:endParaRPr lang="en-US" altLang="ko-KR" dirty="0"/>
          </a:p>
          <a:p>
            <a:pPr lvl="1"/>
            <a:r>
              <a:rPr lang="en-US" altLang="ko-KR" dirty="0"/>
              <a:t>B-tree </a:t>
            </a:r>
            <a:r>
              <a:rPr lang="ko-KR" altLang="en-US" dirty="0"/>
              <a:t>인덱스는 데이터의 수정</a:t>
            </a:r>
            <a:r>
              <a:rPr lang="en-US" altLang="ko-KR" dirty="0"/>
              <a:t>·</a:t>
            </a:r>
            <a:r>
              <a:rPr lang="ko-KR" altLang="en-US" dirty="0"/>
              <a:t>삭제</a:t>
            </a:r>
            <a:r>
              <a:rPr lang="en-US" altLang="ko-KR" dirty="0"/>
              <a:t>·</a:t>
            </a:r>
            <a:r>
              <a:rPr lang="ko-KR" altLang="en-US" dirty="0"/>
              <a:t>삽입이 잦으면 노드의 갱신이 주기적으로 일어나 단편화</a:t>
            </a:r>
            <a:r>
              <a:rPr lang="en-US" altLang="ko-KR" dirty="0"/>
              <a:t> </a:t>
            </a:r>
            <a:r>
              <a:rPr lang="ko-KR" altLang="en-US" dirty="0"/>
              <a:t>현상이 나타남</a:t>
            </a:r>
            <a:endParaRPr lang="en-US" altLang="ko-KR" dirty="0"/>
          </a:p>
          <a:p>
            <a:pPr lvl="1"/>
            <a:r>
              <a:rPr lang="ko-KR" altLang="en-US" dirty="0"/>
              <a:t>이럴 경우 </a:t>
            </a:r>
            <a:r>
              <a:rPr lang="en-US" altLang="ko-KR" dirty="0"/>
              <a:t>ANALYZE </a:t>
            </a:r>
            <a:r>
              <a:rPr lang="ko-KR" altLang="en-US" dirty="0"/>
              <a:t>문법을 통해 인덱스를 다시 생성해줌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441687"/>
            <a:ext cx="7056784" cy="555265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959996" y="3472447"/>
            <a:ext cx="6996381" cy="2412086"/>
            <a:chOff x="959996" y="3472447"/>
            <a:chExt cx="6996381" cy="2412086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996" y="3472447"/>
              <a:ext cx="6996380" cy="820649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601" y="4509120"/>
              <a:ext cx="6984776" cy="1375413"/>
            </a:xfrm>
            <a:prstGeom prst="rect">
              <a:avLst/>
            </a:prstGeom>
          </p:spPr>
        </p:pic>
      </p:grpSp>
      <p:sp>
        <p:nvSpPr>
          <p:cNvPr id="8" name="슬라이드 번호 개체 틀 7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45929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인덱스의 재구성과 삭제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하나의 테이블에 인덱스가 많으면 데이터베이스 성능에 좋지 않은 영향을 미침</a:t>
            </a:r>
            <a:endParaRPr lang="en-US" altLang="ko-KR" dirty="0"/>
          </a:p>
          <a:p>
            <a:pPr lvl="1"/>
            <a:r>
              <a:rPr lang="ko-KR" altLang="en-US" dirty="0"/>
              <a:t>사용하지 않는 인덱스는 삭제해야 함</a:t>
            </a:r>
            <a:endParaRPr lang="en-US" altLang="ko-KR" dirty="0"/>
          </a:p>
          <a:p>
            <a:pPr lvl="1"/>
            <a:r>
              <a:rPr lang="ko-KR" altLang="en-US" dirty="0"/>
              <a:t>인덱스의 삭제는 </a:t>
            </a:r>
            <a:r>
              <a:rPr lang="en-US" altLang="ko-KR" dirty="0"/>
              <a:t>DROP INDEX </a:t>
            </a:r>
            <a:r>
              <a:rPr lang="ko-KR" altLang="en-US" dirty="0"/>
              <a:t>명령을 사용하여 수행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971600" y="2636912"/>
            <a:ext cx="7056784" cy="2271235"/>
            <a:chOff x="971600" y="2492897"/>
            <a:chExt cx="7056784" cy="2271235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600" y="2492897"/>
              <a:ext cx="7056784" cy="816138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5361" y="3546698"/>
              <a:ext cx="7033023" cy="1217434"/>
            </a:xfrm>
            <a:prstGeom prst="rect">
              <a:avLst/>
            </a:prstGeom>
          </p:spPr>
        </p:pic>
      </p:grp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6271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287524" y="974665"/>
            <a:ext cx="8064896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</a:rPr>
              <a:t>대용량 </a:t>
            </a:r>
            <a:r>
              <a:rPr kumimoji="0" lang="en-US" altLang="ko-KR" sz="2000">
                <a:solidFill>
                  <a:schemeClr val="tx2"/>
                </a:solidFill>
              </a:rPr>
              <a:t>Data Import</a:t>
            </a:r>
          </a:p>
          <a:p>
            <a:pPr lvl="1" latinLnBrk="0">
              <a:lnSpc>
                <a:spcPct val="150000"/>
              </a:lnSpc>
              <a:buFont typeface="Wingdings" pitchFamily="2" charset="2"/>
              <a:buChar char="v"/>
            </a:pPr>
            <a:r>
              <a:rPr kumimoji="0" lang="en-US" altLang="ko-KR" sz="1600">
                <a:solidFill>
                  <a:schemeClr val="tx2"/>
                </a:solidFill>
              </a:rPr>
              <a:t> Index </a:t>
            </a:r>
            <a:r>
              <a:rPr kumimoji="0" lang="ko-KR" altLang="en-US" sz="1600">
                <a:solidFill>
                  <a:schemeClr val="tx2"/>
                </a:solidFill>
              </a:rPr>
              <a:t>가 검색 성능 개선에 영향이 있는지 확인해 보기 위해서 대용량 </a:t>
            </a:r>
            <a:r>
              <a:rPr kumimoji="0" lang="en-US" altLang="ko-KR" sz="1600">
                <a:solidFill>
                  <a:schemeClr val="tx2"/>
                </a:solidFill>
              </a:rPr>
              <a:t>Data</a:t>
            </a:r>
            <a:r>
              <a:rPr kumimoji="0" lang="ko-KR" altLang="en-US" sz="1600">
                <a:solidFill>
                  <a:schemeClr val="tx2"/>
                </a:solidFill>
              </a:rPr>
              <a:t>를 입력해보자</a:t>
            </a:r>
            <a:r>
              <a:rPr kumimoji="0" lang="en-US" altLang="ko-KR" sz="160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Data Restore</a:t>
            </a:r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7864" y="2061165"/>
            <a:ext cx="3240899" cy="4375667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1108975-11F7-F7C9-D685-6332942FAEBA}"/>
              </a:ext>
            </a:extLst>
          </p:cNvPr>
          <p:cNvSpPr/>
          <p:nvPr/>
        </p:nvSpPr>
        <p:spPr>
          <a:xfrm>
            <a:off x="3347864" y="3294538"/>
            <a:ext cx="1584176" cy="233040"/>
          </a:xfrm>
          <a:prstGeom prst="rect">
            <a:avLst/>
          </a:prstGeom>
          <a:noFill/>
          <a:ln w="19050">
            <a:solidFill>
              <a:srgbClr val="F1900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3D6498-393F-13F2-6B5B-FACC33160CD3}"/>
              </a:ext>
            </a:extLst>
          </p:cNvPr>
          <p:cNvSpPr/>
          <p:nvPr/>
        </p:nvSpPr>
        <p:spPr>
          <a:xfrm>
            <a:off x="3260512" y="6185624"/>
            <a:ext cx="951448" cy="233040"/>
          </a:xfrm>
          <a:prstGeom prst="rect">
            <a:avLst/>
          </a:prstGeom>
          <a:noFill/>
          <a:ln w="19050">
            <a:solidFill>
              <a:srgbClr val="F1900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3E1E1C16-3138-7AC1-C9B2-5B3CE0ED90FD}"/>
              </a:ext>
            </a:extLst>
          </p:cNvPr>
          <p:cNvSpPr/>
          <p:nvPr/>
        </p:nvSpPr>
        <p:spPr>
          <a:xfrm>
            <a:off x="1979712" y="5661248"/>
            <a:ext cx="1360696" cy="376544"/>
          </a:xfrm>
          <a:prstGeom prst="wedgeRoundRectCallout">
            <a:avLst>
              <a:gd name="adj1" fmla="val 44199"/>
              <a:gd name="adj2" fmla="val 117664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관리자 탭 선택</a:t>
            </a:r>
          </a:p>
        </p:txBody>
      </p:sp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F25DBC0A-3FC1-7478-D3E6-8CD0FEEC4AF9}"/>
              </a:ext>
            </a:extLst>
          </p:cNvPr>
          <p:cNvSpPr/>
          <p:nvPr/>
        </p:nvSpPr>
        <p:spPr>
          <a:xfrm>
            <a:off x="1619672" y="2636912"/>
            <a:ext cx="1656184" cy="497717"/>
          </a:xfrm>
          <a:prstGeom prst="wedgeRoundRectCallout">
            <a:avLst>
              <a:gd name="adj1" fmla="val 51758"/>
              <a:gd name="adj2" fmla="val 105181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Data</a:t>
            </a:r>
            <a:r>
              <a:rPr lang="ko-KR" altLang="en-US" sz="1200"/>
              <a:t> </a:t>
            </a:r>
            <a:r>
              <a:rPr lang="en-US" altLang="ko-KR" sz="1200"/>
              <a:t>Import/Restore</a:t>
            </a:r>
          </a:p>
          <a:p>
            <a:pPr algn="ctr"/>
            <a:r>
              <a:rPr lang="ko-KR" altLang="en-US" sz="1200"/>
              <a:t>선택</a:t>
            </a:r>
          </a:p>
        </p:txBody>
      </p:sp>
    </p:spTree>
    <p:extLst>
      <p:ext uri="{BB962C8B-B14F-4D97-AF65-F5344CB8AC3E}">
        <p14:creationId xmlns:p14="http://schemas.microsoft.com/office/powerpoint/2010/main" val="5732936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Data Restore</a:t>
            </a:r>
            <a:endParaRPr lang="ko-KR" altLang="en-US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287524" y="980728"/>
            <a:ext cx="8064896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</a:rPr>
              <a:t>대용량 </a:t>
            </a:r>
            <a:r>
              <a:rPr kumimoji="0" lang="en-US" altLang="ko-KR" sz="2000">
                <a:solidFill>
                  <a:schemeClr val="tx2"/>
                </a:solidFill>
              </a:rPr>
              <a:t>Data Import</a:t>
            </a:r>
          </a:p>
          <a:p>
            <a:pPr lvl="1" latinLnBrk="0">
              <a:buFont typeface="Wingdings" pitchFamily="2" charset="2"/>
              <a:buChar char="v"/>
            </a:pPr>
            <a:r>
              <a:rPr kumimoji="0" lang="en-US" altLang="ko-KR" sz="1600">
                <a:solidFill>
                  <a:schemeClr val="tx2"/>
                </a:solidFill>
              </a:rPr>
              <a:t> </a:t>
            </a:r>
            <a:r>
              <a:rPr kumimoji="0" lang="ko-KR" altLang="en-US" sz="1600">
                <a:solidFill>
                  <a:schemeClr val="tx2"/>
                </a:solidFill>
              </a:rPr>
              <a:t>파일 선택 </a:t>
            </a:r>
            <a:r>
              <a:rPr kumimoji="0" lang="en-US" altLang="ko-KR" sz="1600">
                <a:solidFill>
                  <a:schemeClr val="tx2"/>
                </a:solidFill>
              </a:rPr>
              <a:t>-&gt; Start Import</a:t>
            </a:r>
          </a:p>
          <a:p>
            <a:pPr lvl="1" latinLnBrk="0">
              <a:buFont typeface="Wingdings" pitchFamily="2" charset="2"/>
              <a:buChar char="v"/>
            </a:pPr>
            <a:endParaRPr kumimoji="0" lang="en-US" altLang="ko-KR" sz="1600">
              <a:solidFill>
                <a:schemeClr val="tx2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F9A4D75-0806-BBD6-68F2-957FDC937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80" y="1916832"/>
            <a:ext cx="7673339" cy="4176464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97056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Data Restore</a:t>
            </a:r>
            <a:endParaRPr lang="ko-KR" altLang="en-US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289861" y="980728"/>
            <a:ext cx="8064896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Index </a:t>
            </a:r>
            <a:r>
              <a:rPr kumimoji="0" lang="ko-KR" altLang="en-US" sz="2000">
                <a:solidFill>
                  <a:schemeClr val="tx2"/>
                </a:solidFill>
              </a:rPr>
              <a:t>유무에 따른 성능 향상</a:t>
            </a:r>
            <a:endParaRPr kumimoji="0" lang="en-US" altLang="ko-KR" sz="2000">
              <a:solidFill>
                <a:schemeClr val="tx2"/>
              </a:solidFill>
            </a:endParaRPr>
          </a:p>
        </p:txBody>
      </p:sp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4D9E5B80-F1FC-9D61-6FD4-6786F8FFE656}"/>
              </a:ext>
            </a:extLst>
          </p:cNvPr>
          <p:cNvGraphicFramePr>
            <a:graphicFrameLocks/>
          </p:cNvGraphicFramePr>
          <p:nvPr/>
        </p:nvGraphicFramePr>
        <p:xfrm>
          <a:off x="755577" y="1556792"/>
          <a:ext cx="7056784" cy="82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6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0491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검색할 데이터 임의로 입력하기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4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kern="1200" baseline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</a:t>
                      </a:r>
                      <a:r>
                        <a:rPr lang="en-US" altLang="ko-KR" sz="1400" kern="1200" baseline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INSERT INTO ctrl_unitreportlog SET note='</a:t>
                      </a:r>
                      <a:r>
                        <a:rPr lang="ko-KR" altLang="en-US" sz="1400" kern="1200" baseline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미등록</a:t>
                      </a:r>
                      <a:r>
                        <a:rPr lang="en-US" altLang="ko-KR" sz="1400" kern="1200" baseline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';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08E2EA59-E2A9-4D35-5D7B-F984CF3831F2}"/>
              </a:ext>
            </a:extLst>
          </p:cNvPr>
          <p:cNvGraphicFramePr>
            <a:graphicFrameLocks/>
          </p:cNvGraphicFramePr>
          <p:nvPr/>
        </p:nvGraphicFramePr>
        <p:xfrm>
          <a:off x="755577" y="2492896"/>
          <a:ext cx="7056784" cy="82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6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0491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가 미등록인 것 검색하기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4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kern="1200" baseline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</a:t>
                      </a:r>
                      <a:r>
                        <a:rPr lang="en-US" altLang="ko-KR" sz="1400" kern="1200" baseline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SELET * FROM ctrl_unitreportlog WHERE note='</a:t>
                      </a:r>
                      <a:r>
                        <a:rPr lang="ko-KR" altLang="en-US" sz="1400" kern="1200" baseline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미등록</a:t>
                      </a:r>
                      <a:r>
                        <a:rPr lang="en-US" altLang="ko-KR" sz="1400" kern="1200" baseline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'; 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4EC9B37F-9C66-ED99-69F8-FAA214074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2953838"/>
            <a:ext cx="1600423" cy="295316"/>
          </a:xfrm>
          <a:prstGeom prst="rect">
            <a:avLst/>
          </a:prstGeom>
        </p:spPr>
      </p:pic>
      <p:graphicFrame>
        <p:nvGraphicFramePr>
          <p:cNvPr id="8" name="내용 개체 틀 3">
            <a:extLst>
              <a:ext uri="{FF2B5EF4-FFF2-40B4-BE49-F238E27FC236}">
                <a16:creationId xmlns:a16="http://schemas.microsoft.com/office/drawing/2014/main" id="{AF96244F-136F-4C79-873B-2D53AD28DD0C}"/>
              </a:ext>
            </a:extLst>
          </p:cNvPr>
          <p:cNvGraphicFramePr>
            <a:graphicFrameLocks/>
          </p:cNvGraphicFramePr>
          <p:nvPr/>
        </p:nvGraphicFramePr>
        <p:xfrm>
          <a:off x="755577" y="3479292"/>
          <a:ext cx="7056784" cy="82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6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0491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Index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생성하기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4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kern="1200" baseline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CREATE INDEX note_ix ON ctrl_unitreportlog(note);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내용 개체 틀 3">
            <a:extLst>
              <a:ext uri="{FF2B5EF4-FFF2-40B4-BE49-F238E27FC236}">
                <a16:creationId xmlns:a16="http://schemas.microsoft.com/office/drawing/2014/main" id="{D7491DDA-E67D-8771-B0F6-E9A9D3DCCFB7}"/>
              </a:ext>
            </a:extLst>
          </p:cNvPr>
          <p:cNvGraphicFramePr>
            <a:graphicFrameLocks/>
          </p:cNvGraphicFramePr>
          <p:nvPr/>
        </p:nvGraphicFramePr>
        <p:xfrm>
          <a:off x="749022" y="4480226"/>
          <a:ext cx="7056784" cy="82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6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0491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가 미등록인 것 검색하기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4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kern="1200" baseline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</a:t>
                      </a:r>
                      <a:r>
                        <a:rPr lang="en-US" altLang="ko-KR" sz="1400" kern="1200" baseline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SELET * FROM ctrl_unitreportlog WHERE note='</a:t>
                      </a:r>
                      <a:r>
                        <a:rPr lang="ko-KR" altLang="en-US" sz="1400" kern="1200" baseline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미등록</a:t>
                      </a:r>
                      <a:r>
                        <a:rPr lang="en-US" altLang="ko-KR" sz="1400" kern="1200" baseline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'; 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EF666235-B1E5-2F9B-4689-0CE652214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136" y="4931044"/>
            <a:ext cx="790685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7217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2820003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저장 </a:t>
            </a: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프로그램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475656" y="27809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저장 프로그램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트리거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사용자 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정의 함수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저장 프로그램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400" dirty="0"/>
              <a:t>저장 프로그램</a:t>
            </a:r>
            <a:r>
              <a:rPr lang="en-US" altLang="ko-KR" sz="1400" dirty="0"/>
              <a:t>(Stored Program) : </a:t>
            </a:r>
            <a:r>
              <a:rPr lang="ko-KR" altLang="en-US" sz="1400" dirty="0"/>
              <a:t>데이터베이스 응용 프로그램을 작성하는 데 사용하는 </a:t>
            </a:r>
            <a:r>
              <a:rPr lang="en-US" altLang="ko-KR" sz="1400" dirty="0"/>
              <a:t>MySQL</a:t>
            </a:r>
            <a:r>
              <a:rPr lang="ko-KR" altLang="en-US" sz="1400" dirty="0"/>
              <a:t>의 </a:t>
            </a:r>
            <a:r>
              <a:rPr lang="en-US" altLang="ko-KR" sz="1400" dirty="0"/>
              <a:t>SQL </a:t>
            </a:r>
            <a:r>
              <a:rPr lang="ko-KR" altLang="en-US" sz="1400" dirty="0"/>
              <a:t>전용 언어</a:t>
            </a:r>
          </a:p>
          <a:p>
            <a:r>
              <a:rPr lang="en-US" altLang="ko-KR" sz="1400" dirty="0"/>
              <a:t>SQL </a:t>
            </a:r>
            <a:r>
              <a:rPr lang="ko-KR" altLang="en-US" sz="1400" dirty="0"/>
              <a:t>문에 변수</a:t>
            </a:r>
            <a:r>
              <a:rPr lang="en-US" altLang="ko-KR" sz="1400" dirty="0"/>
              <a:t>, </a:t>
            </a:r>
            <a:r>
              <a:rPr lang="ko-KR" altLang="en-US" sz="1400" dirty="0"/>
              <a:t>제어</a:t>
            </a:r>
            <a:r>
              <a:rPr lang="en-US" altLang="ko-KR" sz="1400" dirty="0"/>
              <a:t>, </a:t>
            </a:r>
            <a:r>
              <a:rPr lang="ko-KR" altLang="en-US" sz="1400" dirty="0"/>
              <a:t>입출력 등의 프로그래밍 기능을 추가하여 </a:t>
            </a:r>
            <a:r>
              <a:rPr lang="en-US" altLang="ko-KR" sz="1400" dirty="0"/>
              <a:t>SQL </a:t>
            </a:r>
            <a:r>
              <a:rPr lang="ko-KR" altLang="en-US" sz="1400" dirty="0"/>
              <a:t>만으로 처리하기 어려운 문제를 해결함</a:t>
            </a:r>
            <a:endParaRPr lang="en-US" altLang="ko-KR" sz="1400" dirty="0"/>
          </a:p>
          <a:p>
            <a:r>
              <a:rPr lang="ko-KR" altLang="en-US" sz="1400" dirty="0"/>
              <a:t>저장 프로그램은 </a:t>
            </a:r>
            <a:r>
              <a:rPr lang="en-US" altLang="ko-KR" sz="1400" dirty="0"/>
              <a:t>Workbench</a:t>
            </a:r>
            <a:r>
              <a:rPr lang="ko-KR" altLang="en-US" sz="1400" dirty="0"/>
              <a:t>에서 바로 작성하고 컴파일한 후 결과를 실행함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84" y="587727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5-3 </a:t>
            </a:r>
            <a:r>
              <a:rPr lang="ko-KR" altLang="en-US" sz="1400" b="1" dirty="0">
                <a:ea typeface="맑은 고딕" panose="020B0503020000020004" pitchFamily="50" charset="-127"/>
              </a:rPr>
              <a:t>저장 프로그램</a:t>
            </a:r>
            <a:r>
              <a:rPr lang="en-US" altLang="ko-KR" sz="1400" b="1" dirty="0"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ea typeface="맑은 고딕" panose="020B0503020000020004" pitchFamily="50" charset="-127"/>
              </a:rPr>
              <a:t>개발 환경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996952"/>
            <a:ext cx="6618709" cy="278214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저장 프로그램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6946" y="630932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5-4 </a:t>
            </a:r>
            <a:r>
              <a:rPr lang="ko-KR" altLang="en-US" sz="1400" b="1" dirty="0">
                <a:ea typeface="맑은 고딕" panose="020B0503020000020004" pitchFamily="50" charset="-127"/>
              </a:rPr>
              <a:t>프로시저를 정의하는 과정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641697"/>
          </a:xfrm>
        </p:spPr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2000" dirty="0">
                <a:solidFill>
                  <a:schemeClr val="tx2"/>
                </a:solidFill>
              </a:rPr>
              <a:t>프로시저</a:t>
            </a:r>
            <a:endParaRPr lang="en-US" altLang="ko-KR" sz="2000" dirty="0">
              <a:solidFill>
                <a:schemeClr val="tx2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451671"/>
            <a:ext cx="7056784" cy="488307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저장 프로그램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3816424"/>
          </a:xfrm>
        </p:spPr>
        <p:txBody>
          <a:bodyPr/>
          <a:lstStyle/>
          <a:p>
            <a:r>
              <a:rPr lang="ko-KR" altLang="en-US" dirty="0"/>
              <a:t>프로시저를 정의하려면 </a:t>
            </a:r>
            <a:r>
              <a:rPr lang="en-US" altLang="ko-KR" dirty="0"/>
              <a:t>CREATE PROCEDURE </a:t>
            </a:r>
            <a:r>
              <a:rPr lang="ko-KR" altLang="en-US" dirty="0"/>
              <a:t>문을 사용함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정의 방법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프로시저는 </a:t>
            </a:r>
            <a:r>
              <a:rPr lang="ko-KR" altLang="en-US" sz="1400" dirty="0" err="1">
                <a:latin typeface="+mn-ea"/>
              </a:rPr>
              <a:t>선언부와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err="1">
                <a:latin typeface="+mn-ea"/>
              </a:rPr>
              <a:t>실행부</a:t>
            </a:r>
            <a:r>
              <a:rPr lang="en-US" altLang="ko-KR" sz="1400" dirty="0">
                <a:latin typeface="+mn-ea"/>
              </a:rPr>
              <a:t>(BEGIN-END)</a:t>
            </a:r>
            <a:r>
              <a:rPr lang="ko-KR" altLang="en-US" sz="1400" dirty="0">
                <a:latin typeface="+mn-ea"/>
              </a:rPr>
              <a:t>로 구성됨</a:t>
            </a:r>
            <a:endParaRPr lang="en-US" altLang="ko-KR" sz="1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dirty="0" err="1">
                <a:latin typeface="+mn-ea"/>
              </a:rPr>
              <a:t>선언부에서는</a:t>
            </a:r>
            <a:r>
              <a:rPr lang="ko-KR" altLang="en-US" sz="1400" dirty="0">
                <a:latin typeface="+mn-ea"/>
              </a:rPr>
              <a:t> 변수와 매개변수를 선언하고 실행부에서는 프로그램 </a:t>
            </a:r>
            <a:r>
              <a:rPr lang="ko-KR" altLang="en-US" sz="1400" dirty="0" err="1">
                <a:latin typeface="+mn-ea"/>
              </a:rPr>
              <a:t>로직을</a:t>
            </a:r>
            <a:r>
              <a:rPr lang="ko-KR" altLang="en-US" sz="1400" dirty="0">
                <a:latin typeface="+mn-ea"/>
              </a:rPr>
              <a:t> 구현함</a:t>
            </a:r>
            <a:r>
              <a:rPr lang="en-US" altLang="ko-KR" sz="1400" dirty="0">
                <a:latin typeface="+mn-ea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매개변수</a:t>
            </a:r>
            <a:r>
              <a:rPr lang="en-US" altLang="ko-KR" sz="1400" dirty="0">
                <a:latin typeface="+mn-ea"/>
              </a:rPr>
              <a:t>(parameter)</a:t>
            </a:r>
            <a:r>
              <a:rPr lang="ko-KR" altLang="en-US" sz="1400" dirty="0">
                <a:latin typeface="+mn-ea"/>
              </a:rPr>
              <a:t>는 저장 프로시저가 호출될 때 그 프로시저에 전달되는 값</a:t>
            </a:r>
            <a:endParaRPr lang="en-US" altLang="ko-KR" sz="1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변수</a:t>
            </a:r>
            <a:r>
              <a:rPr lang="en-US" altLang="ko-KR" sz="1400" dirty="0">
                <a:latin typeface="+mn-ea"/>
              </a:rPr>
              <a:t>(variable)</a:t>
            </a:r>
            <a:r>
              <a:rPr lang="ko-KR" altLang="en-US" sz="1400" dirty="0">
                <a:latin typeface="+mn-ea"/>
              </a:rPr>
              <a:t>는 저장 프로시저나 트리거 내에서 사용되는 값</a:t>
            </a:r>
            <a:endParaRPr lang="en-US" altLang="ko-KR" sz="1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소스코드에 대한 설명문은 </a:t>
            </a:r>
            <a:r>
              <a:rPr lang="en-US" altLang="ko-KR" sz="1400" dirty="0">
                <a:latin typeface="+mn-ea"/>
              </a:rPr>
              <a:t>/*</a:t>
            </a:r>
            <a:r>
              <a:rPr lang="ko-KR" altLang="en-US" sz="1400" dirty="0">
                <a:latin typeface="+mn-ea"/>
              </a:rPr>
              <a:t>와 *</a:t>
            </a:r>
            <a:r>
              <a:rPr lang="en-US" altLang="ko-KR" sz="1400" dirty="0">
                <a:latin typeface="+mn-ea"/>
              </a:rPr>
              <a:t>/ </a:t>
            </a:r>
            <a:r>
              <a:rPr lang="ko-KR" altLang="en-US" sz="1400" dirty="0">
                <a:latin typeface="+mn-ea"/>
              </a:rPr>
              <a:t>사이에 기술</a:t>
            </a:r>
            <a:endParaRPr lang="en-US" altLang="ko-KR" sz="1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설명문이 한 줄이면 이중 대시</a:t>
            </a:r>
            <a:r>
              <a:rPr lang="en-US" altLang="ko-KR" sz="1400" dirty="0">
                <a:latin typeface="+mn-ea"/>
              </a:rPr>
              <a:t>(--) </a:t>
            </a:r>
            <a:r>
              <a:rPr lang="ko-KR" altLang="en-US" sz="1400" dirty="0">
                <a:latin typeface="+mn-ea"/>
              </a:rPr>
              <a:t>기호 다음에 기술해도 됨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641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프로시저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저장 프로그램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539552" y="1628800"/>
            <a:ext cx="8064896" cy="5040560"/>
          </a:xfrm>
        </p:spPr>
        <p:txBody>
          <a:bodyPr/>
          <a:lstStyle/>
          <a:p>
            <a:pPr latinLnBrk="0"/>
            <a:r>
              <a:rPr lang="ko-KR" altLang="en-US" spc="-100" dirty="0"/>
              <a:t>프로시저로 데이터 삽입 작업을 하면 좀 더 복잡한 조건의 삽입 작업을 인자 값만 바꾸어 수행할 수도 있고</a:t>
            </a:r>
            <a:r>
              <a:rPr lang="en-US" altLang="ko-KR" spc="-100" dirty="0"/>
              <a:t>, </a:t>
            </a:r>
            <a:r>
              <a:rPr lang="ko-KR" altLang="en-US" spc="-100" dirty="0"/>
              <a:t>저장해두었다가 필요할 때마다 호출하여 사용할 수도 있음</a:t>
            </a:r>
            <a:endParaRPr lang="en-US" altLang="ko-KR" spc="-100" dirty="0"/>
          </a:p>
          <a:p>
            <a:pPr lvl="2" latinLnBrk="0"/>
            <a:endParaRPr lang="en-US" altLang="ko-KR" sz="1600" b="1" spc="-100" dirty="0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4827" y="2532137"/>
            <a:ext cx="7481589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예제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5-1 </a:t>
            </a:r>
            <a:r>
              <a:rPr lang="en-US" altLang="ko-KR" sz="1400" b="1" dirty="0">
                <a:ea typeface="맑은 고딕" panose="020B0503020000020004" pitchFamily="50" charset="-127"/>
              </a:rPr>
              <a:t>Book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테이블에 한 개의 </a:t>
            </a:r>
            <a:r>
              <a:rPr lang="ko-KR" altLang="en-US" sz="1400" b="1" dirty="0" err="1">
                <a:ea typeface="맑은 고딕" panose="020B0503020000020004" pitchFamily="50" charset="-127"/>
              </a:rPr>
              <a:t>투플을</a:t>
            </a:r>
            <a:r>
              <a:rPr lang="ko-KR" altLang="en-US" sz="1400" b="1" dirty="0">
                <a:ea typeface="맑은 고딕" panose="020B0503020000020004" pitchFamily="50" charset="-127"/>
              </a:rPr>
              <a:t> 삽입하는 프로시저                      </a:t>
            </a:r>
            <a:r>
              <a:rPr lang="en-US" altLang="ko-KR" sz="1400" b="1" dirty="0" err="1">
                <a:solidFill>
                  <a:srgbClr val="CC0000"/>
                </a:solidFill>
                <a:ea typeface="맑은 고딕" panose="020B0503020000020004" pitchFamily="50" charset="-127"/>
              </a:rPr>
              <a:t>InsertBook.sql</a:t>
            </a:r>
            <a:endParaRPr lang="ko-KR" altLang="en-US" sz="1400" b="1" dirty="0">
              <a:solidFill>
                <a:srgbClr val="CC0000"/>
              </a:solidFill>
              <a:ea typeface="맑은 고딕" panose="020B0503020000020004" pitchFamily="50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48714"/>
              </p:ext>
            </p:extLst>
          </p:nvPr>
        </p:nvGraphicFramePr>
        <p:xfrm>
          <a:off x="834826" y="2892177"/>
          <a:ext cx="7481589" cy="3485388"/>
        </p:xfrm>
        <a:graphic>
          <a:graphicData uri="http://schemas.openxmlformats.org/drawingml/2006/table">
            <a:tbl>
              <a:tblPr/>
              <a:tblGrid>
                <a:gridCol w="409977">
                  <a:extLst>
                    <a:ext uri="{9D8B030D-6E8A-4147-A177-3AD203B41FA5}">
                      <a16:colId xmlns:a16="http://schemas.microsoft.com/office/drawing/2014/main" val="3478232798"/>
                    </a:ext>
                  </a:extLst>
                </a:gridCol>
                <a:gridCol w="7071612">
                  <a:extLst>
                    <a:ext uri="{9D8B030D-6E8A-4147-A177-3AD203B41FA5}">
                      <a16:colId xmlns:a16="http://schemas.microsoft.com/office/drawing/2014/main" val="3064594964"/>
                    </a:ext>
                  </a:extLst>
                </a:gridCol>
              </a:tblGrid>
              <a:tr h="23980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02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03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04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05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07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08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 practice8;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delimiter //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CREATE PROCEDURE </a:t>
                      </a: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InsertBook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IN </a:t>
                      </a: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myBookID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INTEGER, 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IN </a:t>
                      </a: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myBookName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VARCHAR(40), 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IN </a:t>
                      </a: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myPublisher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VARCHAR(40), 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IN </a:t>
                      </a: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myPrice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INTEGER)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BEGIN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INSERT INTO Book(</a:t>
                      </a: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bookid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bookname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publisher, price)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VALUES(</a:t>
                      </a: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myBookID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myBookName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myPublisher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myPrice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);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END;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//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delimiter ;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307562"/>
                  </a:ext>
                </a:extLst>
              </a:tr>
              <a:tr h="67043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/*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프로시저 </a:t>
                      </a: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InsertBook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테스트하는 부분 *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CALL </a:t>
                      </a: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InsertBook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(13, '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스포츠과학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'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마당과학서적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25000);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* FROM Book;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4466632"/>
                  </a:ext>
                </a:extLst>
              </a:tr>
            </a:tbl>
          </a:graphicData>
        </a:graphic>
      </p:graphicFrame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641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삽입 작업을 하는 프로시저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저장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632" y="465313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5-5 </a:t>
            </a:r>
            <a:r>
              <a:rPr lang="en-US" altLang="ko-KR" sz="1400" b="1" dirty="0" err="1">
                <a:ea typeface="맑은 고딕" panose="020B0503020000020004" pitchFamily="50" charset="-127"/>
              </a:rPr>
              <a:t>InsertBook</a:t>
            </a:r>
            <a:r>
              <a:rPr lang="en-US" altLang="ko-KR" sz="1400" b="1" dirty="0"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ea typeface="맑은 고딕" panose="020B0503020000020004" pitchFamily="50" charset="-127"/>
              </a:rPr>
              <a:t>프로시저를 실행한 후 </a:t>
            </a:r>
            <a:r>
              <a:rPr lang="en-US" altLang="ko-KR" sz="1400" b="1" dirty="0">
                <a:ea typeface="맑은 고딕" panose="020B0503020000020004" pitchFamily="50" charset="-127"/>
              </a:rPr>
              <a:t>Book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641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삽입 작업을 하는 프로시저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060848"/>
            <a:ext cx="3261172" cy="250403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저장 프로그램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28800"/>
            <a:ext cx="8064896" cy="864096"/>
          </a:xfrm>
        </p:spPr>
        <p:txBody>
          <a:bodyPr/>
          <a:lstStyle/>
          <a:p>
            <a:r>
              <a:rPr lang="ko-KR" altLang="en-US" dirty="0"/>
              <a:t>저장 프로그램의 제어문은 어떤 조건에서 어떤 코드가 실행되어야 하는지를 </a:t>
            </a:r>
            <a:br>
              <a:rPr lang="en-US" altLang="ko-KR" dirty="0"/>
            </a:br>
            <a:r>
              <a:rPr lang="ko-KR" altLang="en-US" dirty="0"/>
              <a:t>제어하기 위한 문법으로</a:t>
            </a:r>
            <a:r>
              <a:rPr lang="en-US" altLang="ko-KR" dirty="0"/>
              <a:t>, </a:t>
            </a:r>
            <a:r>
              <a:rPr lang="ko-KR" altLang="en-US" dirty="0"/>
              <a:t>절차적 언어의 구성요소를 포함함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6272" y="256490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5-2 </a:t>
            </a:r>
            <a:r>
              <a:rPr lang="ko-KR" altLang="en-US" sz="1400" b="1" dirty="0">
                <a:ea typeface="맑은 고딕" panose="020B0503020000020004" pitchFamily="50" charset="-127"/>
              </a:rPr>
              <a:t>저장 프로그램의 제어문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755576" y="2924944"/>
          <a:ext cx="7848872" cy="3632904"/>
        </p:xfrm>
        <a:graphic>
          <a:graphicData uri="http://schemas.openxmlformats.org/drawingml/2006/table">
            <a:tbl>
              <a:tblPr/>
              <a:tblGrid>
                <a:gridCol w="1308698">
                  <a:extLst>
                    <a:ext uri="{9D8B030D-6E8A-4147-A177-3AD203B41FA5}">
                      <a16:colId xmlns:a16="http://schemas.microsoft.com/office/drawing/2014/main" val="2039787899"/>
                    </a:ext>
                  </a:extLst>
                </a:gridCol>
                <a:gridCol w="3443830">
                  <a:extLst>
                    <a:ext uri="{9D8B030D-6E8A-4147-A177-3AD203B41FA5}">
                      <a16:colId xmlns:a16="http://schemas.microsoft.com/office/drawing/2014/main" val="3669634167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08430554"/>
                    </a:ext>
                  </a:extLst>
                </a:gridCol>
              </a:tblGrid>
              <a:tr h="17607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구문</a:t>
                      </a:r>
                    </a:p>
                  </a:txBody>
                  <a:tcPr marL="59876" marR="59876" marT="16554" marB="16554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</a:p>
                  </a:txBody>
                  <a:tcPr marL="59876" marR="59876" marT="16554" marB="1655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문법</a:t>
                      </a:r>
                    </a:p>
                  </a:txBody>
                  <a:tcPr marL="59876" marR="59876" marT="16554" marB="1655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913619"/>
                  </a:ext>
                </a:extLst>
              </a:tr>
              <a:tr h="17607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DELIMITER</a:t>
                      </a:r>
                    </a:p>
                  </a:txBody>
                  <a:tcPr marL="59876" marR="59876" marT="16554" marB="16554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lvl="0" indent="-127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구문 종료 기호 설정</a:t>
                      </a:r>
                    </a:p>
                  </a:txBody>
                  <a:tcPr marL="59876" marR="59876" marT="16554" marB="1655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DELIMITER {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기호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}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9876" marR="59876" marT="16554" marB="1655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8392837"/>
                  </a:ext>
                </a:extLst>
              </a:tr>
              <a:tr h="47425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BEGIN-END</a:t>
                      </a:r>
                    </a:p>
                  </a:txBody>
                  <a:tcPr marL="59876" marR="59876" marT="16554" marB="16554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lvl="0" indent="-127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프로그램 문을 </a:t>
                      </a:r>
                      <a:r>
                        <a:rPr lang="ko-KR" alt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블록화시킴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27000" marR="0" lvl="0" indent="-127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중첩 가능</a:t>
                      </a:r>
                    </a:p>
                  </a:txBody>
                  <a:tcPr marL="59876" marR="59876" marT="16554" marB="1655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BEGIN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{SQL 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}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END</a:t>
                      </a:r>
                    </a:p>
                  </a:txBody>
                  <a:tcPr marL="59876" marR="59876" marT="16554" marB="1655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784269"/>
                  </a:ext>
                </a:extLst>
              </a:tr>
              <a:tr h="47425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IF-ELSE</a:t>
                      </a:r>
                    </a:p>
                  </a:txBody>
                  <a:tcPr marL="59876" marR="59876" marT="16554" marB="16554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lvl="0" indent="-127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조건의 검사 결과에 따라 문장을 선택적으로 수행</a:t>
                      </a:r>
                    </a:p>
                  </a:txBody>
                  <a:tcPr marL="59876" marR="59876" marT="16554" marB="1655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IF &lt;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조건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&gt; </a:t>
                      </a: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THEN {SQL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}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ELSE {SQL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}]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END IF;</a:t>
                      </a:r>
                    </a:p>
                  </a:txBody>
                  <a:tcPr marL="59876" marR="59876" marT="16554" marB="1655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612183"/>
                  </a:ext>
                </a:extLst>
              </a:tr>
              <a:tr h="47425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LOOP</a:t>
                      </a:r>
                    </a:p>
                  </a:txBody>
                  <a:tcPr marL="59876" marR="59876" marT="16554" marB="16554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lvl="0" indent="-127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LEAVE 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문을 만나기 전까지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LOOP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반복</a:t>
                      </a:r>
                    </a:p>
                  </a:txBody>
                  <a:tcPr marL="59876" marR="59876" marT="16554" marB="1655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[label:] LOOP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{SQL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 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| </a:t>
                      </a: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LEAVE [label] }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END LOOP</a:t>
                      </a:r>
                    </a:p>
                  </a:txBody>
                  <a:tcPr marL="59876" marR="59876" marT="16554" marB="1655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8851315"/>
                  </a:ext>
                </a:extLst>
              </a:tr>
              <a:tr h="47425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WHILE </a:t>
                      </a:r>
                    </a:p>
                  </a:txBody>
                  <a:tcPr marL="59876" marR="59876" marT="16554" marB="16554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lvl="0" indent="-127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조건이 참일 경우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WHILE 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문의 블록을 실행</a:t>
                      </a:r>
                    </a:p>
                  </a:txBody>
                  <a:tcPr marL="59876" marR="59876" marT="16554" marB="1655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WHILE &lt;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조건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&gt; </a:t>
                      </a: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{SQL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 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| </a:t>
                      </a: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 | CONTINUE}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END WHILE</a:t>
                      </a:r>
                    </a:p>
                  </a:txBody>
                  <a:tcPr marL="59876" marR="59876" marT="16554" marB="1655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1260599"/>
                  </a:ext>
                </a:extLst>
              </a:tr>
              <a:tr h="62334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REPEAT</a:t>
                      </a:r>
                    </a:p>
                  </a:txBody>
                  <a:tcPr marL="59876" marR="59876" marT="16554" marB="16554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lvl="0" indent="-127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조건이 참일 경우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REPEAT 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문의 블록을 실행</a:t>
                      </a:r>
                    </a:p>
                  </a:txBody>
                  <a:tcPr marL="59876" marR="59876" marT="16554" marB="1655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[label:] REPEAT 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{SQL 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| </a:t>
                      </a: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 | CONTINUE}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UNTIL &lt;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조건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&gt;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END REPEAT [label:]</a:t>
                      </a:r>
                    </a:p>
                  </a:txBody>
                  <a:tcPr marL="59876" marR="59876" marT="16554" marB="1655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0985019"/>
                  </a:ext>
                </a:extLst>
              </a:tr>
              <a:tr h="32516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RETURN</a:t>
                      </a:r>
                    </a:p>
                  </a:txBody>
                  <a:tcPr marL="59876" marR="59876" marT="16554" marB="16554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0" marR="0" lvl="0" indent="-127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프로시저를 종료</a:t>
                      </a:r>
                    </a:p>
                    <a:p>
                      <a:pPr marL="127000" marR="0" lvl="0" indent="-127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상태값을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반환 가능</a:t>
                      </a:r>
                    </a:p>
                  </a:txBody>
                  <a:tcPr marL="59876" marR="59876" marT="16554" marB="1655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RETURN [&lt;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식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&gt;]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9876" marR="59876" marT="16554" marB="1655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3150440"/>
                  </a:ext>
                </a:extLst>
              </a:tr>
            </a:tbl>
          </a:graphicData>
        </a:graphic>
      </p:graphicFrame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641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 err="1">
                <a:solidFill>
                  <a:schemeClr val="tx2"/>
                </a:solidFill>
              </a:rPr>
              <a:t>제어문을</a:t>
            </a:r>
            <a:r>
              <a:rPr kumimoji="0" lang="ko-KR" altLang="en-US" sz="2000" dirty="0">
                <a:solidFill>
                  <a:schemeClr val="tx2"/>
                </a:solidFill>
              </a:rPr>
              <a:t> 사용하는 프로시저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저장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584" y="1091600"/>
            <a:ext cx="7488832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예제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5-2 </a:t>
            </a:r>
            <a:r>
              <a:rPr lang="ko-KR" altLang="en-US" sz="1400" b="1" dirty="0">
                <a:ea typeface="맑은 고딕" panose="020B0503020000020004" pitchFamily="50" charset="-127"/>
              </a:rPr>
              <a:t>동일한 도서가 있는지 점검한 후 삽입하는 프로시저      </a:t>
            </a:r>
            <a:r>
              <a:rPr lang="en-US" altLang="ko-KR" sz="1400" b="1" dirty="0" err="1">
                <a:solidFill>
                  <a:srgbClr val="CC0000"/>
                </a:solidFill>
                <a:ea typeface="맑은 고딕" panose="020B0503020000020004" pitchFamily="50" charset="-127"/>
              </a:rPr>
              <a:t>BookInsertOrUpdate.sql</a:t>
            </a:r>
            <a:endParaRPr lang="ko-KR" altLang="en-US" sz="1400" b="1" dirty="0">
              <a:solidFill>
                <a:srgbClr val="CC0000"/>
              </a:solidFill>
              <a:ea typeface="맑은 고딕" panose="020B0503020000020004" pitchFamily="50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882517"/>
              </p:ext>
            </p:extLst>
          </p:nvPr>
        </p:nvGraphicFramePr>
        <p:xfrm>
          <a:off x="827584" y="1500056"/>
          <a:ext cx="7488832" cy="5169304"/>
        </p:xfrm>
        <a:graphic>
          <a:graphicData uri="http://schemas.openxmlformats.org/drawingml/2006/table">
            <a:tbl>
              <a:tblPr/>
              <a:tblGrid>
                <a:gridCol w="410374">
                  <a:extLst>
                    <a:ext uri="{9D8B030D-6E8A-4147-A177-3AD203B41FA5}">
                      <a16:colId xmlns:a16="http://schemas.microsoft.com/office/drawing/2014/main" val="1309346955"/>
                    </a:ext>
                  </a:extLst>
                </a:gridCol>
                <a:gridCol w="7078458">
                  <a:extLst>
                    <a:ext uri="{9D8B030D-6E8A-4147-A177-3AD203B41FA5}">
                      <a16:colId xmlns:a16="http://schemas.microsoft.com/office/drawing/2014/main" val="2120437029"/>
                    </a:ext>
                  </a:extLst>
                </a:gridCol>
              </a:tblGrid>
              <a:tr h="383465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05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07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44005" marR="44005" marT="12166" marB="1216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 practice8;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delimiter //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CREATE PROCEDURE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BookInsertOrUpdate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myBookID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INTEGER,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myBookName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VARCHAR(40), 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myPublisher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VARCHAR(40),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myPrice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INT) 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BEGIN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DECLARE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mycount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INTEGER;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SELECT count(*) INTO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mycount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FROM Book 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WHERE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bookname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LIKE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myBookName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; 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IF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mycount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!=0 THEN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SET SQL_SAFE_UPDATES=0; /* DELETE, UPDATE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연산에 필요한 설정 문 *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UPDATE Book SET price =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myPrice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WHERE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bookname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LIKE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myBookName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ELSE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INSERT INTO Book(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bookid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bookname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publisher, price)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VALUES(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myBookID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myBookName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myPublisher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myPrice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END IF;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//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delimiter 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44005" marR="44005" marT="12166" marB="12166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19132"/>
                  </a:ext>
                </a:extLst>
              </a:tr>
              <a:tr h="101833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pt-BR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pt-BR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pt-BR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pt-BR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</a:t>
                      </a:r>
                      <a:endParaRPr lang="pt-BR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</a:t>
                      </a:r>
                      <a:endParaRPr lang="pt-BR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44005" marR="44005" marT="12166" marB="1216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--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BookInsertOrUpdate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프로시저를 실행하여 테스트하는 부분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CALL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BookInsertOrUpdate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(15, '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스포츠 즐거움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'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마당과학서적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25000);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* FROM Book; -- 15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투플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삽입 결과 확인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--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BookInsertOrUpdate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프로시저를 실행하여 테스트하는 부분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CALL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BookInsertOrUpdate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(15, '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스포츠 즐거움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'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마당과학서적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20000);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* FROM Book; -- 15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투플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가격 변경 확인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44005" marR="44005" marT="12166" marB="12166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5168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저장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584" y="515719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5-6 </a:t>
            </a:r>
            <a:r>
              <a:rPr lang="en-US" altLang="ko-KR" sz="1400" b="1" dirty="0" err="1">
                <a:ea typeface="맑은 고딕" panose="020B0503020000020004" pitchFamily="50" charset="-127"/>
              </a:rPr>
              <a:t>BookInsertOrUpdate</a:t>
            </a:r>
            <a:r>
              <a:rPr lang="en-US" altLang="ko-KR" sz="1400" b="1" dirty="0"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ea typeface="맑은 고딕" panose="020B0503020000020004" pitchFamily="50" charset="-127"/>
              </a:rPr>
              <a:t>프로시저를 실행한 후 </a:t>
            </a:r>
            <a:r>
              <a:rPr lang="en-US" altLang="ko-KR" sz="1400" b="1" dirty="0">
                <a:ea typeface="맑은 고딕" panose="020B0503020000020004" pitchFamily="50" charset="-127"/>
              </a:rPr>
              <a:t>Book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641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 err="1">
                <a:solidFill>
                  <a:schemeClr val="tx2"/>
                </a:solidFill>
              </a:rPr>
              <a:t>제어문을</a:t>
            </a:r>
            <a:r>
              <a:rPr kumimoji="0" lang="ko-KR" altLang="en-US" sz="2000" dirty="0">
                <a:solidFill>
                  <a:schemeClr val="tx2"/>
                </a:solidFill>
              </a:rPr>
              <a:t> 사용하는 프로시저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060848"/>
            <a:ext cx="6954366" cy="290206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저장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810" y="1844823"/>
            <a:ext cx="7625605" cy="3600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예제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5-3 </a:t>
            </a:r>
            <a:r>
              <a:rPr lang="en-US" altLang="ko-KR" sz="1400" b="1" dirty="0">
                <a:ea typeface="맑은 고딕" panose="020B0503020000020004" pitchFamily="50" charset="-127"/>
              </a:rPr>
              <a:t>Book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테이블에 저장된 도서의 평균가격을 반환하는 프로시저       </a:t>
            </a:r>
            <a:r>
              <a:rPr lang="en-US" altLang="ko-KR" sz="1400" b="1" dirty="0" err="1">
                <a:solidFill>
                  <a:srgbClr val="FF0000"/>
                </a:solidFill>
                <a:ea typeface="맑은 고딕" panose="020B0503020000020004" pitchFamily="50" charset="-127"/>
              </a:rPr>
              <a:t>AveragePrice.sql</a:t>
            </a:r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0809" y="594928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5-7 </a:t>
            </a:r>
            <a:r>
              <a:rPr lang="en-US" altLang="ko-KR" sz="1400" b="1" dirty="0" err="1">
                <a:ea typeface="맑은 고딕" panose="020B0503020000020004" pitchFamily="50" charset="-127"/>
              </a:rPr>
              <a:t>AveragePrice</a:t>
            </a:r>
            <a:r>
              <a:rPr lang="en-US" altLang="ko-KR" sz="1400" b="1" dirty="0"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ea typeface="맑은 고딕" panose="020B0503020000020004" pitchFamily="50" charset="-127"/>
              </a:rPr>
              <a:t>프로시저를 실행한 결과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690809" y="2204864"/>
          <a:ext cx="7625605" cy="2358771"/>
        </p:xfrm>
        <a:graphic>
          <a:graphicData uri="http://schemas.openxmlformats.org/drawingml/2006/table">
            <a:tbl>
              <a:tblPr/>
              <a:tblGrid>
                <a:gridCol w="417869">
                  <a:extLst>
                    <a:ext uri="{9D8B030D-6E8A-4147-A177-3AD203B41FA5}">
                      <a16:colId xmlns:a16="http://schemas.microsoft.com/office/drawing/2014/main" val="3504979535"/>
                    </a:ext>
                  </a:extLst>
                </a:gridCol>
                <a:gridCol w="7207736">
                  <a:extLst>
                    <a:ext uri="{9D8B030D-6E8A-4147-A177-3AD203B41FA5}">
                      <a16:colId xmlns:a16="http://schemas.microsoft.com/office/drawing/2014/main" val="2506733242"/>
                    </a:ext>
                  </a:extLst>
                </a:gridCol>
              </a:tblGrid>
              <a:tr h="14952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05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07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delimiter //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CREATE PROCEDURE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AveragePrice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AverageVal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INTEGER)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BEGIN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AVG(price) INTO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AverageVal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FROM Book WHERE price IS NOT NULL;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//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delimiter 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602487"/>
                  </a:ext>
                </a:extLst>
              </a:tr>
              <a:tr h="67703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/*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프로시저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AveragePrice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테스트하는 부분 *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CALL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AveragePrice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(@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myValue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);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@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myValue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;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964127"/>
                  </a:ext>
                </a:extLst>
              </a:tr>
            </a:tbl>
          </a:graphicData>
        </a:graphic>
      </p:graphicFrame>
      <p:sp>
        <p:nvSpPr>
          <p:cNvPr id="9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641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결과를 반환하는 프로시저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5301208"/>
            <a:ext cx="874589" cy="56141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저장 프로그램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4536504"/>
          </a:xfrm>
        </p:spPr>
        <p:txBody>
          <a:bodyPr/>
          <a:lstStyle/>
          <a:p>
            <a:r>
              <a:rPr lang="ko-KR" altLang="en-US" dirty="0"/>
              <a:t>커서</a:t>
            </a:r>
            <a:r>
              <a:rPr lang="en-US" altLang="ko-KR" dirty="0"/>
              <a:t>(cursor)</a:t>
            </a:r>
            <a:r>
              <a:rPr lang="ko-KR" altLang="en-US" dirty="0"/>
              <a:t>는 실행 결과 테이블을 한 번에 한 행씩 처리하기 위하여 테이블의 행을 순서대로 가리키는 데 사용함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5" name="TextBox 4"/>
          <p:cNvSpPr txBox="1"/>
          <p:nvPr/>
        </p:nvSpPr>
        <p:spPr>
          <a:xfrm>
            <a:off x="699230" y="2748161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5-3 </a:t>
            </a:r>
            <a:r>
              <a:rPr lang="ko-KR" altLang="en-US" sz="1400" b="1" dirty="0">
                <a:ea typeface="맑은 고딕" panose="020B0503020000020004" pitchFamily="50" charset="-127"/>
              </a:rPr>
              <a:t>커서와 관련된 키워드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109996"/>
            <a:ext cx="7128792" cy="1947099"/>
          </a:xfrm>
          <a:prstGeom prst="rect">
            <a:avLst/>
          </a:prstGeom>
        </p:spPr>
      </p:pic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641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커서를 사용하는 프로시저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저장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584" y="1124744"/>
            <a:ext cx="7488832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예제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5-4 </a:t>
            </a:r>
            <a:r>
              <a:rPr lang="en-US" altLang="ko-KR" sz="1400" b="1" dirty="0">
                <a:ea typeface="맑은 고딕" panose="020B0503020000020004" pitchFamily="50" charset="-127"/>
              </a:rPr>
              <a:t>Orders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테이블의 판매 도서에 대한 이익을 계산하는 프로시저         </a:t>
            </a:r>
            <a:r>
              <a:rPr lang="en-US" altLang="ko-KR" sz="1400" b="1" dirty="0" err="1">
                <a:solidFill>
                  <a:srgbClr val="CC0000"/>
                </a:solidFill>
                <a:ea typeface="맑은 고딕" panose="020B0503020000020004" pitchFamily="50" charset="-127"/>
              </a:rPr>
              <a:t>Interest.sql</a:t>
            </a:r>
            <a:endParaRPr lang="ko-KR" altLang="en-US" sz="1400" b="1" dirty="0">
              <a:solidFill>
                <a:srgbClr val="CC0000"/>
              </a:solidFill>
              <a:ea typeface="맑은 고딕" panose="020B0503020000020004" pitchFamily="50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827584" y="1556792"/>
          <a:ext cx="7488832" cy="5171024"/>
        </p:xfrm>
        <a:graphic>
          <a:graphicData uri="http://schemas.openxmlformats.org/drawingml/2006/table">
            <a:tbl>
              <a:tblPr/>
              <a:tblGrid>
                <a:gridCol w="410374">
                  <a:extLst>
                    <a:ext uri="{9D8B030D-6E8A-4147-A177-3AD203B41FA5}">
                      <a16:colId xmlns:a16="http://schemas.microsoft.com/office/drawing/2014/main" val="1640469346"/>
                    </a:ext>
                  </a:extLst>
                </a:gridCol>
                <a:gridCol w="7078458">
                  <a:extLst>
                    <a:ext uri="{9D8B030D-6E8A-4147-A177-3AD203B41FA5}">
                      <a16:colId xmlns:a16="http://schemas.microsoft.com/office/drawing/2014/main" val="1895953616"/>
                    </a:ext>
                  </a:extLst>
                </a:gridCol>
              </a:tblGrid>
              <a:tr h="44847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05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07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45560" marR="45560" marT="12596" marB="1259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delimiter //  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CREATE PROCEDURE Interest()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BEGIN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DECLARE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myInterest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INTEGER DEFAULT 0.0;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DECLARE Price INTEGER;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DECLARE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endOfRow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BOOLEAN DEFAULT FALSE; 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DECLARE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InterestCursor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CURSOR FOR 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	SELECT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saleprice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FROM Orders;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DECLARE CONTINUE handler 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	FOR NOT FOUND SET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endOfRow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=TRUE;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OPEN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InterestCursor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;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cursor_loop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LOOP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FETCH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InterestCursor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INTO Price;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IF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endOfRow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THEN LEAVE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cursor_loop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; 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END IF;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IF Price &gt;= 30000 THEN 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SET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myInterest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=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myInterest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+ Price * 0.1;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ELSE 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SET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myInterest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=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myInterest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+ Price * 0.05;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END IF;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END LOOP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cursor_loop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;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CLOSE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InterestCursor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;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SELECT CONCAT('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이익 금액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 ',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myInterest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);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END;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//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delimiter 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45560" marR="45560" marT="12596" marB="12596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9436634"/>
                  </a:ext>
                </a:extLst>
              </a:tr>
              <a:tr h="36823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45560" marR="45560" marT="12596" marB="1259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/* Interest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프로시저를 실행하여 판매된 도서에 대한 이익금을 계산 *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CALL Interest();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45560" marR="45560" marT="12596" marB="12596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21570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저장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616" y="299695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5-8 </a:t>
            </a:r>
            <a:r>
              <a:rPr lang="en-US" altLang="ko-KR" sz="1400" b="1" dirty="0">
                <a:ea typeface="맑은 고딕" panose="020B0503020000020004" pitchFamily="50" charset="-127"/>
              </a:rPr>
              <a:t>Interest </a:t>
            </a:r>
            <a:r>
              <a:rPr lang="ko-KR" altLang="en-US" sz="1400" b="1" dirty="0">
                <a:ea typeface="맑은 고딕" panose="020B0503020000020004" pitchFamily="50" charset="-127"/>
              </a:rPr>
              <a:t>프로시저를 실행한 결과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641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커서를 사용하는 프로시저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132856"/>
            <a:ext cx="2312095" cy="669147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 err="1"/>
              <a:t>트리거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7560840" cy="5472608"/>
          </a:xfrm>
        </p:spPr>
        <p:txBody>
          <a:bodyPr/>
          <a:lstStyle/>
          <a:p>
            <a:r>
              <a:rPr lang="ko-KR" altLang="en-US" dirty="0" err="1"/>
              <a:t>트리거</a:t>
            </a:r>
            <a:r>
              <a:rPr lang="en-US" altLang="ko-KR" dirty="0"/>
              <a:t>(trigger) : </a:t>
            </a:r>
            <a:r>
              <a:rPr lang="ko-KR" altLang="en-US" dirty="0"/>
              <a:t>데이터의 변경</a:t>
            </a:r>
            <a:r>
              <a:rPr lang="en-US" altLang="ko-KR" dirty="0"/>
              <a:t>(INSERT, DELETE, UPDATE) </a:t>
            </a:r>
            <a:r>
              <a:rPr lang="ko-KR" altLang="en-US" dirty="0"/>
              <a:t>문이 실행될 때 자동으로 따라서 실행되는 프로시저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1285852" y="2526014"/>
            <a:ext cx="2772014" cy="8572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DATA </a:t>
            </a:r>
            <a:r>
              <a:rPr lang="ko-KR" altLang="en-US" sz="1600" dirty="0">
                <a:solidFill>
                  <a:schemeClr val="tx1"/>
                </a:solidFill>
              </a:rPr>
              <a:t>변경 문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(INSERT,  DELETE,  UPDATE)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4906214" y="2132856"/>
            <a:ext cx="2428892" cy="64294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BEFORE </a:t>
            </a:r>
            <a:r>
              <a:rPr lang="ko-KR" altLang="en-US" sz="1600" dirty="0" err="1">
                <a:solidFill>
                  <a:schemeClr val="tx1"/>
                </a:solidFill>
              </a:rPr>
              <a:t>트리거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4906214" y="3101190"/>
            <a:ext cx="2428892" cy="64294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tx1"/>
                </a:solidFill>
              </a:rPr>
              <a:t>AFTER </a:t>
            </a:r>
            <a:r>
              <a:rPr lang="ko-KR" altLang="en-US" sz="1600" dirty="0" err="1">
                <a:solidFill>
                  <a:schemeClr val="tx1"/>
                </a:solidFill>
              </a:rPr>
              <a:t>트리거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7" name="꺾인 연결선 6"/>
          <p:cNvCxnSpPr/>
          <p:nvPr/>
        </p:nvCxnSpPr>
        <p:spPr>
          <a:xfrm>
            <a:off x="4057866" y="2954642"/>
            <a:ext cx="848348" cy="468019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꺾인 연결선 7"/>
          <p:cNvCxnSpPr/>
          <p:nvPr/>
        </p:nvCxnSpPr>
        <p:spPr>
          <a:xfrm flipV="1">
            <a:off x="4057866" y="2454327"/>
            <a:ext cx="848348" cy="500315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2296" y="403387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5-9 </a:t>
            </a:r>
            <a:r>
              <a:rPr lang="ko-KR" altLang="en-US" sz="1400" b="1" dirty="0">
                <a:ea typeface="맑은 고딕" panose="020B0503020000020004" pitchFamily="50" charset="-127"/>
              </a:rPr>
              <a:t>데이터 변경과 </a:t>
            </a:r>
            <a:r>
              <a:rPr lang="ko-KR" altLang="en-US" sz="1400" b="1" dirty="0" err="1">
                <a:ea typeface="맑은 고딕" panose="020B0503020000020004" pitchFamily="50" charset="-127"/>
              </a:rPr>
              <a:t>트리거의</a:t>
            </a:r>
            <a:r>
              <a:rPr lang="ko-KR" altLang="en-US" sz="1400" b="1" dirty="0">
                <a:ea typeface="맑은 고딕" panose="020B0503020000020004" pitchFamily="50" charset="-127"/>
              </a:rPr>
              <a:t> 수행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 err="1"/>
              <a:t>트리거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12142" y="1052736"/>
            <a:ext cx="7820298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예제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5-5 </a:t>
            </a:r>
            <a:r>
              <a:rPr lang="ko-KR" altLang="en-US" sz="1400" b="1" dirty="0">
                <a:ea typeface="맑은 고딕" panose="020B0503020000020004" pitchFamily="50" charset="-127"/>
              </a:rPr>
              <a:t>새로운 도서를</a:t>
            </a:r>
            <a:r>
              <a:rPr lang="en-US" altLang="ko-KR" sz="1400" b="1" dirty="0"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ea typeface="맑은 고딕" panose="020B0503020000020004" pitchFamily="50" charset="-127"/>
              </a:rPr>
              <a:t>삽입한 후 자동으로 </a:t>
            </a:r>
            <a:r>
              <a:rPr lang="en-US" altLang="ko-KR" sz="1400" b="1" dirty="0" err="1">
                <a:ea typeface="맑은 고딕" panose="020B0503020000020004" pitchFamily="50" charset="-127"/>
              </a:rPr>
              <a:t>Book_log</a:t>
            </a:r>
            <a:r>
              <a:rPr lang="en-US" altLang="ko-KR" sz="1400" b="1" dirty="0"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테이블에 삽입한 내용을 기록하는 </a:t>
            </a:r>
            <a:r>
              <a:rPr lang="ko-KR" altLang="en-US" sz="1400" b="1" dirty="0" err="1">
                <a:ea typeface="맑은 고딕" panose="020B0503020000020004" pitchFamily="50" charset="-127"/>
              </a:rPr>
              <a:t>트리거</a:t>
            </a:r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712141" y="1670253"/>
          <a:ext cx="7820299" cy="318587"/>
        </p:xfrm>
        <a:graphic>
          <a:graphicData uri="http://schemas.openxmlformats.org/drawingml/2006/table">
            <a:tbl>
              <a:tblPr/>
              <a:tblGrid>
                <a:gridCol w="7820299">
                  <a:extLst>
                    <a:ext uri="{9D8B030D-6E8A-4147-A177-3AD203B41FA5}">
                      <a16:colId xmlns:a16="http://schemas.microsoft.com/office/drawing/2014/main" val="2937628301"/>
                    </a:ext>
                  </a:extLst>
                </a:gridCol>
              </a:tblGrid>
              <a:tr h="318587"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 global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log_bin_trust_function_creators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=ON; /*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실습을 위해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root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계정에서 실행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429224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706080" y="2251683"/>
          <a:ext cx="7826360" cy="1133094"/>
        </p:xfrm>
        <a:graphic>
          <a:graphicData uri="http://schemas.openxmlformats.org/drawingml/2006/table">
            <a:tbl>
              <a:tblPr/>
              <a:tblGrid>
                <a:gridCol w="7826360">
                  <a:extLst>
                    <a:ext uri="{9D8B030D-6E8A-4147-A177-3AD203B41FA5}">
                      <a16:colId xmlns:a16="http://schemas.microsoft.com/office/drawing/2014/main" val="2033423894"/>
                    </a:ext>
                  </a:extLst>
                </a:gridCol>
              </a:tblGrid>
              <a:tr h="975614"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/* </a:t>
                      </a:r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madang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계정에서 실습을 위한 </a:t>
                      </a:r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Book_log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테이블 생성해준다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*/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CREATE TABLE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Book_log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bookid_l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INTEGER,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bookname_l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VARCHAR(40),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publisher_l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VARCHAR(40),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price_l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INTEGER);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3052299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08247"/>
              </p:ext>
            </p:extLst>
          </p:nvPr>
        </p:nvGraphicFramePr>
        <p:xfrm>
          <a:off x="706079" y="3476035"/>
          <a:ext cx="7826361" cy="3003169"/>
        </p:xfrm>
        <a:graphic>
          <a:graphicData uri="http://schemas.openxmlformats.org/drawingml/2006/table">
            <a:tbl>
              <a:tblPr/>
              <a:tblGrid>
                <a:gridCol w="428870">
                  <a:extLst>
                    <a:ext uri="{9D8B030D-6E8A-4147-A177-3AD203B41FA5}">
                      <a16:colId xmlns:a16="http://schemas.microsoft.com/office/drawing/2014/main" val="3730084400"/>
                    </a:ext>
                  </a:extLst>
                </a:gridCol>
                <a:gridCol w="7397491">
                  <a:extLst>
                    <a:ext uri="{9D8B030D-6E8A-4147-A177-3AD203B41FA5}">
                      <a16:colId xmlns:a16="http://schemas.microsoft.com/office/drawing/2014/main" val="2248127209"/>
                    </a:ext>
                  </a:extLst>
                </a:gridCol>
              </a:tblGrid>
              <a:tr h="209943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05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07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delimiter //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CREATE TRIGGER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AfterInsertBook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AFTER INSERT ON Book FOR EACH ROW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BEGIN 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INSERT INTO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Book_log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VALUES(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new.bookid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new.bookname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new.publisher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new.price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//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delimiter 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9666170"/>
                  </a:ext>
                </a:extLst>
              </a:tr>
              <a:tr h="90373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/*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삽입한 내용을 기록하는 트리거 확인 *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INSERT INTO Book VALUES(14, '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스포츠 과학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1', '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이상미디어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25000);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* FROM Book WHERE BOOKID=14;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* FROM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Book_log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WHERE BOOKID_L='14' ; --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확인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5542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 err="1"/>
              <a:t>트리거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99592" y="450912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5-10 </a:t>
            </a:r>
            <a:r>
              <a:rPr lang="en-US" altLang="ko-KR" sz="1400" b="1" dirty="0">
                <a:ea typeface="맑은 고딕" panose="020B0503020000020004" pitchFamily="50" charset="-127"/>
              </a:rPr>
              <a:t>Book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테이블에 </a:t>
            </a:r>
            <a:r>
              <a:rPr lang="ko-KR" altLang="en-US" sz="1400" b="1" dirty="0" err="1">
                <a:ea typeface="맑은 고딕" panose="020B0503020000020004" pitchFamily="50" charset="-127"/>
              </a:rPr>
              <a:t>투플을</a:t>
            </a:r>
            <a:r>
              <a:rPr lang="ko-KR" altLang="en-US" sz="1400" b="1" dirty="0">
                <a:ea typeface="맑은 고딕" panose="020B0503020000020004" pitchFamily="50" charset="-127"/>
              </a:rPr>
              <a:t> 삽입하여 </a:t>
            </a:r>
            <a:r>
              <a:rPr lang="ko-KR" altLang="en-US" sz="1400" b="1" dirty="0" err="1">
                <a:ea typeface="맑은 고딕" panose="020B0503020000020004" pitchFamily="50" charset="-127"/>
              </a:rPr>
              <a:t>트리거가</a:t>
            </a:r>
            <a:r>
              <a:rPr lang="ko-KR" altLang="en-US" sz="1400" b="1" dirty="0">
                <a:ea typeface="맑은 고딕" panose="020B0503020000020004" pitchFamily="50" charset="-127"/>
              </a:rPr>
              <a:t> 실행된 결과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060848"/>
            <a:ext cx="7385019" cy="224847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사용자 정의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7992888" cy="5472608"/>
          </a:xfrm>
        </p:spPr>
        <p:txBody>
          <a:bodyPr/>
          <a:lstStyle/>
          <a:p>
            <a:r>
              <a:rPr lang="ko-KR" altLang="en-US" dirty="0"/>
              <a:t>사용자 정의 함수는 수학의 함수와 마찬가지로 입력된 값을 가공하여 결과 값을 되돌려줌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810" y="2161023"/>
            <a:ext cx="7769622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예제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5-6 </a:t>
            </a:r>
            <a:r>
              <a:rPr lang="ko-KR" altLang="en-US" sz="1400" b="1" dirty="0">
                <a:ea typeface="맑은 고딕" panose="020B0503020000020004" pitchFamily="50" charset="-127"/>
              </a:rPr>
              <a:t>판매된 도서에 대한 이익을 계산하는 함수                                    </a:t>
            </a:r>
            <a:r>
              <a:rPr lang="en-US" altLang="ko-KR" sz="1400" b="1" dirty="0" err="1">
                <a:solidFill>
                  <a:srgbClr val="FF0000"/>
                </a:solidFill>
                <a:ea typeface="맑은 고딕" panose="020B0503020000020004" pitchFamily="50" charset="-127"/>
              </a:rPr>
              <a:t>fnc_Interest.sql</a:t>
            </a:r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690810" y="2550382"/>
          <a:ext cx="7769622" cy="3182874"/>
        </p:xfrm>
        <a:graphic>
          <a:graphicData uri="http://schemas.openxmlformats.org/drawingml/2006/table">
            <a:tbl>
              <a:tblPr/>
              <a:tblGrid>
                <a:gridCol w="425761">
                  <a:extLst>
                    <a:ext uri="{9D8B030D-6E8A-4147-A177-3AD203B41FA5}">
                      <a16:colId xmlns:a16="http://schemas.microsoft.com/office/drawing/2014/main" val="2101738863"/>
                    </a:ext>
                  </a:extLst>
                </a:gridCol>
                <a:gridCol w="7343861">
                  <a:extLst>
                    <a:ext uri="{9D8B030D-6E8A-4147-A177-3AD203B41FA5}">
                      <a16:colId xmlns:a16="http://schemas.microsoft.com/office/drawing/2014/main" val="3800325463"/>
                    </a:ext>
                  </a:extLst>
                </a:gridCol>
              </a:tblGrid>
              <a:tr h="250583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05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07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delimiter //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CREATE FUNCTION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fnc_Interest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Price INTEGER) RETURNS INT 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BEGIN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DECLARE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myInterest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INTEGER;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--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가격이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30,000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 이상이면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10%, 30,000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 미만이면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5%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 Price &gt;= 30000 THEN SET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myInterest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= Price * 0.1;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ELSE SET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myInterest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:= Price * 0.05;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 IF;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RETURN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myInterest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END; //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delimiter 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315935"/>
                  </a:ext>
                </a:extLst>
              </a:tr>
              <a:tr h="67703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/* Orders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테이블에서 각 주문에 대한 이익을 출력 *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custid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orderid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saleprice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fnc_Interest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saleprice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interest 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FROM Orders;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63266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사용자 정의 함수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3648" y="450912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5-11 </a:t>
            </a:r>
            <a:r>
              <a:rPr lang="en-US" altLang="ko-KR" sz="1400" b="1" dirty="0">
                <a:ea typeface="맑은 고딕" panose="020B0503020000020004" pitchFamily="50" charset="-127"/>
              </a:rPr>
              <a:t>Orders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테이블의 </a:t>
            </a:r>
            <a:r>
              <a:rPr lang="ko-KR" altLang="en-US" sz="1400" b="1" dirty="0" err="1">
                <a:ea typeface="맑은 고딕" panose="020B0503020000020004" pitchFamily="50" charset="-127"/>
              </a:rPr>
              <a:t>건별</a:t>
            </a:r>
            <a:r>
              <a:rPr lang="ko-KR" altLang="en-US" sz="1400" b="1" dirty="0">
                <a:ea typeface="맑은 고딕" panose="020B0503020000020004" pitchFamily="50" charset="-127"/>
              </a:rPr>
              <a:t> 이익금 계산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700808"/>
            <a:ext cx="3080197" cy="2798111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사용자 정의 함수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576" y="148478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5-4 </a:t>
            </a:r>
            <a:r>
              <a:rPr lang="ko-KR" altLang="en-US" sz="1400" b="1" dirty="0">
                <a:ea typeface="맑은 고딕" panose="020B0503020000020004" pitchFamily="50" charset="-127"/>
              </a:rPr>
              <a:t>프로시저</a:t>
            </a:r>
            <a:r>
              <a:rPr lang="en-US" altLang="ko-KR" sz="1400" b="1" dirty="0">
                <a:ea typeface="맑은 고딕" panose="020B0503020000020004" pitchFamily="50" charset="-127"/>
              </a:rPr>
              <a:t>, </a:t>
            </a:r>
            <a:r>
              <a:rPr lang="ko-KR" altLang="en-US" sz="1400" b="1" dirty="0" err="1">
                <a:ea typeface="맑은 고딕" panose="020B0503020000020004" pitchFamily="50" charset="-127"/>
              </a:rPr>
              <a:t>트리거</a:t>
            </a:r>
            <a:r>
              <a:rPr lang="en-US" altLang="ko-KR" sz="1400" b="1" dirty="0"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ea typeface="맑은 고딕" panose="020B0503020000020004" pitchFamily="50" charset="-127"/>
              </a:rPr>
              <a:t>사용자 정의 함수의 공통점과 차이점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772816"/>
            <a:ext cx="8136904" cy="32499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9334</TotalTime>
  <Words>2673</Words>
  <Application>Microsoft Office PowerPoint</Application>
  <PresentationFormat>화면 슬라이드 쇼(4:3)</PresentationFormat>
  <Paragraphs>605</Paragraphs>
  <Slides>52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52</vt:i4>
      </vt:variant>
    </vt:vector>
  </HeadingPairs>
  <TitlesOfParts>
    <vt:vector size="58" baseType="lpstr">
      <vt:lpstr>HY견고딕</vt:lpstr>
      <vt:lpstr>맑은 고딕</vt:lpstr>
      <vt:lpstr>Arial</vt:lpstr>
      <vt:lpstr>Wingdings</vt:lpstr>
      <vt:lpstr>Office 테마</vt:lpstr>
      <vt:lpstr>2_Office 테마</vt:lpstr>
      <vt:lpstr>PowerPoint 프레젠테이션</vt:lpstr>
      <vt:lpstr>PowerPoint 프레젠테이션</vt:lpstr>
      <vt:lpstr>1. 뷰의 생성</vt:lpstr>
      <vt:lpstr>1. 뷰의 생성</vt:lpstr>
      <vt:lpstr>1. 뷰의 생성</vt:lpstr>
      <vt:lpstr>1. 뷰의 생성</vt:lpstr>
      <vt:lpstr>1. 뷰의 생성</vt:lpstr>
      <vt:lpstr>1. 뷰의 생성</vt:lpstr>
      <vt:lpstr>2. 뷰의 수정</vt:lpstr>
      <vt:lpstr>3. 뷰의 삭제</vt:lpstr>
      <vt:lpstr>PowerPoint 프레젠테이션</vt:lpstr>
      <vt:lpstr>1. 데이터베이스의 물리적 저장</vt:lpstr>
      <vt:lpstr>1. 데이터베이스의 물리적 저장</vt:lpstr>
      <vt:lpstr>1. 데이터베이스의 물리적 저장</vt:lpstr>
      <vt:lpstr>1. 데이터베이스의 물리적 저장</vt:lpstr>
      <vt:lpstr>1. 데이터베이스의 물리적 저장</vt:lpstr>
      <vt:lpstr>2. 인덱스와 B-tree</vt:lpstr>
      <vt:lpstr>2. 인덱스와 B-tree</vt:lpstr>
      <vt:lpstr>2. 인덱스와 B-tree</vt:lpstr>
      <vt:lpstr>2. 인덱스와 B-tree</vt:lpstr>
      <vt:lpstr>2. 인덱스와 B-tree</vt:lpstr>
      <vt:lpstr>3. MySQL 인덱스</vt:lpstr>
      <vt:lpstr>3. MySQL 인덱스</vt:lpstr>
      <vt:lpstr>3. MySQL 인덱스</vt:lpstr>
      <vt:lpstr>3. MySQL 인덱스</vt:lpstr>
      <vt:lpstr>4. 인덱스의 생성</vt:lpstr>
      <vt:lpstr>4. 인덱스의 생성</vt:lpstr>
      <vt:lpstr>4. 인덱스의 생성</vt:lpstr>
      <vt:lpstr>5. 인덱스의 재구성과 삭제</vt:lpstr>
      <vt:lpstr>5. 인덱스의 재구성과 삭제</vt:lpstr>
      <vt:lpstr>Data Restore</vt:lpstr>
      <vt:lpstr>Data Restore</vt:lpstr>
      <vt:lpstr>Data Restore</vt:lpstr>
      <vt:lpstr>PowerPoint 프레젠테이션</vt:lpstr>
      <vt:lpstr>1. 저장 프로그램</vt:lpstr>
      <vt:lpstr>1. 저장 프로그램</vt:lpstr>
      <vt:lpstr>1. 저장 프로그램</vt:lpstr>
      <vt:lpstr>1. 저장 프로그램</vt:lpstr>
      <vt:lpstr>1. 저장 프로그램</vt:lpstr>
      <vt:lpstr>1. 저장 프로그램</vt:lpstr>
      <vt:lpstr>1. 저장 프로그램</vt:lpstr>
      <vt:lpstr>1. 저장 프로그램</vt:lpstr>
      <vt:lpstr>1. 저장 프로그램</vt:lpstr>
      <vt:lpstr>1. 저장 프로그램</vt:lpstr>
      <vt:lpstr>1. 저장 프로그램</vt:lpstr>
      <vt:lpstr>1. 저장 프로그램</vt:lpstr>
      <vt:lpstr>2. 트리거</vt:lpstr>
      <vt:lpstr>2. 트리거</vt:lpstr>
      <vt:lpstr>2. 트리거</vt:lpstr>
      <vt:lpstr>3. 사용자 정의 함수</vt:lpstr>
      <vt:lpstr>3. 사용자 정의 함수</vt:lpstr>
      <vt:lpstr>3. 사용자 정의 함수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655</cp:revision>
  <cp:lastPrinted>2023-02-19T06:43:06Z</cp:lastPrinted>
  <dcterms:created xsi:type="dcterms:W3CDTF">2012-07-11T10:23:22Z</dcterms:created>
  <dcterms:modified xsi:type="dcterms:W3CDTF">2026-05-07T08:13:30Z</dcterms:modified>
</cp:coreProperties>
</file>
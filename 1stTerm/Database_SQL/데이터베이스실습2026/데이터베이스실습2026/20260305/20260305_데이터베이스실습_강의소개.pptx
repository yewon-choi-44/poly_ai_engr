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handoutMasterIdLst>
    <p:handoutMasterId r:id="rId12"/>
  </p:handoutMasterIdLst>
  <p:sldIdLst>
    <p:sldId id="526" r:id="rId2"/>
    <p:sldId id="524" r:id="rId3"/>
    <p:sldId id="528" r:id="rId4"/>
    <p:sldId id="527" r:id="rId5"/>
    <p:sldId id="531" r:id="rId6"/>
    <p:sldId id="529" r:id="rId7"/>
    <p:sldId id="532" r:id="rId8"/>
    <p:sldId id="530" r:id="rId9"/>
    <p:sldId id="533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5873"/>
    <a:srgbClr val="DB91A3"/>
    <a:srgbClr val="E6B4C0"/>
    <a:srgbClr val="0000CC"/>
    <a:srgbClr val="F3DDE2"/>
    <a:srgbClr val="EDCAD2"/>
    <a:srgbClr val="D6D9DA"/>
    <a:srgbClr val="FFE6AD"/>
    <a:srgbClr val="AD5693"/>
    <a:srgbClr val="974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29" autoAdjust="0"/>
    <p:restoredTop sz="98898" autoAdjust="0"/>
  </p:normalViewPr>
  <p:slideViewPr>
    <p:cSldViewPr>
      <p:cViewPr varScale="1">
        <p:scale>
          <a:sx n="117" d="100"/>
          <a:sy n="117" d="100"/>
        </p:scale>
        <p:origin x="72" y="588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-4080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2026-03-02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2026-03-02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rgbClr val="D6D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 userDrawn="1"/>
        </p:nvGrpSpPr>
        <p:grpSpPr>
          <a:xfrm>
            <a:off x="683568" y="339772"/>
            <a:ext cx="6009316" cy="5185625"/>
            <a:chOff x="-31235" y="260648"/>
            <a:chExt cx="6009316" cy="5185625"/>
          </a:xfrm>
        </p:grpSpPr>
        <p:grpSp>
          <p:nvGrpSpPr>
            <p:cNvPr id="16" name="그룹 15"/>
            <p:cNvGrpSpPr/>
            <p:nvPr userDrawn="1"/>
          </p:nvGrpSpPr>
          <p:grpSpPr>
            <a:xfrm>
              <a:off x="-31235" y="260648"/>
              <a:ext cx="5897935" cy="5185625"/>
              <a:chOff x="-31235" y="260648"/>
              <a:chExt cx="5897935" cy="5185625"/>
            </a:xfrm>
          </p:grpSpPr>
          <p:pic>
            <p:nvPicPr>
              <p:cNvPr id="19" name="그림 18"/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-31235" y="260648"/>
                <a:ext cx="5897935" cy="5185624"/>
              </a:xfrm>
              <a:prstGeom prst="rect">
                <a:avLst/>
              </a:prstGeom>
            </p:spPr>
          </p:pic>
          <p:pic>
            <p:nvPicPr>
              <p:cNvPr id="20" name="그림 19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893169" y="4869161"/>
                <a:ext cx="686943" cy="577112"/>
              </a:xfrm>
              <a:prstGeom prst="rect">
                <a:avLst/>
              </a:prstGeom>
            </p:spPr>
          </p:pic>
          <p:pic>
            <p:nvPicPr>
              <p:cNvPr id="21" name="그림 20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739074" y="5187357"/>
                <a:ext cx="308189" cy="258915"/>
              </a:xfrm>
              <a:prstGeom prst="rect">
                <a:avLst/>
              </a:prstGeom>
            </p:spPr>
          </p:pic>
        </p:grpSp>
        <p:pic>
          <p:nvPicPr>
            <p:cNvPr id="17" name="그림 1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866614" y="274787"/>
              <a:ext cx="111467" cy="158400"/>
            </a:xfrm>
            <a:prstGeom prst="rect">
              <a:avLst/>
            </a:prstGeom>
          </p:spPr>
        </p:pic>
      </p:grpSp>
      <p:grpSp>
        <p:nvGrpSpPr>
          <p:cNvPr id="22" name="그룹 21"/>
          <p:cNvGrpSpPr/>
          <p:nvPr userDrawn="1"/>
        </p:nvGrpSpPr>
        <p:grpSpPr>
          <a:xfrm>
            <a:off x="6266935" y="836712"/>
            <a:ext cx="2525558" cy="2257027"/>
            <a:chOff x="5070778" y="1749430"/>
            <a:chExt cx="2525558" cy="2257027"/>
          </a:xfrm>
        </p:grpSpPr>
        <p:pic>
          <p:nvPicPr>
            <p:cNvPr id="27" name="그림 2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148064" y="1749430"/>
              <a:ext cx="2448272" cy="2153419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70778" y="3226574"/>
              <a:ext cx="365317" cy="779883"/>
            </a:xfrm>
            <a:prstGeom prst="rect">
              <a:avLst/>
            </a:prstGeom>
          </p:spPr>
        </p:pic>
      </p:grp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86410889-0442-4231-B9CA-3F0F289FD4E1}"/>
              </a:ext>
            </a:extLst>
          </p:cNvPr>
          <p:cNvSpPr txBox="1"/>
          <p:nvPr userDrawn="1"/>
        </p:nvSpPr>
        <p:spPr>
          <a:xfrm>
            <a:off x="619945" y="5921929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>
                <a:latin typeface="+mn-lt"/>
                <a:ea typeface="맑은 고딕" pitchFamily="50" charset="-127"/>
              </a:rPr>
              <a:t>Chapter.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5995992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3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4BA2D2-52F7-42A1-8EBA-192AEC431238}"/>
              </a:ext>
            </a:extLst>
          </p:cNvPr>
          <p:cNvGrpSpPr/>
          <p:nvPr userDrawn="1"/>
        </p:nvGrpSpPr>
        <p:grpSpPr>
          <a:xfrm>
            <a:off x="0" y="907564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E6B4C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EDCAD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F3DDE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DB91A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E1A7B5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EDCAD2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EDCAD2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EDCAD2"/>
              </a:buClr>
              <a:buSzPct val="96000"/>
              <a:defRPr sz="1050"/>
            </a:lvl4pPr>
            <a:lvl5pPr marL="990600" indent="-180975">
              <a:buClr>
                <a:srgbClr val="EDCAD2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9060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4" r:id="rId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sql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AD2B1-FB72-086A-E0DB-222668A78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065A6C-40F7-3789-FDBC-C57DD92D378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강의</a:t>
            </a:r>
            <a:r>
              <a:rPr lang="en-US" altLang="ko-KR"/>
              <a:t> </a:t>
            </a:r>
            <a:r>
              <a:rPr lang="ko-KR" altLang="en-US"/>
              <a:t>데이터베이스실습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경력</a:t>
            </a:r>
            <a:endParaRPr lang="en-US" altLang="ko-KR" dirty="0"/>
          </a:p>
          <a:p>
            <a:pPr lvl="1"/>
            <a:r>
              <a:rPr lang="en-US" altLang="ko-KR" dirty="0"/>
              <a:t>2008 ~ </a:t>
            </a:r>
            <a:r>
              <a:rPr lang="ko-KR" altLang="en-US" dirty="0"/>
              <a:t>현재 </a:t>
            </a:r>
            <a:r>
              <a:rPr lang="en-US" altLang="ko-KR" dirty="0"/>
              <a:t>(</a:t>
            </a:r>
            <a:r>
              <a:rPr lang="ko-KR" altLang="en-US" dirty="0"/>
              <a:t>실무 </a:t>
            </a:r>
            <a:r>
              <a:rPr lang="ko-KR" altLang="en-US"/>
              <a:t>경력 </a:t>
            </a:r>
            <a:r>
              <a:rPr lang="en-US" altLang="ko-KR"/>
              <a:t>15</a:t>
            </a:r>
            <a:r>
              <a:rPr lang="ko-KR" altLang="en-US"/>
              <a:t>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임베디드 펌웨어</a:t>
            </a:r>
            <a:r>
              <a:rPr lang="en-US" altLang="ko-KR" dirty="0"/>
              <a:t>(Atmel, C)</a:t>
            </a:r>
          </a:p>
          <a:p>
            <a:pPr lvl="1"/>
            <a:r>
              <a:rPr lang="ko-KR" altLang="en-US" dirty="0"/>
              <a:t>윈도우 어플 개발</a:t>
            </a:r>
            <a:r>
              <a:rPr lang="en-US" altLang="ko-KR" dirty="0"/>
              <a:t>(C#)</a:t>
            </a:r>
          </a:p>
          <a:p>
            <a:pPr lvl="1"/>
            <a:r>
              <a:rPr lang="ko-KR" altLang="en-US" dirty="0"/>
              <a:t>웹 </a:t>
            </a:r>
            <a:r>
              <a:rPr lang="ko-KR" altLang="en-US" dirty="0" err="1"/>
              <a:t>프론트엔드</a:t>
            </a:r>
            <a:r>
              <a:rPr lang="en-US" altLang="ko-KR" dirty="0"/>
              <a:t>(</a:t>
            </a:r>
            <a:r>
              <a:rPr lang="en-US" altLang="ko-KR" dirty="0" err="1"/>
              <a:t>Jquery</a:t>
            </a:r>
            <a:r>
              <a:rPr lang="en-US" altLang="ko-KR" dirty="0"/>
              <a:t>, React, Vue, </a:t>
            </a:r>
            <a:r>
              <a:rPr lang="en-US" altLang="ko-KR" dirty="0" err="1"/>
              <a:t>ExtJS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웹 </a:t>
            </a:r>
            <a:r>
              <a:rPr lang="ko-KR" altLang="en-US" dirty="0" err="1"/>
              <a:t>백엔드</a:t>
            </a:r>
            <a:r>
              <a:rPr lang="en-US" altLang="ko-KR" dirty="0"/>
              <a:t>(Django-Python, Struts-Java, PHP)</a:t>
            </a:r>
          </a:p>
          <a:p>
            <a:pPr lvl="1"/>
            <a:r>
              <a:rPr lang="ko-KR" altLang="en-US" dirty="0"/>
              <a:t>리눅스 서버 관리</a:t>
            </a:r>
            <a:r>
              <a:rPr lang="en-US" altLang="ko-KR" dirty="0"/>
              <a:t>(Fedora, CentOS, Ubuntu)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관리</a:t>
            </a:r>
            <a:r>
              <a:rPr lang="en-US" altLang="ko-KR" dirty="0"/>
              <a:t>(MySQL, MariaDB)</a:t>
            </a:r>
          </a:p>
          <a:p>
            <a:pPr lvl="1"/>
            <a:r>
              <a:rPr lang="ko-KR" altLang="en-US" dirty="0"/>
              <a:t>서버 응용</a:t>
            </a:r>
            <a:r>
              <a:rPr lang="en-US" altLang="ko-KR" dirty="0"/>
              <a:t>(Python)</a:t>
            </a:r>
          </a:p>
          <a:p>
            <a:pPr lvl="1"/>
            <a:r>
              <a:rPr lang="ko-KR" altLang="en-US" dirty="0"/>
              <a:t>안드로이드 앱 개발</a:t>
            </a:r>
            <a:r>
              <a:rPr lang="en-US" altLang="ko-KR" dirty="0"/>
              <a:t>(Java, Kotlin)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/>
              <a:t>월요일 </a:t>
            </a:r>
            <a:r>
              <a:rPr lang="en-US" altLang="ko-KR"/>
              <a:t>1</a:t>
            </a:r>
            <a:r>
              <a:rPr lang="en-US" altLang="ko-KR" dirty="0"/>
              <a:t>4</a:t>
            </a:r>
            <a:r>
              <a:rPr lang="en-US" altLang="ko-KR"/>
              <a:t>:00 ~ 18:00</a:t>
            </a:r>
            <a:endParaRPr lang="en-US" altLang="ko-KR" dirty="0"/>
          </a:p>
          <a:p>
            <a:r>
              <a:rPr lang="ko-KR" altLang="en-US"/>
              <a:t>장준영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061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ko-KR" altLang="en-US" dirty="0"/>
              <a:t>강의 내용</a:t>
            </a:r>
            <a:endParaRPr lang="en-US" altLang="ko-KR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26CADEEB-3FE8-8383-4311-729B59175D0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 기초</a:t>
            </a:r>
            <a:endParaRPr lang="en-US" altLang="ko-KR" dirty="0"/>
          </a:p>
          <a:p>
            <a:pPr lvl="1"/>
            <a:r>
              <a:rPr lang="ko-KR" altLang="en-US" dirty="0"/>
              <a:t>데이터베이스의 이해</a:t>
            </a:r>
            <a:endParaRPr lang="en-US" altLang="ko-KR" dirty="0"/>
          </a:p>
          <a:p>
            <a:pPr lvl="1"/>
            <a:r>
              <a:rPr lang="ko-KR" altLang="en-US" dirty="0"/>
              <a:t>데이터베이스 모델링의 이해</a:t>
            </a:r>
            <a:endParaRPr lang="en-US" altLang="ko-KR" dirty="0"/>
          </a:p>
          <a:p>
            <a:pPr lvl="1"/>
            <a:r>
              <a:rPr lang="en-US" altLang="ko-KR" dirty="0"/>
              <a:t>MySQL </a:t>
            </a:r>
            <a:r>
              <a:rPr lang="ko-KR" altLang="en-US" dirty="0"/>
              <a:t>및 툴 사용</a:t>
            </a:r>
            <a:r>
              <a:rPr lang="en-US" altLang="ko-KR" dirty="0"/>
              <a:t>(Windows,</a:t>
            </a:r>
            <a:r>
              <a:rPr lang="ko-KR" altLang="en-US" dirty="0"/>
              <a:t> </a:t>
            </a:r>
            <a:r>
              <a:rPr lang="en-US" altLang="ko-KR" dirty="0"/>
              <a:t>Linux)</a:t>
            </a:r>
          </a:p>
          <a:p>
            <a:pPr marL="266700" lvl="1" indent="0">
              <a:buNone/>
            </a:pPr>
            <a:endParaRPr lang="en-US" altLang="ko-KR" dirty="0"/>
          </a:p>
          <a:p>
            <a:r>
              <a:rPr lang="en-US" altLang="ko-KR" dirty="0"/>
              <a:t>SQL</a:t>
            </a:r>
            <a:r>
              <a:rPr lang="ko-KR" altLang="en-US" dirty="0"/>
              <a:t> 활용</a:t>
            </a:r>
            <a:endParaRPr lang="en-US" altLang="ko-KR" dirty="0"/>
          </a:p>
          <a:p>
            <a:pPr lvl="1"/>
            <a:r>
              <a:rPr lang="ko-KR" altLang="en-US" dirty="0"/>
              <a:t>데이터 검색과 </a:t>
            </a:r>
            <a:r>
              <a:rPr lang="ko-KR" altLang="en-US" dirty="0" err="1"/>
              <a:t>그룹핑</a:t>
            </a:r>
            <a:endParaRPr lang="en-US" altLang="ko-KR" dirty="0"/>
          </a:p>
          <a:p>
            <a:pPr lvl="1"/>
            <a:r>
              <a:rPr lang="ko-KR" altLang="en-US" dirty="0"/>
              <a:t>데이터 삽입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endParaRPr lang="en-US" altLang="ko-KR" dirty="0"/>
          </a:p>
          <a:p>
            <a:pPr lvl="1"/>
            <a:r>
              <a:rPr lang="ko-KR" altLang="en-US" dirty="0"/>
              <a:t>데이터 형식과 내장 함수</a:t>
            </a:r>
            <a:endParaRPr lang="en-US" altLang="ko-KR" dirty="0"/>
          </a:p>
          <a:p>
            <a:pPr lvl="1"/>
            <a:r>
              <a:rPr lang="ko-KR" altLang="en-US" dirty="0"/>
              <a:t>조인과  </a:t>
            </a:r>
            <a:r>
              <a:rPr lang="en-US" altLang="ko-KR" dirty="0"/>
              <a:t>SQL </a:t>
            </a:r>
            <a:r>
              <a:rPr lang="ko-KR" altLang="en-US" dirty="0"/>
              <a:t>프로그래밍</a:t>
            </a:r>
            <a:endParaRPr lang="en-US" altLang="ko-KR" dirty="0"/>
          </a:p>
          <a:p>
            <a:pPr lvl="1"/>
            <a:r>
              <a:rPr lang="en-US" altLang="ko-KR"/>
              <a:t>PHP, PYTHON (</a:t>
            </a:r>
            <a:r>
              <a:rPr lang="ko-KR" altLang="en-US" dirty="0"/>
              <a:t>웹</a:t>
            </a:r>
            <a:r>
              <a:rPr lang="en-US" altLang="ko-KR" dirty="0"/>
              <a:t>) </a:t>
            </a:r>
            <a:r>
              <a:rPr lang="ko-KR" altLang="en-US" dirty="0"/>
              <a:t>연동 </a:t>
            </a:r>
            <a:endParaRPr lang="en-US" altLang="ko-KR" dirty="0"/>
          </a:p>
          <a:p>
            <a:pPr marL="266700" lvl="1" indent="0">
              <a:buNone/>
            </a:pPr>
            <a:endParaRPr lang="en-US" altLang="ko-KR" dirty="0"/>
          </a:p>
          <a:p>
            <a:r>
              <a:rPr lang="en-US" altLang="ko-KR" dirty="0"/>
              <a:t>DB</a:t>
            </a:r>
            <a:r>
              <a:rPr lang="ko-KR" altLang="en-US" dirty="0"/>
              <a:t> 심화</a:t>
            </a:r>
            <a:endParaRPr lang="en-US" altLang="ko-KR" dirty="0"/>
          </a:p>
          <a:p>
            <a:pPr lvl="1"/>
            <a:r>
              <a:rPr lang="ko-KR" altLang="en-US" dirty="0"/>
              <a:t>데이터베이스 설계</a:t>
            </a:r>
            <a:r>
              <a:rPr lang="en-US" altLang="ko-KR" dirty="0"/>
              <a:t> (</a:t>
            </a:r>
            <a:r>
              <a:rPr lang="ko-KR" altLang="en-US" dirty="0"/>
              <a:t>스키마 모델링</a:t>
            </a:r>
            <a:r>
              <a:rPr lang="en-US" altLang="ko-KR" dirty="0"/>
              <a:t>, </a:t>
            </a:r>
            <a:r>
              <a:rPr lang="ko-KR" altLang="en-US" dirty="0"/>
              <a:t>정규화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데이터베이스 관리 </a:t>
            </a:r>
            <a:r>
              <a:rPr lang="en-US" altLang="ko-KR" dirty="0"/>
              <a:t>(</a:t>
            </a:r>
            <a:r>
              <a:rPr lang="ko-KR" altLang="en-US" dirty="0"/>
              <a:t>트랜잭션</a:t>
            </a:r>
            <a:r>
              <a:rPr lang="en-US" altLang="ko-KR" dirty="0"/>
              <a:t>, </a:t>
            </a:r>
            <a:r>
              <a:rPr lang="ko-KR" altLang="en-US" dirty="0"/>
              <a:t>보안</a:t>
            </a:r>
            <a:r>
              <a:rPr lang="en-US" altLang="ko-KR" dirty="0"/>
              <a:t>)</a:t>
            </a:r>
          </a:p>
          <a:p>
            <a:pPr marL="266700" lvl="1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118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6" name="Rectangle 1064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3279D6-8C7E-589F-E204-322F7201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06" y="679731"/>
            <a:ext cx="3128996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 latinLnBrk="0"/>
            <a:r>
              <a:rPr lang="ko-KR" alt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교재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8AFE5-E2C2-C165-AD78-B1B345D222F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9706" y="4685288"/>
            <a:ext cx="3128996" cy="10357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 latinLnBrk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ko-KR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</a:t>
            </a:r>
            <a:r>
              <a:rPr lang="ko-KR" alt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배우는 데이터 베이스 개론과 실습</a:t>
            </a:r>
          </a:p>
        </p:txBody>
      </p:sp>
      <p:grpSp>
        <p:nvGrpSpPr>
          <p:cNvPr id="1077" name="Group 1066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62324" y="1"/>
            <a:ext cx="1834788" cy="5777808"/>
            <a:chOff x="329184" y="1"/>
            <a:chExt cx="524256" cy="5777808"/>
          </a:xfrm>
        </p:grpSpPr>
        <p:cxnSp>
          <p:nvCxnSpPr>
            <p:cNvPr id="1078" name="Straight Connector 1067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9" name="Rectangle 1068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948" y="269324"/>
            <a:ext cx="4587584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9C8013-F2DF-F460-9EAF-05A22F333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30429" y="744573"/>
            <a:ext cx="4206622" cy="525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73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A3B5B-47B2-17E6-DC72-00756820D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계획표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DC53400-BBB3-0028-F5F0-FFF7FBA82656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227722032"/>
              </p:ext>
            </p:extLst>
          </p:nvPr>
        </p:nvGraphicFramePr>
        <p:xfrm>
          <a:off x="539552" y="1068646"/>
          <a:ext cx="8064897" cy="527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4995311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2535144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293936513"/>
                    </a:ext>
                  </a:extLst>
                </a:gridCol>
                <a:gridCol w="4824537">
                  <a:extLst>
                    <a:ext uri="{9D8B030D-6E8A-4147-A177-3AD203B41FA5}">
                      <a16:colId xmlns:a16="http://schemas.microsoft.com/office/drawing/2014/main" val="1371091925"/>
                    </a:ext>
                  </a:extLst>
                </a:gridCol>
              </a:tblGrid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71971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03/11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강의소개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데이터베이스의 이해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609520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03/18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데이터베이스 모델링의 이해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035193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03/25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기초</a:t>
                      </a:r>
                      <a:r>
                        <a:rPr lang="en-US" altLang="ko-KR"/>
                        <a:t>SQL-1 SQL</a:t>
                      </a:r>
                      <a:r>
                        <a:rPr lang="ko-KR" altLang="en-US" dirty="0"/>
                        <a:t>개요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255565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04/01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기초</a:t>
                      </a:r>
                      <a:r>
                        <a:rPr lang="en-US" altLang="ko-KR" dirty="0"/>
                        <a:t>SQL-2 SELECT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250569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04/08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기초</a:t>
                      </a:r>
                      <a:r>
                        <a:rPr lang="en-US" altLang="ko-KR" dirty="0"/>
                        <a:t>SQL-3 JOIN, </a:t>
                      </a:r>
                      <a:r>
                        <a:rPr lang="en-US" altLang="ko-KR" dirty="0" err="1"/>
                        <a:t>DDL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데이터 </a:t>
                      </a:r>
                      <a:r>
                        <a:rPr lang="ko-KR" altLang="en-US" dirty="0" err="1"/>
                        <a:t>정의어</a:t>
                      </a:r>
                      <a:r>
                        <a:rPr lang="en-US" altLang="ko-KR" dirty="0"/>
                        <a:t>), </a:t>
                      </a:r>
                      <a:r>
                        <a:rPr lang="en-US" altLang="ko-KR" dirty="0" err="1"/>
                        <a:t>DML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데이터 </a:t>
                      </a:r>
                      <a:r>
                        <a:rPr lang="ko-KR" altLang="en-US" dirty="0" err="1"/>
                        <a:t>조작어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150906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04/15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고급</a:t>
                      </a:r>
                      <a:r>
                        <a:rPr lang="en-US" altLang="ko-KR" dirty="0"/>
                        <a:t>SQL-1 </a:t>
                      </a:r>
                      <a:r>
                        <a:rPr lang="ko-KR" altLang="en-US" dirty="0"/>
                        <a:t>내부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내장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함수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37259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04/22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고급</a:t>
                      </a:r>
                      <a:r>
                        <a:rPr lang="en-US" altLang="ko-KR" dirty="0"/>
                        <a:t>SQL-2 Subquery(</a:t>
                      </a:r>
                      <a:r>
                        <a:rPr lang="ko-KR" altLang="en-US" dirty="0"/>
                        <a:t>부속질의</a:t>
                      </a:r>
                      <a:r>
                        <a:rPr lang="en-US" altLang="ko-KR" dirty="0"/>
                        <a:t>), View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823583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04/29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고급</a:t>
                      </a:r>
                      <a:r>
                        <a:rPr lang="en-US" altLang="ko-KR" dirty="0"/>
                        <a:t>SQL-3 Index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249060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05/13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데이터베이스 프로그래밍</a:t>
                      </a:r>
                      <a:r>
                        <a:rPr lang="en-US" altLang="ko-KR" dirty="0"/>
                        <a:t>-1 </a:t>
                      </a:r>
                      <a:r>
                        <a:rPr lang="ko-KR" altLang="en-US" dirty="0"/>
                        <a:t>프로시저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트리거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047918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05/20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데이터베이스 연동 프로그래밍</a:t>
                      </a:r>
                      <a:r>
                        <a:rPr lang="en-US" altLang="ko-KR" dirty="0"/>
                        <a:t>-</a:t>
                      </a:r>
                      <a:r>
                        <a:rPr lang="en-US" altLang="ko-KR"/>
                        <a:t>2 PHP, Python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052240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05/27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모델링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656581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06/03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정규화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203135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06/10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트랜잭션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동시성 제어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회복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965856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06/17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이론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실습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데이터베이스 보안과 관리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020587"/>
                  </a:ext>
                </a:extLst>
              </a:tr>
              <a:tr h="329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06/24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시험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02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18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863A3-3BEB-0259-24CC-4F8A0AE8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AA7A5-810F-9862-7A51-720ACD29E6F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태도 </a:t>
            </a:r>
            <a:r>
              <a:rPr lang="en-US" altLang="ko-KR" dirty="0"/>
              <a:t>20%</a:t>
            </a:r>
          </a:p>
          <a:p>
            <a:r>
              <a:rPr lang="ko-KR" altLang="en-US" dirty="0"/>
              <a:t>출석 </a:t>
            </a:r>
            <a:r>
              <a:rPr lang="en-US" altLang="ko-KR" dirty="0"/>
              <a:t>20%</a:t>
            </a:r>
          </a:p>
          <a:p>
            <a:r>
              <a:rPr lang="ko-KR" altLang="en-US" dirty="0"/>
              <a:t>기말시험 </a:t>
            </a:r>
            <a:r>
              <a:rPr lang="en-US" altLang="ko-KR" dirty="0"/>
              <a:t>60%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64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1EB32-1A42-EA6B-EF5B-101A919D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프로그램 안내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2448D-D8CB-0261-58F5-600BEB42689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DBMS </a:t>
            </a:r>
            <a:r>
              <a:rPr lang="ko-KR" altLang="en-US" dirty="0"/>
              <a:t>관련</a:t>
            </a:r>
            <a:r>
              <a:rPr lang="en-US" altLang="ko-KR" dirty="0"/>
              <a:t>(</a:t>
            </a:r>
            <a:r>
              <a:rPr lang="ko-KR" altLang="en-US" dirty="0"/>
              <a:t>전체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MySQL Community Server 8.3.0 Innovation: </a:t>
            </a:r>
            <a:r>
              <a:rPr lang="ko-KR" altLang="en-US" dirty="0" err="1"/>
              <a:t>오라클사에서</a:t>
            </a:r>
            <a:r>
              <a:rPr lang="ko-KR" altLang="en-US" dirty="0"/>
              <a:t> 제공하는 </a:t>
            </a:r>
            <a:r>
              <a:rPr lang="en-US" altLang="ko-KR" dirty="0"/>
              <a:t>RDBMS(Relational Database Management System)</a:t>
            </a:r>
            <a:r>
              <a:rPr lang="ko-KR" altLang="en-US" dirty="0"/>
              <a:t>로 윈도우 버전을 제공합니다</a:t>
            </a:r>
            <a:r>
              <a:rPr lang="en-US" altLang="ko-KR" dirty="0"/>
              <a:t>. </a:t>
            </a:r>
            <a:r>
              <a:rPr lang="ko-KR" altLang="en-US" dirty="0"/>
              <a:t>윈도우 버전은 </a:t>
            </a:r>
            <a:r>
              <a:rPr lang="en-US" altLang="ko-KR" dirty="0"/>
              <a:t>MySQL Installer</a:t>
            </a:r>
            <a:r>
              <a:rPr lang="ko-KR" altLang="en-US" dirty="0"/>
              <a:t>를 통해 설치할 수 있습니다</a:t>
            </a:r>
            <a:r>
              <a:rPr lang="en-US" altLang="ko-KR" dirty="0"/>
              <a:t>. .(https://www.mysql.com)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MySQL</a:t>
            </a:r>
            <a:r>
              <a:rPr lang="ko-KR" altLang="en-US" dirty="0"/>
              <a:t> </a:t>
            </a:r>
            <a:r>
              <a:rPr lang="en-US" altLang="ko-KR" dirty="0"/>
              <a:t>Workbench</a:t>
            </a:r>
            <a:r>
              <a:rPr lang="ko-KR" altLang="en-US" dirty="0"/>
              <a:t> </a:t>
            </a:r>
            <a:r>
              <a:rPr lang="en-US" altLang="ko-KR" dirty="0"/>
              <a:t>8.0.41:</a:t>
            </a:r>
            <a:r>
              <a:rPr lang="ko-KR" altLang="en-US" dirty="0"/>
              <a:t> </a:t>
            </a:r>
            <a:r>
              <a:rPr lang="ko-KR" altLang="en-US" dirty="0" err="1"/>
              <a:t>오라클사에서</a:t>
            </a:r>
            <a:r>
              <a:rPr lang="ko-KR" altLang="en-US" dirty="0"/>
              <a:t> 제공하는 </a:t>
            </a:r>
            <a:r>
              <a:rPr lang="en-US" altLang="ko-KR" dirty="0"/>
              <a:t>MySQL</a:t>
            </a:r>
            <a:r>
              <a:rPr lang="ko-KR" altLang="en-US" dirty="0"/>
              <a:t>용 쿼리 편집 툴입니다</a:t>
            </a:r>
            <a:r>
              <a:rPr lang="en-US" altLang="ko-KR" dirty="0"/>
              <a:t>. SQL</a:t>
            </a:r>
            <a:r>
              <a:rPr lang="ko-KR" altLang="en-US" dirty="0"/>
              <a:t>을 수행하거나 모델링 작업을 할 수 있습니다</a:t>
            </a:r>
            <a:r>
              <a:rPr lang="en-US" altLang="ko-KR" dirty="0"/>
              <a:t>. </a:t>
            </a:r>
            <a:r>
              <a:rPr lang="ko-KR" altLang="en-US" dirty="0"/>
              <a:t>윈도우 버전은 </a:t>
            </a:r>
            <a:r>
              <a:rPr lang="en-US" altLang="ko-KR" dirty="0"/>
              <a:t>MySQL Installer</a:t>
            </a:r>
            <a:r>
              <a:rPr lang="ko-KR" altLang="en-US" dirty="0"/>
              <a:t>를 통해 설치할 수 있습니다</a:t>
            </a:r>
            <a:r>
              <a:rPr lang="en-US" altLang="ko-KR" dirty="0"/>
              <a:t>.(</a:t>
            </a:r>
            <a:r>
              <a:rPr lang="en-US" altLang="ko-KR" dirty="0">
                <a:hlinkClick r:id="rId2"/>
              </a:rPr>
              <a:t>https://www.mysql.com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73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1C230-209A-5360-731A-4661CEFB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 Workbench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5CB3C14-ED5D-F3B6-A63C-B3EF50F423A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547781" y="1125538"/>
            <a:ext cx="8173850" cy="5399087"/>
          </a:xfrm>
        </p:spPr>
      </p:pic>
    </p:spTree>
    <p:extLst>
      <p:ext uri="{BB962C8B-B14F-4D97-AF65-F5344CB8AC3E}">
        <p14:creationId xmlns:p14="http://schemas.microsoft.com/office/powerpoint/2010/main" val="863127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A2872-A6D5-A70E-0EA2-AE5803F9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관련 자격증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139C9-A905-42A4-A4F1-42883D18090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kumimoji="0" lang="en-US" altLang="ko-KR" sz="1800" b="1" dirty="0" err="1">
                <a:solidFill>
                  <a:srgbClr val="0070C0"/>
                </a:solidFill>
                <a:latin typeface="+mn-ea"/>
              </a:rPr>
              <a:t>SQLD</a:t>
            </a:r>
            <a:r>
              <a:rPr kumimoji="0" lang="en-US" altLang="ko-KR" sz="1800" b="1" dirty="0">
                <a:solidFill>
                  <a:srgbClr val="0070C0"/>
                </a:solidFill>
                <a:latin typeface="+mn-ea"/>
              </a:rPr>
              <a:t>(</a:t>
            </a:r>
            <a:r>
              <a:rPr kumimoji="0" lang="ko-KR" altLang="en-US" sz="1800" b="1" dirty="0">
                <a:solidFill>
                  <a:srgbClr val="0070C0"/>
                </a:solidFill>
                <a:latin typeface="+mn-ea"/>
              </a:rPr>
              <a:t>개발자</a:t>
            </a:r>
            <a:r>
              <a:rPr kumimoji="0" lang="en-US" altLang="ko-KR" sz="1800" b="1" dirty="0">
                <a:solidFill>
                  <a:srgbClr val="0070C0"/>
                </a:solidFill>
                <a:latin typeface="+mn-ea"/>
              </a:rPr>
              <a:t>) / </a:t>
            </a:r>
            <a:r>
              <a:rPr kumimoji="0" lang="en-US" altLang="ko-KR" sz="1800" b="1" dirty="0" err="1">
                <a:solidFill>
                  <a:srgbClr val="0070C0"/>
                </a:solidFill>
                <a:latin typeface="+mn-ea"/>
              </a:rPr>
              <a:t>SQLP</a:t>
            </a:r>
            <a:r>
              <a:rPr kumimoji="0" lang="en-US" altLang="ko-KR" sz="1800" b="1" dirty="0">
                <a:solidFill>
                  <a:srgbClr val="0070C0"/>
                </a:solidFill>
                <a:latin typeface="+mn-ea"/>
              </a:rPr>
              <a:t>(</a:t>
            </a:r>
            <a:r>
              <a:rPr kumimoji="0" lang="ko-KR" altLang="en-US" sz="1800" b="1" dirty="0">
                <a:solidFill>
                  <a:srgbClr val="0070C0"/>
                </a:solidFill>
                <a:latin typeface="+mn-ea"/>
              </a:rPr>
              <a:t>전문가</a:t>
            </a:r>
            <a:r>
              <a:rPr kumimoji="0" lang="en-US" altLang="ko-KR" sz="1800" b="1" dirty="0">
                <a:solidFill>
                  <a:srgbClr val="0070C0"/>
                </a:solidFill>
                <a:latin typeface="+mn-ea"/>
              </a:rPr>
              <a:t>)</a:t>
            </a:r>
          </a:p>
          <a:p>
            <a:pPr lvl="1"/>
            <a:r>
              <a:rPr lang="ko-KR" altLang="en-US" dirty="0" err="1"/>
              <a:t>한국데이터산업진흥원</a:t>
            </a:r>
            <a:r>
              <a:rPr lang="ko-KR" altLang="en-US" dirty="0"/>
              <a:t> 데이터베이스 관련 자격증</a:t>
            </a:r>
            <a:endParaRPr lang="en-US" altLang="ko-KR" dirty="0"/>
          </a:p>
          <a:p>
            <a:pPr lvl="1"/>
            <a:r>
              <a:rPr lang="ko-KR" altLang="en-US" dirty="0"/>
              <a:t>과목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데이터 모델링의 이해</a:t>
            </a:r>
            <a:r>
              <a:rPr lang="en-US" altLang="ko-KR" dirty="0"/>
              <a:t>(</a:t>
            </a:r>
            <a:r>
              <a:rPr lang="ko-KR" altLang="en-US" dirty="0"/>
              <a:t>개발자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SQL </a:t>
            </a:r>
            <a:r>
              <a:rPr lang="ko-KR" altLang="en-US" dirty="0"/>
              <a:t>기본 및 활용</a:t>
            </a:r>
            <a:r>
              <a:rPr lang="en-US" altLang="ko-KR" dirty="0"/>
              <a:t>(</a:t>
            </a:r>
            <a:r>
              <a:rPr lang="ko-KR" altLang="en-US" dirty="0"/>
              <a:t>개발자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SQL </a:t>
            </a:r>
            <a:r>
              <a:rPr lang="ko-KR" altLang="en-US" dirty="0"/>
              <a:t>고급활용 및 튜닝</a:t>
            </a:r>
            <a:r>
              <a:rPr lang="en-US" altLang="ko-KR" dirty="0"/>
              <a:t>(</a:t>
            </a:r>
            <a:r>
              <a:rPr lang="ko-KR" altLang="en-US" dirty="0"/>
              <a:t>개발자</a:t>
            </a:r>
            <a:r>
              <a:rPr lang="en-US" altLang="ko-KR" dirty="0"/>
              <a:t>/</a:t>
            </a:r>
            <a:r>
              <a:rPr lang="ko-KR" altLang="en-US" dirty="0"/>
              <a:t>전문가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응시자격</a:t>
            </a:r>
            <a:endParaRPr lang="en-US" altLang="ko-KR" dirty="0"/>
          </a:p>
          <a:p>
            <a:pPr lvl="2"/>
            <a:r>
              <a:rPr lang="en-US" altLang="ko-KR" dirty="0" err="1"/>
              <a:t>SQLD</a:t>
            </a:r>
            <a:endParaRPr lang="en-US" altLang="ko-KR" dirty="0"/>
          </a:p>
          <a:p>
            <a:pPr lvl="2"/>
            <a:r>
              <a:rPr lang="ko-KR" altLang="en-US" dirty="0"/>
              <a:t>제한 없음</a:t>
            </a:r>
            <a:endParaRPr lang="en-US" altLang="ko-KR" dirty="0"/>
          </a:p>
          <a:p>
            <a:pPr lvl="2"/>
            <a:r>
              <a:rPr lang="en-US" altLang="ko-KR" dirty="0" err="1"/>
              <a:t>SQLP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학사학위이상</a:t>
            </a:r>
            <a:r>
              <a:rPr lang="en-US" altLang="ko-KR" dirty="0"/>
              <a:t>, </a:t>
            </a:r>
            <a:r>
              <a:rPr lang="ko-KR" altLang="en-US" dirty="0"/>
              <a:t>전문학사학위 취득 후 실무 </a:t>
            </a:r>
            <a:r>
              <a:rPr lang="en-US" altLang="ko-KR" dirty="0"/>
              <a:t>2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고등학교 졸업 후 실무 </a:t>
            </a:r>
            <a:r>
              <a:rPr lang="en-US" altLang="ko-KR" dirty="0"/>
              <a:t>4</a:t>
            </a:r>
            <a:r>
              <a:rPr lang="ko-KR" altLang="en-US" dirty="0"/>
              <a:t>년</a:t>
            </a:r>
            <a:endParaRPr lang="en-US" altLang="ko-KR" dirty="0"/>
          </a:p>
          <a:p>
            <a:pPr lvl="2"/>
            <a:r>
              <a:rPr lang="ko-KR" altLang="en-US" dirty="0"/>
              <a:t>국내외 데이터베이스 관련 취득자</a:t>
            </a:r>
            <a:r>
              <a:rPr lang="en-US" altLang="ko-KR" dirty="0"/>
              <a:t>, SQL </a:t>
            </a:r>
            <a:r>
              <a:rPr lang="ko-KR" altLang="en-US" dirty="0"/>
              <a:t>개발자 자격 취득</a:t>
            </a:r>
            <a:r>
              <a:rPr lang="en-US" altLang="ko-KR" dirty="0"/>
              <a:t>, </a:t>
            </a:r>
            <a:r>
              <a:rPr lang="ko-KR" altLang="en-US" dirty="0" err="1"/>
              <a:t>데이터아키텍처</a:t>
            </a:r>
            <a:r>
              <a:rPr lang="ko-KR" altLang="en-US" dirty="0"/>
              <a:t> 전문가 및 준전문가 자격 취득</a:t>
            </a:r>
            <a:endParaRPr lang="en-US" altLang="ko-KR" dirty="0"/>
          </a:p>
          <a:p>
            <a:pPr lvl="1"/>
            <a:r>
              <a:rPr lang="en-US" altLang="ko-KR" dirty="0"/>
              <a:t>https://</a:t>
            </a:r>
            <a:r>
              <a:rPr lang="en-US" altLang="ko-KR" dirty="0" err="1"/>
              <a:t>www.dataq.or.kr</a:t>
            </a:r>
            <a:r>
              <a:rPr lang="en-US" altLang="ko-KR" dirty="0"/>
              <a:t>/www/sub/</a:t>
            </a:r>
            <a:r>
              <a:rPr lang="en-US" altLang="ko-KR" dirty="0" err="1"/>
              <a:t>a_03.do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318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7AD1-A8CD-D98C-5FEA-D283864B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1C314-FE3F-EDDC-5108-63AE0A65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강의자료 공유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D6AC4B-8C1A-A02F-CF84-008A06E28E6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lang="ko-KR" altLang="en-US" sz="1800" dirty="0">
                <a:solidFill>
                  <a:srgbClr val="0070C0"/>
                </a:solidFill>
              </a:rPr>
              <a:t>강의자료 공유 </a:t>
            </a:r>
            <a:r>
              <a:rPr lang="en-US" altLang="ko-KR" sz="1800" dirty="0">
                <a:solidFill>
                  <a:srgbClr val="0070C0"/>
                </a:solidFill>
              </a:rPr>
              <a:t>URL</a:t>
            </a:r>
          </a:p>
          <a:p>
            <a:pPr lvl="1">
              <a:spcBef>
                <a:spcPts val="500"/>
              </a:spcBef>
            </a:pPr>
            <a:r>
              <a:rPr kumimoji="0" lang="en-US" altLang="ko-KR" sz="1600" b="1">
                <a:solidFill>
                  <a:srgbClr val="0070C0"/>
                </a:solidFill>
                <a:latin typeface="+mn-ea"/>
              </a:rPr>
              <a:t>https://</a:t>
            </a:r>
            <a:r>
              <a:rPr kumimoji="0" lang="en-US" altLang="ko-KR" sz="1600" b="1" dirty="0" err="1">
                <a:solidFill>
                  <a:srgbClr val="0070C0"/>
                </a:solidFill>
                <a:latin typeface="+mn-ea"/>
              </a:rPr>
              <a:t>syntaxwiki.com</a:t>
            </a:r>
            <a:r>
              <a:rPr kumimoji="0" lang="en-US" altLang="ko-KR" sz="1600" b="1" err="1">
                <a:solidFill>
                  <a:srgbClr val="0070C0"/>
                </a:solidFill>
                <a:latin typeface="+mn-ea"/>
              </a:rPr>
              <a:t>:</a:t>
            </a:r>
            <a:r>
              <a:rPr kumimoji="0" lang="en-US" altLang="ko-KR" sz="1600" b="1">
                <a:solidFill>
                  <a:srgbClr val="0070C0"/>
                </a:solidFill>
                <a:latin typeface="+mn-ea"/>
              </a:rPr>
              <a:t>3026</a:t>
            </a:r>
            <a:endParaRPr kumimoji="0" lang="en-US" altLang="ko-KR" sz="1600" b="1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7277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1275</TotalTime>
  <Words>498</Words>
  <Application>Microsoft Office PowerPoint</Application>
  <PresentationFormat>화면 슬라이드 쇼(4:3)</PresentationFormat>
  <Paragraphs>124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강의 소개</vt:lpstr>
      <vt:lpstr>강의 내용</vt:lpstr>
      <vt:lpstr>교재</vt:lpstr>
      <vt:lpstr>강의 계획표</vt:lpstr>
      <vt:lpstr>평가 방법</vt:lpstr>
      <vt:lpstr>실습 프로그램 안내</vt:lpstr>
      <vt:lpstr>MySQL Workbench</vt:lpstr>
      <vt:lpstr>데이터베이스 관련 자격증</vt:lpstr>
      <vt:lpstr>강의자료 공유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준영 장</cp:lastModifiedBy>
  <cp:revision>102</cp:revision>
  <dcterms:created xsi:type="dcterms:W3CDTF">2020-06-18T03:20:34Z</dcterms:created>
  <dcterms:modified xsi:type="dcterms:W3CDTF">2026-03-02T02:32:40Z</dcterms:modified>
</cp:coreProperties>
</file>
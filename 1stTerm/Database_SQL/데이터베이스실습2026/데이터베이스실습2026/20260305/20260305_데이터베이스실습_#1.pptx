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handoutMasterIdLst>
    <p:handoutMasterId r:id="rId71"/>
  </p:handoutMasterIdLst>
  <p:sldIdLst>
    <p:sldId id="465" r:id="rId2"/>
    <p:sldId id="448" r:id="rId3"/>
    <p:sldId id="453" r:id="rId4"/>
    <p:sldId id="384" r:id="rId5"/>
    <p:sldId id="385" r:id="rId6"/>
    <p:sldId id="386" r:id="rId7"/>
    <p:sldId id="387" r:id="rId8"/>
    <p:sldId id="388" r:id="rId9"/>
    <p:sldId id="393" r:id="rId10"/>
    <p:sldId id="394" r:id="rId11"/>
    <p:sldId id="395" r:id="rId12"/>
    <p:sldId id="396" r:id="rId13"/>
    <p:sldId id="454" r:id="rId14"/>
    <p:sldId id="397" r:id="rId15"/>
    <p:sldId id="398" r:id="rId16"/>
    <p:sldId id="399" r:id="rId17"/>
    <p:sldId id="400" r:id="rId18"/>
    <p:sldId id="401" r:id="rId19"/>
    <p:sldId id="402" r:id="rId20"/>
    <p:sldId id="403" r:id="rId21"/>
    <p:sldId id="404" r:id="rId22"/>
    <p:sldId id="405" r:id="rId23"/>
    <p:sldId id="406" r:id="rId24"/>
    <p:sldId id="407" r:id="rId25"/>
    <p:sldId id="455" r:id="rId26"/>
    <p:sldId id="408" r:id="rId27"/>
    <p:sldId id="410" r:id="rId28"/>
    <p:sldId id="411" r:id="rId29"/>
    <p:sldId id="461" r:id="rId30"/>
    <p:sldId id="412" r:id="rId31"/>
    <p:sldId id="413" r:id="rId32"/>
    <p:sldId id="463" r:id="rId33"/>
    <p:sldId id="458" r:id="rId34"/>
    <p:sldId id="414" r:id="rId35"/>
    <p:sldId id="415" r:id="rId36"/>
    <p:sldId id="464" r:id="rId37"/>
    <p:sldId id="456" r:id="rId38"/>
    <p:sldId id="416" r:id="rId39"/>
    <p:sldId id="417" r:id="rId40"/>
    <p:sldId id="418" r:id="rId41"/>
    <p:sldId id="419" r:id="rId42"/>
    <p:sldId id="421" r:id="rId43"/>
    <p:sldId id="420" r:id="rId44"/>
    <p:sldId id="457" r:id="rId45"/>
    <p:sldId id="391" r:id="rId46"/>
    <p:sldId id="423" r:id="rId47"/>
    <p:sldId id="424" r:id="rId48"/>
    <p:sldId id="425" r:id="rId49"/>
    <p:sldId id="426" r:id="rId50"/>
    <p:sldId id="459" r:id="rId51"/>
    <p:sldId id="427" r:id="rId52"/>
    <p:sldId id="428" r:id="rId53"/>
    <p:sldId id="429" r:id="rId54"/>
    <p:sldId id="430" r:id="rId55"/>
    <p:sldId id="431" r:id="rId56"/>
    <p:sldId id="432" r:id="rId57"/>
    <p:sldId id="433" r:id="rId58"/>
    <p:sldId id="434" r:id="rId59"/>
    <p:sldId id="435" r:id="rId60"/>
    <p:sldId id="436" r:id="rId61"/>
    <p:sldId id="437" r:id="rId62"/>
    <p:sldId id="438" r:id="rId63"/>
    <p:sldId id="439" r:id="rId64"/>
    <p:sldId id="446" r:id="rId65"/>
    <p:sldId id="447" r:id="rId66"/>
    <p:sldId id="440" r:id="rId67"/>
    <p:sldId id="444" r:id="rId68"/>
    <p:sldId id="460" r:id="rId69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46" autoAdjust="0"/>
    <p:restoredTop sz="99281" autoAdjust="0"/>
  </p:normalViewPr>
  <p:slideViewPr>
    <p:cSldViewPr>
      <p:cViewPr varScale="1">
        <p:scale>
          <a:sx n="118" d="100"/>
          <a:sy n="118" d="100"/>
        </p:scale>
        <p:origin x="88" y="572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2026-03-02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2026-03-02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950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838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123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632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796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383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906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185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29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35279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371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411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3869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8412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9022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20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0445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1324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8351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5494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2240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6295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0207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9762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5367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2315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8622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4680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05C772-0537-47DB-A826-2DBEDFD248E4}" type="slidenum">
              <a:rPr lang="ko-KR" altLang="en-US" smtClean="0"/>
              <a:pPr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025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데이터베이스 시스템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2026-03-02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6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4294967295"/>
          </p:nvPr>
        </p:nvSpPr>
        <p:spPr>
          <a:xfrm>
            <a:off x="156810" y="3501008"/>
            <a:ext cx="6143382" cy="1902073"/>
          </a:xfrm>
        </p:spPr>
        <p:txBody>
          <a:bodyPr/>
          <a:lstStyle/>
          <a:p>
            <a:pPr algn="l"/>
            <a:br>
              <a:rPr lang="en-US" altLang="ko-KR" sz="4000" b="1" dirty="0">
                <a:solidFill>
                  <a:srgbClr val="215968"/>
                </a:solidFill>
              </a:rPr>
            </a:br>
            <a:br>
              <a:rPr lang="en-US" altLang="ko-KR" sz="800" dirty="0"/>
            </a:br>
            <a:r>
              <a:rPr lang="ko-KR" altLang="en-US" sz="4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데이터베이스 시스템</a:t>
            </a:r>
          </a:p>
        </p:txBody>
      </p:sp>
    </p:spTree>
    <p:extLst>
      <p:ext uri="{BB962C8B-B14F-4D97-AF65-F5344CB8AC3E}">
        <p14:creationId xmlns:p14="http://schemas.microsoft.com/office/powerpoint/2010/main" val="4017830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br>
              <a:rPr lang="en-US" altLang="ko-KR" sz="4000" b="1" dirty="0">
                <a:solidFill>
                  <a:srgbClr val="215968"/>
                </a:solidFill>
              </a:rPr>
            </a:br>
            <a:br>
              <a:rPr lang="en-US" altLang="ko-KR" sz="800" dirty="0"/>
            </a:br>
            <a:endParaRPr lang="ko-KR" altLang="en-US" sz="4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696750-440E-CE18-C9A1-5E2649016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http://syntaxwiki.com:3026</a:t>
            </a: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19D6F05-F35D-1A83-05D3-E36B8F6E3052}"/>
              </a:ext>
            </a:extLst>
          </p:cNvPr>
          <p:cNvSpPr txBox="1">
            <a:spLocks/>
          </p:cNvSpPr>
          <p:nvPr/>
        </p:nvSpPr>
        <p:spPr bwMode="auto">
          <a:xfrm>
            <a:off x="539552" y="201910"/>
            <a:ext cx="7560840" cy="548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강의 자료 링크</a:t>
            </a:r>
          </a:p>
        </p:txBody>
      </p:sp>
    </p:spTree>
    <p:extLst>
      <p:ext uri="{BB962C8B-B14F-4D97-AF65-F5344CB8AC3E}">
        <p14:creationId xmlns:p14="http://schemas.microsoft.com/office/powerpoint/2010/main" val="480441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043028" y="3119460"/>
            <a:ext cx="7057944" cy="61908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eaLnBrk="1" latinLnBrk="1" hangingPunct="1"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데이터베이스와 </a:t>
            </a: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데이터베이스 시스템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 </a:t>
            </a:r>
            <a:endParaRPr lang="ko-KR" altLang="en-US" sz="3400" b="1" spc="-150" dirty="0">
              <a:solidFill>
                <a:schemeClr val="accent4">
                  <a:lumMod val="50000"/>
                </a:schemeClr>
              </a:solidFill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07391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</a:t>
            </a:r>
            <a:r>
              <a:rPr lang="en-US" altLang="ko-KR" dirty="0"/>
              <a:t>, </a:t>
            </a:r>
            <a:r>
              <a:rPr lang="ko-KR" altLang="en-US" dirty="0"/>
              <a:t>정보</a:t>
            </a:r>
            <a:r>
              <a:rPr lang="en-US" altLang="ko-KR" dirty="0"/>
              <a:t>, </a:t>
            </a:r>
            <a:r>
              <a:rPr lang="ko-KR" altLang="en-US" dirty="0"/>
              <a:t>지식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en-US" altLang="ko-KR" dirty="0"/>
              <a:t>: </a:t>
            </a:r>
            <a:r>
              <a:rPr lang="ko-KR" altLang="en-US" dirty="0"/>
              <a:t>관찰의 결과로 나타난 정량적 혹은 정성적인 실제 값</a:t>
            </a:r>
            <a:endParaRPr lang="en-US" altLang="ko-KR" dirty="0"/>
          </a:p>
          <a:p>
            <a:r>
              <a:rPr lang="ko-KR" altLang="en-US" dirty="0"/>
              <a:t>정보 </a:t>
            </a:r>
            <a:r>
              <a:rPr lang="en-US" altLang="ko-KR" dirty="0"/>
              <a:t>: </a:t>
            </a:r>
            <a:r>
              <a:rPr lang="ko-KR" altLang="en-US" dirty="0"/>
              <a:t>데이터에 의미를 부여한 것</a:t>
            </a:r>
            <a:endParaRPr lang="en-US" altLang="ko-KR" dirty="0"/>
          </a:p>
          <a:p>
            <a:r>
              <a:rPr lang="ko-KR" altLang="en-US" dirty="0"/>
              <a:t>지식 </a:t>
            </a:r>
            <a:r>
              <a:rPr lang="en-US" altLang="ko-KR" dirty="0"/>
              <a:t>: </a:t>
            </a:r>
            <a:r>
              <a:rPr lang="ko-KR" altLang="en-US" dirty="0"/>
              <a:t>사물이나 현상에 대한 이해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5247" y="553205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1-1 </a:t>
            </a:r>
            <a:r>
              <a:rPr lang="ko-KR" altLang="en-US" sz="1400" b="1" dirty="0">
                <a:ea typeface="맑은 고딕" panose="020B0503020000020004" pitchFamily="50" charset="-127"/>
              </a:rPr>
              <a:t>데이터</a:t>
            </a:r>
            <a:r>
              <a:rPr lang="en-US" altLang="ko-KR" sz="1400" b="1" dirty="0"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ea typeface="맑은 고딕" panose="020B0503020000020004" pitchFamily="50" charset="-127"/>
              </a:rPr>
              <a:t>정보</a:t>
            </a:r>
            <a:r>
              <a:rPr lang="en-US" altLang="ko-KR" sz="1400" b="1" dirty="0"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ea typeface="맑은 고딕" panose="020B0503020000020004" pitchFamily="50" charset="-127"/>
              </a:rPr>
              <a:t>지식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61F537A-7A4A-4C0B-9876-73F8EBFC6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7" y="2482920"/>
            <a:ext cx="6552728" cy="2928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321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일상생활의 데이터베이스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0">
              <a:buFont typeface="Wingdings" panose="05000000000000000000" pitchFamily="2" charset="2"/>
              <a:buChar char="v"/>
            </a:pPr>
            <a:r>
              <a:rPr lang="ko-KR" altLang="en-US" sz="2000" dirty="0">
                <a:solidFill>
                  <a:schemeClr val="tx2"/>
                </a:solidFill>
              </a:rPr>
              <a:t>데이터베이스란</a:t>
            </a:r>
            <a:r>
              <a:rPr lang="en-US" altLang="ko-KR" sz="2000" dirty="0">
                <a:solidFill>
                  <a:schemeClr val="tx2"/>
                </a:solidFill>
              </a:rPr>
              <a:t>?</a:t>
            </a:r>
            <a:br>
              <a:rPr lang="en-US" altLang="ko-KR" dirty="0"/>
            </a:br>
            <a:r>
              <a:rPr lang="ko-KR" altLang="en-US" dirty="0"/>
              <a:t>조직에 필요한 정보를 얻기 위해 논리적으로 연관된 데이터를 모아 구조적으로 통합해 놓은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6863" y="616530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rgbClr val="7F7F7F"/>
                </a:solidFill>
                <a:ea typeface="맑은 고딕" panose="020B0503020000020004" pitchFamily="50" charset="-127"/>
              </a:rPr>
              <a:t>그림</a:t>
            </a:r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1-2 </a:t>
            </a:r>
            <a:r>
              <a:rPr lang="ko-KR" altLang="en-US" sz="1400" b="1" dirty="0">
                <a:ea typeface="맑은 고딕" panose="020B0503020000020004" pitchFamily="50" charset="-127"/>
              </a:rPr>
              <a:t>일상생활에서 생성되는 데이터베이스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492896"/>
            <a:ext cx="6900256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015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53596" y="5373216"/>
            <a:ext cx="8426916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rgbClr val="7F7F7F"/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rgbClr val="7F7F7F"/>
                </a:solidFill>
                <a:ea typeface="맑은 고딕" panose="020B0503020000020004" pitchFamily="50" charset="-127"/>
              </a:rPr>
              <a:t>1-3 </a:t>
            </a:r>
            <a:r>
              <a:rPr lang="ko-KR" altLang="en-US" sz="1400" b="1" dirty="0">
                <a:ea typeface="맑은 고딕" panose="020B0503020000020004" pitchFamily="50" charset="-127"/>
              </a:rPr>
              <a:t>편의점과 철도회사의 데이터베이스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간단한 거래도 많은 데이터가 포함된다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일상생활의 데이터베이스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2049" name="_x597328744" descr="EMB000013c82ab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416635"/>
            <a:ext cx="1512168" cy="3797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2053" name="_x597331264" descr="EMB000013c82ab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1628800"/>
            <a:ext cx="1917213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2296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일상생활의 데이터베이스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2716" y="1304333"/>
            <a:ext cx="2847156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1-1 </a:t>
            </a:r>
            <a:r>
              <a:rPr lang="ko-KR" altLang="en-US" sz="1400" b="1" dirty="0">
                <a:ea typeface="맑은 고딕" panose="020B0503020000020004" pitchFamily="50" charset="-127"/>
              </a:rPr>
              <a:t>데이터베이스의 활용 분야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580310"/>
              </p:ext>
            </p:extLst>
          </p:nvPr>
        </p:nvGraphicFramePr>
        <p:xfrm>
          <a:off x="683568" y="1772816"/>
          <a:ext cx="7560840" cy="439248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4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74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분야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874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생활과 문화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기상정보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날씨 관련 정보를 제공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교통정보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교통상황 관련 정보를 제공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문화예술정보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공연이나 인물에 관한 정보를 제공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53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비즈니스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금융정보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금융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증권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신용에 관한 정보를 제공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취업정보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노동부와 기업의 채용 관련 정보를 제공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부동산정보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공공기관이나 민간의 토지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매물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세금 정보를 제공</a:t>
                      </a:r>
                      <a:endParaRPr lang="en-US" altLang="ko-KR" sz="1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098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학술정보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연구학술정보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논문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서적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저작물에 관한 정보를 제공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특허정보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특허청의 정보를 기업과 연구자에게 제공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법률정보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법제처와 대법원의 법률에 관한 정보를 제공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통계정보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국가기관의 통계에 관한 정보를 제공</a:t>
                      </a:r>
                      <a:endParaRPr lang="en-US" altLang="ko-KR" sz="14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7240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일상생활의 데이터베이스</a:t>
            </a: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136904" cy="5472608"/>
          </a:xfrm>
        </p:spPr>
        <p:txBody>
          <a:bodyPr/>
          <a:lstStyle/>
          <a:p>
            <a:pPr algn="just"/>
            <a:r>
              <a:rPr lang="ko-KR" altLang="en-US" dirty="0"/>
              <a:t>데이터베이스 시스템은 데이터의 검색과 변경 작업을 주로 수행함</a:t>
            </a:r>
            <a:endParaRPr lang="en-US" altLang="ko-KR" dirty="0"/>
          </a:p>
          <a:p>
            <a:pPr algn="just"/>
            <a:r>
              <a:rPr lang="ko-KR" altLang="en-US" dirty="0"/>
              <a:t>변경이란 시간에 따라 변하는 데이터 값을 데이터베이스에 반영하기 위해 수행하는 삽입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  <a:r>
              <a:rPr lang="en-US" altLang="ko-KR" dirty="0"/>
              <a:t>, </a:t>
            </a:r>
            <a:r>
              <a:rPr lang="ko-KR" altLang="en-US" dirty="0"/>
              <a:t>수정 등의 작업을 말함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592" y="250182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1-2 </a:t>
            </a:r>
            <a:r>
              <a:rPr lang="ko-KR" altLang="en-US" sz="1400" b="1" dirty="0">
                <a:ea typeface="맑은 고딕" panose="020B0503020000020004" pitchFamily="50" charset="-127"/>
              </a:rPr>
              <a:t>검색과 변경 빈도에 따른 데이터베이스 유형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089857"/>
              </p:ext>
            </p:extLst>
          </p:nvPr>
        </p:nvGraphicFramePr>
        <p:xfrm>
          <a:off x="911780" y="2851663"/>
          <a:ext cx="7776865" cy="381642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37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84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28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유형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검색 빈도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변경 빈도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데이터베이스 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특징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2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유형</a:t>
                      </a:r>
                      <a:r>
                        <a:rPr lang="en-US" altLang="ko-KR" sz="1200" b="1" dirty="0"/>
                        <a:t>1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ko-KR" altLang="en-US" sz="1200" dirty="0"/>
                        <a:t>적다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ko-KR" altLang="en-US" sz="1200" dirty="0"/>
                        <a:t>적다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ko-KR" altLang="en-US" sz="1200" dirty="0"/>
                        <a:t>공룡 </a:t>
                      </a:r>
                      <a:endParaRPr lang="en-US" altLang="ko-KR" sz="1200" dirty="0"/>
                    </a:p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ko-KR" altLang="en-US" sz="1200" dirty="0"/>
                        <a:t>데이터베이스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200" dirty="0"/>
                        <a:t>검색이 많지 않아 데이터베이스를 구축할 필요 없음</a:t>
                      </a:r>
                    </a:p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200" dirty="0"/>
                        <a:t>보존가치가 있는 경우에 구축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유형</a:t>
                      </a:r>
                      <a:r>
                        <a:rPr lang="en-US" altLang="ko-KR" sz="1200" b="1" dirty="0"/>
                        <a:t>2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많다</a:t>
                      </a:r>
                      <a:endParaRPr lang="en-US" altLang="ko-KR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적다</a:t>
                      </a:r>
                      <a:endParaRPr lang="en-US" altLang="ko-KR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도서 </a:t>
                      </a:r>
                      <a:endParaRPr lang="en-US" altLang="ko-KR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데이터베이스</a:t>
                      </a:r>
                      <a:endParaRPr lang="en-US" altLang="ko-KR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사용자 수 보통</a:t>
                      </a:r>
                    </a:p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검색은 많지만 데이터에 대한 변경은 적음</a:t>
                      </a:r>
                      <a:endParaRPr lang="en-US" altLang="ko-KR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51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유형</a:t>
                      </a:r>
                      <a:r>
                        <a:rPr lang="en-US" altLang="ko-KR" sz="1200" b="1" dirty="0"/>
                        <a:t>3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적다</a:t>
                      </a:r>
                      <a:endParaRPr lang="en-US" altLang="ko-KR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많다</a:t>
                      </a:r>
                      <a:endParaRPr lang="en-US" altLang="ko-KR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비행기 예약 </a:t>
                      </a:r>
                      <a:endParaRPr lang="en-US" altLang="ko-KR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데이터베이스</a:t>
                      </a:r>
                      <a:endParaRPr lang="en-US" altLang="ko-KR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예약 변경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취소 등 데이터 변경은 많지만 검색은 </a:t>
                      </a:r>
                      <a:br>
                        <a:rPr lang="en-US" altLang="ko-KR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적음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검색은 변경을 위하여 먼저 시도됨</a:t>
                      </a:r>
                    </a:p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실시간 검색 및 변경이 중요함</a:t>
                      </a:r>
                      <a:endParaRPr lang="en-US" altLang="ko-KR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51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유형</a:t>
                      </a:r>
                      <a:r>
                        <a:rPr lang="en-US" altLang="ko-KR" sz="1200" b="1" dirty="0"/>
                        <a:t>4</a:t>
                      </a:r>
                      <a:endParaRPr lang="ko-KR" altLang="en-US" sz="12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많다</a:t>
                      </a:r>
                      <a:endParaRPr lang="en-US" altLang="ko-KR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많다</a:t>
                      </a:r>
                      <a:endParaRPr lang="en-US" altLang="ko-KR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증권 </a:t>
                      </a:r>
                      <a:endParaRPr lang="en-US" altLang="ko-KR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데이터베이스</a:t>
                      </a:r>
                      <a:endParaRPr lang="en-US" altLang="ko-KR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사용자 수 많음</a:t>
                      </a:r>
                    </a:p>
                    <a:p>
                      <a:pPr marL="171450" indent="-171450">
                        <a:buFont typeface="Arial" pitchFamily="34" charset="0"/>
                        <a:buChar char="•"/>
                      </a:pPr>
                      <a:r>
                        <a:rPr lang="ko-KR" altLang="en-US" sz="12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검색도 많고 거래로 인한 변경도 많음</a:t>
                      </a:r>
                      <a:endParaRPr lang="en-US" altLang="ko-KR" sz="12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4" name="직선 화살표 연결선 3"/>
          <p:cNvCxnSpPr/>
          <p:nvPr/>
        </p:nvCxnSpPr>
        <p:spPr>
          <a:xfrm>
            <a:off x="467544" y="3798565"/>
            <a:ext cx="0" cy="2366739"/>
          </a:xfrm>
          <a:prstGeom prst="straightConnector1">
            <a:avLst/>
          </a:prstGeom>
          <a:ln w="57150">
            <a:solidFill>
              <a:schemeClr val="bg1">
                <a:lumMod val="75000"/>
              </a:schemeClr>
            </a:solidFill>
            <a:headEnd type="triangle" w="lg" len="med"/>
            <a:tailEnd type="triangl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5614" y="3306815"/>
            <a:ext cx="540060" cy="47525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  <a:ea typeface="맑은 고딕" panose="020B0503020000020004" pitchFamily="50" charset="-127"/>
              </a:rPr>
              <a:t>구축이</a:t>
            </a:r>
            <a:endParaRPr lang="en-US" altLang="ko-KR" sz="1100" b="1" dirty="0">
              <a:solidFill>
                <a:srgbClr val="0070C0"/>
              </a:solidFill>
              <a:ea typeface="맑은 고딕" panose="020B0503020000020004" pitchFamily="50" charset="-127"/>
            </a:endParaRPr>
          </a:p>
          <a:p>
            <a:pPr algn="ctr"/>
            <a:r>
              <a:rPr lang="ko-KR" altLang="en-US" sz="1100" b="1" dirty="0">
                <a:solidFill>
                  <a:srgbClr val="0070C0"/>
                </a:solidFill>
                <a:ea typeface="맑은 고딕" panose="020B0503020000020004" pitchFamily="50" charset="-127"/>
              </a:rPr>
              <a:t>쉬움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614" y="6237312"/>
            <a:ext cx="540060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r>
              <a:rPr lang="ko-KR" altLang="en-US" sz="1100" b="1" dirty="0">
                <a:solidFill>
                  <a:srgbClr val="0070C0"/>
                </a:solidFill>
                <a:ea typeface="맑은 고딕" panose="020B0503020000020004" pitchFamily="50" charset="-127"/>
              </a:rPr>
              <a:t>구축이</a:t>
            </a:r>
            <a:br>
              <a:rPr lang="en-US" altLang="ko-KR" sz="1100" b="1" dirty="0">
                <a:solidFill>
                  <a:srgbClr val="0070C0"/>
                </a:solidFill>
                <a:ea typeface="맑은 고딕" panose="020B0503020000020004" pitchFamily="50" charset="-127"/>
              </a:rPr>
            </a:br>
            <a:r>
              <a:rPr lang="ko-KR" altLang="en-US" sz="1100" b="1" dirty="0">
                <a:solidFill>
                  <a:srgbClr val="0070C0"/>
                </a:solidFill>
                <a:ea typeface="맑은 고딕" panose="020B0503020000020004" pitchFamily="50" charset="-127"/>
              </a:rPr>
              <a:t>어려움</a:t>
            </a:r>
          </a:p>
        </p:txBody>
      </p:sp>
    </p:spTree>
    <p:extLst>
      <p:ext uri="{BB962C8B-B14F-4D97-AF65-F5344CB8AC3E}">
        <p14:creationId xmlns:p14="http://schemas.microsoft.com/office/powerpoint/2010/main" val="3914093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데이터베이스의 개념 및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340768"/>
            <a:ext cx="8208912" cy="4608512"/>
          </a:xfrm>
        </p:spPr>
        <p:txBody>
          <a:bodyPr/>
          <a:lstStyle/>
          <a:p>
            <a:pPr algn="just">
              <a:buNone/>
            </a:pPr>
            <a:endParaRPr lang="en-US" altLang="ko-KR" dirty="0"/>
          </a:p>
          <a:p>
            <a:pPr>
              <a:buClrTx/>
              <a:buFont typeface="Wingdings" pitchFamily="2" charset="2"/>
              <a:buChar char=""/>
            </a:pPr>
            <a:r>
              <a:rPr lang="ko-KR" altLang="en-US" dirty="0"/>
              <a:t>통합된 데이터</a:t>
            </a:r>
            <a:r>
              <a:rPr lang="en-US" altLang="ko-KR" dirty="0"/>
              <a:t>(integrated data)</a:t>
            </a:r>
            <a:br>
              <a:rPr lang="en-US" altLang="ko-KR" dirty="0"/>
            </a:br>
            <a:r>
              <a:rPr lang="ko-KR" altLang="en-US" sz="1400" b="0" dirty="0"/>
              <a:t>데이터를 통합하는 개념으로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각자 사용하던 데이터의 중복을 최소화하여 중복으로 인한 데이터 불일치 현상을 제거</a:t>
            </a:r>
            <a:endParaRPr lang="en-US" altLang="ko-KR" sz="1400" b="0" dirty="0"/>
          </a:p>
          <a:p>
            <a:pPr>
              <a:buClrTx/>
              <a:buFont typeface="Wingdings" pitchFamily="2" charset="2"/>
              <a:buChar char=""/>
            </a:pPr>
            <a:endParaRPr lang="en-US" altLang="ko-KR" sz="1200" b="0" dirty="0"/>
          </a:p>
          <a:p>
            <a:pPr>
              <a:buClr>
                <a:schemeClr val="tx1"/>
              </a:buClr>
              <a:buFont typeface="Wingdings" pitchFamily="2" charset="2"/>
              <a:buChar char=""/>
            </a:pPr>
            <a:r>
              <a:rPr lang="ko-KR" altLang="en-US" dirty="0"/>
              <a:t>저장된 데이터</a:t>
            </a:r>
            <a:r>
              <a:rPr lang="en-US" altLang="ko-KR" dirty="0"/>
              <a:t>(stored data)</a:t>
            </a:r>
            <a:br>
              <a:rPr lang="en-US" altLang="ko-KR" dirty="0"/>
            </a:br>
            <a:r>
              <a:rPr lang="ko-KR" altLang="en-US" sz="1400" b="0" dirty="0"/>
              <a:t>문서로 보관된 데이터가 아니라 디스크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테이프 같은 컴퓨터 저장장치에 저장된 데이터를 의미</a:t>
            </a:r>
            <a:endParaRPr lang="en-US" altLang="ko-KR" sz="1400" b="0" dirty="0"/>
          </a:p>
          <a:p>
            <a:pPr>
              <a:buClr>
                <a:schemeClr val="tx1"/>
              </a:buClr>
              <a:buFont typeface="Wingdings" pitchFamily="2" charset="2"/>
              <a:buChar char=""/>
            </a:pPr>
            <a:endParaRPr lang="en-US" altLang="ko-KR" sz="1200" b="0" dirty="0"/>
          </a:p>
          <a:p>
            <a:pPr>
              <a:buClr>
                <a:schemeClr val="tx1"/>
              </a:buClr>
              <a:buFont typeface="Wingdings" pitchFamily="2" charset="2"/>
              <a:buChar char=""/>
            </a:pPr>
            <a:r>
              <a:rPr lang="ko-KR" altLang="en-US" dirty="0"/>
              <a:t>운영 데이터</a:t>
            </a:r>
            <a:r>
              <a:rPr lang="en-US" altLang="ko-KR" dirty="0"/>
              <a:t>(operational data)</a:t>
            </a:r>
            <a:br>
              <a:rPr lang="en-US" altLang="ko-KR" dirty="0"/>
            </a:br>
            <a:r>
              <a:rPr lang="ko-KR" altLang="en-US" sz="1400" b="0" dirty="0"/>
              <a:t>조직의 목적을 위해 사용되는 데이터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즉 업무를 위한 검색을 할 목적으로 저장된 데이터</a:t>
            </a:r>
            <a:endParaRPr lang="en-US" altLang="ko-KR" sz="1400" b="0" dirty="0"/>
          </a:p>
          <a:p>
            <a:pPr>
              <a:buClr>
                <a:schemeClr val="tx1"/>
              </a:buClr>
              <a:buFont typeface="Wingdings" pitchFamily="2" charset="2"/>
              <a:buChar char=""/>
            </a:pPr>
            <a:endParaRPr lang="en-US" altLang="ko-KR" sz="1200" b="0" dirty="0"/>
          </a:p>
          <a:p>
            <a:pPr>
              <a:buClrTx/>
              <a:buFont typeface="Wingdings" pitchFamily="2" charset="2"/>
              <a:buChar char=""/>
            </a:pPr>
            <a:r>
              <a:rPr lang="ko-KR" altLang="en-US" dirty="0"/>
              <a:t>공용 데이터</a:t>
            </a:r>
            <a:r>
              <a:rPr lang="en-US" altLang="ko-KR" dirty="0"/>
              <a:t>(shared data)</a:t>
            </a:r>
            <a:br>
              <a:rPr lang="en-US" altLang="ko-KR" dirty="0"/>
            </a:br>
            <a:r>
              <a:rPr lang="ko-KR" altLang="en-US" sz="1400" b="0" dirty="0"/>
              <a:t>한 사람 또는 한 업무를 위해 사용되는 데이터가 아니라 공동으로 사용되는 데이터를 의미</a:t>
            </a:r>
            <a:endParaRPr lang="en-US" altLang="ko-KR" sz="1400" b="0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471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데이터베이스의 개념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데이터베이스의 개념 및 특징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8416" y="5184194"/>
            <a:ext cx="8042493" cy="50405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1-4 </a:t>
            </a:r>
            <a:r>
              <a:rPr lang="ko-KR" altLang="en-US" sz="1400" b="1" dirty="0">
                <a:ea typeface="맑은 고딕" panose="020B0503020000020004" pitchFamily="50" charset="-127"/>
              </a:rPr>
              <a:t>데이터베이스의 개념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ea typeface="맑은 고딕" panose="020B0503020000020004" pitchFamily="50" charset="-127"/>
              </a:rPr>
              <a:t>데이터베이스는 운영 데이터를 통합하여 저장하며 공용으로 사용된다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93568A-23FD-4DDA-8F57-4BD1BE43F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B3F1B6A-22DB-4ED7-A779-39CCB2299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72" y="1167653"/>
            <a:ext cx="5112568" cy="33843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데이터베이스의 개념 및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340768"/>
            <a:ext cx="8136904" cy="4968552"/>
          </a:xfrm>
        </p:spPr>
        <p:txBody>
          <a:bodyPr/>
          <a:lstStyle/>
          <a:p>
            <a:pPr>
              <a:buNone/>
            </a:pPr>
            <a:endParaRPr lang="en-US" altLang="ko-KR" dirty="0"/>
          </a:p>
          <a:p>
            <a:pPr>
              <a:buClr>
                <a:schemeClr val="tx1"/>
              </a:buClr>
              <a:buFont typeface="Wingdings" pitchFamily="2" charset="2"/>
              <a:buChar char=""/>
            </a:pPr>
            <a:r>
              <a:rPr lang="ko-KR" altLang="en-US" dirty="0"/>
              <a:t>실시간 </a:t>
            </a:r>
            <a:r>
              <a:rPr lang="ko-KR" altLang="en-US" dirty="0" err="1"/>
              <a:t>접근성</a:t>
            </a:r>
            <a:r>
              <a:rPr lang="en-US" altLang="ko-KR" dirty="0"/>
              <a:t>(real time accessibility)</a:t>
            </a:r>
          </a:p>
          <a:p>
            <a:pPr algn="just">
              <a:buNone/>
            </a:pPr>
            <a:r>
              <a:rPr lang="en-US" altLang="ko-KR" dirty="0"/>
              <a:t>     </a:t>
            </a:r>
            <a:r>
              <a:rPr lang="ko-KR" altLang="en-US" sz="1400" b="0" dirty="0"/>
              <a:t>데이터베이스는 실시간으로 서비스된다</a:t>
            </a:r>
            <a:r>
              <a:rPr lang="en-US" altLang="ko-KR" sz="1400" b="0" dirty="0"/>
              <a:t>. </a:t>
            </a:r>
            <a:r>
              <a:rPr lang="ko-KR" altLang="en-US" sz="1400" b="0" dirty="0"/>
              <a:t>사용자가 데이터를 요청하면 몇 시간이나 몇 일 뒤에 결과를 전송하는 것이 아니라 수 초 내에 결과를 서비스한다</a:t>
            </a:r>
            <a:r>
              <a:rPr lang="en-US" altLang="ko-KR" sz="1400" b="0" dirty="0"/>
              <a:t>.</a:t>
            </a:r>
          </a:p>
          <a:p>
            <a:pPr>
              <a:buNone/>
            </a:pPr>
            <a:endParaRPr lang="en-US" altLang="ko-KR" sz="1000" dirty="0"/>
          </a:p>
          <a:p>
            <a:pPr>
              <a:buClr>
                <a:schemeClr val="tx1"/>
              </a:buClr>
              <a:buFont typeface="Wingdings" pitchFamily="2" charset="2"/>
              <a:buChar char=""/>
            </a:pPr>
            <a:r>
              <a:rPr lang="ko-KR" altLang="en-US" dirty="0"/>
              <a:t>계속적인 변화</a:t>
            </a:r>
            <a:r>
              <a:rPr lang="en-US" altLang="ko-KR" dirty="0"/>
              <a:t>(continuous change)</a:t>
            </a:r>
          </a:p>
          <a:p>
            <a:pPr algn="just">
              <a:buNone/>
            </a:pPr>
            <a:r>
              <a:rPr lang="en-US" altLang="ko-KR" sz="1400" dirty="0"/>
              <a:t>     </a:t>
            </a:r>
            <a:r>
              <a:rPr lang="ko-KR" altLang="en-US" sz="1400" b="0" dirty="0"/>
              <a:t>데이터베이스에 저장된 내용은 어느 한 순간의 상태를 나타내지만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데이터 값은 시간에 따라 항상 바뀐다</a:t>
            </a:r>
            <a:r>
              <a:rPr lang="en-US" altLang="ko-KR" sz="1400" b="0" dirty="0"/>
              <a:t>. </a:t>
            </a:r>
            <a:r>
              <a:rPr lang="ko-KR" altLang="en-US" sz="1400" b="0" dirty="0"/>
              <a:t>데이터베이스는 삽입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삭제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수정</a:t>
            </a:r>
            <a:r>
              <a:rPr lang="en-US" altLang="ko-KR" sz="1400" b="0" dirty="0"/>
              <a:t> </a:t>
            </a:r>
            <a:r>
              <a:rPr lang="ko-KR" altLang="en-US" sz="1400" b="0" dirty="0"/>
              <a:t>등의 작업을 통하여 바뀐 데이터 값을 저장한다</a:t>
            </a:r>
            <a:r>
              <a:rPr lang="en-US" altLang="ko-KR" sz="1400" b="0" dirty="0"/>
              <a:t>.</a:t>
            </a:r>
          </a:p>
          <a:p>
            <a:pPr>
              <a:buNone/>
            </a:pPr>
            <a:endParaRPr lang="en-US" altLang="ko-KR" sz="1400" dirty="0"/>
          </a:p>
          <a:p>
            <a:pPr>
              <a:buClr>
                <a:schemeClr val="tx1"/>
              </a:buClr>
              <a:buFont typeface="Wingdings" pitchFamily="2" charset="2"/>
              <a:buChar char=""/>
            </a:pPr>
            <a:r>
              <a:rPr lang="ko-KR" altLang="en-US" dirty="0"/>
              <a:t>동시 공유</a:t>
            </a:r>
            <a:r>
              <a:rPr lang="en-US" altLang="ko-KR" dirty="0"/>
              <a:t>(concurrent sharing)</a:t>
            </a:r>
          </a:p>
          <a:p>
            <a:pPr algn="just">
              <a:buNone/>
            </a:pPr>
            <a:r>
              <a:rPr lang="en-US" altLang="ko-KR" dirty="0"/>
              <a:t>     </a:t>
            </a:r>
            <a:r>
              <a:rPr lang="ko-KR" altLang="en-US" sz="1400" b="0" dirty="0"/>
              <a:t>데이터베이스는 서로 다른 업무 또는 여러 사용자에게 동시에 공유된다</a:t>
            </a:r>
            <a:r>
              <a:rPr lang="en-US" altLang="ko-KR" sz="1400" b="0" dirty="0"/>
              <a:t>. </a:t>
            </a:r>
            <a:r>
              <a:rPr lang="ko-KR" altLang="en-US" sz="1400" b="0" dirty="0"/>
              <a:t>동시는 병행이라고도 </a:t>
            </a:r>
            <a:br>
              <a:rPr lang="en-US" altLang="ko-KR" sz="1400" b="0" dirty="0"/>
            </a:br>
            <a:r>
              <a:rPr lang="ko-KR" altLang="en-US" sz="1400" b="0" dirty="0"/>
              <a:t>하며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데이터베이스에 접근하는 프로그램이 여러 개 있다는 의미이다</a:t>
            </a:r>
            <a:r>
              <a:rPr lang="en-US" altLang="ko-KR" sz="1400" b="0" dirty="0"/>
              <a:t>.</a:t>
            </a:r>
          </a:p>
          <a:p>
            <a:pPr>
              <a:buNone/>
            </a:pPr>
            <a:endParaRPr lang="en-US" altLang="ko-KR" sz="1000" dirty="0"/>
          </a:p>
          <a:p>
            <a:pPr>
              <a:buClr>
                <a:schemeClr val="tx1"/>
              </a:buClr>
              <a:buFont typeface="Wingdings" pitchFamily="2" charset="2"/>
              <a:buChar char=""/>
            </a:pPr>
            <a:r>
              <a:rPr lang="ko-KR" altLang="en-US" dirty="0"/>
              <a:t>내용에 따른 참조</a:t>
            </a:r>
            <a:r>
              <a:rPr lang="en-US" altLang="ko-KR" dirty="0"/>
              <a:t>(reference by content)</a:t>
            </a:r>
          </a:p>
          <a:p>
            <a:pPr>
              <a:buNone/>
            </a:pPr>
            <a:r>
              <a:rPr lang="en-US" altLang="ko-KR" dirty="0"/>
              <a:t>     </a:t>
            </a:r>
            <a:r>
              <a:rPr lang="ko-KR" altLang="en-US" sz="1400" b="0" dirty="0"/>
              <a:t>데이터베이스에 저장된 데이터는 데이터의 물리적인 위치가 아니라 데이터 값에 따라 참조된다</a:t>
            </a:r>
            <a:r>
              <a:rPr lang="en-US" altLang="ko-KR" sz="1400" b="0" dirty="0"/>
              <a:t>.</a:t>
            </a:r>
            <a:r>
              <a:rPr lang="en-US" altLang="ko-KR" dirty="0"/>
              <a:t>     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471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데이터베이스의 특징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16024"/>
            <a:ext cx="7560840" cy="548680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데이터베이스 시스템의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3568" y="6046041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1-5</a:t>
            </a:r>
            <a:r>
              <a:rPr lang="ko-KR" altLang="en-US" sz="1400" b="1" dirty="0">
                <a:ea typeface="맑은 고딕" panose="020B0503020000020004" pitchFamily="50" charset="-127"/>
              </a:rPr>
              <a:t> 데이터베이스 시스템의 구성 요소와 물리적인 위치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700808"/>
            <a:ext cx="8244408" cy="42253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844330" y="3119460"/>
            <a:ext cx="5455340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eaLnBrk="1" latinLnBrk="1" hangingPunct="1"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데이터베이스 </a:t>
            </a: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시스템의 발전</a:t>
            </a:r>
          </a:p>
        </p:txBody>
      </p:sp>
    </p:spTree>
    <p:extLst>
      <p:ext uri="{BB962C8B-B14F-4D97-AF65-F5344CB8AC3E}">
        <p14:creationId xmlns:p14="http://schemas.microsoft.com/office/powerpoint/2010/main" val="1912990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데이터베이스 시스템의 예 </a:t>
            </a:r>
            <a:r>
              <a:rPr lang="en-US" altLang="ko-KR" dirty="0"/>
              <a:t>: </a:t>
            </a:r>
            <a:r>
              <a:rPr lang="ko-KR" altLang="en-US" dirty="0"/>
              <a:t>마당서점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" y="1844824"/>
            <a:ext cx="7393260" cy="2535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684763"/>
              </p:ext>
            </p:extLst>
          </p:nvPr>
        </p:nvGraphicFramePr>
        <p:xfrm>
          <a:off x="683569" y="4509120"/>
          <a:ext cx="7056784" cy="1152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056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2128">
                <a:tc>
                  <a:txBody>
                    <a:bodyPr/>
                    <a:lstStyle/>
                    <a:p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도서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100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</a:t>
                      </a:r>
                    </a:p>
                    <a:p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근처 학교의 학생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지역 주민</a:t>
                      </a:r>
                    </a:p>
                    <a:p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 업무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계산기 사용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장부에 기록</a:t>
                      </a:r>
                      <a:endParaRPr lang="en-US" altLang="ko-KR" sz="14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서비스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사장이 직접 도서 안내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1955" y="581555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1-6</a:t>
            </a:r>
            <a:r>
              <a:rPr lang="ko-KR" altLang="en-US" sz="1400" b="1" dirty="0">
                <a:ea typeface="맑은 고딕" panose="020B0503020000020004" pitchFamily="50" charset="-127"/>
              </a:rPr>
              <a:t> 마당서점 초기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471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[1</a:t>
            </a:r>
            <a:r>
              <a:rPr kumimoji="0" lang="ko-KR" altLang="en-US" sz="2000" dirty="0">
                <a:solidFill>
                  <a:schemeClr val="tx2"/>
                </a:solidFill>
              </a:rPr>
              <a:t>단계</a:t>
            </a:r>
            <a:r>
              <a:rPr kumimoji="0" lang="en-US" altLang="ko-KR" sz="2000" dirty="0">
                <a:solidFill>
                  <a:schemeClr val="tx2"/>
                </a:solidFill>
              </a:rPr>
              <a:t>] </a:t>
            </a:r>
            <a:r>
              <a:rPr kumimoji="0" lang="ko-KR" altLang="en-US" sz="2000" dirty="0">
                <a:solidFill>
                  <a:schemeClr val="tx2"/>
                </a:solidFill>
              </a:rPr>
              <a:t>마당서점의 시작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데이터베이스 시스템의 예 </a:t>
            </a:r>
            <a:r>
              <a:rPr lang="en-US" altLang="ko-KR" dirty="0"/>
              <a:t>: </a:t>
            </a:r>
            <a:r>
              <a:rPr lang="ko-KR" altLang="en-US" dirty="0"/>
              <a:t>마당서점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908479"/>
              </p:ext>
            </p:extLst>
          </p:nvPr>
        </p:nvGraphicFramePr>
        <p:xfrm>
          <a:off x="683569" y="4509120"/>
          <a:ext cx="7056784" cy="1152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056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2128">
                <a:tc>
                  <a:txBody>
                    <a:bodyPr/>
                    <a:lstStyle/>
                    <a:p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도서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1,000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</a:t>
                      </a:r>
                    </a:p>
                    <a:p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근처 학교의 학생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지역 주민</a:t>
                      </a:r>
                    </a:p>
                    <a:p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 업무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컴퓨터 사용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파일 시스템</a:t>
                      </a:r>
                      <a:endParaRPr lang="en-US" altLang="ko-KR" sz="14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서비스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컴퓨터를 이용하여 도서 검색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직원 고용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1955" y="580640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1-7</a:t>
            </a:r>
            <a:r>
              <a:rPr lang="ko-KR" altLang="en-US" sz="1400" b="1" dirty="0">
                <a:ea typeface="맑은 고딕" panose="020B0503020000020004" pitchFamily="50" charset="-127"/>
              </a:rPr>
              <a:t> 마당서점 전산화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1850157"/>
            <a:ext cx="6048151" cy="2586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471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[2</a:t>
            </a:r>
            <a:r>
              <a:rPr kumimoji="0" lang="ko-KR" altLang="en-US" sz="2000" dirty="0">
                <a:solidFill>
                  <a:schemeClr val="tx2"/>
                </a:solidFill>
              </a:rPr>
              <a:t>단계</a:t>
            </a:r>
            <a:r>
              <a:rPr kumimoji="0" lang="en-US" altLang="ko-KR" sz="2000" dirty="0">
                <a:solidFill>
                  <a:schemeClr val="tx2"/>
                </a:solidFill>
              </a:rPr>
              <a:t>] </a:t>
            </a:r>
            <a:r>
              <a:rPr kumimoji="0" lang="ko-KR" altLang="en-US" sz="2000" dirty="0">
                <a:solidFill>
                  <a:schemeClr val="tx2"/>
                </a:solidFill>
              </a:rPr>
              <a:t>컴퓨터의 도입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데이터베이스 시스템의 예 </a:t>
            </a:r>
            <a:r>
              <a:rPr lang="en-US" altLang="ko-KR" dirty="0"/>
              <a:t>: </a:t>
            </a:r>
            <a:r>
              <a:rPr lang="ko-KR" altLang="en-US" dirty="0"/>
              <a:t>마당서점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2487769"/>
              </p:ext>
            </p:extLst>
          </p:nvPr>
        </p:nvGraphicFramePr>
        <p:xfrm>
          <a:off x="683569" y="4509120"/>
          <a:ext cx="7056784" cy="1152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056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2128">
                <a:tc>
                  <a:txBody>
                    <a:bodyPr/>
                    <a:lstStyle/>
                    <a:p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도서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10,000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</a:t>
                      </a:r>
                    </a:p>
                    <a:p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서울 지역 고객</a:t>
                      </a:r>
                    </a:p>
                    <a:p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 업무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컴퓨터 사용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데이터베이스 시스템</a:t>
                      </a:r>
                      <a:endParaRPr lang="en-US" altLang="ko-KR" sz="14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서비스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클라이언트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서버 시스템으로 지점을 연결하여 도서 검색 서비스 제공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1955" y="577897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1-8</a:t>
            </a:r>
            <a:r>
              <a:rPr lang="ko-KR" altLang="en-US" sz="1400" b="1" dirty="0">
                <a:ea typeface="맑은 고딕" panose="020B0503020000020004" pitchFamily="50" charset="-127"/>
              </a:rPr>
              <a:t> 마당서점 </a:t>
            </a:r>
            <a:r>
              <a:rPr lang="en-US" altLang="ko-KR" sz="1400" b="1" dirty="0">
                <a:ea typeface="맑은 고딕" panose="020B0503020000020004" pitchFamily="50" charset="-127"/>
              </a:rPr>
              <a:t>DBMS </a:t>
            </a:r>
            <a:r>
              <a:rPr lang="ko-KR" altLang="en-US" sz="1400" b="1" dirty="0">
                <a:ea typeface="맑은 고딕" panose="020B0503020000020004" pitchFamily="50" charset="-127"/>
              </a:rPr>
              <a:t>도입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662114"/>
            <a:ext cx="7668344" cy="2687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471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[3</a:t>
            </a:r>
            <a:r>
              <a:rPr kumimoji="0" lang="ko-KR" altLang="en-US" sz="2000" dirty="0">
                <a:solidFill>
                  <a:schemeClr val="tx2"/>
                </a:solidFill>
              </a:rPr>
              <a:t>단계</a:t>
            </a:r>
            <a:r>
              <a:rPr kumimoji="0" lang="en-US" altLang="ko-KR" sz="2000" dirty="0">
                <a:solidFill>
                  <a:schemeClr val="tx2"/>
                </a:solidFill>
              </a:rPr>
              <a:t>] </a:t>
            </a:r>
            <a:r>
              <a:rPr kumimoji="0" lang="ko-KR" altLang="en-US" sz="2000" dirty="0">
                <a:solidFill>
                  <a:schemeClr val="tx2"/>
                </a:solidFill>
              </a:rPr>
              <a:t>지점 개설 및 데이터베이스 구축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데이터베이스 시스템의 예 </a:t>
            </a:r>
            <a:r>
              <a:rPr lang="en-US" altLang="ko-KR" dirty="0"/>
              <a:t>: </a:t>
            </a:r>
            <a:r>
              <a:rPr lang="ko-KR" altLang="en-US" dirty="0"/>
              <a:t>마당서점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219814"/>
              </p:ext>
            </p:extLst>
          </p:nvPr>
        </p:nvGraphicFramePr>
        <p:xfrm>
          <a:off x="683569" y="4509120"/>
          <a:ext cx="7056784" cy="1152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056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2128">
                <a:tc>
                  <a:txBody>
                    <a:bodyPr/>
                    <a:lstStyle/>
                    <a:p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도서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100,000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</a:t>
                      </a:r>
                    </a:p>
                    <a:p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국민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전국으로 배송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인사 업무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컴퓨터와 인터넷 사용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웹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시스템으로 지점 간 연계</a:t>
                      </a:r>
                      <a:endParaRPr lang="en-US" altLang="ko-KR" sz="14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서비스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인터넷으로 도서 검색 및 주문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56728" y="576068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1-9</a:t>
            </a:r>
            <a:r>
              <a:rPr lang="ko-KR" altLang="en-US" sz="1400" b="1" dirty="0">
                <a:ea typeface="맑은 고딕" panose="020B0503020000020004" pitchFamily="50" charset="-127"/>
              </a:rPr>
              <a:t> 마당서점 인터넷 서비스 실시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888256"/>
            <a:ext cx="7344816" cy="2548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471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[4</a:t>
            </a:r>
            <a:r>
              <a:rPr kumimoji="0" lang="ko-KR" altLang="en-US" sz="2000" dirty="0">
                <a:solidFill>
                  <a:schemeClr val="tx2"/>
                </a:solidFill>
              </a:rPr>
              <a:t>단계</a:t>
            </a:r>
            <a:r>
              <a:rPr kumimoji="0" lang="en-US" altLang="ko-KR" sz="2000" dirty="0">
                <a:solidFill>
                  <a:schemeClr val="tx2"/>
                </a:solidFill>
              </a:rPr>
              <a:t>] </a:t>
            </a:r>
            <a:r>
              <a:rPr kumimoji="0" lang="ko-KR" altLang="en-US" sz="2000" dirty="0">
                <a:solidFill>
                  <a:schemeClr val="tx2"/>
                </a:solidFill>
              </a:rPr>
              <a:t>홈페이지 구축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데이터베이스 시스템의 예 </a:t>
            </a:r>
            <a:r>
              <a:rPr lang="en-US" altLang="ko-KR" dirty="0"/>
              <a:t>: </a:t>
            </a:r>
            <a:r>
              <a:rPr lang="ko-KR" altLang="en-US" dirty="0"/>
              <a:t>마당서점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79184"/>
              </p:ext>
            </p:extLst>
          </p:nvPr>
        </p:nvGraphicFramePr>
        <p:xfrm>
          <a:off x="683569" y="4509120"/>
          <a:ext cx="7056784" cy="1152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056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2128">
                <a:tc>
                  <a:txBody>
                    <a:bodyPr/>
                    <a:lstStyle/>
                    <a:p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도서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1,000,000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</a:t>
                      </a:r>
                    </a:p>
                    <a:p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국민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전국으로 배송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인사 업무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컴퓨터와 인터넷 사용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DB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서버 여러 개 구축</a:t>
                      </a:r>
                      <a:endParaRPr lang="en-US" altLang="ko-KR" sz="1400" b="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고객 서비스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인터넷 종합 쇼핑 서비스 제공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1955" y="576983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1-10</a:t>
            </a:r>
            <a:r>
              <a:rPr lang="ko-KR" altLang="en-US" sz="1400" b="1" dirty="0">
                <a:ea typeface="맑은 고딕" panose="020B0503020000020004" pitchFamily="50" charset="-127"/>
              </a:rPr>
              <a:t> 마당서점 인터넷 쇼핑몰 운영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1844824"/>
            <a:ext cx="6984776" cy="2542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471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[5</a:t>
            </a:r>
            <a:r>
              <a:rPr kumimoji="0" lang="ko-KR" altLang="en-US" sz="2000" dirty="0">
                <a:solidFill>
                  <a:schemeClr val="tx2"/>
                </a:solidFill>
              </a:rPr>
              <a:t>단계</a:t>
            </a:r>
            <a:r>
              <a:rPr kumimoji="0" lang="en-US" altLang="ko-KR" sz="2000" dirty="0">
                <a:solidFill>
                  <a:schemeClr val="tx2"/>
                </a:solidFill>
              </a:rPr>
              <a:t>] </a:t>
            </a:r>
            <a:r>
              <a:rPr kumimoji="0" lang="ko-KR" altLang="en-US" sz="2000" dirty="0">
                <a:solidFill>
                  <a:schemeClr val="tx2"/>
                </a:solidFill>
              </a:rPr>
              <a:t>인터넷 쇼핑몰 운영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데이터베이스 시스템의 예 </a:t>
            </a:r>
            <a:r>
              <a:rPr lang="en-US" altLang="ko-KR" dirty="0"/>
              <a:t>: </a:t>
            </a:r>
            <a:r>
              <a:rPr lang="ko-KR" altLang="en-US" dirty="0"/>
              <a:t>마당서점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9552" y="119675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1-3 </a:t>
            </a:r>
            <a:r>
              <a:rPr lang="ko-KR" altLang="en-US" sz="1400" b="1" dirty="0">
                <a:ea typeface="맑은 고딕" panose="020B0503020000020004" pitchFamily="50" charset="-127"/>
              </a:rPr>
              <a:t>정보통신기술의 발전과 마당서점의 성장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461782"/>
              </p:ext>
            </p:extLst>
          </p:nvPr>
        </p:nvGraphicFramePr>
        <p:xfrm>
          <a:off x="611560" y="1631147"/>
          <a:ext cx="7814853" cy="4721640"/>
        </p:xfrm>
        <a:graphic>
          <a:graphicData uri="http://schemas.openxmlformats.org/drawingml/2006/table">
            <a:tbl>
              <a:tblPr/>
              <a:tblGrid>
                <a:gridCol w="1572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9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47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시기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주요 특징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4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정보기술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470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단계</a:t>
                      </a:r>
                      <a:endParaRPr lang="en-US" altLang="ko-KR" sz="13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마당서점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1970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144000" marR="0" indent="-1440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사장이 모든 도서의 제목과 가격을 기억</a:t>
                      </a:r>
                      <a:endParaRPr lang="en-US" altLang="ko-KR" sz="13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marR="0" indent="-1440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매출과 판매가 컴퓨터 없이 관리됨</a:t>
                      </a:r>
                      <a:endParaRPr lang="en-US" altLang="ko-KR" sz="13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marR="0" indent="-1440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매출에 대한 내용이 정확하지 않음</a:t>
                      </a:r>
                      <a:endParaRPr lang="ko-KR" altLang="en-US" sz="13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4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컴퓨터 없음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470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</a:t>
                      </a:r>
                    </a:p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초기전산화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1980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144000" marR="0" indent="-1440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컴퓨터를 이용한 초기 응용 프로그램으로 업무 처리</a:t>
                      </a:r>
                      <a:endParaRPr lang="en-US" altLang="ko-KR" sz="13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marR="0" indent="-1440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파일 시스템 사용</a:t>
                      </a:r>
                      <a:endParaRPr lang="en-US" altLang="ko-KR" sz="13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marR="0" indent="-1440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한 대의 컴퓨터에서만 판매 및 매출 관리</a:t>
                      </a:r>
                      <a:endParaRPr lang="ko-KR" altLang="en-US" sz="13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4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컴퓨터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470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</a:t>
                      </a:r>
                    </a:p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데이터베이스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1990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144000" marR="0" indent="-1440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지점 간 클라이언트</a:t>
                      </a:r>
                      <a:r>
                        <a:rPr lang="en-US" altLang="ko-KR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서버 시스템을 도입하여 업무 처리</a:t>
                      </a:r>
                      <a:endParaRPr lang="en-US" altLang="ko-KR" sz="13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marR="0" indent="-1440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데이터베이스 관리 시스템</a:t>
                      </a:r>
                      <a:r>
                        <a:rPr lang="en-US" altLang="ko-KR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(DBMS)</a:t>
                      </a: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</a:t>
                      </a:r>
                      <a:r>
                        <a:rPr lang="en-US" altLang="ko-KR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도입</a:t>
                      </a:r>
                      <a:endParaRPr lang="en-US" altLang="ko-KR" sz="13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4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컴퓨터</a:t>
                      </a:r>
                      <a: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원격통신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470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</a:t>
                      </a:r>
                    </a:p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홈페이지 구축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2000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144000" marR="0" indent="-1440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인터넷을 이용하여 도서 검색 및 주문</a:t>
                      </a:r>
                      <a:endParaRPr lang="en-US" altLang="ko-KR" sz="13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marR="0" indent="-1440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웹 </a:t>
                      </a:r>
                      <a:r>
                        <a:rPr lang="en-US" altLang="ko-KR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시스템으로 불특정 다수 고객 유치</a:t>
                      </a:r>
                      <a:endParaRPr lang="en-US" altLang="ko-KR" sz="13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marR="0" indent="-1440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고객이 지리적으로 넓게 분산됨</a:t>
                      </a:r>
                      <a:endParaRPr lang="ko-KR" altLang="en-US" sz="13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4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컴퓨터</a:t>
                      </a:r>
                      <a: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인터넷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470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단계</a:t>
                      </a:r>
                    </a:p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인터넷 쇼핑몰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2010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144000" marR="0" indent="-1440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도서뿐만 아니라 음반</a:t>
                      </a:r>
                      <a:r>
                        <a:rPr lang="en-US" altLang="ko-KR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액세서리</a:t>
                      </a:r>
                      <a:r>
                        <a:rPr lang="en-US" altLang="ko-KR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문구</a:t>
                      </a:r>
                      <a:r>
                        <a:rPr lang="en-US" altLang="ko-KR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공연 티켓까지 판매하는 인터넷 쇼핑몰로 확대</a:t>
                      </a:r>
                      <a:endParaRPr lang="en-US" altLang="ko-KR" sz="13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000" marR="0" indent="-1440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도서 외 상품의 매출 비중이 </a:t>
                      </a:r>
                      <a:r>
                        <a:rPr lang="en-US" altLang="ko-KR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50% </a:t>
                      </a:r>
                      <a:r>
                        <a:rPr lang="ko-KR" altLang="en-US" sz="13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이상으로 늘어남</a:t>
                      </a:r>
                      <a:endParaRPr lang="en-US" altLang="ko-KR" sz="130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34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컴퓨터</a:t>
                      </a:r>
                      <a: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인터넷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7240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정보 시스템의 발전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itchFamily="2" charset="2"/>
              <a:buChar char=""/>
            </a:pPr>
            <a:r>
              <a:rPr lang="ko-KR" altLang="en-US" dirty="0"/>
              <a:t>파일 시스템</a:t>
            </a:r>
            <a:endParaRPr lang="en-US" altLang="ko-KR" dirty="0"/>
          </a:p>
          <a:p>
            <a:pPr indent="-160338">
              <a:buClrTx/>
              <a:buFont typeface="Arial" panose="020B0604020202020204" pitchFamily="34" charset="0"/>
              <a:buChar char="•"/>
            </a:pPr>
            <a:r>
              <a:rPr lang="ko-KR" altLang="en-US" sz="1400" b="0" dirty="0"/>
              <a:t>데이터를 파일 단위로 파일 서버에 저장</a:t>
            </a:r>
            <a:endParaRPr lang="en-US" altLang="ko-KR" sz="1400" b="0" dirty="0"/>
          </a:p>
          <a:p>
            <a:pPr indent="-160338">
              <a:buClrTx/>
              <a:buFont typeface="Arial" panose="020B0604020202020204" pitchFamily="34" charset="0"/>
              <a:buChar char="•"/>
            </a:pPr>
            <a:r>
              <a:rPr lang="ko-KR" altLang="en-US" sz="1400" b="0" dirty="0"/>
              <a:t>각</a:t>
            </a:r>
            <a:r>
              <a:rPr lang="en-US" altLang="ko-KR" sz="1400" b="0" dirty="0"/>
              <a:t> </a:t>
            </a:r>
            <a:r>
              <a:rPr lang="ko-KR" altLang="en-US" sz="1400" b="0" dirty="0"/>
              <a:t>컴퓨터는 </a:t>
            </a:r>
            <a:r>
              <a:rPr lang="en-US" altLang="ko-KR" sz="1400" b="0" dirty="0"/>
              <a:t>LAN</a:t>
            </a:r>
            <a:r>
              <a:rPr lang="ko-KR" altLang="en-US" sz="1400" b="0" dirty="0"/>
              <a:t>을 통해 파일 서버에 연결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파일 서버에 저장된 데이터를 사용하기 위해 </a:t>
            </a:r>
            <a:br>
              <a:rPr lang="en-US" altLang="ko-KR" sz="1400" b="0" dirty="0"/>
            </a:br>
            <a:r>
              <a:rPr lang="ko-KR" altLang="en-US" sz="1400" b="0" dirty="0"/>
              <a:t>각 컴퓨터의 응용 프로그램에서 열기</a:t>
            </a:r>
            <a:r>
              <a:rPr lang="en-US" altLang="ko-KR" sz="1400" b="0" dirty="0"/>
              <a:t>/</a:t>
            </a:r>
            <a:r>
              <a:rPr lang="ko-KR" altLang="en-US" sz="1400" b="0" dirty="0"/>
              <a:t>닫기</a:t>
            </a:r>
            <a:r>
              <a:rPr lang="en-US" altLang="ko-KR" sz="1400" b="0" dirty="0"/>
              <a:t>(open/close)</a:t>
            </a:r>
            <a:r>
              <a:rPr lang="ko-KR" altLang="en-US" sz="1400" b="0" dirty="0"/>
              <a:t>를 요청</a:t>
            </a:r>
            <a:endParaRPr lang="en-US" altLang="ko-KR" sz="1400" b="0" dirty="0"/>
          </a:p>
          <a:p>
            <a:pPr indent="-160338">
              <a:buClrTx/>
              <a:buFont typeface="Arial" panose="020B0604020202020204" pitchFamily="34" charset="0"/>
              <a:buChar char="•"/>
            </a:pPr>
            <a:r>
              <a:rPr lang="ko-KR" altLang="en-US" sz="1400" b="0" dirty="0"/>
              <a:t>각 응용 프로그램이 독립적으로 파일을 다루기 때문에 데이터가 중복 저장될 가능성이 있음</a:t>
            </a:r>
            <a:endParaRPr lang="en-US" altLang="ko-KR" sz="1400" b="0" dirty="0"/>
          </a:p>
          <a:p>
            <a:pPr indent="-160338">
              <a:buClrTx/>
              <a:buFont typeface="Arial" panose="020B0604020202020204" pitchFamily="34" charset="0"/>
              <a:buChar char="•"/>
            </a:pPr>
            <a:r>
              <a:rPr lang="ko-KR" altLang="en-US" sz="1400" b="0" dirty="0"/>
              <a:t>동시에 파일을 다루기 때문에 데이터의 일관성이 훼손될 수 있음</a:t>
            </a:r>
            <a:endParaRPr lang="en-US" altLang="ko-KR" sz="1400" b="0" dirty="0"/>
          </a:p>
          <a:p>
            <a:pPr indent="-160338">
              <a:buNone/>
            </a:pPr>
            <a:r>
              <a:rPr lang="en-US" altLang="ko-KR" dirty="0"/>
              <a:t>    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15616" y="623731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1-11</a:t>
            </a:r>
            <a:r>
              <a:rPr lang="ko-KR" altLang="en-US" sz="1400" b="1" dirty="0">
                <a:ea typeface="맑은 고딕" panose="020B0503020000020004" pitchFamily="50" charset="-127"/>
              </a:rPr>
              <a:t> 파일 시스템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212976"/>
            <a:ext cx="3096344" cy="286743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정보 시스템의 발전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Font typeface="Wingdings" pitchFamily="2" charset="2"/>
              <a:buChar char=""/>
            </a:pPr>
            <a:r>
              <a:rPr lang="ko-KR" altLang="en-US" dirty="0"/>
              <a:t>데이터베이스 시스템</a:t>
            </a:r>
            <a:endParaRPr lang="en-US" altLang="ko-KR" dirty="0"/>
          </a:p>
          <a:p>
            <a:pPr indent="-165100" algn="just">
              <a:buClrTx/>
              <a:buFont typeface="Arial" pitchFamily="34" charset="0"/>
              <a:buChar char="•"/>
            </a:pPr>
            <a:r>
              <a:rPr lang="en-US" altLang="ko-KR" sz="1400" b="0" dirty="0"/>
              <a:t>DBMS</a:t>
            </a:r>
            <a:r>
              <a:rPr lang="ko-KR" altLang="en-US" sz="1400" b="0" dirty="0"/>
              <a:t>를 도입하여 데이터를 통합 관리하는 시스템</a:t>
            </a:r>
            <a:endParaRPr lang="en-US" altLang="ko-KR" sz="1400" b="0" dirty="0"/>
          </a:p>
          <a:p>
            <a:pPr indent="-165100" algn="just">
              <a:buClrTx/>
              <a:buFont typeface="Arial" pitchFamily="34" charset="0"/>
              <a:buChar char="•"/>
            </a:pPr>
            <a:r>
              <a:rPr lang="en-US" altLang="ko-KR" sz="1400" b="0" dirty="0"/>
              <a:t>DBMS</a:t>
            </a:r>
            <a:r>
              <a:rPr lang="ko-KR" altLang="en-US" sz="1400" b="0" dirty="0"/>
              <a:t>가 설치되어 데이터를 가진 쪽을 서버</a:t>
            </a:r>
            <a:r>
              <a:rPr lang="en-US" altLang="ko-KR" sz="1400" b="0" dirty="0"/>
              <a:t>(server),</a:t>
            </a:r>
            <a:r>
              <a:rPr lang="ko-KR" altLang="en-US" sz="1400" b="0" dirty="0"/>
              <a:t> 외부에서 데이터 요청하는 쪽을 클라이언트</a:t>
            </a:r>
            <a:r>
              <a:rPr lang="en-US" altLang="ko-KR" sz="1400" b="0" dirty="0"/>
              <a:t>(client)</a:t>
            </a:r>
            <a:r>
              <a:rPr lang="ko-KR" altLang="en-US" sz="1400" b="0" dirty="0"/>
              <a:t>라고 함</a:t>
            </a:r>
            <a:endParaRPr lang="en-US" altLang="ko-KR" sz="1400" b="0" dirty="0"/>
          </a:p>
          <a:p>
            <a:pPr indent="-165100" algn="just">
              <a:buClrTx/>
              <a:buFont typeface="Arial" pitchFamily="34" charset="0"/>
              <a:buChar char="•"/>
            </a:pPr>
            <a:r>
              <a:rPr lang="en-US" altLang="ko-KR" sz="1400" b="0" dirty="0"/>
              <a:t>DBMS </a:t>
            </a:r>
            <a:r>
              <a:rPr lang="ko-KR" altLang="en-US" sz="1400" b="0" dirty="0"/>
              <a:t>서버가 파일을 다루며 데이터의 일관성 유지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복구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동시 접근 제어 등의 기능을 수행</a:t>
            </a:r>
            <a:endParaRPr lang="en-US" altLang="ko-KR" sz="1400" b="0" dirty="0"/>
          </a:p>
          <a:p>
            <a:pPr indent="-165100" algn="just">
              <a:buClrTx/>
              <a:buFont typeface="Arial" pitchFamily="34" charset="0"/>
              <a:buChar char="•"/>
            </a:pPr>
            <a:r>
              <a:rPr lang="ko-KR" altLang="en-US" sz="1400" b="0" dirty="0"/>
              <a:t>데이터의 중복을 줄이고 데이터를 표준화하며 </a:t>
            </a:r>
            <a:r>
              <a:rPr lang="ko-KR" altLang="en-US" sz="1400" b="0" dirty="0" err="1"/>
              <a:t>무결성을</a:t>
            </a:r>
            <a:r>
              <a:rPr lang="ko-KR" altLang="en-US" sz="1400" b="0" dirty="0"/>
              <a:t> 유지함</a:t>
            </a:r>
            <a:endParaRPr lang="en-US" altLang="ko-KR" sz="1400" b="0" dirty="0"/>
          </a:p>
          <a:p>
            <a:pPr>
              <a:buNone/>
            </a:pPr>
            <a:r>
              <a:rPr lang="en-US" altLang="ko-KR" dirty="0"/>
              <a:t>    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15616" y="6309320"/>
            <a:ext cx="3024336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1-12</a:t>
            </a:r>
            <a:r>
              <a:rPr lang="ko-KR" altLang="en-US" sz="1400" b="1" dirty="0">
                <a:ea typeface="맑은 고딕" panose="020B0503020000020004" pitchFamily="50" charset="-127"/>
              </a:rPr>
              <a:t> 데이터베이스 시스템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212976"/>
            <a:ext cx="3374163" cy="30946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정보 시스템의 발전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itchFamily="2" charset="2"/>
              <a:buChar char=""/>
            </a:pPr>
            <a:r>
              <a:rPr lang="ko-KR" altLang="en-US" dirty="0"/>
              <a:t>웹 데이터베이스 시스템</a:t>
            </a:r>
            <a:endParaRPr lang="en-US" altLang="ko-KR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데이터베이스를 웹 브라우저에서 사용할 수 있도록 서비스하는 시스템</a:t>
            </a:r>
            <a:endParaRPr lang="en-US" altLang="ko-KR" sz="1400" b="0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불특정 다수 고객을 상대로 하는 온라인 상거래나 공공 민원 서비스 등에 사용됨</a:t>
            </a:r>
            <a:endParaRPr lang="en-US" altLang="ko-KR" sz="1400" b="0" dirty="0"/>
          </a:p>
          <a:p>
            <a:pPr>
              <a:buNone/>
            </a:pPr>
            <a:r>
              <a:rPr lang="en-US" altLang="ko-KR" dirty="0"/>
              <a:t>    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259632" y="587727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1-13</a:t>
            </a:r>
            <a:r>
              <a:rPr lang="ko-KR" altLang="en-US" sz="1400" b="1" dirty="0">
                <a:ea typeface="맑은 고딕" panose="020B0503020000020004" pitchFamily="50" charset="-127"/>
              </a:rPr>
              <a:t> 웹 데이터베이스 시스템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512674"/>
            <a:ext cx="5801129" cy="335160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정보 시스템의 발전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Font typeface="Wingdings" pitchFamily="2" charset="2"/>
              <a:buChar char=""/>
            </a:pPr>
            <a:r>
              <a:rPr lang="ko-KR" altLang="en-US" dirty="0"/>
              <a:t>분산 데이터베이스 시스템</a:t>
            </a:r>
            <a:endParaRPr lang="en-US" altLang="ko-KR" dirty="0"/>
          </a:p>
          <a:p>
            <a:pPr indent="-165100">
              <a:buClr>
                <a:schemeClr val="tx1"/>
              </a:buClr>
              <a:buFont typeface="Arial" pitchFamily="34" charset="0"/>
              <a:buChar char="•"/>
              <a:tabLst>
                <a:tab pos="88900" algn="l"/>
              </a:tabLst>
            </a:pPr>
            <a:r>
              <a:rPr lang="ko-KR" altLang="en-US" sz="1400" b="0" dirty="0"/>
              <a:t>여러 곳에 분산된 </a:t>
            </a:r>
            <a:r>
              <a:rPr lang="en-US" altLang="ko-KR" sz="1400" b="0" dirty="0"/>
              <a:t>DBMS </a:t>
            </a:r>
            <a:r>
              <a:rPr lang="ko-KR" altLang="en-US" sz="1400" b="0" dirty="0"/>
              <a:t>서버를 연결하여 운영하는 시스템</a:t>
            </a:r>
            <a:endParaRPr lang="en-US" altLang="ko-KR" sz="1400" b="0" dirty="0"/>
          </a:p>
          <a:p>
            <a:pPr indent="-165100">
              <a:buClr>
                <a:schemeClr val="tx1"/>
              </a:buClr>
              <a:buFont typeface="Arial" pitchFamily="34" charset="0"/>
              <a:buChar char="•"/>
              <a:tabLst>
                <a:tab pos="88900" algn="l"/>
              </a:tabLst>
            </a:pPr>
            <a:r>
              <a:rPr lang="ko-KR" altLang="en-US" sz="1400" b="0" dirty="0"/>
              <a:t>대규모의 응용 시스템에 사용됨</a:t>
            </a:r>
            <a:endParaRPr lang="en-US" altLang="ko-KR" sz="1400" b="0" dirty="0"/>
          </a:p>
          <a:p>
            <a:pPr marL="177800" indent="0">
              <a:buNone/>
              <a:tabLst>
                <a:tab pos="88900" algn="l"/>
              </a:tabLst>
            </a:pP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71600" y="591537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1-14</a:t>
            </a:r>
            <a:r>
              <a:rPr lang="ko-KR" altLang="en-US" sz="1400" b="1" dirty="0">
                <a:ea typeface="맑은 고딕" panose="020B0503020000020004" pitchFamily="50" charset="-127"/>
              </a:rPr>
              <a:t> 분산 데이터베이스 시스템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506280"/>
            <a:ext cx="6516216" cy="324163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234858"/>
              </p:ext>
            </p:extLst>
          </p:nvPr>
        </p:nvGraphicFramePr>
        <p:xfrm>
          <a:off x="612912" y="1484784"/>
          <a:ext cx="3048000" cy="4896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965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5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5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5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5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5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65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965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965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965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정보 시스템의 발전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427" y="630562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1-15 </a:t>
            </a:r>
            <a:r>
              <a:rPr lang="ko-KR" altLang="en-US" sz="1400" b="1" dirty="0">
                <a:ea typeface="맑은 고딕" panose="020B0503020000020004" pitchFamily="50" charset="-127"/>
              </a:rPr>
              <a:t>정보 시스템의 발전과 기업의 업무 환경 변화</a:t>
            </a:r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064" y="2026940"/>
            <a:ext cx="305370" cy="336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064" y="3039512"/>
            <a:ext cx="305370" cy="336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064" y="4019049"/>
            <a:ext cx="305370" cy="336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064" y="4993253"/>
            <a:ext cx="305370" cy="336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TextBox 21"/>
          <p:cNvSpPr txBox="1"/>
          <p:nvPr/>
        </p:nvSpPr>
        <p:spPr>
          <a:xfrm>
            <a:off x="1044960" y="1484784"/>
            <a:ext cx="914400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85320" y="2132856"/>
            <a:ext cx="914400" cy="36004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13359" y="157584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latin typeface="+mn-ea"/>
                <a:ea typeface="+mn-ea"/>
              </a:rPr>
              <a:t>소매상</a:t>
            </a:r>
            <a:r>
              <a:rPr lang="en-US" altLang="ko-KR" sz="1400" b="1" dirty="0">
                <a:latin typeface="+mn-ea"/>
                <a:ea typeface="+mn-ea"/>
              </a:rPr>
              <a:t>(</a:t>
            </a:r>
            <a:r>
              <a:rPr lang="ko-KR" altLang="en-US" sz="1400" b="1" dirty="0">
                <a:latin typeface="+mn-ea"/>
                <a:ea typeface="+mn-ea"/>
              </a:rPr>
              <a:t>수작업</a:t>
            </a:r>
            <a:r>
              <a:rPr lang="en-US" altLang="ko-KR" sz="1400" b="1" dirty="0">
                <a:latin typeface="+mn-ea"/>
                <a:ea typeface="+mn-ea"/>
              </a:rPr>
              <a:t>)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08026" y="256490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latin typeface="+mn-ea"/>
                <a:ea typeface="+mn-ea"/>
              </a:rPr>
              <a:t>소기업</a:t>
            </a:r>
            <a:r>
              <a:rPr lang="en-US" altLang="ko-KR" sz="1400" b="1" dirty="0">
                <a:latin typeface="+mn-ea"/>
                <a:ea typeface="+mn-ea"/>
              </a:rPr>
              <a:t>(</a:t>
            </a:r>
            <a:r>
              <a:rPr lang="ko-KR" altLang="en-US" sz="1400" b="1" dirty="0">
                <a:latin typeface="+mn-ea"/>
                <a:ea typeface="+mn-ea"/>
              </a:rPr>
              <a:t>파일 시스템</a:t>
            </a:r>
            <a:r>
              <a:rPr lang="en-US" altLang="ko-KR" sz="1400" b="1" dirty="0">
                <a:latin typeface="+mn-ea"/>
                <a:ea typeface="+mn-ea"/>
              </a:rPr>
              <a:t>)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16968" y="355396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latin typeface="+mn-ea"/>
                <a:ea typeface="+mn-ea"/>
              </a:rPr>
              <a:t>중견기업</a:t>
            </a:r>
            <a:r>
              <a:rPr lang="en-US" altLang="ko-KR" sz="1400" b="1" dirty="0">
                <a:latin typeface="+mn-ea"/>
                <a:ea typeface="+mn-ea"/>
              </a:rPr>
              <a:t>(</a:t>
            </a:r>
            <a:r>
              <a:rPr lang="ko-KR" altLang="en-US" sz="1400" b="1" dirty="0">
                <a:latin typeface="+mn-ea"/>
                <a:ea typeface="+mn-ea"/>
              </a:rPr>
              <a:t>데이터베이스</a:t>
            </a:r>
            <a:r>
              <a:rPr lang="en-US" altLang="ko-KR" sz="1400" b="1" dirty="0">
                <a:latin typeface="+mn-ea"/>
                <a:ea typeface="+mn-ea"/>
              </a:rPr>
              <a:t>)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08026" y="4518645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latin typeface="+mn-ea"/>
                <a:ea typeface="+mn-ea"/>
              </a:rPr>
              <a:t>대기업</a:t>
            </a:r>
            <a:r>
              <a:rPr lang="en-US" altLang="ko-KR" sz="1400" b="1" dirty="0">
                <a:latin typeface="+mn-ea"/>
                <a:ea typeface="+mn-ea"/>
              </a:rPr>
              <a:t>(</a:t>
            </a:r>
            <a:r>
              <a:rPr lang="ko-KR" altLang="en-US" sz="1400" b="1" dirty="0">
                <a:latin typeface="+mn-ea"/>
                <a:ea typeface="+mn-ea"/>
              </a:rPr>
              <a:t>인터넷 통신</a:t>
            </a:r>
            <a:r>
              <a:rPr lang="en-US" altLang="ko-KR" sz="1400" b="1" dirty="0">
                <a:latin typeface="+mn-ea"/>
                <a:ea typeface="+mn-ea"/>
              </a:rPr>
              <a:t>)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45543" y="550770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latin typeface="+mn-ea"/>
                <a:ea typeface="+mn-ea"/>
              </a:rPr>
              <a:t>종합그룹</a:t>
            </a:r>
            <a:r>
              <a:rPr lang="en-US" altLang="ko-KR" sz="1400" b="1" dirty="0">
                <a:latin typeface="+mn-ea"/>
                <a:ea typeface="+mn-ea"/>
              </a:rPr>
              <a:t>(</a:t>
            </a:r>
            <a:r>
              <a:rPr lang="ko-KR" altLang="en-US" sz="1400" b="1" dirty="0">
                <a:latin typeface="+mn-ea"/>
                <a:ea typeface="+mn-ea"/>
              </a:rPr>
              <a:t>인터넷 통신</a:t>
            </a:r>
            <a:r>
              <a:rPr lang="en-US" altLang="ko-KR" sz="1400" b="1" dirty="0">
                <a:latin typeface="+mn-ea"/>
                <a:ea typeface="+mn-ea"/>
              </a:rPr>
              <a:t>)</a:t>
            </a:r>
            <a:endParaRPr lang="ko-KR" altLang="en-US" sz="1400" b="1" dirty="0">
              <a:latin typeface="+mn-ea"/>
              <a:ea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3665823" y="134610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108000" marR="0" indent="-1080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1970</a:t>
            </a:r>
            <a:r>
              <a:rPr lang="ko-KR" altLang="en-US" sz="1200" dirty="0">
                <a:latin typeface="+mn-ea"/>
                <a:ea typeface="+mn-ea"/>
              </a:rPr>
              <a:t>년대</a:t>
            </a:r>
            <a:endParaRPr lang="en-US" altLang="ko-KR" sz="1200" dirty="0">
              <a:latin typeface="+mn-ea"/>
              <a:ea typeface="+mn-ea"/>
            </a:endParaRPr>
          </a:p>
          <a:p>
            <a:pPr marL="108000" marR="0" indent="-1080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ko-KR" altLang="en-US" sz="1200" dirty="0">
                <a:latin typeface="+mn-ea"/>
                <a:ea typeface="+mn-ea"/>
              </a:rPr>
              <a:t>정보 시스템 없음</a:t>
            </a:r>
            <a:endParaRPr lang="en-US" altLang="ko-KR" sz="1200" dirty="0">
              <a:latin typeface="+mn-ea"/>
              <a:ea typeface="+mn-ea"/>
            </a:endParaRPr>
          </a:p>
          <a:p>
            <a:pPr marL="108000" marR="0" indent="-1080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ko-KR" altLang="en-US" sz="1200" dirty="0">
                <a:latin typeface="+mn-ea"/>
                <a:ea typeface="+mn-ea"/>
              </a:rPr>
              <a:t>수작업으로 회계 업무</a:t>
            </a:r>
            <a:endParaRPr lang="ko-KR" altLang="en-US" sz="12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665823" y="232077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108000" marR="0" indent="-1080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1980</a:t>
            </a:r>
            <a:r>
              <a:rPr lang="ko-KR" altLang="en-US" sz="1200" dirty="0">
                <a:latin typeface="+mn-ea"/>
                <a:ea typeface="+mn-ea"/>
              </a:rPr>
              <a:t>년대</a:t>
            </a:r>
            <a:endParaRPr lang="en-US" altLang="ko-KR" sz="1200" dirty="0">
              <a:latin typeface="+mn-ea"/>
              <a:ea typeface="+mn-ea"/>
            </a:endParaRPr>
          </a:p>
          <a:p>
            <a:pPr marL="108000" marR="0" indent="-1080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ko-KR" altLang="en-US" sz="1200" dirty="0">
                <a:latin typeface="+mn-ea"/>
                <a:ea typeface="+mn-ea"/>
              </a:rPr>
              <a:t>파일 시스템 사용</a:t>
            </a:r>
            <a:endParaRPr lang="en-US" altLang="ko-KR" sz="1200" dirty="0">
              <a:latin typeface="+mn-ea"/>
              <a:ea typeface="+mn-ea"/>
            </a:endParaRPr>
          </a:p>
          <a:p>
            <a:pPr marL="108000" marR="0" indent="-1080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ko-KR" altLang="en-US" sz="1200" dirty="0">
                <a:latin typeface="+mn-ea"/>
                <a:ea typeface="+mn-ea"/>
              </a:rPr>
              <a:t>파일을 이용한 응용 프로그램으로 업무 처리</a:t>
            </a:r>
            <a:endParaRPr lang="ko-KR" altLang="en-US" sz="12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3665823" y="3207643"/>
            <a:ext cx="4572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000" marR="0" indent="-1080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1990</a:t>
            </a:r>
            <a:r>
              <a:rPr lang="ko-KR" altLang="en-US" sz="1200" dirty="0">
                <a:latin typeface="+mn-ea"/>
                <a:ea typeface="+mn-ea"/>
              </a:rPr>
              <a:t>년대</a:t>
            </a:r>
            <a:endParaRPr lang="en-US" altLang="ko-KR" sz="1200" dirty="0">
              <a:latin typeface="+mn-ea"/>
              <a:ea typeface="+mn-ea"/>
            </a:endParaRPr>
          </a:p>
          <a:p>
            <a:pPr marL="108000" marR="0" indent="-1080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ko-KR" altLang="en-US" sz="1200" dirty="0">
                <a:latin typeface="+mn-ea"/>
                <a:ea typeface="+mn-ea"/>
              </a:rPr>
              <a:t>정보 시스템</a:t>
            </a:r>
            <a:r>
              <a:rPr lang="en-US" altLang="ko-KR" sz="1200" dirty="0">
                <a:latin typeface="+mn-ea"/>
                <a:ea typeface="+mn-ea"/>
              </a:rPr>
              <a:t>, </a:t>
            </a:r>
            <a:r>
              <a:rPr lang="ko-KR" altLang="en-US" sz="1200" dirty="0">
                <a:latin typeface="+mn-ea"/>
                <a:ea typeface="+mn-ea"/>
              </a:rPr>
              <a:t>데이터베이스 시스템 사용</a:t>
            </a:r>
            <a:endParaRPr lang="en-US" altLang="ko-KR" sz="1200" dirty="0">
              <a:latin typeface="+mn-ea"/>
              <a:ea typeface="+mn-ea"/>
            </a:endParaRPr>
          </a:p>
          <a:p>
            <a:pPr marL="108000" marR="0" indent="-1080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DBMS</a:t>
            </a:r>
            <a:r>
              <a:rPr lang="ko-KR" altLang="en-US" sz="1200" dirty="0">
                <a:latin typeface="+mn-ea"/>
                <a:ea typeface="+mn-ea"/>
              </a:rPr>
              <a:t>를 이용하여 업무 처리</a:t>
            </a:r>
            <a:endParaRPr lang="en-US" altLang="ko-KR" sz="1200" dirty="0">
              <a:latin typeface="+mn-ea"/>
              <a:ea typeface="+mn-ea"/>
            </a:endParaRPr>
          </a:p>
          <a:p>
            <a:pPr marL="108000" indent="-108000" algn="just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ko-KR" altLang="en-US" sz="1200" dirty="0">
                <a:latin typeface="+mn-ea"/>
                <a:ea typeface="+mn-ea"/>
              </a:rPr>
              <a:t>정보 공유</a:t>
            </a:r>
            <a:r>
              <a:rPr lang="en-US" altLang="ko-KR" sz="1200" dirty="0">
                <a:latin typeface="+mn-ea"/>
                <a:ea typeface="+mn-ea"/>
              </a:rPr>
              <a:t>, </a:t>
            </a:r>
            <a:r>
              <a:rPr lang="ko-KR" altLang="en-US" sz="1200" dirty="0">
                <a:latin typeface="+mn-ea"/>
                <a:ea typeface="+mn-ea"/>
              </a:rPr>
              <a:t>실시간 서비스</a:t>
            </a:r>
            <a:r>
              <a:rPr lang="en-US" altLang="ko-KR" sz="1200" dirty="0">
                <a:latin typeface="+mn-ea"/>
                <a:ea typeface="+mn-ea"/>
              </a:rPr>
              <a:t>, LAN </a:t>
            </a:r>
            <a:r>
              <a:rPr lang="ko-KR" altLang="en-US" sz="1200" dirty="0">
                <a:latin typeface="+mn-ea"/>
                <a:ea typeface="+mn-ea"/>
              </a:rPr>
              <a:t>기술</a:t>
            </a:r>
            <a:endParaRPr lang="en-US" altLang="ko-KR" sz="1200" dirty="0">
              <a:latin typeface="+mn-ea"/>
              <a:ea typeface="+mn-ea"/>
            </a:endParaRPr>
          </a:p>
          <a:p>
            <a:pPr marL="108000" indent="-108000" algn="just">
              <a:spcBef>
                <a:spcPts val="0"/>
              </a:spcBef>
              <a:spcAft>
                <a:spcPts val="0"/>
              </a:spcAft>
            </a:pPr>
            <a:endParaRPr lang="en-US" altLang="ko-KR" sz="1200" dirty="0">
              <a:latin typeface="+mn-ea"/>
              <a:ea typeface="+mn-ea"/>
            </a:endParaRPr>
          </a:p>
          <a:p>
            <a:pPr marL="108000" indent="-108000" algn="just">
              <a:spcBef>
                <a:spcPts val="0"/>
              </a:spcBef>
              <a:spcAft>
                <a:spcPts val="0"/>
              </a:spcAft>
            </a:pPr>
            <a:endParaRPr lang="en-US" altLang="ko-KR" sz="1200" dirty="0">
              <a:latin typeface="+mn-ea"/>
              <a:ea typeface="+mn-ea"/>
            </a:endParaRPr>
          </a:p>
          <a:p>
            <a:pPr marL="108000" marR="0" indent="-1080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2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665823" y="4210422"/>
            <a:ext cx="4572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000" marR="0" indent="-1080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2000</a:t>
            </a:r>
            <a:r>
              <a:rPr lang="ko-KR" altLang="en-US" sz="1200" dirty="0">
                <a:latin typeface="+mn-ea"/>
                <a:ea typeface="+mn-ea"/>
              </a:rPr>
              <a:t>년대</a:t>
            </a:r>
            <a:endParaRPr lang="en-US" altLang="ko-KR" sz="1200" dirty="0">
              <a:latin typeface="+mn-ea"/>
              <a:ea typeface="+mn-ea"/>
            </a:endParaRPr>
          </a:p>
          <a:p>
            <a:pPr marL="108000" marR="0" indent="-1080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ko-KR" altLang="en-US" sz="1200" dirty="0">
                <a:latin typeface="+mn-ea"/>
                <a:ea typeface="+mn-ea"/>
              </a:rPr>
              <a:t>정보 시스템</a:t>
            </a:r>
            <a:r>
              <a:rPr lang="en-US" altLang="ko-KR" sz="1200" dirty="0">
                <a:latin typeface="+mn-ea"/>
                <a:ea typeface="+mn-ea"/>
              </a:rPr>
              <a:t>, </a:t>
            </a:r>
            <a:r>
              <a:rPr lang="ko-KR" altLang="en-US" sz="1200" dirty="0">
                <a:latin typeface="+mn-ea"/>
                <a:ea typeface="+mn-ea"/>
              </a:rPr>
              <a:t>웹 데이터베이스 시스템</a:t>
            </a:r>
            <a:r>
              <a:rPr lang="en-US" altLang="ko-KR" sz="1200" dirty="0">
                <a:latin typeface="+mn-ea"/>
                <a:ea typeface="+mn-ea"/>
              </a:rPr>
              <a:t>, </a:t>
            </a:r>
            <a:r>
              <a:rPr lang="ko-KR" altLang="en-US" sz="1200" dirty="0">
                <a:latin typeface="+mn-ea"/>
                <a:ea typeface="+mn-ea"/>
              </a:rPr>
              <a:t>인터넷 사용</a:t>
            </a:r>
            <a:endParaRPr lang="en-US" altLang="ko-KR" sz="1200" dirty="0">
              <a:latin typeface="+mn-ea"/>
              <a:ea typeface="+mn-ea"/>
            </a:endParaRPr>
          </a:p>
          <a:p>
            <a:pPr marL="108000" marR="0" indent="-1080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ko-KR" altLang="en-US" sz="1200" dirty="0">
                <a:latin typeface="+mn-ea"/>
                <a:ea typeface="+mn-ea"/>
              </a:rPr>
              <a:t>인터넷 쇼핑몰을 개설하여 온라인 상거래 실시</a:t>
            </a:r>
            <a:endParaRPr lang="en-US" altLang="ko-KR" sz="1200" dirty="0">
              <a:latin typeface="+mn-ea"/>
              <a:ea typeface="+mn-ea"/>
            </a:endParaRPr>
          </a:p>
          <a:p>
            <a:pPr marL="108000" indent="-108000" algn="just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ko-KR" altLang="en-US" sz="1200" dirty="0">
                <a:latin typeface="+mn-ea"/>
                <a:ea typeface="+mn-ea"/>
              </a:rPr>
              <a:t>실시간 서비스</a:t>
            </a:r>
            <a:r>
              <a:rPr lang="en-US" altLang="ko-KR" sz="1200" dirty="0">
                <a:latin typeface="+mn-ea"/>
                <a:ea typeface="+mn-ea"/>
              </a:rPr>
              <a:t>, </a:t>
            </a:r>
            <a:r>
              <a:rPr lang="ko-KR" altLang="en-US" sz="1200" dirty="0">
                <a:latin typeface="+mn-ea"/>
                <a:ea typeface="+mn-ea"/>
              </a:rPr>
              <a:t>웹 브라우저 기술</a:t>
            </a:r>
            <a:endParaRPr lang="en-US" altLang="ko-KR" sz="1200" dirty="0">
              <a:latin typeface="+mn-ea"/>
              <a:ea typeface="+mn-ea"/>
            </a:endParaRPr>
          </a:p>
          <a:p>
            <a:pPr marL="108000" indent="-108000" algn="just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ko-KR" sz="1200" dirty="0">
              <a:latin typeface="+mn-ea"/>
              <a:ea typeface="+mn-ea"/>
            </a:endParaRPr>
          </a:p>
          <a:p>
            <a:pPr marL="108000" indent="-108000" algn="just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ko-KR" sz="1200" dirty="0">
              <a:latin typeface="+mn-ea"/>
              <a:ea typeface="+mn-ea"/>
            </a:endParaRPr>
          </a:p>
          <a:p>
            <a:pPr marL="108000" marR="0" indent="-1080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ko-KR" altLang="en-US" sz="12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665823" y="5217130"/>
            <a:ext cx="457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000" marR="0" indent="-1080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2010</a:t>
            </a:r>
            <a:r>
              <a:rPr lang="ko-KR" altLang="en-US" sz="1200" dirty="0">
                <a:latin typeface="+mn-ea"/>
                <a:ea typeface="+mn-ea"/>
              </a:rPr>
              <a:t>년대</a:t>
            </a:r>
            <a:endParaRPr lang="en-US" altLang="ko-KR" sz="1200" dirty="0">
              <a:latin typeface="+mn-ea"/>
              <a:ea typeface="+mn-ea"/>
            </a:endParaRPr>
          </a:p>
          <a:p>
            <a:pPr marL="108000" marR="0" indent="-1080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ko-KR" altLang="en-US" sz="1200" dirty="0">
                <a:latin typeface="+mn-ea"/>
                <a:ea typeface="+mn-ea"/>
              </a:rPr>
              <a:t>정보 시스템</a:t>
            </a:r>
            <a:r>
              <a:rPr lang="en-US" altLang="ko-KR" sz="1200" dirty="0">
                <a:latin typeface="+mn-ea"/>
                <a:ea typeface="+mn-ea"/>
              </a:rPr>
              <a:t>, </a:t>
            </a:r>
            <a:r>
              <a:rPr lang="ko-KR" altLang="en-US" sz="1200" dirty="0">
                <a:latin typeface="+mn-ea"/>
                <a:ea typeface="+mn-ea"/>
              </a:rPr>
              <a:t>분산 데이터베이스 시스템</a:t>
            </a:r>
            <a:r>
              <a:rPr lang="en-US" altLang="ko-KR" sz="1200" dirty="0">
                <a:latin typeface="+mn-ea"/>
                <a:ea typeface="+mn-ea"/>
              </a:rPr>
              <a:t>, </a:t>
            </a:r>
            <a:r>
              <a:rPr lang="ko-KR" altLang="en-US" sz="1200" dirty="0">
                <a:latin typeface="+mn-ea"/>
                <a:ea typeface="+mn-ea"/>
              </a:rPr>
              <a:t>인터넷 사용</a:t>
            </a:r>
            <a:endParaRPr lang="en-US" altLang="ko-KR" sz="1200" dirty="0">
              <a:latin typeface="+mn-ea"/>
              <a:ea typeface="+mn-ea"/>
            </a:endParaRPr>
          </a:p>
          <a:p>
            <a:pPr marL="108000" marR="0" indent="-1080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ko-KR" altLang="en-US" sz="1200" dirty="0">
                <a:latin typeface="+mn-ea"/>
                <a:ea typeface="+mn-ea"/>
              </a:rPr>
              <a:t>고객 서비스 및 내부 업무를 인터넷으로 처리</a:t>
            </a:r>
            <a:endParaRPr lang="en-US" altLang="ko-KR" sz="1200" dirty="0">
              <a:latin typeface="+mn-ea"/>
              <a:ea typeface="+mn-ea"/>
            </a:endParaRPr>
          </a:p>
          <a:p>
            <a:pPr marL="108000" indent="-108000" algn="just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ko-KR" altLang="en-US" sz="1200" dirty="0">
                <a:latin typeface="+mn-ea"/>
                <a:ea typeface="+mn-ea"/>
              </a:rPr>
              <a:t>대규모 응용 시스템에 사용</a:t>
            </a:r>
            <a:endParaRPr lang="en-US" altLang="ko-KR" sz="1200" dirty="0">
              <a:latin typeface="+mn-ea"/>
              <a:ea typeface="+mn-ea"/>
            </a:endParaRPr>
          </a:p>
          <a:p>
            <a:pPr marL="108000" indent="-108000" algn="just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ko-KR" altLang="en-US" sz="1200" dirty="0">
                <a:latin typeface="+mn-ea"/>
                <a:ea typeface="+mn-ea"/>
              </a:rPr>
              <a:t>모바일 환경</a:t>
            </a:r>
            <a:endParaRPr lang="ko-KR" altLang="en-US" sz="1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498356" y="3119460"/>
            <a:ext cx="4147289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eaLnBrk="1" latinLnBrk="1" hangingPunct="1"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파일 </a:t>
            </a: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시스템과 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DBMS</a:t>
            </a:r>
            <a:endParaRPr lang="ko-KR" altLang="en-US" sz="3400" b="1" spc="-150" dirty="0">
              <a:solidFill>
                <a:schemeClr val="accent4">
                  <a:lumMod val="50000"/>
                </a:schemeClr>
              </a:solidFill>
              <a:ea typeface="맑은 고딕" panose="020B0503020000020004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588410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데이터를 저장하는 방법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2621459"/>
            <a:ext cx="6668039" cy="2535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755576" y="522920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1-16</a:t>
            </a:r>
            <a:r>
              <a:rPr lang="ko-KR" altLang="en-US" sz="1400" b="1" dirty="0">
                <a:ea typeface="맑은 고딕" panose="020B0503020000020004" pitchFamily="50" charset="-127"/>
              </a:rPr>
              <a:t> 고객 서비스를 온라인 정보 서비스로 전환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1191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Char char=""/>
            </a:pPr>
            <a:r>
              <a:rPr kumimoji="0" lang="ko-KR" altLang="en-US" dirty="0"/>
              <a:t>데이터를 프로그램 내부에 저장하는 방법</a:t>
            </a:r>
            <a:endParaRPr kumimoji="0" lang="en-US" altLang="ko-KR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"/>
            </a:pPr>
            <a:r>
              <a:rPr kumimoji="0" lang="ko-KR" altLang="en-US" dirty="0"/>
              <a:t>파일 시스템을 사용하는 방법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"/>
            </a:pPr>
            <a:r>
              <a:rPr kumimoji="0" lang="en-US" altLang="ko-KR" dirty="0"/>
              <a:t>DBMS</a:t>
            </a:r>
            <a:r>
              <a:rPr kumimoji="0" lang="ko-KR" altLang="en-US" dirty="0"/>
              <a:t>를 사용하는 방법</a:t>
            </a:r>
            <a:endParaRPr kumimoji="0" lang="en-US" altLang="ko-KR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데이터를 저장하는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5040560"/>
          </a:xfrm>
        </p:spPr>
        <p:txBody>
          <a:bodyPr/>
          <a:lstStyle/>
          <a:p>
            <a:pPr>
              <a:buNone/>
            </a:pPr>
            <a:r>
              <a:rPr lang="en-US" altLang="ko-KR" dirty="0">
                <a:solidFill>
                  <a:srgbClr val="0C77C3"/>
                </a:solidFill>
              </a:rPr>
              <a:t>[</a:t>
            </a:r>
            <a:r>
              <a:rPr lang="ko-KR" altLang="en-US" dirty="0">
                <a:solidFill>
                  <a:srgbClr val="0C77C3"/>
                </a:solidFill>
              </a:rPr>
              <a:t>프로그램 </a:t>
            </a:r>
            <a:r>
              <a:rPr lang="en-US" altLang="ko-KR" dirty="0">
                <a:solidFill>
                  <a:srgbClr val="0C77C3"/>
                </a:solidFill>
              </a:rPr>
              <a:t>1]</a:t>
            </a:r>
          </a:p>
          <a:p>
            <a:pPr indent="-165100">
              <a:buClrTx/>
              <a:buFont typeface="Arial" pitchFamily="34" charset="0"/>
              <a:buChar char="•"/>
            </a:pPr>
            <a:r>
              <a:rPr lang="en-US" altLang="ko-KR" sz="1400" b="0" dirty="0"/>
              <a:t>C </a:t>
            </a:r>
            <a:r>
              <a:rPr lang="ko-KR" altLang="en-US" sz="1400" b="0" dirty="0"/>
              <a:t>언어의 구조체 </a:t>
            </a:r>
            <a:r>
              <a:rPr lang="en-US" altLang="ko-KR" sz="1400" b="0" dirty="0"/>
              <a:t>BOOK</a:t>
            </a:r>
            <a:r>
              <a:rPr lang="ko-KR" altLang="en-US" sz="1400" b="0" dirty="0"/>
              <a:t>을 먼저 선언하고 </a:t>
            </a:r>
            <a:r>
              <a:rPr lang="en-US" altLang="ko-KR" sz="1400" b="0" dirty="0"/>
              <a:t>main( ) </a:t>
            </a:r>
            <a:r>
              <a:rPr lang="ko-KR" altLang="en-US" sz="1400" b="0" dirty="0"/>
              <a:t>프로그램에서 구조체 배열 변수 </a:t>
            </a:r>
            <a:r>
              <a:rPr lang="en-US" altLang="ko-KR" sz="1400" b="0" dirty="0"/>
              <a:t>BOOKS[ ]</a:t>
            </a:r>
            <a:r>
              <a:rPr lang="ko-KR" altLang="en-US" sz="1400" b="0" dirty="0"/>
              <a:t>에 데이터를 저장</a:t>
            </a:r>
            <a:endParaRPr lang="en-US" altLang="ko-KR" sz="1400" b="0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도서 데이터는 프로그램 내 구조체 변수에 저장됨</a:t>
            </a:r>
            <a:endParaRPr lang="en-US" altLang="ko-KR" sz="1400" b="0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문제점 </a:t>
            </a:r>
            <a:r>
              <a:rPr lang="en-US" altLang="ko-KR" sz="1400" b="0" dirty="0"/>
              <a:t>: </a:t>
            </a:r>
            <a:r>
              <a:rPr lang="ko-KR" altLang="en-US" sz="1400" b="0" dirty="0"/>
              <a:t>새로운 데이터가 생길 때마다 프로그램을 수정한 후 다시 </a:t>
            </a:r>
            <a:r>
              <a:rPr lang="ko-KR" altLang="en-US" sz="1400" b="0" dirty="0" err="1"/>
              <a:t>컴파일해야</a:t>
            </a:r>
            <a:r>
              <a:rPr lang="ko-KR" altLang="en-US" sz="1400" b="0" dirty="0"/>
              <a:t> 함</a:t>
            </a:r>
            <a:r>
              <a:rPr lang="en-US" altLang="ko-KR" sz="1400" b="0" dirty="0"/>
              <a:t> </a:t>
            </a:r>
            <a:endParaRPr lang="ko-KR" altLang="en-US" sz="1400" b="0" dirty="0"/>
          </a:p>
        </p:txBody>
      </p:sp>
      <p:sp>
        <p:nvSpPr>
          <p:cNvPr id="6" name="TextBox 5"/>
          <p:cNvSpPr txBox="1"/>
          <p:nvPr/>
        </p:nvSpPr>
        <p:spPr>
          <a:xfrm>
            <a:off x="733252" y="649257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1-17</a:t>
            </a:r>
            <a:r>
              <a:rPr lang="ko-KR" altLang="en-US" sz="1400" b="1" dirty="0">
                <a:ea typeface="맑은 고딕" panose="020B0503020000020004" pitchFamily="50" charset="-127"/>
              </a:rPr>
              <a:t> 도서 검색 프로그램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59" y="3573015"/>
            <a:ext cx="4458850" cy="2919561"/>
          </a:xfrm>
          <a:prstGeom prst="rect">
            <a:avLst/>
          </a:prstGeom>
        </p:spPr>
      </p:pic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471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데이터를 프로그램 내부에 저장하는 방법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데이터를 저장하는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1120627"/>
            <a:ext cx="8064896" cy="5472608"/>
          </a:xfrm>
        </p:spPr>
        <p:txBody>
          <a:bodyPr/>
          <a:lstStyle/>
          <a:p>
            <a:pPr>
              <a:buNone/>
            </a:pPr>
            <a:r>
              <a:rPr lang="en-US" altLang="ko-KR" dirty="0">
                <a:solidFill>
                  <a:srgbClr val="0C77C3"/>
                </a:solidFill>
              </a:rPr>
              <a:t>[</a:t>
            </a:r>
            <a:r>
              <a:rPr lang="ko-KR" altLang="en-US" dirty="0">
                <a:solidFill>
                  <a:srgbClr val="0C77C3"/>
                </a:solidFill>
              </a:rPr>
              <a:t>프로그램 </a:t>
            </a:r>
            <a:r>
              <a:rPr lang="en-US" altLang="ko-KR" dirty="0">
                <a:solidFill>
                  <a:srgbClr val="0C77C3"/>
                </a:solidFill>
              </a:rPr>
              <a:t>1] </a:t>
            </a:r>
            <a:r>
              <a:rPr lang="ko-KR" altLang="en-US" dirty="0">
                <a:solidFill>
                  <a:srgbClr val="0C77C3"/>
                </a:solidFill>
              </a:rPr>
              <a:t>소스코드</a:t>
            </a:r>
            <a:endParaRPr lang="en-US" altLang="ko-KR" dirty="0">
              <a:solidFill>
                <a:srgbClr val="0C77C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52519" y="1052736"/>
            <a:ext cx="5832648" cy="56612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/* BOOK </a:t>
            </a:r>
            <a:r>
              <a:rPr lang="ko-KR" altLang="en-US" sz="1200" dirty="0">
                <a:latin typeface="+mn-ea"/>
                <a:ea typeface="+mn-ea"/>
              </a:rPr>
              <a:t>데이터 구조 정의 *</a:t>
            </a:r>
            <a:r>
              <a:rPr lang="en-US" altLang="ko-KR" sz="1200" dirty="0">
                <a:latin typeface="+mn-ea"/>
                <a:ea typeface="+mn-ea"/>
              </a:rPr>
              <a:t>/</a:t>
            </a:r>
          </a:p>
          <a:p>
            <a:r>
              <a:rPr lang="en-US" altLang="ko-KR" sz="1200" dirty="0" err="1">
                <a:latin typeface="+mn-ea"/>
                <a:ea typeface="+mn-ea"/>
              </a:rPr>
              <a:t>typedef</a:t>
            </a: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err="1">
                <a:latin typeface="+mn-ea"/>
                <a:ea typeface="+mn-ea"/>
              </a:rPr>
              <a:t>struct</a:t>
            </a:r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{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</a:t>
            </a:r>
            <a:r>
              <a:rPr lang="en-US" altLang="ko-KR" sz="1200" dirty="0" err="1">
                <a:latin typeface="+mn-ea"/>
                <a:ea typeface="+mn-ea"/>
              </a:rPr>
              <a:t>int</a:t>
            </a:r>
            <a:r>
              <a:rPr lang="en-US" altLang="ko-KR" sz="1200" dirty="0">
                <a:latin typeface="+mn-ea"/>
                <a:ea typeface="+mn-ea"/>
              </a:rPr>
              <a:t>   </a:t>
            </a:r>
            <a:r>
              <a:rPr lang="en-US" altLang="ko-KR" sz="1200" dirty="0" err="1">
                <a:latin typeface="+mn-ea"/>
                <a:ea typeface="+mn-ea"/>
              </a:rPr>
              <a:t>bookid</a:t>
            </a:r>
            <a:r>
              <a:rPr lang="en-US" altLang="ko-KR" sz="1200" dirty="0">
                <a:latin typeface="+mn-ea"/>
                <a:ea typeface="+mn-ea"/>
              </a:rPr>
              <a:t>[5];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char </a:t>
            </a:r>
            <a:r>
              <a:rPr lang="en-US" altLang="ko-KR" sz="1200" dirty="0" err="1">
                <a:latin typeface="+mn-ea"/>
                <a:ea typeface="+mn-ea"/>
              </a:rPr>
              <a:t>bookname</a:t>
            </a:r>
            <a:r>
              <a:rPr lang="en-US" altLang="ko-KR" sz="1200" dirty="0">
                <a:latin typeface="+mn-ea"/>
                <a:ea typeface="+mn-ea"/>
              </a:rPr>
              <a:t>[20];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char publisher[20];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</a:t>
            </a:r>
            <a:r>
              <a:rPr lang="en-US" altLang="ko-KR" sz="1200" dirty="0" err="1">
                <a:latin typeface="+mn-ea"/>
                <a:ea typeface="+mn-ea"/>
              </a:rPr>
              <a:t>int</a:t>
            </a:r>
            <a:r>
              <a:rPr lang="en-US" altLang="ko-KR" sz="1200" dirty="0">
                <a:latin typeface="+mn-ea"/>
                <a:ea typeface="+mn-ea"/>
              </a:rPr>
              <a:t>   price;</a:t>
            </a:r>
          </a:p>
          <a:p>
            <a:r>
              <a:rPr lang="en-US" altLang="ko-KR" sz="1200" dirty="0">
                <a:latin typeface="+mn-ea"/>
                <a:ea typeface="+mn-ea"/>
              </a:rPr>
              <a:t>} BOOK;</a:t>
            </a:r>
          </a:p>
          <a:p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 err="1">
                <a:latin typeface="+mn-ea"/>
                <a:ea typeface="+mn-ea"/>
              </a:rPr>
              <a:t>int</a:t>
            </a:r>
            <a:r>
              <a:rPr lang="en-US" altLang="ko-KR" sz="1200" dirty="0">
                <a:latin typeface="+mn-ea"/>
                <a:ea typeface="+mn-ea"/>
              </a:rPr>
              <a:t> main() {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BOOK BOOKS[10];</a:t>
            </a:r>
          </a:p>
          <a:p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/* </a:t>
            </a:r>
            <a:r>
              <a:rPr lang="ko-KR" altLang="en-US" sz="1200" dirty="0">
                <a:latin typeface="+mn-ea"/>
                <a:ea typeface="+mn-ea"/>
              </a:rPr>
              <a:t>구조체 배열 변수에 데이터 저장 *</a:t>
            </a:r>
            <a:r>
              <a:rPr lang="en-US" altLang="ko-KR" sz="1200" dirty="0">
                <a:latin typeface="+mn-ea"/>
                <a:ea typeface="+mn-ea"/>
              </a:rPr>
              <a:t>/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/* </a:t>
            </a:r>
            <a:r>
              <a:rPr lang="ko-KR" altLang="en-US" sz="1200" dirty="0">
                <a:latin typeface="+mn-ea"/>
                <a:ea typeface="+mn-ea"/>
              </a:rPr>
              <a:t>첫 번째 도서 저장 *</a:t>
            </a:r>
            <a:r>
              <a:rPr lang="en-US" altLang="ko-KR" sz="1200" dirty="0">
                <a:latin typeface="+mn-ea"/>
                <a:ea typeface="+mn-ea"/>
              </a:rPr>
              <a:t>/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BOOKS[1].</a:t>
            </a:r>
            <a:r>
              <a:rPr lang="en-US" altLang="ko-KR" sz="1200" dirty="0" err="1">
                <a:latin typeface="+mn-ea"/>
                <a:ea typeface="+mn-ea"/>
              </a:rPr>
              <a:t>bookid</a:t>
            </a:r>
            <a:r>
              <a:rPr lang="en-US" altLang="ko-KR" sz="1200" dirty="0">
                <a:latin typeface="+mn-ea"/>
                <a:ea typeface="+mn-ea"/>
              </a:rPr>
              <a:t>=1;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</a:t>
            </a:r>
            <a:r>
              <a:rPr lang="en-US" altLang="ko-KR" sz="1200" dirty="0" err="1">
                <a:latin typeface="+mn-ea"/>
                <a:ea typeface="+mn-ea"/>
              </a:rPr>
              <a:t>strcpy</a:t>
            </a:r>
            <a:r>
              <a:rPr lang="en-US" altLang="ko-KR" sz="1200" dirty="0">
                <a:latin typeface="+mn-ea"/>
                <a:ea typeface="+mn-ea"/>
              </a:rPr>
              <a:t>(BOOKS[1].</a:t>
            </a:r>
            <a:r>
              <a:rPr lang="en-US" altLang="ko-KR" sz="1200" dirty="0" err="1">
                <a:latin typeface="+mn-ea"/>
                <a:ea typeface="+mn-ea"/>
              </a:rPr>
              <a:t>bookname</a:t>
            </a:r>
            <a:r>
              <a:rPr lang="en-US" altLang="ko-KR" sz="1200" dirty="0">
                <a:latin typeface="+mn-ea"/>
                <a:ea typeface="+mn-ea"/>
              </a:rPr>
              <a:t>, "</a:t>
            </a:r>
            <a:r>
              <a:rPr lang="ko-KR" altLang="en-US" sz="1200" dirty="0">
                <a:latin typeface="+mn-ea"/>
                <a:ea typeface="+mn-ea"/>
              </a:rPr>
              <a:t>축구의 역사</a:t>
            </a:r>
            <a:r>
              <a:rPr lang="en-US" altLang="ko-KR" sz="1200" dirty="0">
                <a:latin typeface="+mn-ea"/>
                <a:ea typeface="+mn-ea"/>
              </a:rPr>
              <a:t>");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</a:t>
            </a:r>
            <a:r>
              <a:rPr lang="en-US" altLang="ko-KR" sz="1200" dirty="0" err="1">
                <a:latin typeface="+mn-ea"/>
                <a:ea typeface="+mn-ea"/>
              </a:rPr>
              <a:t>strcpy</a:t>
            </a:r>
            <a:r>
              <a:rPr lang="en-US" altLang="ko-KR" sz="1200" dirty="0">
                <a:latin typeface="+mn-ea"/>
                <a:ea typeface="+mn-ea"/>
              </a:rPr>
              <a:t>(BOOKS[1].publisher, "</a:t>
            </a:r>
            <a:r>
              <a:rPr lang="ko-KR" altLang="en-US" sz="1200" dirty="0" err="1">
                <a:latin typeface="+mn-ea"/>
                <a:ea typeface="+mn-ea"/>
              </a:rPr>
              <a:t>굿스포츠</a:t>
            </a:r>
            <a:r>
              <a:rPr lang="en-US" altLang="ko-KR" sz="1200" dirty="0">
                <a:latin typeface="+mn-ea"/>
                <a:ea typeface="+mn-ea"/>
              </a:rPr>
              <a:t>"); 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BOOKS[1].price=7000;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/* </a:t>
            </a:r>
            <a:r>
              <a:rPr lang="ko-KR" altLang="en-US" sz="1200" dirty="0">
                <a:latin typeface="+mn-ea"/>
                <a:ea typeface="+mn-ea"/>
              </a:rPr>
              <a:t>두 번째 도서 저장 *</a:t>
            </a:r>
            <a:r>
              <a:rPr lang="en-US" altLang="ko-KR" sz="1200" dirty="0">
                <a:latin typeface="+mn-ea"/>
                <a:ea typeface="+mn-ea"/>
              </a:rPr>
              <a:t>/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BOOKS[2].</a:t>
            </a:r>
            <a:r>
              <a:rPr lang="en-US" altLang="ko-KR" sz="1200" dirty="0" err="1">
                <a:latin typeface="+mn-ea"/>
                <a:ea typeface="+mn-ea"/>
              </a:rPr>
              <a:t>bookid</a:t>
            </a:r>
            <a:r>
              <a:rPr lang="en-US" altLang="ko-KR" sz="1200" dirty="0">
                <a:latin typeface="+mn-ea"/>
                <a:ea typeface="+mn-ea"/>
              </a:rPr>
              <a:t>=2;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</a:t>
            </a:r>
            <a:r>
              <a:rPr lang="en-US" altLang="ko-KR" sz="1200" dirty="0" err="1">
                <a:latin typeface="+mn-ea"/>
                <a:ea typeface="+mn-ea"/>
              </a:rPr>
              <a:t>strcpy</a:t>
            </a:r>
            <a:r>
              <a:rPr lang="en-US" altLang="ko-KR" sz="1200" dirty="0">
                <a:latin typeface="+mn-ea"/>
                <a:ea typeface="+mn-ea"/>
              </a:rPr>
              <a:t>(BOOKS[2].</a:t>
            </a:r>
            <a:r>
              <a:rPr lang="en-US" altLang="ko-KR" sz="1200" dirty="0" err="1">
                <a:latin typeface="+mn-ea"/>
                <a:ea typeface="+mn-ea"/>
              </a:rPr>
              <a:t>bookname</a:t>
            </a:r>
            <a:r>
              <a:rPr lang="en-US" altLang="ko-KR" sz="1200" dirty="0">
                <a:latin typeface="+mn-ea"/>
                <a:ea typeface="+mn-ea"/>
              </a:rPr>
              <a:t>, "</a:t>
            </a:r>
            <a:r>
              <a:rPr lang="ko-KR" altLang="en-US" sz="1200" dirty="0">
                <a:latin typeface="+mn-ea"/>
                <a:ea typeface="+mn-ea"/>
              </a:rPr>
              <a:t>축구 아는 사람</a:t>
            </a:r>
            <a:r>
              <a:rPr lang="en-US" altLang="ko-KR" sz="1200" dirty="0">
                <a:latin typeface="+mn-ea"/>
                <a:ea typeface="+mn-ea"/>
              </a:rPr>
              <a:t>");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</a:t>
            </a:r>
            <a:r>
              <a:rPr lang="en-US" altLang="ko-KR" sz="1200" dirty="0" err="1">
                <a:latin typeface="+mn-ea"/>
                <a:ea typeface="+mn-ea"/>
              </a:rPr>
              <a:t>strcpy</a:t>
            </a:r>
            <a:r>
              <a:rPr lang="en-US" altLang="ko-KR" sz="1200" dirty="0">
                <a:latin typeface="+mn-ea"/>
                <a:ea typeface="+mn-ea"/>
              </a:rPr>
              <a:t>(BOOKS[2].publisher, "</a:t>
            </a:r>
            <a:r>
              <a:rPr lang="ko-KR" altLang="en-US" sz="1200" dirty="0" err="1">
                <a:latin typeface="+mn-ea"/>
                <a:ea typeface="+mn-ea"/>
              </a:rPr>
              <a:t>나무수</a:t>
            </a:r>
            <a:r>
              <a:rPr lang="en-US" altLang="ko-KR" sz="1200" dirty="0">
                <a:latin typeface="+mn-ea"/>
                <a:ea typeface="+mn-ea"/>
              </a:rPr>
              <a:t>");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BOOKS[2].price=13000;</a:t>
            </a:r>
          </a:p>
          <a:p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/* </a:t>
            </a:r>
            <a:r>
              <a:rPr lang="ko-KR" altLang="en-US" sz="1200" dirty="0">
                <a:latin typeface="+mn-ea"/>
                <a:ea typeface="+mn-ea"/>
              </a:rPr>
              <a:t>나머지 다른 도서 저장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생략</a:t>
            </a:r>
            <a:r>
              <a:rPr lang="en-US" altLang="ko-KR" sz="1200" dirty="0">
                <a:latin typeface="+mn-ea"/>
                <a:ea typeface="+mn-ea"/>
              </a:rPr>
              <a:t>) */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.....</a:t>
            </a:r>
          </a:p>
          <a:p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/* </a:t>
            </a:r>
            <a:r>
              <a:rPr lang="ko-KR" altLang="en-US" sz="1200" dirty="0">
                <a:latin typeface="+mn-ea"/>
                <a:ea typeface="+mn-ea"/>
              </a:rPr>
              <a:t>모든 도서보기 프로그램 호출 *</a:t>
            </a:r>
            <a:r>
              <a:rPr lang="en-US" altLang="ko-KR" sz="1200" dirty="0">
                <a:latin typeface="+mn-ea"/>
                <a:ea typeface="+mn-ea"/>
              </a:rPr>
              <a:t>/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</a:t>
            </a:r>
            <a:r>
              <a:rPr lang="en-US" altLang="ko-KR" sz="1200" dirty="0" err="1">
                <a:latin typeface="+mn-ea"/>
                <a:ea typeface="+mn-ea"/>
              </a:rPr>
              <a:t>search_all</a:t>
            </a:r>
            <a:r>
              <a:rPr lang="en-US" altLang="ko-KR" sz="1200" dirty="0">
                <a:latin typeface="+mn-ea"/>
                <a:ea typeface="+mn-ea"/>
              </a:rPr>
              <a:t>();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.....</a:t>
            </a:r>
          </a:p>
          <a:p>
            <a:r>
              <a:rPr lang="en-US" altLang="ko-KR" sz="1200" dirty="0">
                <a:latin typeface="+mn-ea"/>
                <a:ea typeface="+mn-ea"/>
              </a:rPr>
              <a:t>}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데이터를 저장하는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1120627"/>
            <a:ext cx="8064896" cy="5472608"/>
          </a:xfrm>
        </p:spPr>
        <p:txBody>
          <a:bodyPr/>
          <a:lstStyle/>
          <a:p>
            <a:pPr>
              <a:buNone/>
            </a:pPr>
            <a:r>
              <a:rPr lang="en-US" altLang="ko-KR" dirty="0">
                <a:solidFill>
                  <a:srgbClr val="0C77C3"/>
                </a:solidFill>
              </a:rPr>
              <a:t>[</a:t>
            </a:r>
            <a:r>
              <a:rPr lang="ko-KR" altLang="en-US" dirty="0">
                <a:solidFill>
                  <a:srgbClr val="0C77C3"/>
                </a:solidFill>
              </a:rPr>
              <a:t>프로그램 </a:t>
            </a:r>
            <a:r>
              <a:rPr lang="en-US" altLang="ko-KR" dirty="0">
                <a:solidFill>
                  <a:srgbClr val="0C77C3"/>
                </a:solidFill>
              </a:rPr>
              <a:t>1] </a:t>
            </a:r>
            <a:r>
              <a:rPr kumimoji="0" lang="ko-KR" altLang="en-US" dirty="0"/>
              <a:t>데이터를 프로그램 내부에 저장하는 방법</a:t>
            </a:r>
            <a:endParaRPr kumimoji="0" lang="en-US" altLang="ko-KR" dirty="0"/>
          </a:p>
          <a:p>
            <a:pPr>
              <a:buNone/>
            </a:pPr>
            <a:endParaRPr lang="en-US" altLang="ko-KR" dirty="0">
              <a:solidFill>
                <a:srgbClr val="0C77C3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24CD47-B9B4-A01C-8AB8-F1E4D03182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9552" y="1597485"/>
            <a:ext cx="3528392" cy="4964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프로그램 </a:t>
            </a:r>
            <a:r>
              <a:rPr lang="en-US" altLang="ko-KR" sz="2400" dirty="0"/>
              <a:t>1</a:t>
            </a:r>
            <a:endParaRPr lang="ko-KR" altLang="en-US" sz="2400" dirty="0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938A5014-5D68-7B2E-A0F1-FD856E1E208A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307379900"/>
              </p:ext>
            </p:extLst>
          </p:nvPr>
        </p:nvGraphicFramePr>
        <p:xfrm>
          <a:off x="753452" y="5373216"/>
          <a:ext cx="3170476" cy="108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300">
                  <a:extLst>
                    <a:ext uri="{9D8B030D-6E8A-4147-A177-3AD203B41FA5}">
                      <a16:colId xmlns:a16="http://schemas.microsoft.com/office/drawing/2014/main" val="930926539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771979144"/>
                    </a:ext>
                  </a:extLst>
                </a:gridCol>
              </a:tblGrid>
              <a:tr h="42789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책이름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출판사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665165"/>
                  </a:ext>
                </a:extLst>
              </a:tr>
              <a:tr h="2989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축구의 역사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굿스포츠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242332"/>
                  </a:ext>
                </a:extLst>
              </a:tr>
              <a:tr h="35328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축구 아는 사람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/>
                        <a:t>나무수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14822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4999434-9232-CECB-A906-8D15C3303A6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35696" y="4661929"/>
            <a:ext cx="1584176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sz="2000" b="1" dirty="0">
                <a:solidFill>
                  <a:schemeClr val="bg1"/>
                </a:solidFill>
                <a:latin typeface="+mn-lt"/>
              </a:rPr>
              <a:t>데이터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E9D50C-EB67-AF90-59F5-BD41EC5A5281}"/>
              </a:ext>
            </a:extLst>
          </p:cNvPr>
          <p:cNvSpPr/>
          <p:nvPr/>
        </p:nvSpPr>
        <p:spPr>
          <a:xfrm>
            <a:off x="4716016" y="1597485"/>
            <a:ext cx="3528392" cy="4964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프로그램 </a:t>
            </a:r>
            <a:r>
              <a:rPr lang="en-US" altLang="ko-KR" sz="2400" dirty="0"/>
              <a:t>2</a:t>
            </a:r>
            <a:endParaRPr lang="ko-KR" altLang="en-US" sz="2400" dirty="0"/>
          </a:p>
        </p:txBody>
      </p:sp>
      <p:graphicFrame>
        <p:nvGraphicFramePr>
          <p:cNvPr id="13" name="표 7">
            <a:extLst>
              <a:ext uri="{FF2B5EF4-FFF2-40B4-BE49-F238E27FC236}">
                <a16:creationId xmlns:a16="http://schemas.microsoft.com/office/drawing/2014/main" id="{1E5C645A-353B-6816-C7C0-5A417D2D72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5148620"/>
              </p:ext>
            </p:extLst>
          </p:nvPr>
        </p:nvGraphicFramePr>
        <p:xfrm>
          <a:off x="4929916" y="5373216"/>
          <a:ext cx="3170476" cy="108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300">
                  <a:extLst>
                    <a:ext uri="{9D8B030D-6E8A-4147-A177-3AD203B41FA5}">
                      <a16:colId xmlns:a16="http://schemas.microsoft.com/office/drawing/2014/main" val="930926539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771979144"/>
                    </a:ext>
                  </a:extLst>
                </a:gridCol>
              </a:tblGrid>
              <a:tr h="42789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책이름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출판사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665165"/>
                  </a:ext>
                </a:extLst>
              </a:tr>
              <a:tr h="2989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축구의 역사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굿스포츠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242332"/>
                  </a:ext>
                </a:extLst>
              </a:tr>
              <a:tr h="35328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축구 아는 사람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/>
                        <a:t>나무수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14822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AAF1FA9-A6C2-407C-E8D8-9A291E6ECD92}"/>
              </a:ext>
            </a:extLst>
          </p:cNvPr>
          <p:cNvSpPr txBox="1"/>
          <p:nvPr/>
        </p:nvSpPr>
        <p:spPr>
          <a:xfrm>
            <a:off x="6012160" y="4661929"/>
            <a:ext cx="1584176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sz="2000" b="1" dirty="0">
                <a:solidFill>
                  <a:schemeClr val="bg1"/>
                </a:solidFill>
                <a:latin typeface="+mn-lt"/>
              </a:rPr>
              <a:t>데이터</a:t>
            </a:r>
          </a:p>
        </p:txBody>
      </p:sp>
    </p:spTree>
    <p:extLst>
      <p:ext uri="{BB962C8B-B14F-4D97-AF65-F5344CB8AC3E}">
        <p14:creationId xmlns:p14="http://schemas.microsoft.com/office/powerpoint/2010/main" val="25249162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데이터를 저장하는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700808"/>
            <a:ext cx="8064896" cy="4968552"/>
          </a:xfrm>
        </p:spPr>
        <p:txBody>
          <a:bodyPr/>
          <a:lstStyle/>
          <a:p>
            <a:pPr>
              <a:buNone/>
            </a:pPr>
            <a:r>
              <a:rPr lang="en-US" altLang="ko-KR" dirty="0">
                <a:solidFill>
                  <a:srgbClr val="0C77C3"/>
                </a:solidFill>
              </a:rPr>
              <a:t>[</a:t>
            </a:r>
            <a:r>
              <a:rPr lang="ko-KR" altLang="en-US" dirty="0">
                <a:solidFill>
                  <a:srgbClr val="0C77C3"/>
                </a:solidFill>
              </a:rPr>
              <a:t>프로그램 </a:t>
            </a:r>
            <a:r>
              <a:rPr lang="en-US" altLang="ko-KR" dirty="0">
                <a:solidFill>
                  <a:srgbClr val="0C77C3"/>
                </a:solidFill>
              </a:rPr>
              <a:t>2]</a:t>
            </a:r>
          </a:p>
          <a:p>
            <a:pPr marL="349250" indent="-171450" algn="just">
              <a:buClrTx/>
              <a:buFont typeface="Arial" panose="020B0604020202020204" pitchFamily="34" charset="0"/>
              <a:buChar char="•"/>
            </a:pPr>
            <a:r>
              <a:rPr lang="en-US" altLang="ko-KR" sz="1400" b="0" dirty="0"/>
              <a:t>BOOK </a:t>
            </a:r>
            <a:r>
              <a:rPr lang="ko-KR" altLang="en-US" sz="1400" b="0" dirty="0"/>
              <a:t>데이터 구조를 먼저 선언하고 </a:t>
            </a:r>
            <a:r>
              <a:rPr lang="en-US" altLang="ko-KR" sz="1400" b="0" dirty="0"/>
              <a:t>main( ) </a:t>
            </a:r>
            <a:r>
              <a:rPr lang="ko-KR" altLang="en-US" sz="1400" b="0" dirty="0"/>
              <a:t>프로그램에서 파일로부터 데이터를 불러와                          구조체 배열 변수 </a:t>
            </a:r>
            <a:r>
              <a:rPr lang="en-US" altLang="ko-KR" sz="1400" b="0" dirty="0"/>
              <a:t>BOOKS[ ]</a:t>
            </a:r>
            <a:r>
              <a:rPr lang="ko-KR" altLang="en-US" sz="1400" b="0" dirty="0"/>
              <a:t>에 저장</a:t>
            </a:r>
            <a:endParaRPr lang="en-US" altLang="ko-KR" sz="1400" b="0" dirty="0"/>
          </a:p>
          <a:p>
            <a:pPr marL="349250" indent="-171450" algn="just">
              <a:buClrTx/>
              <a:buFont typeface="Arial" panose="020B0604020202020204" pitchFamily="34" charset="0"/>
              <a:buChar char="•"/>
            </a:pPr>
            <a:r>
              <a:rPr lang="ko-KR" altLang="en-US" sz="1400" b="0" dirty="0"/>
              <a:t>새로운 데이터가 추가되어도 프로그램을 수정할 필요 없음</a:t>
            </a:r>
            <a:endParaRPr lang="en-US" altLang="ko-KR" sz="1400" b="0" dirty="0"/>
          </a:p>
          <a:p>
            <a:pPr marL="349250" indent="-171450">
              <a:buClrTx/>
              <a:buFont typeface="Arial" panose="020B0604020202020204" pitchFamily="34" charset="0"/>
              <a:buChar char="•"/>
            </a:pPr>
            <a:r>
              <a:rPr lang="ko-KR" altLang="en-US" sz="1400" b="0" dirty="0"/>
              <a:t>문제점 </a:t>
            </a:r>
            <a:r>
              <a:rPr lang="en-US" altLang="ko-KR" sz="1400" b="0" dirty="0"/>
              <a:t>: </a:t>
            </a:r>
            <a:r>
              <a:rPr lang="ko-KR" altLang="en-US" sz="1400" b="0" dirty="0"/>
              <a:t>같은 파일을 두 개의 프로그램이 공유하는 것이 운영체제의 도움 없이 불가능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8" y="6417073"/>
            <a:ext cx="1406617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1-18</a:t>
            </a:r>
            <a:r>
              <a:rPr lang="ko-KR" altLang="en-US" sz="1400" b="1" dirty="0">
                <a:ea typeface="맑은 고딕" panose="020B0503020000020004" pitchFamily="50" charset="-127"/>
              </a:rPr>
              <a:t> 도서 검색 프로그램에서 도서를 등록하는 화면</a:t>
            </a:r>
          </a:p>
        </p:txBody>
      </p:sp>
      <p:pic>
        <p:nvPicPr>
          <p:cNvPr id="5122" name="Picture 2" descr="C:\Documents and Settings\Administrator\바탕 화면\DB_개론과_실습_강의교안_제작\04. 캡처 이미지\1장 이미지\ch01_1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3573016"/>
            <a:ext cx="4320480" cy="2820756"/>
          </a:xfrm>
          <a:prstGeom prst="rect">
            <a:avLst/>
          </a:prstGeom>
          <a:noFill/>
        </p:spPr>
      </p:pic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471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파일 시스템을 사용하는 방법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데이터를 저장하는 방법</a:t>
            </a:r>
            <a:endParaRPr lang="ko-KR" altLang="en-US" strike="sngStrike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1046190"/>
            <a:ext cx="8064896" cy="4975098"/>
          </a:xfrm>
        </p:spPr>
        <p:txBody>
          <a:bodyPr/>
          <a:lstStyle/>
          <a:p>
            <a:pPr>
              <a:buNone/>
            </a:pPr>
            <a:r>
              <a:rPr lang="en-US" altLang="ko-KR" dirty="0">
                <a:solidFill>
                  <a:srgbClr val="0C77C3"/>
                </a:solidFill>
              </a:rPr>
              <a:t>[</a:t>
            </a:r>
            <a:r>
              <a:rPr lang="ko-KR" altLang="en-US" dirty="0">
                <a:solidFill>
                  <a:srgbClr val="0C77C3"/>
                </a:solidFill>
              </a:rPr>
              <a:t>프로그램 </a:t>
            </a:r>
            <a:r>
              <a:rPr lang="en-US" altLang="ko-KR" dirty="0">
                <a:solidFill>
                  <a:srgbClr val="0C77C3"/>
                </a:solidFill>
              </a:rPr>
              <a:t>2] </a:t>
            </a:r>
            <a:r>
              <a:rPr lang="ko-KR" altLang="en-US" dirty="0">
                <a:solidFill>
                  <a:srgbClr val="0C77C3"/>
                </a:solidFill>
              </a:rPr>
              <a:t>소스코드</a:t>
            </a:r>
            <a:endParaRPr lang="en-US" altLang="ko-KR" dirty="0">
              <a:solidFill>
                <a:srgbClr val="0C77C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71800" y="1124744"/>
            <a:ext cx="5832648" cy="56612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/* BOOK </a:t>
            </a:r>
            <a:r>
              <a:rPr lang="ko-KR" altLang="en-US" sz="1200" dirty="0">
                <a:latin typeface="+mn-ea"/>
                <a:ea typeface="+mn-ea"/>
              </a:rPr>
              <a:t>데이터 구조 정의 *</a:t>
            </a:r>
            <a:r>
              <a:rPr lang="en-US" altLang="ko-KR" sz="1200" dirty="0">
                <a:latin typeface="+mn-ea"/>
                <a:ea typeface="+mn-ea"/>
              </a:rPr>
              <a:t>/</a:t>
            </a:r>
          </a:p>
          <a:p>
            <a:r>
              <a:rPr lang="en-US" altLang="ko-KR" sz="1200" dirty="0" err="1">
                <a:latin typeface="+mn-ea"/>
                <a:ea typeface="+mn-ea"/>
              </a:rPr>
              <a:t>typedef</a:t>
            </a: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err="1">
                <a:latin typeface="+mn-ea"/>
                <a:ea typeface="+mn-ea"/>
              </a:rPr>
              <a:t>struct</a:t>
            </a:r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{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  </a:t>
            </a:r>
            <a:r>
              <a:rPr lang="en-US" altLang="ko-KR" sz="1200" dirty="0" err="1">
                <a:latin typeface="+mn-ea"/>
                <a:ea typeface="+mn-ea"/>
              </a:rPr>
              <a:t>int</a:t>
            </a:r>
            <a:r>
              <a:rPr lang="en-US" altLang="ko-KR" sz="1200" dirty="0">
                <a:latin typeface="+mn-ea"/>
                <a:ea typeface="+mn-ea"/>
              </a:rPr>
              <a:t>   </a:t>
            </a:r>
            <a:r>
              <a:rPr lang="en-US" altLang="ko-KR" sz="1200" dirty="0" err="1">
                <a:latin typeface="+mn-ea"/>
                <a:ea typeface="+mn-ea"/>
              </a:rPr>
              <a:t>bookid</a:t>
            </a:r>
            <a:r>
              <a:rPr lang="en-US" altLang="ko-KR" sz="1200" dirty="0">
                <a:latin typeface="+mn-ea"/>
                <a:ea typeface="+mn-ea"/>
              </a:rPr>
              <a:t>[5];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  char </a:t>
            </a:r>
            <a:r>
              <a:rPr lang="en-US" altLang="ko-KR" sz="1200" dirty="0" err="1">
                <a:latin typeface="+mn-ea"/>
                <a:ea typeface="+mn-ea"/>
              </a:rPr>
              <a:t>bookname</a:t>
            </a:r>
            <a:r>
              <a:rPr lang="en-US" altLang="ko-KR" sz="1200" dirty="0">
                <a:latin typeface="+mn-ea"/>
                <a:ea typeface="+mn-ea"/>
              </a:rPr>
              <a:t>[20];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  char publisher[20];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  </a:t>
            </a:r>
            <a:r>
              <a:rPr lang="en-US" altLang="ko-KR" sz="1200" dirty="0" err="1">
                <a:latin typeface="+mn-ea"/>
                <a:ea typeface="+mn-ea"/>
              </a:rPr>
              <a:t>int</a:t>
            </a:r>
            <a:r>
              <a:rPr lang="en-US" altLang="ko-KR" sz="1200" dirty="0">
                <a:latin typeface="+mn-ea"/>
                <a:ea typeface="+mn-ea"/>
              </a:rPr>
              <a:t>   price;</a:t>
            </a:r>
          </a:p>
          <a:p>
            <a:r>
              <a:rPr lang="en-US" altLang="ko-KR" sz="1200" dirty="0">
                <a:latin typeface="+mn-ea"/>
                <a:ea typeface="+mn-ea"/>
              </a:rPr>
              <a:t>} BOOK;</a:t>
            </a:r>
          </a:p>
          <a:p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 err="1">
                <a:latin typeface="+mn-ea"/>
                <a:ea typeface="+mn-ea"/>
              </a:rPr>
              <a:t>int</a:t>
            </a:r>
            <a:r>
              <a:rPr lang="en-US" altLang="ko-KR" sz="1200" dirty="0">
                <a:latin typeface="+mn-ea"/>
                <a:ea typeface="+mn-ea"/>
              </a:rPr>
              <a:t> main( )</a:t>
            </a:r>
          </a:p>
          <a:p>
            <a:r>
              <a:rPr lang="en-US" altLang="ko-KR" sz="1200" dirty="0">
                <a:latin typeface="+mn-ea"/>
                <a:ea typeface="+mn-ea"/>
              </a:rPr>
              <a:t>{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  BOOK BOOKS[10];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  </a:t>
            </a:r>
            <a:r>
              <a:rPr lang="en-US" altLang="ko-KR" sz="1200" dirty="0" err="1">
                <a:latin typeface="+mn-ea"/>
                <a:ea typeface="+mn-ea"/>
              </a:rPr>
              <a:t>int</a:t>
            </a: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err="1">
                <a:latin typeface="+mn-ea"/>
                <a:ea typeface="+mn-ea"/>
              </a:rPr>
              <a:t>i</a:t>
            </a:r>
            <a:r>
              <a:rPr lang="en-US" altLang="ko-KR" sz="1200" dirty="0">
                <a:latin typeface="+mn-ea"/>
                <a:ea typeface="+mn-ea"/>
              </a:rPr>
              <a:t>=1;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  /* </a:t>
            </a:r>
            <a:r>
              <a:rPr lang="ko-KR" altLang="en-US" sz="1200" dirty="0">
                <a:latin typeface="+mn-ea"/>
                <a:ea typeface="+mn-ea"/>
              </a:rPr>
              <a:t>도서 입력 함수 *</a:t>
            </a:r>
            <a:r>
              <a:rPr lang="en-US" altLang="ko-KR" sz="1200" dirty="0">
                <a:latin typeface="+mn-ea"/>
                <a:ea typeface="+mn-ea"/>
              </a:rPr>
              <a:t>/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  insert( );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  /* </a:t>
            </a:r>
            <a:r>
              <a:rPr lang="ko-KR" altLang="en-US" sz="1200" dirty="0">
                <a:latin typeface="+mn-ea"/>
                <a:ea typeface="+mn-ea"/>
              </a:rPr>
              <a:t>파일에 저장된 데이터를 배열 </a:t>
            </a:r>
            <a:r>
              <a:rPr lang="en-US" altLang="ko-KR" sz="1200" dirty="0">
                <a:latin typeface="+mn-ea"/>
                <a:ea typeface="+mn-ea"/>
              </a:rPr>
              <a:t>BOOKS[ ]</a:t>
            </a:r>
            <a:r>
              <a:rPr lang="ko-KR" altLang="en-US" sz="1200" dirty="0">
                <a:latin typeface="+mn-ea"/>
                <a:ea typeface="+mn-ea"/>
              </a:rPr>
              <a:t>에 저장 *</a:t>
            </a:r>
            <a:r>
              <a:rPr lang="en-US" altLang="ko-KR" sz="1200" dirty="0">
                <a:latin typeface="+mn-ea"/>
                <a:ea typeface="+mn-ea"/>
              </a:rPr>
              <a:t>/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   </a:t>
            </a:r>
            <a:r>
              <a:rPr lang="en-US" altLang="ko-KR" sz="1200" dirty="0" err="1">
                <a:latin typeface="+mn-ea"/>
                <a:ea typeface="+mn-ea"/>
              </a:rPr>
              <a:t>fp</a:t>
            </a:r>
            <a:r>
              <a:rPr lang="en-US" altLang="ko-KR" sz="1200" dirty="0">
                <a:latin typeface="+mn-ea"/>
                <a:ea typeface="+mn-ea"/>
              </a:rPr>
              <a:t>=</a:t>
            </a:r>
            <a:r>
              <a:rPr lang="en-US" altLang="ko-KR" sz="1200" dirty="0" err="1">
                <a:latin typeface="+mn-ea"/>
                <a:ea typeface="+mn-ea"/>
              </a:rPr>
              <a:t>fopen</a:t>
            </a:r>
            <a:r>
              <a:rPr lang="en-US" altLang="ko-KR" sz="1200" dirty="0">
                <a:latin typeface="+mn-ea"/>
                <a:ea typeface="+mn-ea"/>
              </a:rPr>
              <a:t>("book.</a:t>
            </a:r>
            <a:r>
              <a:rPr lang="en-US" altLang="ko-KR" sz="1200" dirty="0" err="1">
                <a:latin typeface="+mn-ea"/>
                <a:ea typeface="+mn-ea"/>
              </a:rPr>
              <a:t>dat</a:t>
            </a:r>
            <a:r>
              <a:rPr lang="en-US" altLang="ko-KR" sz="1200" dirty="0">
                <a:latin typeface="+mn-ea"/>
                <a:ea typeface="+mn-ea"/>
              </a:rPr>
              <a:t>","</a:t>
            </a:r>
            <a:r>
              <a:rPr lang="en-US" altLang="ko-KR" sz="1200" dirty="0" err="1">
                <a:latin typeface="+mn-ea"/>
                <a:ea typeface="+mn-ea"/>
              </a:rPr>
              <a:t>rb</a:t>
            </a:r>
            <a:r>
              <a:rPr lang="en-US" altLang="ko-KR" sz="1200" dirty="0">
                <a:latin typeface="+mn-ea"/>
                <a:ea typeface="+mn-ea"/>
              </a:rPr>
              <a:t>");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   </a:t>
            </a:r>
            <a:r>
              <a:rPr lang="en-US" altLang="ko-KR" sz="1200" dirty="0" err="1">
                <a:latin typeface="+mn-ea"/>
                <a:ea typeface="+mn-ea"/>
              </a:rPr>
              <a:t>bp</a:t>
            </a:r>
            <a:r>
              <a:rPr lang="en-US" altLang="ko-KR" sz="1200" dirty="0">
                <a:latin typeface="+mn-ea"/>
                <a:ea typeface="+mn-ea"/>
              </a:rPr>
              <a:t>=(BOOK *)</a:t>
            </a:r>
            <a:r>
              <a:rPr lang="en-US" altLang="ko-KR" sz="1200" dirty="0" err="1">
                <a:latin typeface="+mn-ea"/>
                <a:ea typeface="+mn-ea"/>
              </a:rPr>
              <a:t>calloc</a:t>
            </a:r>
            <a:r>
              <a:rPr lang="en-US" altLang="ko-KR" sz="1200" dirty="0">
                <a:latin typeface="+mn-ea"/>
                <a:ea typeface="+mn-ea"/>
              </a:rPr>
              <a:t>(1,sizeof(BOOK));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  /* </a:t>
            </a:r>
            <a:r>
              <a:rPr lang="ko-KR" altLang="en-US" sz="1200" dirty="0">
                <a:latin typeface="+mn-ea"/>
                <a:ea typeface="+mn-ea"/>
              </a:rPr>
              <a:t>파일에서 책을 읽는다 *</a:t>
            </a:r>
            <a:r>
              <a:rPr lang="en-US" altLang="ko-KR" sz="1200" dirty="0">
                <a:latin typeface="+mn-ea"/>
                <a:ea typeface="+mn-ea"/>
              </a:rPr>
              <a:t>/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   while(</a:t>
            </a:r>
            <a:r>
              <a:rPr lang="en-US" altLang="ko-KR" sz="1200" dirty="0" err="1">
                <a:latin typeface="+mn-ea"/>
                <a:ea typeface="+mn-ea"/>
              </a:rPr>
              <a:t>fread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en-US" altLang="ko-KR" sz="1200" dirty="0" err="1">
                <a:latin typeface="+mn-ea"/>
                <a:ea typeface="+mn-ea"/>
              </a:rPr>
              <a:t>bp,sizeof</a:t>
            </a:r>
            <a:r>
              <a:rPr lang="en-US" altLang="ko-KR" sz="1200" dirty="0">
                <a:latin typeface="+mn-ea"/>
                <a:ea typeface="+mn-ea"/>
              </a:rPr>
              <a:t>(BOOK),1,fp) != 0)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   {</a:t>
            </a:r>
          </a:p>
          <a:p>
            <a:r>
              <a:rPr lang="en-US" altLang="ko-KR" sz="1200" dirty="0">
                <a:latin typeface="+mn-ea"/>
                <a:ea typeface="+mn-ea"/>
              </a:rPr>
              <a:t>	BOOKS[</a:t>
            </a:r>
            <a:r>
              <a:rPr lang="en-US" altLang="ko-KR" sz="1200" dirty="0" err="1">
                <a:latin typeface="+mn-ea"/>
                <a:ea typeface="+mn-ea"/>
              </a:rPr>
              <a:t>i</a:t>
            </a:r>
            <a:r>
              <a:rPr lang="en-US" altLang="ko-KR" sz="1200" dirty="0">
                <a:latin typeface="+mn-ea"/>
                <a:ea typeface="+mn-ea"/>
              </a:rPr>
              <a:t>].</a:t>
            </a:r>
            <a:r>
              <a:rPr lang="en-US" altLang="ko-KR" sz="1200" dirty="0" err="1">
                <a:latin typeface="+mn-ea"/>
                <a:ea typeface="+mn-ea"/>
              </a:rPr>
              <a:t>bookid</a:t>
            </a:r>
            <a:r>
              <a:rPr lang="en-US" altLang="ko-KR" sz="1200" dirty="0">
                <a:latin typeface="+mn-ea"/>
                <a:ea typeface="+mn-ea"/>
              </a:rPr>
              <a:t> =</a:t>
            </a:r>
            <a:r>
              <a:rPr lang="en-US" altLang="ko-KR" sz="1200" dirty="0" err="1">
                <a:latin typeface="+mn-ea"/>
                <a:ea typeface="+mn-ea"/>
              </a:rPr>
              <a:t>bp</a:t>
            </a:r>
            <a:r>
              <a:rPr lang="en-US" altLang="ko-KR" sz="1200" dirty="0">
                <a:latin typeface="+mn-ea"/>
                <a:ea typeface="+mn-ea"/>
              </a:rPr>
              <a:t>-&gt;</a:t>
            </a:r>
            <a:r>
              <a:rPr lang="en-US" altLang="ko-KR" sz="1200" dirty="0" err="1">
                <a:latin typeface="+mn-ea"/>
                <a:ea typeface="+mn-ea"/>
              </a:rPr>
              <a:t>bookid</a:t>
            </a:r>
            <a:r>
              <a:rPr lang="en-US" altLang="ko-KR" sz="1200" dirty="0">
                <a:latin typeface="+mn-ea"/>
                <a:ea typeface="+mn-ea"/>
              </a:rPr>
              <a:t>;</a:t>
            </a:r>
          </a:p>
          <a:p>
            <a:r>
              <a:rPr lang="en-US" altLang="ko-KR" sz="1200" dirty="0">
                <a:latin typeface="+mn-ea"/>
                <a:ea typeface="+mn-ea"/>
              </a:rPr>
              <a:t>	</a:t>
            </a:r>
            <a:r>
              <a:rPr lang="en-US" altLang="ko-KR" sz="1200" dirty="0" err="1">
                <a:latin typeface="+mn-ea"/>
                <a:ea typeface="+mn-ea"/>
              </a:rPr>
              <a:t>strcpy</a:t>
            </a:r>
            <a:r>
              <a:rPr lang="en-US" altLang="ko-KR" sz="1200" dirty="0">
                <a:latin typeface="+mn-ea"/>
                <a:ea typeface="+mn-ea"/>
              </a:rPr>
              <a:t>(BOOKS[</a:t>
            </a:r>
            <a:r>
              <a:rPr lang="en-US" altLang="ko-KR" sz="1200" dirty="0" err="1">
                <a:latin typeface="+mn-ea"/>
                <a:ea typeface="+mn-ea"/>
              </a:rPr>
              <a:t>i</a:t>
            </a:r>
            <a:r>
              <a:rPr lang="en-US" altLang="ko-KR" sz="1200" dirty="0">
                <a:latin typeface="+mn-ea"/>
                <a:ea typeface="+mn-ea"/>
              </a:rPr>
              <a:t>].</a:t>
            </a:r>
            <a:r>
              <a:rPr lang="en-US" altLang="ko-KR" sz="1200" dirty="0" err="1">
                <a:latin typeface="+mn-ea"/>
                <a:ea typeface="+mn-ea"/>
              </a:rPr>
              <a:t>bookname</a:t>
            </a:r>
            <a:r>
              <a:rPr lang="en-US" altLang="ko-KR" sz="1200" dirty="0">
                <a:latin typeface="+mn-ea"/>
                <a:ea typeface="+mn-ea"/>
              </a:rPr>
              <a:t>, </a:t>
            </a:r>
            <a:r>
              <a:rPr lang="en-US" altLang="ko-KR" sz="1200" dirty="0" err="1">
                <a:latin typeface="+mn-ea"/>
                <a:ea typeface="+mn-ea"/>
              </a:rPr>
              <a:t>bp</a:t>
            </a:r>
            <a:r>
              <a:rPr lang="en-US" altLang="ko-KR" sz="1200" dirty="0">
                <a:latin typeface="+mn-ea"/>
                <a:ea typeface="+mn-ea"/>
              </a:rPr>
              <a:t> -&gt;</a:t>
            </a:r>
            <a:r>
              <a:rPr lang="en-US" altLang="ko-KR" sz="1200" dirty="0" err="1">
                <a:latin typeface="+mn-ea"/>
                <a:ea typeface="+mn-ea"/>
              </a:rPr>
              <a:t>bookname</a:t>
            </a:r>
            <a:r>
              <a:rPr lang="en-US" altLang="ko-KR" sz="1200" dirty="0">
                <a:latin typeface="+mn-ea"/>
                <a:ea typeface="+mn-ea"/>
              </a:rPr>
              <a:t>);</a:t>
            </a:r>
          </a:p>
          <a:p>
            <a:r>
              <a:rPr lang="en-US" altLang="ko-KR" sz="1200" dirty="0">
                <a:latin typeface="+mn-ea"/>
                <a:ea typeface="+mn-ea"/>
              </a:rPr>
              <a:t>	</a:t>
            </a:r>
            <a:r>
              <a:rPr lang="en-US" altLang="ko-KR" sz="1200" dirty="0" err="1">
                <a:latin typeface="+mn-ea"/>
                <a:ea typeface="+mn-ea"/>
              </a:rPr>
              <a:t>strcpy</a:t>
            </a:r>
            <a:r>
              <a:rPr lang="en-US" altLang="ko-KR" sz="1200" dirty="0">
                <a:latin typeface="+mn-ea"/>
                <a:ea typeface="+mn-ea"/>
              </a:rPr>
              <a:t>(BOOKS[</a:t>
            </a:r>
            <a:r>
              <a:rPr lang="en-US" altLang="ko-KR" sz="1200" dirty="0" err="1">
                <a:latin typeface="+mn-ea"/>
                <a:ea typeface="+mn-ea"/>
              </a:rPr>
              <a:t>i</a:t>
            </a:r>
            <a:r>
              <a:rPr lang="en-US" altLang="ko-KR" sz="1200" dirty="0">
                <a:latin typeface="+mn-ea"/>
                <a:ea typeface="+mn-ea"/>
              </a:rPr>
              <a:t>].publisher, </a:t>
            </a:r>
            <a:r>
              <a:rPr lang="en-US" altLang="ko-KR" sz="1200" dirty="0" err="1">
                <a:latin typeface="+mn-ea"/>
                <a:ea typeface="+mn-ea"/>
              </a:rPr>
              <a:t>bp</a:t>
            </a:r>
            <a:r>
              <a:rPr lang="en-US" altLang="ko-KR" sz="1200" dirty="0">
                <a:latin typeface="+mn-ea"/>
                <a:ea typeface="+mn-ea"/>
              </a:rPr>
              <a:t> -&gt;publisher);</a:t>
            </a:r>
          </a:p>
          <a:p>
            <a:r>
              <a:rPr lang="en-US" altLang="ko-KR" sz="1200" dirty="0">
                <a:latin typeface="+mn-ea"/>
                <a:ea typeface="+mn-ea"/>
              </a:rPr>
              <a:t>	BOOKS[</a:t>
            </a:r>
            <a:r>
              <a:rPr lang="en-US" altLang="ko-KR" sz="1200" dirty="0" err="1">
                <a:latin typeface="+mn-ea"/>
                <a:ea typeface="+mn-ea"/>
              </a:rPr>
              <a:t>i</a:t>
            </a:r>
            <a:r>
              <a:rPr lang="en-US" altLang="ko-KR" sz="1200" dirty="0">
                <a:latin typeface="+mn-ea"/>
                <a:ea typeface="+mn-ea"/>
              </a:rPr>
              <a:t>].price =</a:t>
            </a:r>
            <a:r>
              <a:rPr lang="en-US" altLang="ko-KR" sz="1200" dirty="0" err="1">
                <a:latin typeface="+mn-ea"/>
                <a:ea typeface="+mn-ea"/>
              </a:rPr>
              <a:t>bp</a:t>
            </a:r>
            <a:r>
              <a:rPr lang="en-US" altLang="ko-KR" sz="1200" dirty="0">
                <a:latin typeface="+mn-ea"/>
                <a:ea typeface="+mn-ea"/>
              </a:rPr>
              <a:t> -&gt;price;</a:t>
            </a:r>
          </a:p>
          <a:p>
            <a:r>
              <a:rPr lang="en-US" altLang="ko-KR" sz="1200" dirty="0">
                <a:latin typeface="+mn-ea"/>
                <a:ea typeface="+mn-ea"/>
              </a:rPr>
              <a:t>	</a:t>
            </a:r>
            <a:r>
              <a:rPr lang="en-US" altLang="ko-KR" sz="1200" dirty="0" err="1">
                <a:latin typeface="+mn-ea"/>
                <a:ea typeface="+mn-ea"/>
              </a:rPr>
              <a:t>i</a:t>
            </a:r>
            <a:r>
              <a:rPr lang="en-US" altLang="ko-KR" sz="1200" dirty="0">
                <a:latin typeface="+mn-ea"/>
                <a:ea typeface="+mn-ea"/>
              </a:rPr>
              <a:t>++;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    }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   /* </a:t>
            </a:r>
            <a:r>
              <a:rPr lang="ko-KR" altLang="en-US" sz="1200" dirty="0">
                <a:latin typeface="+mn-ea"/>
                <a:ea typeface="+mn-ea"/>
              </a:rPr>
              <a:t>모든 도서보기 프로그램 호출 *</a:t>
            </a:r>
            <a:r>
              <a:rPr lang="en-US" altLang="ko-KR" sz="1200" dirty="0">
                <a:latin typeface="+mn-ea"/>
                <a:ea typeface="+mn-ea"/>
              </a:rPr>
              <a:t>/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    </a:t>
            </a:r>
            <a:r>
              <a:rPr lang="en-US" altLang="ko-KR" sz="1200" dirty="0" err="1">
                <a:latin typeface="+mn-ea"/>
                <a:ea typeface="+mn-ea"/>
              </a:rPr>
              <a:t>search_all</a:t>
            </a:r>
            <a:r>
              <a:rPr lang="en-US" altLang="ko-KR" sz="1200" dirty="0">
                <a:latin typeface="+mn-ea"/>
                <a:ea typeface="+mn-ea"/>
              </a:rPr>
              <a:t>( );</a:t>
            </a:r>
          </a:p>
          <a:p>
            <a:r>
              <a:rPr lang="en-US" altLang="ko-KR" sz="1200" dirty="0">
                <a:latin typeface="+mn-ea"/>
                <a:ea typeface="+mn-ea"/>
              </a:rPr>
              <a:t>.....</a:t>
            </a:r>
          </a:p>
          <a:p>
            <a:r>
              <a:rPr lang="en-US" altLang="ko-KR" sz="1200" dirty="0">
                <a:latin typeface="+mn-ea"/>
                <a:ea typeface="+mn-ea"/>
              </a:rPr>
              <a:t>}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934F78A-C215-9D20-9E84-91B0A0B68E8F}"/>
              </a:ext>
            </a:extLst>
          </p:cNvPr>
          <p:cNvSpPr>
            <a:spLocks/>
          </p:cNvSpPr>
          <p:nvPr/>
        </p:nvSpPr>
        <p:spPr>
          <a:xfrm>
            <a:off x="539552" y="4869160"/>
            <a:ext cx="3528392" cy="1883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파일 </a:t>
            </a:r>
            <a:r>
              <a:rPr lang="en-US" altLang="ko-KR" sz="2400" dirty="0"/>
              <a:t>1</a:t>
            </a:r>
            <a:endParaRPr lang="ko-KR" altLang="en-US" sz="24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데이터를 저장하는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1120627"/>
            <a:ext cx="8064896" cy="5472608"/>
          </a:xfrm>
        </p:spPr>
        <p:txBody>
          <a:bodyPr/>
          <a:lstStyle/>
          <a:p>
            <a:pPr>
              <a:buNone/>
            </a:pPr>
            <a:r>
              <a:rPr lang="en-US" altLang="ko-KR" dirty="0">
                <a:solidFill>
                  <a:srgbClr val="0C77C3"/>
                </a:solidFill>
              </a:rPr>
              <a:t>[</a:t>
            </a:r>
            <a:r>
              <a:rPr lang="ko-KR" altLang="en-US" dirty="0">
                <a:solidFill>
                  <a:srgbClr val="0C77C3"/>
                </a:solidFill>
              </a:rPr>
              <a:t>프로그램 </a:t>
            </a:r>
            <a:r>
              <a:rPr lang="en-US" altLang="ko-KR" dirty="0">
                <a:solidFill>
                  <a:srgbClr val="0C77C3"/>
                </a:solidFill>
              </a:rPr>
              <a:t>2] </a:t>
            </a:r>
            <a:r>
              <a:rPr kumimoji="0" lang="ko-KR" altLang="en-US" dirty="0"/>
              <a:t>파일 시스템을 사용하는 방법</a:t>
            </a:r>
          </a:p>
          <a:p>
            <a:pPr>
              <a:buNone/>
            </a:pPr>
            <a:endParaRPr kumimoji="0" lang="en-US" altLang="ko-KR" dirty="0"/>
          </a:p>
          <a:p>
            <a:pPr>
              <a:buNone/>
            </a:pPr>
            <a:endParaRPr lang="en-US" altLang="ko-KR" dirty="0">
              <a:solidFill>
                <a:srgbClr val="0C77C3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24CD47-B9B4-A01C-8AB8-F1E4D031823E}"/>
              </a:ext>
            </a:extLst>
          </p:cNvPr>
          <p:cNvSpPr>
            <a:spLocks/>
          </p:cNvSpPr>
          <p:nvPr/>
        </p:nvSpPr>
        <p:spPr>
          <a:xfrm>
            <a:off x="539552" y="1597485"/>
            <a:ext cx="3528392" cy="2983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프로그램 </a:t>
            </a:r>
            <a:r>
              <a:rPr lang="en-US" altLang="ko-KR" sz="2400" dirty="0"/>
              <a:t>1</a:t>
            </a:r>
            <a:endParaRPr lang="ko-KR" altLang="en-US" sz="2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E9D50C-EB67-AF90-59F5-BD41EC5A5281}"/>
              </a:ext>
            </a:extLst>
          </p:cNvPr>
          <p:cNvSpPr/>
          <p:nvPr/>
        </p:nvSpPr>
        <p:spPr>
          <a:xfrm>
            <a:off x="4716016" y="1597485"/>
            <a:ext cx="3528392" cy="2983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프로그램 </a:t>
            </a:r>
            <a:r>
              <a:rPr lang="en-US" altLang="ko-KR" sz="2400" dirty="0"/>
              <a:t>2</a:t>
            </a:r>
            <a:endParaRPr lang="ko-KR" altLang="en-US" sz="2400" dirty="0"/>
          </a:p>
        </p:txBody>
      </p:sp>
      <p:graphicFrame>
        <p:nvGraphicFramePr>
          <p:cNvPr id="13" name="표 7">
            <a:extLst>
              <a:ext uri="{FF2B5EF4-FFF2-40B4-BE49-F238E27FC236}">
                <a16:creationId xmlns:a16="http://schemas.microsoft.com/office/drawing/2014/main" id="{1E5C645A-353B-6816-C7C0-5A417D2D72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0075320"/>
              </p:ext>
            </p:extLst>
          </p:nvPr>
        </p:nvGraphicFramePr>
        <p:xfrm>
          <a:off x="718510" y="5270688"/>
          <a:ext cx="3170476" cy="108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300">
                  <a:extLst>
                    <a:ext uri="{9D8B030D-6E8A-4147-A177-3AD203B41FA5}">
                      <a16:colId xmlns:a16="http://schemas.microsoft.com/office/drawing/2014/main" val="930926539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771979144"/>
                    </a:ext>
                  </a:extLst>
                </a:gridCol>
              </a:tblGrid>
              <a:tr h="42789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책이름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출판사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665165"/>
                  </a:ext>
                </a:extLst>
              </a:tr>
              <a:tr h="2989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축구의 역사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굿스포츠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242332"/>
                  </a:ext>
                </a:extLst>
              </a:tr>
              <a:tr h="35328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축구 아는 사람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/>
                        <a:t>나무수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148226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2A81C420-3408-E85F-833B-9CB24D07C343}"/>
              </a:ext>
            </a:extLst>
          </p:cNvPr>
          <p:cNvSpPr>
            <a:spLocks/>
          </p:cNvSpPr>
          <p:nvPr/>
        </p:nvSpPr>
        <p:spPr>
          <a:xfrm>
            <a:off x="4716016" y="4850670"/>
            <a:ext cx="3528392" cy="1883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파일 </a:t>
            </a:r>
            <a:r>
              <a:rPr lang="en-US" altLang="ko-KR" sz="2400" dirty="0"/>
              <a:t>1</a:t>
            </a:r>
            <a:endParaRPr lang="ko-KR" altLang="en-US" sz="2400" dirty="0"/>
          </a:p>
        </p:txBody>
      </p:sp>
      <p:graphicFrame>
        <p:nvGraphicFramePr>
          <p:cNvPr id="9" name="표 7">
            <a:extLst>
              <a:ext uri="{FF2B5EF4-FFF2-40B4-BE49-F238E27FC236}">
                <a16:creationId xmlns:a16="http://schemas.microsoft.com/office/drawing/2014/main" id="{195E3DDD-5112-26D1-9292-2B5F5DA508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4452181"/>
              </p:ext>
            </p:extLst>
          </p:nvPr>
        </p:nvGraphicFramePr>
        <p:xfrm>
          <a:off x="4929916" y="5252198"/>
          <a:ext cx="3170476" cy="108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300">
                  <a:extLst>
                    <a:ext uri="{9D8B030D-6E8A-4147-A177-3AD203B41FA5}">
                      <a16:colId xmlns:a16="http://schemas.microsoft.com/office/drawing/2014/main" val="930926539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771979144"/>
                    </a:ext>
                  </a:extLst>
                </a:gridCol>
              </a:tblGrid>
              <a:tr h="42789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책이름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출판사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665165"/>
                  </a:ext>
                </a:extLst>
              </a:tr>
              <a:tr h="2989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축구의 역사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굿스포츠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242332"/>
                  </a:ext>
                </a:extLst>
              </a:tr>
              <a:tr h="35328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축구 아는 사람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/>
                        <a:t>나무수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14822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F95424C-859B-EB4E-AFE2-DB47B185220F}"/>
              </a:ext>
            </a:extLst>
          </p:cNvPr>
          <p:cNvSpPr txBox="1"/>
          <p:nvPr/>
        </p:nvSpPr>
        <p:spPr>
          <a:xfrm>
            <a:off x="652980" y="4581128"/>
            <a:ext cx="10387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sz="2000" b="1" dirty="0">
                <a:solidFill>
                  <a:schemeClr val="bg1"/>
                </a:solidFill>
              </a:rPr>
              <a:t>파일 </a:t>
            </a:r>
            <a:r>
              <a:rPr lang="en-US" altLang="ko-KR" sz="2000" b="1" dirty="0">
                <a:solidFill>
                  <a:schemeClr val="bg1"/>
                </a:solidFill>
              </a:rPr>
              <a:t>1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0FA4E1-0B15-F390-0020-D10A3A94FDDC}"/>
              </a:ext>
            </a:extLst>
          </p:cNvPr>
          <p:cNvSpPr txBox="1"/>
          <p:nvPr/>
        </p:nvSpPr>
        <p:spPr>
          <a:xfrm>
            <a:off x="4844089" y="4581128"/>
            <a:ext cx="10387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sz="2000" b="1" dirty="0">
                <a:solidFill>
                  <a:schemeClr val="bg1"/>
                </a:solidFill>
              </a:rPr>
              <a:t>파일 </a:t>
            </a:r>
            <a:r>
              <a:rPr lang="en-US" altLang="ko-KR" sz="2000" b="1" dirty="0">
                <a:solidFill>
                  <a:schemeClr val="bg1"/>
                </a:solidFill>
              </a:rPr>
              <a:t>2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20444BEB-6C34-7663-B95A-A38CD021AABB}"/>
              </a:ext>
            </a:extLst>
          </p:cNvPr>
          <p:cNvSpPr/>
          <p:nvPr/>
        </p:nvSpPr>
        <p:spPr>
          <a:xfrm rot="5400000">
            <a:off x="5948532" y="4454336"/>
            <a:ext cx="432048" cy="43204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07D4581D-DF03-E7E0-EF64-8CA80984923B}"/>
              </a:ext>
            </a:extLst>
          </p:cNvPr>
          <p:cNvSpPr/>
          <p:nvPr/>
        </p:nvSpPr>
        <p:spPr>
          <a:xfrm rot="16200000">
            <a:off x="6696236" y="4446164"/>
            <a:ext cx="432048" cy="43204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1C93534B-7FCE-DC84-AFA0-F31DD023F646}"/>
              </a:ext>
            </a:extLst>
          </p:cNvPr>
          <p:cNvSpPr/>
          <p:nvPr/>
        </p:nvSpPr>
        <p:spPr>
          <a:xfrm rot="5400000">
            <a:off x="1838154" y="4482232"/>
            <a:ext cx="432048" cy="43204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14F88A11-C301-5D76-29FD-5266FBA90F8D}"/>
              </a:ext>
            </a:extLst>
          </p:cNvPr>
          <p:cNvSpPr/>
          <p:nvPr/>
        </p:nvSpPr>
        <p:spPr>
          <a:xfrm rot="16200000">
            <a:off x="2585858" y="4474060"/>
            <a:ext cx="432048" cy="43204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34365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0C4C2-C3E9-6E30-C5EE-895E8E320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데이터를 저장하는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972BB8-59CC-26F7-535A-7636CCBA8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데이터 구조가 바뀌는 경우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두 개의 프로그램이 파일을 공유하는 문제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CBED0D8-62F0-CBD8-10E3-E1C24C080974}"/>
              </a:ext>
            </a:extLst>
          </p:cNvPr>
          <p:cNvSpPr txBox="1">
            <a:spLocks/>
          </p:cNvSpPr>
          <p:nvPr/>
        </p:nvSpPr>
        <p:spPr bwMode="auto">
          <a:xfrm>
            <a:off x="512549" y="1124744"/>
            <a:ext cx="8064896" cy="471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파일 시스템의 문제점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3959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데이터를 저장하는 방법</a:t>
            </a:r>
            <a:endParaRPr lang="ko-KR" altLang="en-US" strike="sngStrike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772816"/>
            <a:ext cx="8064896" cy="4320480"/>
          </a:xfrm>
        </p:spPr>
        <p:txBody>
          <a:bodyPr/>
          <a:lstStyle/>
          <a:p>
            <a:pPr>
              <a:buNone/>
            </a:pPr>
            <a:r>
              <a:rPr lang="en-US" altLang="ko-KR" sz="1400" dirty="0">
                <a:solidFill>
                  <a:srgbClr val="0C77C3"/>
                </a:solidFill>
              </a:rPr>
              <a:t>[</a:t>
            </a:r>
            <a:r>
              <a:rPr lang="ko-KR" altLang="en-US" dirty="0">
                <a:solidFill>
                  <a:srgbClr val="0C77C3"/>
                </a:solidFill>
              </a:rPr>
              <a:t>프로그램</a:t>
            </a:r>
            <a:r>
              <a:rPr lang="ko-KR" altLang="en-US" sz="1400" dirty="0">
                <a:solidFill>
                  <a:srgbClr val="0C77C3"/>
                </a:solidFill>
              </a:rPr>
              <a:t> </a:t>
            </a:r>
            <a:r>
              <a:rPr lang="en-US" altLang="ko-KR" sz="1400" dirty="0">
                <a:solidFill>
                  <a:srgbClr val="0C77C3"/>
                </a:solidFill>
              </a:rPr>
              <a:t>3]</a:t>
            </a:r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데이터 정의와 데이터 값을 </a:t>
            </a:r>
            <a:r>
              <a:rPr lang="en-US" altLang="ko-KR" sz="1400" b="0" dirty="0"/>
              <a:t>DBMS</a:t>
            </a:r>
            <a:r>
              <a:rPr lang="ko-KR" altLang="en-US" sz="1400" b="0" dirty="0"/>
              <a:t>가 관리</a:t>
            </a:r>
            <a:endParaRPr lang="en-US" altLang="ko-KR" sz="1400" b="0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en-US" altLang="ko-KR" sz="1400" b="0" dirty="0"/>
              <a:t>DBMS</a:t>
            </a:r>
            <a:r>
              <a:rPr lang="ko-KR" altLang="en-US" sz="1400" b="0" dirty="0"/>
              <a:t>는 데이터 정의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데이터 변경 등의 작업을 할 수 있는 별도의 프로그램을 갖고 있음</a:t>
            </a:r>
            <a:endParaRPr lang="en-US" altLang="ko-KR" sz="1400" b="0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프로그램에 데이터 정의나 데이터 값을 포함하지 않기 때문에 데이터 구조가 바뀌어도 다시  </a:t>
            </a:r>
            <a:r>
              <a:rPr lang="ko-KR" altLang="en-US" sz="1400" b="0" dirty="0" err="1"/>
              <a:t>컴파일할</a:t>
            </a:r>
            <a:r>
              <a:rPr lang="ko-KR" altLang="en-US" sz="1400" b="0" dirty="0"/>
              <a:t> 필요가 없음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471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DBMS</a:t>
            </a:r>
            <a:r>
              <a:rPr kumimoji="0" lang="ko-KR" altLang="en-US" sz="2000" dirty="0">
                <a:solidFill>
                  <a:schemeClr val="tx2"/>
                </a:solidFill>
              </a:rPr>
              <a:t>를 사용하는 방법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데이터를 저장하는 방법</a:t>
            </a:r>
            <a:endParaRPr lang="ko-KR" altLang="en-US" strike="sngStrike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1124744"/>
            <a:ext cx="8064896" cy="5472608"/>
          </a:xfrm>
        </p:spPr>
        <p:txBody>
          <a:bodyPr/>
          <a:lstStyle/>
          <a:p>
            <a:pPr>
              <a:buNone/>
            </a:pPr>
            <a:r>
              <a:rPr lang="en-US" altLang="ko-KR" dirty="0">
                <a:solidFill>
                  <a:srgbClr val="0C77C3"/>
                </a:solidFill>
              </a:rPr>
              <a:t>[</a:t>
            </a:r>
            <a:r>
              <a:rPr lang="ko-KR" altLang="en-US" dirty="0">
                <a:solidFill>
                  <a:srgbClr val="0C77C3"/>
                </a:solidFill>
              </a:rPr>
              <a:t>프로그램 </a:t>
            </a:r>
            <a:r>
              <a:rPr lang="en-US" altLang="ko-KR" dirty="0">
                <a:solidFill>
                  <a:srgbClr val="0C77C3"/>
                </a:solidFill>
              </a:rPr>
              <a:t>3]  </a:t>
            </a:r>
            <a:r>
              <a:rPr lang="ko-KR" altLang="en-US" dirty="0">
                <a:solidFill>
                  <a:srgbClr val="0C77C3"/>
                </a:solidFill>
              </a:rPr>
              <a:t>소스코드</a:t>
            </a:r>
            <a:endParaRPr lang="en-US" altLang="ko-KR" dirty="0">
              <a:solidFill>
                <a:srgbClr val="0C77C3"/>
              </a:solidFill>
            </a:endParaRPr>
          </a:p>
          <a:p>
            <a:pPr>
              <a:buNone/>
            </a:pPr>
            <a:endParaRPr lang="en-US" altLang="ko-KR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2771800" y="1196753"/>
            <a:ext cx="5832648" cy="525658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200" dirty="0" err="1">
                <a:latin typeface="+mn-ea"/>
                <a:ea typeface="+mn-ea"/>
              </a:rPr>
              <a:t>int</a:t>
            </a:r>
            <a:r>
              <a:rPr lang="en-US" altLang="ko-KR" sz="1200" dirty="0">
                <a:latin typeface="+mn-ea"/>
                <a:ea typeface="+mn-ea"/>
              </a:rPr>
              <a:t> main( )</a:t>
            </a:r>
          </a:p>
          <a:p>
            <a:r>
              <a:rPr lang="en-US" altLang="ko-KR" sz="1200" dirty="0">
                <a:latin typeface="+mn-ea"/>
                <a:ea typeface="+mn-ea"/>
              </a:rPr>
              <a:t>{</a:t>
            </a:r>
          </a:p>
          <a:p>
            <a:r>
              <a:rPr lang="en-US" altLang="ko-KR" sz="1200" dirty="0">
                <a:latin typeface="+mn-ea"/>
                <a:ea typeface="+mn-ea"/>
              </a:rPr>
              <a:t>	/* </a:t>
            </a:r>
            <a:r>
              <a:rPr lang="ko-KR" altLang="en-US" sz="1200" dirty="0">
                <a:latin typeface="+mn-ea"/>
                <a:ea typeface="+mn-ea"/>
              </a:rPr>
              <a:t>반환된 행의 수 *</a:t>
            </a:r>
            <a:r>
              <a:rPr lang="en-US" altLang="ko-KR" sz="1200" dirty="0">
                <a:latin typeface="+mn-ea"/>
                <a:ea typeface="+mn-ea"/>
              </a:rPr>
              <a:t>/</a:t>
            </a:r>
          </a:p>
          <a:p>
            <a:r>
              <a:rPr lang="en-US" altLang="ko-KR" sz="1200" dirty="0">
                <a:latin typeface="+mn-ea"/>
                <a:ea typeface="+mn-ea"/>
              </a:rPr>
              <a:t>	</a:t>
            </a:r>
            <a:r>
              <a:rPr lang="en-US" altLang="ko-KR" sz="1200" dirty="0" err="1">
                <a:latin typeface="+mn-ea"/>
                <a:ea typeface="+mn-ea"/>
              </a:rPr>
              <a:t>int</a:t>
            </a:r>
            <a:r>
              <a:rPr lang="en-US" altLang="ko-KR" sz="1200" dirty="0">
                <a:latin typeface="+mn-ea"/>
                <a:ea typeface="+mn-ea"/>
              </a:rPr>
              <a:t> </a:t>
            </a:r>
            <a:r>
              <a:rPr lang="en-US" altLang="ko-KR" sz="1200" dirty="0" err="1">
                <a:latin typeface="+mn-ea"/>
                <a:ea typeface="+mn-ea"/>
              </a:rPr>
              <a:t>num_ret</a:t>
            </a:r>
            <a:r>
              <a:rPr lang="en-US" altLang="ko-KR" sz="1200" dirty="0">
                <a:latin typeface="+mn-ea"/>
                <a:ea typeface="+mn-ea"/>
              </a:rPr>
              <a:t>;</a:t>
            </a:r>
          </a:p>
          <a:p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	/* DBMS</a:t>
            </a:r>
            <a:r>
              <a:rPr lang="ko-KR" altLang="en-US" sz="1200" dirty="0">
                <a:latin typeface="+mn-ea"/>
                <a:ea typeface="+mn-ea"/>
              </a:rPr>
              <a:t>에 접속 *</a:t>
            </a:r>
            <a:r>
              <a:rPr lang="en-US" altLang="ko-KR" sz="1200" dirty="0">
                <a:latin typeface="+mn-ea"/>
                <a:ea typeface="+mn-ea"/>
              </a:rPr>
              <a:t>/</a:t>
            </a:r>
          </a:p>
          <a:p>
            <a:r>
              <a:rPr lang="en-US" altLang="ko-KR" sz="1200" dirty="0">
                <a:latin typeface="+mn-ea"/>
                <a:ea typeface="+mn-ea"/>
              </a:rPr>
              <a:t>	EXEC SQL CONNECT :username IDENTIFIED BY :password;</a:t>
            </a:r>
          </a:p>
          <a:p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	/* SQL </a:t>
            </a:r>
            <a:r>
              <a:rPr lang="ko-KR" altLang="en-US" sz="1200" dirty="0">
                <a:latin typeface="+mn-ea"/>
                <a:ea typeface="+mn-ea"/>
              </a:rPr>
              <a:t>문 실행 *</a:t>
            </a:r>
            <a:r>
              <a:rPr lang="en-US" altLang="ko-KR" sz="1200" dirty="0">
                <a:latin typeface="+mn-ea"/>
                <a:ea typeface="+mn-ea"/>
              </a:rPr>
              <a:t>/</a:t>
            </a:r>
          </a:p>
          <a:p>
            <a:r>
              <a:rPr lang="en-US" altLang="ko-KR" sz="1200" dirty="0">
                <a:latin typeface="+mn-ea"/>
                <a:ea typeface="+mn-ea"/>
              </a:rPr>
              <a:t>	EXEC SQL DECLARE c1 CURSOR FOR</a:t>
            </a:r>
          </a:p>
          <a:p>
            <a:r>
              <a:rPr lang="en-US" altLang="ko-KR" sz="1200" dirty="0">
                <a:latin typeface="+mn-ea"/>
                <a:ea typeface="+mn-ea"/>
              </a:rPr>
              <a:t>        	        SELECT </a:t>
            </a:r>
            <a:r>
              <a:rPr lang="en-US" altLang="ko-KR" sz="1200" dirty="0" err="1">
                <a:latin typeface="+mn-ea"/>
                <a:ea typeface="+mn-ea"/>
              </a:rPr>
              <a:t>bookname</a:t>
            </a:r>
            <a:r>
              <a:rPr lang="en-US" altLang="ko-KR" sz="1200" dirty="0">
                <a:latin typeface="+mn-ea"/>
                <a:ea typeface="+mn-ea"/>
              </a:rPr>
              <a:t>, publisher, price FROM BOOK;</a:t>
            </a:r>
          </a:p>
          <a:p>
            <a:r>
              <a:rPr lang="en-US" altLang="ko-KR" sz="1200" dirty="0">
                <a:latin typeface="+mn-ea"/>
                <a:ea typeface="+mn-ea"/>
              </a:rPr>
              <a:t>	EXEC SQL OPEN c1;</a:t>
            </a:r>
          </a:p>
          <a:p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	/* </a:t>
            </a:r>
            <a:r>
              <a:rPr lang="ko-KR" altLang="en-US" sz="1200" dirty="0">
                <a:latin typeface="+mn-ea"/>
                <a:ea typeface="+mn-ea"/>
              </a:rPr>
              <a:t>모든 도서보기 프로그램 호출 *</a:t>
            </a:r>
            <a:r>
              <a:rPr lang="en-US" altLang="ko-KR" sz="1200" dirty="0">
                <a:latin typeface="+mn-ea"/>
                <a:ea typeface="+mn-ea"/>
              </a:rPr>
              <a:t>/</a:t>
            </a:r>
          </a:p>
          <a:p>
            <a:r>
              <a:rPr lang="en-US" altLang="ko-KR" sz="1200" dirty="0">
                <a:latin typeface="+mn-ea"/>
                <a:ea typeface="+mn-ea"/>
              </a:rPr>
              <a:t>	</a:t>
            </a:r>
            <a:r>
              <a:rPr lang="en-US" altLang="ko-KR" sz="1200" dirty="0" err="1">
                <a:latin typeface="+mn-ea"/>
                <a:ea typeface="+mn-ea"/>
              </a:rPr>
              <a:t>search_all</a:t>
            </a:r>
            <a:r>
              <a:rPr lang="en-US" altLang="ko-KR" sz="1200" dirty="0">
                <a:latin typeface="+mn-ea"/>
                <a:ea typeface="+mn-ea"/>
              </a:rPr>
              <a:t>( );</a:t>
            </a:r>
          </a:p>
          <a:p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	/* SQL </a:t>
            </a:r>
            <a:r>
              <a:rPr lang="ko-KR" altLang="en-US" sz="1200" dirty="0">
                <a:latin typeface="+mn-ea"/>
                <a:ea typeface="+mn-ea"/>
              </a:rPr>
              <a:t>문 실행 결과 출력 *</a:t>
            </a:r>
            <a:r>
              <a:rPr lang="en-US" altLang="ko-KR" sz="1200" dirty="0">
                <a:latin typeface="+mn-ea"/>
                <a:ea typeface="+mn-ea"/>
              </a:rPr>
              <a:t>/</a:t>
            </a:r>
          </a:p>
          <a:p>
            <a:r>
              <a:rPr lang="en-US" altLang="ko-KR" sz="1200" dirty="0">
                <a:latin typeface="+mn-ea"/>
                <a:ea typeface="+mn-ea"/>
              </a:rPr>
              <a:t>	for (;;) {</a:t>
            </a:r>
          </a:p>
          <a:p>
            <a:r>
              <a:rPr lang="en-US" altLang="ko-KR" sz="1200" dirty="0">
                <a:latin typeface="+mn-ea"/>
                <a:ea typeface="+mn-ea"/>
              </a:rPr>
              <a:t>	        EXEC SQL FETCH c1 INTO :</a:t>
            </a:r>
            <a:r>
              <a:rPr lang="en-US" altLang="ko-KR" sz="1200" dirty="0" err="1">
                <a:latin typeface="+mn-ea"/>
                <a:ea typeface="+mn-ea"/>
              </a:rPr>
              <a:t>BOOK_rec</a:t>
            </a:r>
            <a:r>
              <a:rPr lang="en-US" altLang="ko-KR" sz="1200" dirty="0">
                <a:latin typeface="+mn-ea"/>
                <a:ea typeface="+mn-ea"/>
              </a:rPr>
              <a:t>;</a:t>
            </a:r>
          </a:p>
          <a:p>
            <a:r>
              <a:rPr lang="en-US" altLang="ko-KR" sz="1200" dirty="0">
                <a:latin typeface="+mn-ea"/>
                <a:ea typeface="+mn-ea"/>
              </a:rPr>
              <a:t>	        </a:t>
            </a:r>
            <a:r>
              <a:rPr lang="en-US" altLang="ko-KR" sz="1200" dirty="0" err="1">
                <a:latin typeface="+mn-ea"/>
                <a:ea typeface="+mn-ea"/>
              </a:rPr>
              <a:t>print_rows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en-US" altLang="ko-KR" sz="1200" dirty="0" err="1">
                <a:latin typeface="+mn-ea"/>
                <a:ea typeface="+mn-ea"/>
              </a:rPr>
              <a:t>num_ret</a:t>
            </a:r>
            <a:r>
              <a:rPr lang="en-US" altLang="ko-KR" sz="1200" dirty="0">
                <a:latin typeface="+mn-ea"/>
                <a:ea typeface="+mn-ea"/>
              </a:rPr>
              <a:t>);</a:t>
            </a:r>
          </a:p>
          <a:p>
            <a:r>
              <a:rPr lang="en-US" altLang="ko-KR" sz="1200" dirty="0">
                <a:latin typeface="+mn-ea"/>
                <a:ea typeface="+mn-ea"/>
              </a:rPr>
              <a:t>	}</a:t>
            </a:r>
          </a:p>
          <a:p>
            <a:r>
              <a:rPr lang="en-US" altLang="ko-KR" sz="1200" dirty="0">
                <a:latin typeface="+mn-ea"/>
                <a:ea typeface="+mn-ea"/>
              </a:rPr>
              <a:t>	EXEC SQL CLOSE c1;</a:t>
            </a:r>
          </a:p>
          <a:p>
            <a:endParaRPr lang="en-US" altLang="ko-KR" sz="1200" dirty="0">
              <a:latin typeface="+mn-ea"/>
              <a:ea typeface="+mn-ea"/>
            </a:endParaRPr>
          </a:p>
          <a:p>
            <a:r>
              <a:rPr lang="en-US" altLang="ko-KR" sz="1200" dirty="0">
                <a:latin typeface="+mn-ea"/>
                <a:ea typeface="+mn-ea"/>
              </a:rPr>
              <a:t>	/* </a:t>
            </a:r>
            <a:r>
              <a:rPr lang="ko-KR" altLang="en-US" sz="1200" dirty="0">
                <a:latin typeface="+mn-ea"/>
                <a:ea typeface="+mn-ea"/>
              </a:rPr>
              <a:t>접속 해제 *</a:t>
            </a:r>
            <a:r>
              <a:rPr lang="en-US" altLang="ko-KR" sz="1200" dirty="0">
                <a:latin typeface="+mn-ea"/>
                <a:ea typeface="+mn-ea"/>
              </a:rPr>
              <a:t>/</a:t>
            </a:r>
          </a:p>
          <a:p>
            <a:r>
              <a:rPr lang="en-US" altLang="ko-KR" sz="1200" dirty="0">
                <a:latin typeface="+mn-ea"/>
                <a:ea typeface="+mn-ea"/>
              </a:rPr>
              <a:t>	EXEC SQL COMMIT WORK RELEASE;</a:t>
            </a:r>
          </a:p>
          <a:p>
            <a:r>
              <a:rPr lang="en-US" altLang="ko-KR" sz="1200" dirty="0">
                <a:latin typeface="+mn-ea"/>
                <a:ea typeface="+mn-ea"/>
              </a:rPr>
              <a:t>}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934F78A-C215-9D20-9E84-91B0A0B68E8F}"/>
              </a:ext>
            </a:extLst>
          </p:cNvPr>
          <p:cNvSpPr>
            <a:spLocks/>
          </p:cNvSpPr>
          <p:nvPr/>
        </p:nvSpPr>
        <p:spPr>
          <a:xfrm>
            <a:off x="539552" y="4869160"/>
            <a:ext cx="7704856" cy="1883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 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데이터를 저장하는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1120627"/>
            <a:ext cx="8064896" cy="5472608"/>
          </a:xfrm>
        </p:spPr>
        <p:txBody>
          <a:bodyPr/>
          <a:lstStyle/>
          <a:p>
            <a:pPr>
              <a:buNone/>
            </a:pPr>
            <a:r>
              <a:rPr lang="en-US" altLang="ko-KR" dirty="0">
                <a:solidFill>
                  <a:srgbClr val="0C77C3"/>
                </a:solidFill>
              </a:rPr>
              <a:t>[</a:t>
            </a:r>
            <a:r>
              <a:rPr lang="ko-KR" altLang="en-US" dirty="0">
                <a:solidFill>
                  <a:srgbClr val="0C77C3"/>
                </a:solidFill>
              </a:rPr>
              <a:t>프로그램 </a:t>
            </a:r>
            <a:r>
              <a:rPr lang="en-US" altLang="ko-KR" dirty="0">
                <a:solidFill>
                  <a:srgbClr val="0C77C3"/>
                </a:solidFill>
              </a:rPr>
              <a:t>3] </a:t>
            </a:r>
            <a:r>
              <a:rPr kumimoji="0" lang="en-US" altLang="ko-KR" dirty="0"/>
              <a:t>DBMS</a:t>
            </a:r>
            <a:r>
              <a:rPr kumimoji="0" lang="ko-KR" altLang="en-US" dirty="0"/>
              <a:t>를 사용하는 방법</a:t>
            </a:r>
            <a:endParaRPr kumimoji="0" lang="en-US" altLang="ko-KR" dirty="0"/>
          </a:p>
          <a:p>
            <a:pPr>
              <a:buNone/>
            </a:pPr>
            <a:endParaRPr kumimoji="0" lang="ko-KR" altLang="en-US" dirty="0"/>
          </a:p>
          <a:p>
            <a:pPr>
              <a:buNone/>
            </a:pPr>
            <a:endParaRPr kumimoji="0" lang="en-US" altLang="ko-KR" dirty="0"/>
          </a:p>
          <a:p>
            <a:pPr>
              <a:buNone/>
            </a:pPr>
            <a:endParaRPr lang="en-US" altLang="ko-KR" dirty="0">
              <a:solidFill>
                <a:srgbClr val="0C77C3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24CD47-B9B4-A01C-8AB8-F1E4D031823E}"/>
              </a:ext>
            </a:extLst>
          </p:cNvPr>
          <p:cNvSpPr>
            <a:spLocks/>
          </p:cNvSpPr>
          <p:nvPr/>
        </p:nvSpPr>
        <p:spPr>
          <a:xfrm>
            <a:off x="539552" y="1597485"/>
            <a:ext cx="3528392" cy="2983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프로그램 </a:t>
            </a:r>
            <a:r>
              <a:rPr lang="en-US" altLang="ko-KR" sz="2400" dirty="0"/>
              <a:t>1</a:t>
            </a:r>
            <a:endParaRPr lang="ko-KR" altLang="en-US" sz="2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E9D50C-EB67-AF90-59F5-BD41EC5A5281}"/>
              </a:ext>
            </a:extLst>
          </p:cNvPr>
          <p:cNvSpPr/>
          <p:nvPr/>
        </p:nvSpPr>
        <p:spPr>
          <a:xfrm>
            <a:off x="4716016" y="1597485"/>
            <a:ext cx="3528392" cy="29836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/>
              <a:t>프로그램 </a:t>
            </a:r>
            <a:r>
              <a:rPr lang="en-US" altLang="ko-KR" sz="2400" dirty="0"/>
              <a:t>2</a:t>
            </a:r>
            <a:endParaRPr lang="ko-KR" altLang="en-US" sz="2400" dirty="0"/>
          </a:p>
        </p:txBody>
      </p:sp>
      <p:graphicFrame>
        <p:nvGraphicFramePr>
          <p:cNvPr id="13" name="표 7">
            <a:extLst>
              <a:ext uri="{FF2B5EF4-FFF2-40B4-BE49-F238E27FC236}">
                <a16:creationId xmlns:a16="http://schemas.microsoft.com/office/drawing/2014/main" id="{1E5C645A-353B-6816-C7C0-5A417D2D72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4468007"/>
              </p:ext>
            </p:extLst>
          </p:nvPr>
        </p:nvGraphicFramePr>
        <p:xfrm>
          <a:off x="2842746" y="5373216"/>
          <a:ext cx="3170476" cy="108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300">
                  <a:extLst>
                    <a:ext uri="{9D8B030D-6E8A-4147-A177-3AD203B41FA5}">
                      <a16:colId xmlns:a16="http://schemas.microsoft.com/office/drawing/2014/main" val="930926539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771979144"/>
                    </a:ext>
                  </a:extLst>
                </a:gridCol>
              </a:tblGrid>
              <a:tr h="42789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책이름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출판사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665165"/>
                  </a:ext>
                </a:extLst>
              </a:tr>
              <a:tr h="2989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축구의 역사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굿스포츠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242332"/>
                  </a:ext>
                </a:extLst>
              </a:tr>
              <a:tr h="35328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축구 아는 사람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/>
                        <a:t>나무수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14822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F95424C-859B-EB4E-AFE2-DB47B185220F}"/>
              </a:ext>
            </a:extLst>
          </p:cNvPr>
          <p:cNvSpPr txBox="1"/>
          <p:nvPr/>
        </p:nvSpPr>
        <p:spPr>
          <a:xfrm>
            <a:off x="652980" y="4581128"/>
            <a:ext cx="10387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DBMS</a:t>
            </a:r>
            <a:r>
              <a:rPr lang="ko-KR" altLang="en-US" sz="20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A317775F-7F3B-0EBE-3C1C-9BFA18D8C625}"/>
              </a:ext>
            </a:extLst>
          </p:cNvPr>
          <p:cNvSpPr/>
          <p:nvPr/>
        </p:nvSpPr>
        <p:spPr>
          <a:xfrm rot="5400000">
            <a:off x="1619672" y="4455042"/>
            <a:ext cx="432048" cy="43204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3E6A3FF2-5269-7866-A7EE-B5ECD1FB20BE}"/>
              </a:ext>
            </a:extLst>
          </p:cNvPr>
          <p:cNvSpPr/>
          <p:nvPr/>
        </p:nvSpPr>
        <p:spPr>
          <a:xfrm rot="5400000">
            <a:off x="5948532" y="4454336"/>
            <a:ext cx="432048" cy="43204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C98BD361-ABD8-8B51-D4E4-77E34F849598}"/>
              </a:ext>
            </a:extLst>
          </p:cNvPr>
          <p:cNvSpPr/>
          <p:nvPr/>
        </p:nvSpPr>
        <p:spPr>
          <a:xfrm rot="16200000">
            <a:off x="2483768" y="4437112"/>
            <a:ext cx="432048" cy="43204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35F835A6-7984-9C74-E0B7-65B1A288BB8B}"/>
              </a:ext>
            </a:extLst>
          </p:cNvPr>
          <p:cNvSpPr/>
          <p:nvPr/>
        </p:nvSpPr>
        <p:spPr>
          <a:xfrm rot="16200000">
            <a:off x="6696236" y="4446164"/>
            <a:ext cx="432048" cy="43204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97654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_x597327952" descr="EMB000013c82ab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556792"/>
            <a:ext cx="7520036" cy="4104456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데이터를 저장하는 방법</a:t>
            </a:r>
            <a:endParaRPr lang="ko-KR" altLang="en-US" strike="sngStrike" dirty="0"/>
          </a:p>
        </p:txBody>
      </p:sp>
      <p:sp>
        <p:nvSpPr>
          <p:cNvPr id="6" name="TextBox 5"/>
          <p:cNvSpPr txBox="1"/>
          <p:nvPr/>
        </p:nvSpPr>
        <p:spPr>
          <a:xfrm>
            <a:off x="827584" y="573325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rgbClr val="7F7F7F"/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rgbClr val="7F7F7F"/>
                </a:solidFill>
                <a:ea typeface="맑은 고딕" panose="020B0503020000020004" pitchFamily="50" charset="-127"/>
              </a:rPr>
              <a:t>1-19</a:t>
            </a:r>
            <a:r>
              <a:rPr lang="ko-KR" altLang="en-US" sz="1400" b="1" dirty="0">
                <a:solidFill>
                  <a:srgbClr val="7F7F7F"/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ea typeface="맑은 고딕" panose="020B0503020000020004" pitchFamily="50" charset="-127"/>
              </a:rPr>
              <a:t>MySQL Workbench</a:t>
            </a:r>
            <a:r>
              <a:rPr lang="ko-KR" altLang="en-US" sz="1400" b="1" dirty="0">
                <a:ea typeface="맑은 고딕" panose="020B0503020000020004" pitchFamily="50" charset="-127"/>
              </a:rPr>
              <a:t>의 데이터베이스 관리 화면</a:t>
            </a:r>
          </a:p>
        </p:txBody>
      </p:sp>
    </p:spTree>
    <p:extLst>
      <p:ext uri="{BB962C8B-B14F-4D97-AF65-F5344CB8AC3E}">
        <p14:creationId xmlns:p14="http://schemas.microsoft.com/office/powerpoint/2010/main" val="35246623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데이터의 저장 방법 비교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>
                <a:solidFill>
                  <a:srgbClr val="0070C0"/>
                </a:solidFill>
              </a:rPr>
              <a:t>[</a:t>
            </a:r>
            <a:r>
              <a:rPr lang="ko-KR" altLang="en-US" dirty="0">
                <a:solidFill>
                  <a:srgbClr val="0070C0"/>
                </a:solidFill>
              </a:rPr>
              <a:t>프로그램 </a:t>
            </a:r>
            <a:r>
              <a:rPr lang="en-US" altLang="ko-KR" dirty="0">
                <a:solidFill>
                  <a:srgbClr val="0070C0"/>
                </a:solidFill>
              </a:rPr>
              <a:t>1] </a:t>
            </a:r>
            <a:r>
              <a:rPr lang="ko-KR" altLang="en-US" dirty="0">
                <a:solidFill>
                  <a:srgbClr val="0070C0"/>
                </a:solidFill>
              </a:rPr>
              <a:t>구조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  <a:endParaRPr lang="en-US" altLang="ko-KR" b="0" dirty="0">
              <a:solidFill>
                <a:srgbClr val="0070C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83968" y="1728852"/>
            <a:ext cx="43204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marR="0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dirty="0">
              <a:latin typeface="+mn-ea"/>
              <a:ea typeface="+mn-ea"/>
            </a:endParaRPr>
          </a:p>
          <a:p>
            <a:pPr marL="180975" marR="0" indent="-180975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프로그램에 데이터 정의와 데이터 값을 모두 포함하는 방식</a:t>
            </a:r>
            <a:endParaRPr lang="en-US" altLang="ko-KR" sz="1400" dirty="0">
              <a:latin typeface="+mn-ea"/>
              <a:ea typeface="+mn-ea"/>
            </a:endParaRPr>
          </a:p>
          <a:p>
            <a:pPr marR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500" dirty="0">
              <a:latin typeface="+mn-ea"/>
              <a:ea typeface="+mn-ea"/>
            </a:endParaRPr>
          </a:p>
          <a:p>
            <a:pPr marL="180975" marR="0" indent="-180975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프로그램에 </a:t>
            </a:r>
            <a:r>
              <a:rPr lang="en-US" altLang="ko-KR" sz="1400" dirty="0">
                <a:latin typeface="+mn-ea"/>
                <a:ea typeface="+mn-ea"/>
              </a:rPr>
              <a:t>BOOK </a:t>
            </a:r>
            <a:r>
              <a:rPr lang="ko-KR" altLang="en-US" sz="1400" dirty="0">
                <a:latin typeface="+mn-ea"/>
                <a:ea typeface="+mn-ea"/>
              </a:rPr>
              <a:t>데이터 구조를 정의하고 </a:t>
            </a:r>
            <a:br>
              <a:rPr lang="en-US" altLang="ko-KR" sz="1400" dirty="0">
                <a:latin typeface="+mn-ea"/>
                <a:ea typeface="+mn-ea"/>
              </a:rPr>
            </a:br>
            <a:r>
              <a:rPr lang="ko-KR" altLang="en-US" sz="1400" dirty="0">
                <a:latin typeface="+mn-ea"/>
                <a:ea typeface="+mn-ea"/>
              </a:rPr>
              <a:t>데이터 값도 직접 변수에 저장함</a:t>
            </a:r>
            <a:endParaRPr lang="en-US" altLang="ko-KR" sz="1400" dirty="0">
              <a:latin typeface="+mn-ea"/>
              <a:ea typeface="+mn-ea"/>
            </a:endParaRPr>
          </a:p>
          <a:p>
            <a:pPr marL="180975" marR="0" indent="-180975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ko-KR" sz="500" dirty="0">
              <a:latin typeface="+mn-ea"/>
              <a:ea typeface="+mn-ea"/>
            </a:endParaRPr>
          </a:p>
          <a:p>
            <a:pPr marL="180975" marR="0" indent="-180975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데이터 구조 혹은 데이터 값이 바뀌면 프로그램을 다시 </a:t>
            </a:r>
            <a:r>
              <a:rPr lang="ko-KR" altLang="en-US" sz="1400" dirty="0" err="1">
                <a:latin typeface="+mn-ea"/>
                <a:ea typeface="+mn-ea"/>
              </a:rPr>
              <a:t>컴파일해야</a:t>
            </a:r>
            <a:r>
              <a:rPr lang="ko-KR" altLang="en-US" sz="1400" dirty="0">
                <a:latin typeface="+mn-ea"/>
                <a:ea typeface="+mn-ea"/>
              </a:rPr>
              <a:t> 함</a:t>
            </a:r>
            <a:endParaRPr lang="en-US" altLang="ko-KR" sz="1400" dirty="0">
              <a:latin typeface="+mn-ea"/>
              <a:ea typeface="+mn-ea"/>
            </a:endParaRPr>
          </a:p>
          <a:p>
            <a:pPr marL="180975" marR="0" indent="-18097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11560" y="1700808"/>
            <a:ext cx="3528392" cy="273374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dirty="0"/>
              <a:t>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dirty="0"/>
              <a:t>   Book </a:t>
            </a:r>
            <a:r>
              <a:rPr lang="ko-KR" altLang="en-US" sz="1200" dirty="0"/>
              <a:t>데이터 타입 선언</a:t>
            </a:r>
            <a:r>
              <a:rPr lang="en-US" altLang="ko-KR" sz="1200" dirty="0"/>
              <a:t>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dirty="0"/>
              <a:t>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dirty="0"/>
              <a:t>   </a:t>
            </a:r>
            <a:r>
              <a:rPr lang="ko-KR" altLang="en-US" sz="1200" dirty="0"/>
              <a:t>프로그램 내에서 </a:t>
            </a:r>
            <a:endParaRPr lang="en-US" altLang="ko-KR" sz="12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dirty="0"/>
              <a:t>        BOOKS[ ] </a:t>
            </a:r>
            <a:r>
              <a:rPr lang="ko-KR" altLang="en-US" sz="1200" dirty="0"/>
              <a:t>배열에 데이터 저장</a:t>
            </a:r>
            <a:r>
              <a:rPr lang="en-US" altLang="ko-KR" sz="1200" dirty="0"/>
              <a:t>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dirty="0"/>
              <a:t>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2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dirty="0"/>
              <a:t>   …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dirty="0"/>
              <a:t>   </a:t>
            </a:r>
            <a:r>
              <a:rPr lang="ko-KR" altLang="en-US" sz="1200" dirty="0"/>
              <a:t>검색 및 데이터 변경 프로그램 수행</a:t>
            </a:r>
            <a:r>
              <a:rPr lang="en-US" altLang="ko-KR" sz="1200" dirty="0"/>
              <a:t>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dirty="0"/>
              <a:t>}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2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1619672" y="3254711"/>
            <a:ext cx="2195459" cy="53432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>
                <a:latin typeface="+mn-ea"/>
              </a:rPr>
              <a:t>BOOK </a:t>
            </a:r>
            <a:r>
              <a:rPr kumimoji="0" lang="ko-KR" altLang="en-US" sz="1200" dirty="0">
                <a:latin typeface="+mn-ea"/>
              </a:rPr>
              <a:t>데이터</a:t>
            </a: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638754" y="2238935"/>
            <a:ext cx="2195459" cy="28509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>
                <a:latin typeface="+mn-ea"/>
              </a:rPr>
              <a:t>BOOK </a:t>
            </a:r>
            <a:r>
              <a:rPr kumimoji="0" lang="ko-KR" altLang="en-US" sz="1200" dirty="0">
                <a:latin typeface="+mn-ea"/>
              </a:rPr>
              <a:t>데이터 구조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데이터의 저장 방법 비교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>
                <a:solidFill>
                  <a:srgbClr val="0070C0"/>
                </a:solidFill>
              </a:rPr>
              <a:t>[</a:t>
            </a:r>
            <a:r>
              <a:rPr lang="ko-KR" altLang="en-US" dirty="0">
                <a:solidFill>
                  <a:srgbClr val="0070C0"/>
                </a:solidFill>
              </a:rPr>
              <a:t>프로그램 </a:t>
            </a:r>
            <a:r>
              <a:rPr lang="en-US" altLang="ko-KR" dirty="0">
                <a:solidFill>
                  <a:srgbClr val="0070C0"/>
                </a:solidFill>
              </a:rPr>
              <a:t>2] </a:t>
            </a:r>
            <a:r>
              <a:rPr lang="ko-KR" altLang="en-US" dirty="0">
                <a:solidFill>
                  <a:srgbClr val="0070C0"/>
                </a:solidFill>
              </a:rPr>
              <a:t>구조</a:t>
            </a:r>
            <a:r>
              <a:rPr lang="en-US" altLang="ko-KR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4244702" y="1694983"/>
            <a:ext cx="4572000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marR="0" indent="-18000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파일에 데이터 값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프로그램에 데이터 정의를 포함</a:t>
            </a:r>
            <a:br>
              <a:rPr lang="en-US" altLang="ko-KR" sz="1400" dirty="0">
                <a:latin typeface="+mn-ea"/>
                <a:ea typeface="+mn-ea"/>
              </a:rPr>
            </a:br>
            <a:r>
              <a:rPr lang="ko-KR" altLang="en-US" sz="1400" dirty="0">
                <a:latin typeface="+mn-ea"/>
                <a:ea typeface="+mn-ea"/>
              </a:rPr>
              <a:t>하는 방식</a:t>
            </a:r>
            <a:endParaRPr lang="en-US" altLang="ko-KR" sz="1400" dirty="0">
              <a:latin typeface="+mn-ea"/>
              <a:ea typeface="+mn-ea"/>
            </a:endParaRPr>
          </a:p>
          <a:p>
            <a:pPr marL="180000" marR="0" indent="-18000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ko-KR" sz="500" dirty="0">
              <a:latin typeface="+mn-ea"/>
              <a:ea typeface="+mn-ea"/>
            </a:endParaRPr>
          </a:p>
          <a:p>
            <a:pPr marL="180000" marR="0" indent="-18000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프로그램에 </a:t>
            </a:r>
            <a:r>
              <a:rPr lang="en-US" altLang="ko-KR" sz="1400" dirty="0">
                <a:latin typeface="+mn-ea"/>
                <a:ea typeface="+mn-ea"/>
              </a:rPr>
              <a:t>BOOK </a:t>
            </a:r>
            <a:r>
              <a:rPr lang="ko-KR" altLang="en-US" sz="1400" dirty="0">
                <a:latin typeface="+mn-ea"/>
                <a:ea typeface="+mn-ea"/>
              </a:rPr>
              <a:t>데이터 구조만 정의하고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데이터 값은 </a:t>
            </a:r>
            <a:r>
              <a:rPr lang="en-US" altLang="ko-KR" sz="1400" dirty="0">
                <a:latin typeface="+mn-ea"/>
                <a:ea typeface="+mn-ea"/>
              </a:rPr>
              <a:t>book.dat</a:t>
            </a:r>
            <a:r>
              <a:rPr lang="ko-KR" altLang="en-US" sz="1400" dirty="0">
                <a:latin typeface="+mn-ea"/>
                <a:ea typeface="+mn-ea"/>
              </a:rPr>
              <a:t>라는 파일에 저장됨</a:t>
            </a:r>
            <a:endParaRPr lang="en-US" altLang="ko-KR" sz="1400" dirty="0">
              <a:latin typeface="+mn-ea"/>
              <a:ea typeface="+mn-ea"/>
            </a:endParaRPr>
          </a:p>
          <a:p>
            <a:pPr marL="180000" marR="0" indent="-18000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ko-KR" sz="500" dirty="0">
              <a:latin typeface="+mn-ea"/>
              <a:ea typeface="+mn-ea"/>
            </a:endParaRPr>
          </a:p>
          <a:p>
            <a:pPr marL="180000" marR="0" indent="-18000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데이터 값이 바뀌면 프로그램에 변경이 없지만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br>
              <a:rPr lang="en-US" altLang="ko-KR" sz="1400" dirty="0">
                <a:latin typeface="+mn-ea"/>
                <a:ea typeface="+mn-ea"/>
              </a:rPr>
            </a:br>
            <a:r>
              <a:rPr lang="ko-KR" altLang="en-US" sz="1400" dirty="0">
                <a:latin typeface="+mn-ea"/>
                <a:ea typeface="+mn-ea"/>
              </a:rPr>
              <a:t>데이터 구조가 바뀌면 프로그램을 </a:t>
            </a:r>
            <a:br>
              <a:rPr lang="en-US" altLang="ko-KR" sz="1400" dirty="0">
                <a:latin typeface="+mn-ea"/>
                <a:ea typeface="+mn-ea"/>
              </a:rPr>
            </a:br>
            <a:r>
              <a:rPr lang="ko-KR" altLang="en-US" sz="1400" dirty="0">
                <a:latin typeface="+mn-ea"/>
                <a:ea typeface="+mn-ea"/>
              </a:rPr>
              <a:t>다시 </a:t>
            </a:r>
            <a:r>
              <a:rPr lang="ko-KR" altLang="en-US" sz="1400" dirty="0" err="1">
                <a:latin typeface="+mn-ea"/>
                <a:ea typeface="+mn-ea"/>
              </a:rPr>
              <a:t>컴파일해야</a:t>
            </a:r>
            <a:r>
              <a:rPr lang="ko-KR" altLang="en-US" sz="1400" dirty="0">
                <a:latin typeface="+mn-ea"/>
                <a:ea typeface="+mn-ea"/>
              </a:rPr>
              <a:t> 함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693797" y="1694983"/>
            <a:ext cx="3158123" cy="202088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/>
              <a:t>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/>
              <a:t>   Book </a:t>
            </a:r>
            <a:r>
              <a:rPr kumimoji="0" lang="ko-KR" altLang="en-US" sz="1200" dirty="0"/>
              <a:t>데이터 타입 선언</a:t>
            </a:r>
            <a:r>
              <a:rPr kumimoji="0" lang="en-US" altLang="ko-KR" sz="1200" dirty="0"/>
              <a:t>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2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2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/>
              <a:t>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dirty="0"/>
              <a:t>   </a:t>
            </a:r>
            <a:r>
              <a:rPr kumimoji="0" lang="ko-KR" altLang="en-US" sz="1200" dirty="0"/>
              <a:t>파일로부터 데이터를 불러와</a:t>
            </a:r>
            <a:endParaRPr kumimoji="0" lang="en-US" altLang="ko-KR" sz="12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dirty="0"/>
              <a:t>  </a:t>
            </a:r>
            <a:r>
              <a:rPr kumimoji="0" lang="en-US" altLang="ko-KR" sz="1200" dirty="0"/>
              <a:t> BOOKS[ ] </a:t>
            </a:r>
            <a:r>
              <a:rPr kumimoji="0" lang="ko-KR" altLang="en-US" sz="1200" dirty="0"/>
              <a:t>배열에 저장</a:t>
            </a:r>
            <a:r>
              <a:rPr kumimoji="0" lang="en-US" altLang="ko-KR" sz="1200" dirty="0"/>
              <a:t>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/>
              <a:t>   …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/>
              <a:t>   </a:t>
            </a:r>
            <a:r>
              <a:rPr kumimoji="0" lang="ko-KR" altLang="en-US" sz="1200" dirty="0"/>
              <a:t>검색 및 데이터 변경 프로그램 수행</a:t>
            </a:r>
            <a:r>
              <a:rPr kumimoji="0" lang="en-US" altLang="ko-KR" sz="1200" dirty="0"/>
              <a:t>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/>
              <a:t>}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2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/>
          </a:p>
        </p:txBody>
      </p:sp>
      <p:sp>
        <p:nvSpPr>
          <p:cNvPr id="8" name="AutoShape 13"/>
          <p:cNvSpPr>
            <a:spLocks noChangeArrowheads="1"/>
          </p:cNvSpPr>
          <p:nvPr/>
        </p:nvSpPr>
        <p:spPr bwMode="auto">
          <a:xfrm>
            <a:off x="756295" y="4214346"/>
            <a:ext cx="3095625" cy="1223962"/>
          </a:xfrm>
          <a:prstGeom prst="can">
            <a:avLst>
              <a:gd name="adj" fmla="val 2500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kumimoji="0" lang="en-US" altLang="ko-KR" sz="1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" name="꺾인 연결선 17"/>
          <p:cNvCxnSpPr>
            <a:stCxn id="6" idx="3"/>
          </p:cNvCxnSpPr>
          <p:nvPr/>
        </p:nvCxnSpPr>
        <p:spPr>
          <a:xfrm flipH="1">
            <a:off x="2309962" y="2705427"/>
            <a:ext cx="1541958" cy="2114021"/>
          </a:xfrm>
          <a:prstGeom prst="bentConnector4">
            <a:avLst>
              <a:gd name="adj1" fmla="val -14825"/>
              <a:gd name="adj2" fmla="val 6024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/>
        </p:nvSpPr>
        <p:spPr>
          <a:xfrm>
            <a:off x="1157437" y="4819448"/>
            <a:ext cx="2305050" cy="35591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>
                <a:latin typeface="+mn-ea"/>
              </a:rPr>
              <a:t>B</a:t>
            </a:r>
            <a:r>
              <a:rPr lang="en-US" altLang="ko-KR" sz="1200" dirty="0">
                <a:latin typeface="+mn-ea"/>
              </a:rPr>
              <a:t>OOK</a:t>
            </a:r>
            <a:r>
              <a:rPr kumimoji="0" lang="en-US" altLang="ko-KR" sz="1200" dirty="0">
                <a:latin typeface="+mn-ea"/>
              </a:rPr>
              <a:t> </a:t>
            </a:r>
            <a:r>
              <a:rPr kumimoji="0" lang="ko-KR" altLang="en-US" sz="1200" dirty="0">
                <a:latin typeface="+mn-ea"/>
              </a:rPr>
              <a:t>데이터 파일</a:t>
            </a:r>
          </a:p>
        </p:txBody>
      </p:sp>
      <p:sp>
        <p:nvSpPr>
          <p:cNvPr id="11" name="모서리가 둥근 직사각형 10"/>
          <p:cNvSpPr/>
          <p:nvPr/>
        </p:nvSpPr>
        <p:spPr>
          <a:xfrm>
            <a:off x="1182613" y="2233647"/>
            <a:ext cx="2279874" cy="30746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>
                <a:latin typeface="+mn-ea"/>
              </a:rPr>
              <a:t>BOOK </a:t>
            </a:r>
            <a:r>
              <a:rPr kumimoji="0" lang="ko-KR" altLang="en-US" sz="1200" dirty="0">
                <a:latin typeface="+mn-ea"/>
              </a:rPr>
              <a:t>데이터 구조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데이터의 저장 방법 비교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dirty="0">
                <a:solidFill>
                  <a:srgbClr val="0070C0"/>
                </a:solidFill>
              </a:rPr>
              <a:t>[</a:t>
            </a:r>
            <a:r>
              <a:rPr lang="ko-KR" altLang="en-US" dirty="0">
                <a:solidFill>
                  <a:srgbClr val="0070C0"/>
                </a:solidFill>
              </a:rPr>
              <a:t>프로그램 </a:t>
            </a:r>
            <a:r>
              <a:rPr lang="en-US" altLang="ko-KR" dirty="0">
                <a:solidFill>
                  <a:srgbClr val="0070C0"/>
                </a:solidFill>
              </a:rPr>
              <a:t>3] </a:t>
            </a:r>
            <a:r>
              <a:rPr lang="ko-KR" altLang="en-US" dirty="0">
                <a:solidFill>
                  <a:srgbClr val="0070C0"/>
                </a:solidFill>
              </a:rPr>
              <a:t>구조</a:t>
            </a:r>
            <a:endParaRPr lang="en-US" altLang="ko-KR" dirty="0">
              <a:solidFill>
                <a:srgbClr val="0070C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427984" y="1712516"/>
            <a:ext cx="453650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marR="0" indent="-18000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400" dirty="0">
                <a:latin typeface="+mn-ea"/>
                <a:ea typeface="+mn-ea"/>
              </a:rPr>
              <a:t>DBMS</a:t>
            </a:r>
            <a:r>
              <a:rPr lang="ko-KR" altLang="en-US" sz="1400" dirty="0">
                <a:latin typeface="+mn-ea"/>
                <a:ea typeface="+mn-ea"/>
              </a:rPr>
              <a:t>가 데이터 정의와 데이터 값을 관리하는 방식</a:t>
            </a:r>
            <a:endParaRPr lang="en-US" altLang="ko-KR" sz="1400" dirty="0">
              <a:latin typeface="+mn-ea"/>
              <a:ea typeface="+mn-ea"/>
            </a:endParaRPr>
          </a:p>
          <a:p>
            <a:pPr marL="180000" marR="0" indent="-18000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ko-KR" sz="500" dirty="0">
              <a:latin typeface="+mn-ea"/>
              <a:ea typeface="+mn-ea"/>
            </a:endParaRPr>
          </a:p>
          <a:p>
            <a:pPr marL="180000" marR="0" indent="-18000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ko-KR" sz="1400" dirty="0">
                <a:latin typeface="+mn-ea"/>
                <a:ea typeface="+mn-ea"/>
              </a:rPr>
              <a:t>BOOK </a:t>
            </a:r>
            <a:r>
              <a:rPr lang="ko-KR" altLang="en-US" sz="1400" dirty="0">
                <a:latin typeface="+mn-ea"/>
                <a:ea typeface="+mn-ea"/>
              </a:rPr>
              <a:t>데이터 구조는 </a:t>
            </a:r>
            <a:r>
              <a:rPr lang="en-US" altLang="ko-KR" sz="1400" dirty="0">
                <a:latin typeface="+mn-ea"/>
                <a:ea typeface="+mn-ea"/>
              </a:rPr>
              <a:t>DBMS</a:t>
            </a:r>
            <a:r>
              <a:rPr lang="ko-KR" altLang="en-US" sz="1400" dirty="0">
                <a:latin typeface="+mn-ea"/>
                <a:ea typeface="+mn-ea"/>
              </a:rPr>
              <a:t>가 돤리하고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br>
              <a:rPr lang="en-US" altLang="ko-KR" sz="1400" dirty="0">
                <a:latin typeface="+mn-ea"/>
                <a:ea typeface="+mn-ea"/>
              </a:rPr>
            </a:br>
            <a:r>
              <a:rPr lang="ko-KR" altLang="en-US" sz="1400" dirty="0">
                <a:latin typeface="+mn-ea"/>
                <a:ea typeface="+mn-ea"/>
              </a:rPr>
              <a:t>데이터 값은 데이터베이스에 저장됨</a:t>
            </a:r>
            <a:endParaRPr lang="en-US" altLang="ko-KR" sz="1400" dirty="0">
              <a:latin typeface="+mn-ea"/>
              <a:ea typeface="+mn-ea"/>
            </a:endParaRPr>
          </a:p>
          <a:p>
            <a:pPr marL="180000" marR="0" indent="-18000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en-US" altLang="ko-KR" sz="500" dirty="0">
              <a:latin typeface="+mn-ea"/>
              <a:ea typeface="+mn-ea"/>
            </a:endParaRPr>
          </a:p>
          <a:p>
            <a:pPr marL="180000" marR="0" indent="-18000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데이터 값이 바뀌거나 데이터 값이 바뀌어도 </a:t>
            </a:r>
            <a:br>
              <a:rPr lang="en-US" altLang="ko-KR" sz="1400" dirty="0">
                <a:latin typeface="+mn-ea"/>
                <a:ea typeface="+mn-ea"/>
              </a:rPr>
            </a:br>
            <a:r>
              <a:rPr lang="ko-KR" altLang="en-US" sz="1400" dirty="0">
                <a:latin typeface="+mn-ea"/>
                <a:ea typeface="+mn-ea"/>
              </a:rPr>
              <a:t>프로그램을 다시 </a:t>
            </a:r>
            <a:r>
              <a:rPr lang="ko-KR" altLang="en-US" sz="1400" dirty="0" err="1">
                <a:latin typeface="+mn-ea"/>
                <a:ea typeface="+mn-ea"/>
              </a:rPr>
              <a:t>컴파일할</a:t>
            </a:r>
            <a:r>
              <a:rPr lang="ko-KR" altLang="en-US" sz="1400" dirty="0">
                <a:latin typeface="+mn-ea"/>
                <a:ea typeface="+mn-ea"/>
              </a:rPr>
              <a:t> 필요 없음</a:t>
            </a:r>
            <a:endParaRPr lang="en-US" altLang="ko-KR" sz="1400" dirty="0">
              <a:latin typeface="+mn-ea"/>
              <a:ea typeface="+mn-ea"/>
            </a:endParaRPr>
          </a:p>
          <a:p>
            <a:pPr marL="180000" marR="0" indent="-180000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</a:pPr>
            <a:endParaRPr lang="ko-KR" altLang="en-US" sz="1400" dirty="0">
              <a:latin typeface="+mn-ea"/>
              <a:ea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11560" y="1700808"/>
            <a:ext cx="3470732" cy="162636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dirty="0"/>
              <a:t>{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/>
              <a:t>  /* BOOK </a:t>
            </a:r>
            <a:r>
              <a:rPr kumimoji="0" lang="ko-KR" altLang="en-US" sz="1200" dirty="0"/>
              <a:t>데이터 타입 선언 필요 없음 </a:t>
            </a:r>
            <a:r>
              <a:rPr kumimoji="0" lang="en-US" altLang="ko-KR" sz="1200" dirty="0"/>
              <a:t>*/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4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/>
              <a:t>   SQL </a:t>
            </a:r>
            <a:r>
              <a:rPr kumimoji="0" lang="ko-KR" altLang="en-US" sz="1200" dirty="0"/>
              <a:t>문을</a:t>
            </a:r>
            <a:r>
              <a:rPr kumimoji="0" lang="en-US" altLang="ko-KR" sz="1200" dirty="0"/>
              <a:t> </a:t>
            </a:r>
            <a:r>
              <a:rPr kumimoji="0" lang="ko-KR" altLang="en-US" sz="1200" dirty="0"/>
              <a:t>실행하여 결과를 가져옴</a:t>
            </a:r>
            <a:r>
              <a:rPr kumimoji="0" lang="en-US" altLang="ko-KR" sz="1200" dirty="0"/>
              <a:t>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/>
              <a:t>   …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/>
              <a:t>   SQL </a:t>
            </a:r>
            <a:r>
              <a:rPr kumimoji="0" lang="ko-KR" altLang="en-US" sz="1200" dirty="0"/>
              <a:t>문으로 데이터 변경 </a:t>
            </a:r>
            <a:r>
              <a:rPr kumimoji="0" lang="en-US" altLang="ko-KR" sz="1200" dirty="0"/>
              <a:t>;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dirty="0"/>
              <a:t>}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4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00" dirty="0"/>
          </a:p>
        </p:txBody>
      </p:sp>
      <p:sp>
        <p:nvSpPr>
          <p:cNvPr id="9" name="AutoShape 13"/>
          <p:cNvSpPr>
            <a:spLocks noChangeArrowheads="1"/>
          </p:cNvSpPr>
          <p:nvPr/>
        </p:nvSpPr>
        <p:spPr bwMode="auto">
          <a:xfrm>
            <a:off x="577793" y="4494213"/>
            <a:ext cx="3470732" cy="1815107"/>
          </a:xfrm>
          <a:prstGeom prst="can">
            <a:avLst>
              <a:gd name="adj" fmla="val 25000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kumimoji="0" lang="en-US" altLang="ko-KR" sz="1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" name="꺾인 연결선 17"/>
          <p:cNvCxnSpPr>
            <a:stCxn id="7" idx="3"/>
          </p:cNvCxnSpPr>
          <p:nvPr/>
        </p:nvCxnSpPr>
        <p:spPr>
          <a:xfrm flipH="1">
            <a:off x="2395462" y="2513993"/>
            <a:ext cx="1686830" cy="3154415"/>
          </a:xfrm>
          <a:prstGeom prst="bentConnector4">
            <a:avLst>
              <a:gd name="adj1" fmla="val -13552"/>
              <a:gd name="adj2" fmla="val 28856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직사각형 10"/>
          <p:cNvSpPr/>
          <p:nvPr/>
        </p:nvSpPr>
        <p:spPr>
          <a:xfrm>
            <a:off x="577793" y="3720574"/>
            <a:ext cx="3470732" cy="58892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chemeClr val="tx1"/>
                </a:solidFill>
              </a:rPr>
              <a:t>DBMS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b="1" dirty="0">
                <a:solidFill>
                  <a:schemeClr val="tx1"/>
                </a:solidFill>
              </a:rPr>
              <a:t>(</a:t>
            </a:r>
            <a:r>
              <a:rPr kumimoji="0" lang="en-US" altLang="ko-KR" sz="1200" b="1" dirty="0" err="1">
                <a:solidFill>
                  <a:schemeClr val="tx1"/>
                </a:solidFill>
              </a:rPr>
              <a:t>DataBase</a:t>
            </a:r>
            <a:r>
              <a:rPr kumimoji="0" lang="en-US" altLang="ko-KR" sz="1200" b="1" dirty="0">
                <a:solidFill>
                  <a:schemeClr val="tx1"/>
                </a:solidFill>
              </a:rPr>
              <a:t> Management System)</a:t>
            </a:r>
            <a:endParaRPr kumimoji="0"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1441393" y="5522153"/>
            <a:ext cx="2303463" cy="57626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>
                <a:latin typeface="+mn-ea"/>
              </a:rPr>
              <a:t>Book </a:t>
            </a:r>
            <a:r>
              <a:rPr kumimoji="0" lang="ko-KR" altLang="en-US" sz="1200" dirty="0">
                <a:latin typeface="+mn-ea"/>
              </a:rPr>
              <a:t>데이터 파일</a:t>
            </a:r>
          </a:p>
        </p:txBody>
      </p:sp>
      <p:sp>
        <p:nvSpPr>
          <p:cNvPr id="13" name="모서리가 둥근 직사각형 12"/>
          <p:cNvSpPr/>
          <p:nvPr/>
        </p:nvSpPr>
        <p:spPr>
          <a:xfrm>
            <a:off x="880173" y="5068072"/>
            <a:ext cx="1872208" cy="30746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>
                <a:latin typeface="+mn-ea"/>
              </a:rPr>
              <a:t>Book </a:t>
            </a:r>
            <a:r>
              <a:rPr kumimoji="0" lang="ko-KR" altLang="en-US" sz="1200" dirty="0">
                <a:latin typeface="+mn-ea"/>
              </a:rPr>
              <a:t>데이터 구조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파일 시스템과 </a:t>
            </a:r>
            <a:r>
              <a:rPr lang="en-US" altLang="ko-KR" dirty="0"/>
              <a:t>DBMS</a:t>
            </a:r>
            <a:r>
              <a:rPr lang="ko-KR" altLang="en-US" dirty="0"/>
              <a:t>의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2716" y="1325935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1-5 </a:t>
            </a:r>
            <a:r>
              <a:rPr lang="ko-KR" altLang="en-US" sz="1400" b="1" dirty="0">
                <a:ea typeface="맑은 고딕" panose="020B0503020000020004" pitchFamily="50" charset="-127"/>
              </a:rPr>
              <a:t>파일 시스템과 </a:t>
            </a:r>
            <a:r>
              <a:rPr lang="en-US" altLang="ko-KR" sz="1400" b="1" dirty="0">
                <a:ea typeface="맑은 고딕" panose="020B0503020000020004" pitchFamily="50" charset="-127"/>
              </a:rPr>
              <a:t>DBMS</a:t>
            </a:r>
            <a:r>
              <a:rPr lang="ko-KR" altLang="en-US" sz="1400" b="1" dirty="0">
                <a:ea typeface="맑은 고딕" panose="020B0503020000020004" pitchFamily="50" charset="-127"/>
              </a:rPr>
              <a:t>의 비교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015095"/>
              </p:ext>
            </p:extLst>
          </p:nvPr>
        </p:nvGraphicFramePr>
        <p:xfrm>
          <a:off x="683568" y="1844824"/>
          <a:ext cx="7814853" cy="3168350"/>
        </p:xfrm>
        <a:graphic>
          <a:graphicData uri="http://schemas.openxmlformats.org/drawingml/2006/table">
            <a:tbl>
              <a:tblPr/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파일 시스템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DBMS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 정의 및 저장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 정의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응용 프로그램</a:t>
                      </a:r>
                      <a:endParaRPr lang="en-US" altLang="ko-KR" sz="14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</a:t>
                      </a:r>
                      <a:r>
                        <a:rPr lang="en-US" altLang="ko-KR" sz="14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저장 </a:t>
                      </a:r>
                      <a:r>
                        <a:rPr lang="en-US" altLang="ko-KR" sz="14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파일 시스템</a:t>
                      </a:r>
                      <a:endParaRPr lang="ko-KR" altLang="en-US" sz="14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 정의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DBMS</a:t>
                      </a:r>
                    </a:p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</a:t>
                      </a:r>
                      <a:r>
                        <a:rPr lang="en-US" altLang="ko-KR" sz="14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저장 </a:t>
                      </a:r>
                      <a:r>
                        <a:rPr lang="en-US" altLang="ko-KR" sz="14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4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데이터베이스</a:t>
                      </a:r>
                      <a:endParaRPr lang="ko-KR" altLang="en-US" sz="14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 접근 방법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응용 프로그램이 파일에 직접 접근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응용 프로그램이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DBMS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파일 </a:t>
                      </a:r>
                      <a:b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접근을 요청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 언어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자바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14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C++, C </a:t>
                      </a:r>
                      <a:r>
                        <a:rPr lang="ko-KR" altLang="en-US" sz="14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</a:t>
                      </a:r>
                      <a:endParaRPr lang="ko-KR" altLang="en-US" sz="14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자바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14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C++, C </a:t>
                      </a:r>
                      <a:r>
                        <a:rPr lang="ko-KR" altLang="en-US" sz="14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등과 </a:t>
                      </a:r>
                      <a:r>
                        <a:rPr lang="en-US" altLang="ko-KR" sz="14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SQL</a:t>
                      </a:r>
                      <a:endParaRPr lang="ko-KR" altLang="en-US" sz="14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CPU/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주기억장치 사용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적음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많음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72409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파일 시스템과 </a:t>
            </a:r>
            <a:r>
              <a:rPr lang="en-US" altLang="ko-KR" dirty="0"/>
              <a:t>DBMS</a:t>
            </a:r>
            <a:r>
              <a:rPr lang="ko-KR" altLang="en-US" dirty="0"/>
              <a:t>의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1560" y="344996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그림 </a:t>
            </a: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1-20 </a:t>
            </a:r>
            <a:r>
              <a:rPr lang="ko-KR" altLang="en-US" sz="1200" b="1" dirty="0">
                <a:latin typeface="+mn-ea"/>
                <a:ea typeface="+mn-ea"/>
              </a:rPr>
              <a:t>파일 시스템으로 구축된 구매 및 판매 응용 프로그램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1560" y="626948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그림 </a:t>
            </a: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1-21 </a:t>
            </a:r>
            <a:r>
              <a:rPr lang="en-US" altLang="ko-KR" sz="1200" b="1" dirty="0">
                <a:latin typeface="+mn-ea"/>
                <a:ea typeface="+mn-ea"/>
              </a:rPr>
              <a:t>DBMS</a:t>
            </a:r>
            <a:r>
              <a:rPr lang="ko-KR" altLang="en-US" sz="1200" b="1" dirty="0">
                <a:latin typeface="+mn-ea"/>
                <a:ea typeface="+mn-ea"/>
              </a:rPr>
              <a:t>로 구축된 구매 및 판매 응용 프로그램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128747"/>
            <a:ext cx="5616624" cy="232934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3909636"/>
            <a:ext cx="6480720" cy="234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2409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파일 시스템과 </a:t>
            </a:r>
            <a:r>
              <a:rPr lang="en-US" altLang="ko-KR" dirty="0"/>
              <a:t>DBMS</a:t>
            </a:r>
            <a:r>
              <a:rPr lang="ko-KR" altLang="en-US" dirty="0"/>
              <a:t>의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2716" y="1325935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1-6 </a:t>
            </a:r>
            <a:r>
              <a:rPr lang="en-US" altLang="ko-KR" sz="1400" b="1" dirty="0">
                <a:ea typeface="맑은 고딕" panose="020B0503020000020004" pitchFamily="50" charset="-127"/>
              </a:rPr>
              <a:t>DBMS</a:t>
            </a:r>
            <a:r>
              <a:rPr lang="ko-KR" altLang="en-US" sz="1400" b="1" dirty="0">
                <a:ea typeface="맑은 고딕" panose="020B0503020000020004" pitchFamily="50" charset="-127"/>
              </a:rPr>
              <a:t>의 장점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760865"/>
              </p:ext>
            </p:extLst>
          </p:nvPr>
        </p:nvGraphicFramePr>
        <p:xfrm>
          <a:off x="683568" y="1772815"/>
          <a:ext cx="7776807" cy="4536505"/>
        </p:xfrm>
        <a:graphic>
          <a:graphicData uri="http://schemas.openxmlformats.org/drawingml/2006/table">
            <a:tbl>
              <a:tblPr/>
              <a:tblGrid>
                <a:gridCol w="1756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3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7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41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</a:rPr>
                        <a:t>파일 시스템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DBMS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1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 중복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데이터를 파일 단위로 저장하므로 </a:t>
                      </a:r>
                      <a:b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중복 가능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DBMS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이용하여 데이터를 공유하기 때문에 중복 가능성 낮음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6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 일관성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데이터의 중복 저장으로 일관성이 </a:t>
                      </a:r>
                      <a:b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결여됨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중복 제거로 데이터의 일관성이 유지됨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6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 독립성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 정의와 프로그램의 독립성 </a:t>
                      </a:r>
                      <a:b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유지 불가능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 정의와 프로그램의 </a:t>
                      </a:r>
                      <a:b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독립성 유지 가능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1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관리 기능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보통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 복구</a:t>
                      </a:r>
                      <a: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보안</a:t>
                      </a:r>
                      <a: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동시성 제어</a:t>
                      </a:r>
                      <a: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b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 관리 기능 등을 수행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68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프로그램 개발 생산성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나쁨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짧은 시간에 큰 프로그램을 개발할 수 있음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1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기타 장점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별도의 소프트웨어 설치가 </a:t>
                      </a:r>
                      <a:r>
                        <a:rPr lang="ko-KR" alt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필요없음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운영체제가지원</a:t>
                      </a:r>
                      <a:r>
                        <a:rPr lang="en-US" altLang="ko-KR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 </a:t>
                      </a:r>
                      <a:r>
                        <a:rPr lang="ko-KR" altLang="en-US" sz="13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무결성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유지</a:t>
                      </a:r>
                      <a:r>
                        <a:rPr lang="en-US" altLang="ko-KR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3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데이터 표준 준수 용이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72409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844330" y="3119460"/>
            <a:ext cx="5455340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데이터베이스 </a:t>
            </a: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시스템의 구성</a:t>
            </a:r>
          </a:p>
        </p:txBody>
      </p:sp>
    </p:spTree>
    <p:extLst>
      <p:ext uri="{BB962C8B-B14F-4D97-AF65-F5344CB8AC3E}">
        <p14:creationId xmlns:p14="http://schemas.microsoft.com/office/powerpoint/2010/main" val="26523828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C77C3"/>
                </a:solidFill>
              </a:rPr>
              <a:t>&lt;</a:t>
            </a:r>
            <a:r>
              <a:rPr lang="ko-KR" altLang="en-US" dirty="0">
                <a:solidFill>
                  <a:srgbClr val="0C77C3"/>
                </a:solidFill>
              </a:rPr>
              <a:t>데이터베이스 시스템의 구성</a:t>
            </a:r>
            <a:r>
              <a:rPr lang="en-US" altLang="ko-KR" dirty="0">
                <a:solidFill>
                  <a:srgbClr val="0C77C3"/>
                </a:solidFill>
              </a:rPr>
              <a:t>&gt;</a:t>
            </a:r>
            <a:endParaRPr lang="ko-KR" altLang="en-US" dirty="0">
              <a:solidFill>
                <a:srgbClr val="0C77C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28019" y="640889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1-22 </a:t>
            </a:r>
            <a:r>
              <a:rPr lang="ko-KR" altLang="en-US" sz="1400" b="1" dirty="0">
                <a:ea typeface="맑은 고딕" panose="020B0503020000020004" pitchFamily="50" charset="-127"/>
              </a:rPr>
              <a:t>데이터베이스 시스템의 구성 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1038332" y="1106390"/>
            <a:ext cx="7668344" cy="5130922"/>
            <a:chOff x="1038332" y="1106390"/>
            <a:chExt cx="7668344" cy="5130922"/>
          </a:xfrm>
        </p:grpSpPr>
        <p:sp>
          <p:nvSpPr>
            <p:cNvPr id="8" name="AutoShape 83"/>
            <p:cNvSpPr>
              <a:spLocks noChangeArrowheads="1"/>
            </p:cNvSpPr>
            <p:nvPr/>
          </p:nvSpPr>
          <p:spPr bwMode="auto">
            <a:xfrm>
              <a:off x="2136680" y="5013177"/>
              <a:ext cx="5040560" cy="1224135"/>
            </a:xfrm>
            <a:prstGeom prst="flowChartMagneticDisk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0" hangingPunct="0"/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9" name="Text Box 84"/>
            <p:cNvSpPr txBox="1">
              <a:spLocks noChangeArrowheads="1"/>
            </p:cNvSpPr>
            <p:nvPr/>
          </p:nvSpPr>
          <p:spPr bwMode="auto">
            <a:xfrm>
              <a:off x="3526528" y="5583266"/>
              <a:ext cx="1080000" cy="3600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algn="ctr" eaLnBrk="0" hangingPunct="0"/>
              <a:r>
                <a:rPr lang="ko-KR" altLang="en-US" sz="1200" dirty="0">
                  <a:latin typeface="+mn-ea"/>
                  <a:ea typeface="+mn-ea"/>
                </a:rPr>
                <a:t>인덱스</a:t>
              </a:r>
              <a:endParaRPr lang="en-US" altLang="ko-KR" sz="1200" dirty="0">
                <a:latin typeface="+mn-ea"/>
                <a:ea typeface="+mn-ea"/>
              </a:endParaRPr>
            </a:p>
          </p:txBody>
        </p:sp>
        <p:sp>
          <p:nvSpPr>
            <p:cNvPr id="10" name="Text Box 85"/>
            <p:cNvSpPr txBox="1">
              <a:spLocks noChangeArrowheads="1"/>
            </p:cNvSpPr>
            <p:nvPr/>
          </p:nvSpPr>
          <p:spPr bwMode="auto">
            <a:xfrm>
              <a:off x="4722560" y="5591106"/>
              <a:ext cx="1080000" cy="3600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algn="ctr" eaLnBrk="0" hangingPunct="0"/>
              <a:r>
                <a:rPr lang="ko-KR" altLang="en-US" sz="1200" dirty="0">
                  <a:latin typeface="+mn-ea"/>
                  <a:ea typeface="+mn-ea"/>
                </a:rPr>
                <a:t>데이터 통계</a:t>
              </a:r>
              <a:endParaRPr lang="en-US" altLang="ko-KR" sz="1200" dirty="0">
                <a:latin typeface="+mn-ea"/>
                <a:ea typeface="+mn-ea"/>
              </a:endParaRPr>
            </a:p>
          </p:txBody>
        </p:sp>
        <p:sp>
          <p:nvSpPr>
            <p:cNvPr id="11" name="Text Box 86"/>
            <p:cNvSpPr txBox="1">
              <a:spLocks noChangeArrowheads="1"/>
            </p:cNvSpPr>
            <p:nvPr/>
          </p:nvSpPr>
          <p:spPr bwMode="auto">
            <a:xfrm>
              <a:off x="2334476" y="5591468"/>
              <a:ext cx="1080000" cy="3600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algn="ctr" eaLnBrk="0" hangingPunct="0"/>
              <a:r>
                <a:rPr lang="ko-KR" altLang="en-US" sz="1200" dirty="0">
                  <a:latin typeface="+mn-ea"/>
                  <a:ea typeface="+mn-ea"/>
                </a:rPr>
                <a:t>데이터 파일</a:t>
              </a:r>
              <a:endParaRPr lang="en-US" altLang="ko-KR" sz="1200" dirty="0">
                <a:latin typeface="+mn-ea"/>
                <a:ea typeface="+mn-ea"/>
              </a:endParaRPr>
            </a:p>
          </p:txBody>
        </p:sp>
        <p:sp>
          <p:nvSpPr>
            <p:cNvPr id="12" name="Text Box 87"/>
            <p:cNvSpPr txBox="1">
              <a:spLocks noChangeArrowheads="1"/>
            </p:cNvSpPr>
            <p:nvPr/>
          </p:nvSpPr>
          <p:spPr bwMode="auto">
            <a:xfrm>
              <a:off x="5902792" y="5583266"/>
              <a:ext cx="1080000" cy="3600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algn="ctr" eaLnBrk="0" hangingPunct="0"/>
              <a:r>
                <a:rPr lang="ko-KR" altLang="en-US" sz="1200" dirty="0">
                  <a:latin typeface="+mn-ea"/>
                  <a:ea typeface="+mn-ea"/>
                </a:rPr>
                <a:t>데이터 사전</a:t>
              </a:r>
              <a:endParaRPr lang="en-US" altLang="ko-KR" sz="1200" dirty="0">
                <a:latin typeface="+mn-ea"/>
                <a:ea typeface="+mn-ea"/>
              </a:endParaRPr>
            </a:p>
          </p:txBody>
        </p:sp>
        <p:sp>
          <p:nvSpPr>
            <p:cNvPr id="13" name="Rectangle 5"/>
            <p:cNvSpPr>
              <a:spLocks noChangeArrowheads="1"/>
            </p:cNvSpPr>
            <p:nvPr/>
          </p:nvSpPr>
          <p:spPr bwMode="auto">
            <a:xfrm>
              <a:off x="1960694" y="2373025"/>
              <a:ext cx="72136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600" b="1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600" b="1">
                <a:latin typeface="+mn-ea"/>
                <a:ea typeface="+mn-ea"/>
              </a:endParaRPr>
            </a:p>
          </p:txBody>
        </p:sp>
        <p:grpSp>
          <p:nvGrpSpPr>
            <p:cNvPr id="14" name="Group 13"/>
            <p:cNvGrpSpPr>
              <a:grpSpLocks/>
            </p:cNvGrpSpPr>
            <p:nvPr/>
          </p:nvGrpSpPr>
          <p:grpSpPr bwMode="auto">
            <a:xfrm>
              <a:off x="2088994" y="3883630"/>
              <a:ext cx="5016238" cy="786507"/>
              <a:chOff x="796" y="1969"/>
              <a:chExt cx="3128" cy="505"/>
            </a:xfrm>
            <a:solidFill>
              <a:schemeClr val="tx2">
                <a:lumMod val="20000"/>
                <a:lumOff val="80000"/>
              </a:schemeClr>
            </a:solidFill>
          </p:grpSpPr>
          <p:grpSp>
            <p:nvGrpSpPr>
              <p:cNvPr id="15" name="Group 11"/>
              <p:cNvGrpSpPr>
                <a:grpSpLocks/>
              </p:cNvGrpSpPr>
              <p:nvPr/>
            </p:nvGrpSpPr>
            <p:grpSpPr bwMode="auto">
              <a:xfrm>
                <a:off x="796" y="1969"/>
                <a:ext cx="3128" cy="505"/>
                <a:chOff x="796" y="1969"/>
                <a:chExt cx="3128" cy="505"/>
              </a:xfrm>
              <a:grpFill/>
            </p:grpSpPr>
            <p:sp>
              <p:nvSpPr>
                <p:cNvPr id="17" name="Rectangle 7"/>
                <p:cNvSpPr>
                  <a:spLocks noChangeArrowheads="1"/>
                </p:cNvSpPr>
                <p:nvPr/>
              </p:nvSpPr>
              <p:spPr bwMode="auto">
                <a:xfrm>
                  <a:off x="796" y="1969"/>
                  <a:ext cx="3127" cy="504"/>
                </a:xfrm>
                <a:prstGeom prst="roundRect">
                  <a:avLst/>
                </a:pr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  <p:sp>
              <p:nvSpPr>
                <p:cNvPr id="18" name="Rectangle 8"/>
                <p:cNvSpPr>
                  <a:spLocks noChangeArrowheads="1"/>
                </p:cNvSpPr>
                <p:nvPr/>
              </p:nvSpPr>
              <p:spPr bwMode="auto">
                <a:xfrm>
                  <a:off x="796" y="1969"/>
                  <a:ext cx="3127" cy="504"/>
                </a:xfrm>
                <a:prstGeom prst="roundRect">
                  <a:avLst/>
                </a:pr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  <p:sp>
              <p:nvSpPr>
                <p:cNvPr id="19" name="Rectangle 9"/>
                <p:cNvSpPr>
                  <a:spLocks noChangeArrowheads="1"/>
                </p:cNvSpPr>
                <p:nvPr/>
              </p:nvSpPr>
              <p:spPr bwMode="auto">
                <a:xfrm>
                  <a:off x="796" y="1969"/>
                  <a:ext cx="3128" cy="505"/>
                </a:xfrm>
                <a:prstGeom prst="roundRect">
                  <a:avLst/>
                </a:pr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  <p:sp>
              <p:nvSpPr>
                <p:cNvPr id="20" name="Rectangle 10"/>
                <p:cNvSpPr>
                  <a:spLocks noChangeArrowheads="1"/>
                </p:cNvSpPr>
                <p:nvPr/>
              </p:nvSpPr>
              <p:spPr bwMode="auto">
                <a:xfrm>
                  <a:off x="796" y="1969"/>
                  <a:ext cx="3127" cy="504"/>
                </a:xfrm>
                <a:prstGeom prst="roundRect">
                  <a:avLst/>
                </a:pr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796" y="1969"/>
                <a:ext cx="3128" cy="505"/>
              </a:xfrm>
              <a:prstGeom prst="roundRect">
                <a:avLst/>
              </a:prstGeom>
              <a:grp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endParaRPr lang="ko-KR" altLang="en-US" sz="1200">
                  <a:latin typeface="+mn-ea"/>
                  <a:ea typeface="+mn-ea"/>
                </a:endParaRPr>
              </a:p>
            </p:txBody>
          </p:sp>
        </p:grpSp>
        <p:grpSp>
          <p:nvGrpSpPr>
            <p:cNvPr id="21" name="Group 20"/>
            <p:cNvGrpSpPr>
              <a:grpSpLocks/>
            </p:cNvGrpSpPr>
            <p:nvPr/>
          </p:nvGrpSpPr>
          <p:grpSpPr bwMode="auto">
            <a:xfrm>
              <a:off x="2088994" y="2611150"/>
              <a:ext cx="5016238" cy="1200472"/>
              <a:chOff x="829" y="1177"/>
              <a:chExt cx="3127" cy="721"/>
            </a:xfrm>
            <a:solidFill>
              <a:schemeClr val="tx2">
                <a:lumMod val="20000"/>
                <a:lumOff val="80000"/>
              </a:schemeClr>
            </a:solidFill>
          </p:grpSpPr>
          <p:grpSp>
            <p:nvGrpSpPr>
              <p:cNvPr id="22" name="Group 18"/>
              <p:cNvGrpSpPr>
                <a:grpSpLocks/>
              </p:cNvGrpSpPr>
              <p:nvPr/>
            </p:nvGrpSpPr>
            <p:grpSpPr bwMode="auto">
              <a:xfrm>
                <a:off x="829" y="1177"/>
                <a:ext cx="3127" cy="721"/>
                <a:chOff x="829" y="1177"/>
                <a:chExt cx="3127" cy="721"/>
              </a:xfrm>
              <a:grpFill/>
            </p:grpSpPr>
            <p:sp>
              <p:nvSpPr>
                <p:cNvPr id="24" name="Rectangle 14"/>
                <p:cNvSpPr>
                  <a:spLocks noChangeArrowheads="1"/>
                </p:cNvSpPr>
                <p:nvPr/>
              </p:nvSpPr>
              <p:spPr bwMode="auto">
                <a:xfrm>
                  <a:off x="829" y="1177"/>
                  <a:ext cx="3126" cy="720"/>
                </a:xfrm>
                <a:prstGeom prst="roundRect">
                  <a:avLst/>
                </a:pr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  <p:sp>
              <p:nvSpPr>
                <p:cNvPr id="25" name="Rectangle 15"/>
                <p:cNvSpPr>
                  <a:spLocks noChangeArrowheads="1"/>
                </p:cNvSpPr>
                <p:nvPr/>
              </p:nvSpPr>
              <p:spPr bwMode="auto">
                <a:xfrm>
                  <a:off x="829" y="1177"/>
                  <a:ext cx="3126" cy="720"/>
                </a:xfrm>
                <a:prstGeom prst="roundRect">
                  <a:avLst/>
                </a:pr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  <p:sp>
              <p:nvSpPr>
                <p:cNvPr id="26" name="Rectangle 16"/>
                <p:cNvSpPr>
                  <a:spLocks noChangeArrowheads="1"/>
                </p:cNvSpPr>
                <p:nvPr/>
              </p:nvSpPr>
              <p:spPr bwMode="auto">
                <a:xfrm>
                  <a:off x="829" y="1177"/>
                  <a:ext cx="3127" cy="721"/>
                </a:xfrm>
                <a:prstGeom prst="roundRect">
                  <a:avLst/>
                </a:pr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  <p:sp>
              <p:nvSpPr>
                <p:cNvPr id="27" name="Rectangle 17"/>
                <p:cNvSpPr>
                  <a:spLocks noChangeArrowheads="1"/>
                </p:cNvSpPr>
                <p:nvPr/>
              </p:nvSpPr>
              <p:spPr bwMode="auto">
                <a:xfrm>
                  <a:off x="829" y="1177"/>
                  <a:ext cx="3126" cy="720"/>
                </a:xfrm>
                <a:prstGeom prst="roundRect">
                  <a:avLst/>
                </a:pr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829" y="1177"/>
                <a:ext cx="3127" cy="721"/>
              </a:xfrm>
              <a:prstGeom prst="roundRect">
                <a:avLst/>
              </a:prstGeom>
              <a:grp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endParaRPr lang="ko-KR" altLang="en-US" sz="1200">
                  <a:latin typeface="+mn-ea"/>
                  <a:ea typeface="+mn-ea"/>
                </a:endParaRPr>
              </a:p>
            </p:txBody>
          </p:sp>
        </p:grpSp>
        <p:sp>
          <p:nvSpPr>
            <p:cNvPr id="28" name="Rectangle 21"/>
            <p:cNvSpPr>
              <a:spLocks noChangeArrowheads="1"/>
            </p:cNvSpPr>
            <p:nvPr/>
          </p:nvSpPr>
          <p:spPr bwMode="auto">
            <a:xfrm>
              <a:off x="2162771" y="3172309"/>
              <a:ext cx="1080000" cy="540000"/>
            </a:xfrm>
            <a:prstGeom prst="round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ko-KR" altLang="en-US" sz="1200" dirty="0">
                  <a:latin typeface="+mn-ea"/>
                  <a:ea typeface="+mn-ea"/>
                </a:rPr>
                <a:t>오브젝트 </a:t>
              </a:r>
              <a:endParaRPr lang="en-US" altLang="ko-KR" sz="12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200" dirty="0">
                  <a:latin typeface="+mn-ea"/>
                  <a:ea typeface="+mn-ea"/>
                </a:rPr>
                <a:t>코드</a:t>
              </a:r>
            </a:p>
          </p:txBody>
        </p:sp>
        <p:sp>
          <p:nvSpPr>
            <p:cNvPr id="29" name="Rectangle 25"/>
            <p:cNvSpPr>
              <a:spLocks noChangeArrowheads="1"/>
            </p:cNvSpPr>
            <p:nvPr/>
          </p:nvSpPr>
          <p:spPr bwMode="auto">
            <a:xfrm>
              <a:off x="3042661" y="3355687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auto">
            <a:xfrm>
              <a:off x="3497433" y="3379574"/>
              <a:ext cx="3464103" cy="298647"/>
            </a:xfrm>
            <a:prstGeom prst="round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ko-KR" altLang="en-US" sz="1200" dirty="0">
                  <a:solidFill>
                    <a:srgbClr val="000000"/>
                  </a:solidFill>
                  <a:latin typeface="+mn-ea"/>
                  <a:ea typeface="+mn-ea"/>
                </a:rPr>
                <a:t>질의처리기</a:t>
              </a:r>
              <a:endParaRPr lang="ko-KR" altLang="ko-KR" sz="1200" dirty="0">
                <a:latin typeface="+mn-ea"/>
                <a:ea typeface="+mn-ea"/>
              </a:endParaRPr>
            </a:p>
            <a:p>
              <a:pPr algn="ctr"/>
              <a:endParaRPr lang="ko-KR" altLang="en-US" sz="1200" dirty="0">
                <a:latin typeface="+mn-ea"/>
                <a:ea typeface="+mn-ea"/>
              </a:endParaRPr>
            </a:p>
          </p:txBody>
        </p:sp>
        <p:sp>
          <p:nvSpPr>
            <p:cNvPr id="31" name="Rectangle 28"/>
            <p:cNvSpPr>
              <a:spLocks noChangeArrowheads="1"/>
            </p:cNvSpPr>
            <p:nvPr/>
          </p:nvSpPr>
          <p:spPr bwMode="auto">
            <a:xfrm>
              <a:off x="5039736" y="3347750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32" name="Rectangle 29"/>
            <p:cNvSpPr>
              <a:spLocks noChangeArrowheads="1"/>
            </p:cNvSpPr>
            <p:nvPr/>
          </p:nvSpPr>
          <p:spPr bwMode="auto">
            <a:xfrm>
              <a:off x="4115811" y="3422362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4571423" y="3466812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34" name="Rectangle 32"/>
            <p:cNvSpPr>
              <a:spLocks noChangeArrowheads="1"/>
            </p:cNvSpPr>
            <p:nvPr/>
          </p:nvSpPr>
          <p:spPr bwMode="auto">
            <a:xfrm>
              <a:off x="3509361" y="2725449"/>
              <a:ext cx="1080000" cy="540000"/>
            </a:xfrm>
            <a:prstGeom prst="round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en-US" altLang="ko-KR" sz="1200" dirty="0">
                  <a:solidFill>
                    <a:srgbClr val="000000"/>
                  </a:solidFill>
                  <a:latin typeface="+mn-ea"/>
                  <a:ea typeface="+mn-ea"/>
                </a:rPr>
                <a:t>Embedded </a:t>
              </a:r>
            </a:p>
            <a:p>
              <a:pPr algn="ctr"/>
              <a:r>
                <a:rPr lang="en-US" altLang="ko-KR" sz="1200" dirty="0">
                  <a:solidFill>
                    <a:srgbClr val="000000"/>
                  </a:solidFill>
                  <a:latin typeface="+mn-ea"/>
                  <a:ea typeface="+mn-ea"/>
                </a:rPr>
                <a:t>DML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35" name="Rectangle 36"/>
            <p:cNvSpPr>
              <a:spLocks noChangeArrowheads="1"/>
            </p:cNvSpPr>
            <p:nvPr/>
          </p:nvSpPr>
          <p:spPr bwMode="auto">
            <a:xfrm>
              <a:off x="4265036" y="3012787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36" name="Rectangle 37"/>
            <p:cNvSpPr>
              <a:spLocks noChangeArrowheads="1"/>
            </p:cNvSpPr>
            <p:nvPr/>
          </p:nvSpPr>
          <p:spPr bwMode="auto">
            <a:xfrm>
              <a:off x="4689486" y="2725450"/>
              <a:ext cx="1080000" cy="540000"/>
            </a:xfrm>
            <a:prstGeom prst="round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ko-KR" sz="1200" dirty="0">
                  <a:solidFill>
                    <a:srgbClr val="000000"/>
                  </a:solidFill>
                  <a:latin typeface="+mn-ea"/>
                  <a:ea typeface="+mn-ea"/>
                </a:rPr>
                <a:t>DML </a:t>
              </a:r>
            </a:p>
            <a:p>
              <a:pPr algn="ctr"/>
              <a:r>
                <a:rPr lang="ko-KR" altLang="en-US" sz="1200" dirty="0">
                  <a:solidFill>
                    <a:srgbClr val="000000"/>
                  </a:solidFill>
                  <a:latin typeface="+mn-ea"/>
                  <a:ea typeface="+mn-ea"/>
                </a:rPr>
                <a:t>컴파일러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37" name="Rectangle 41"/>
            <p:cNvSpPr>
              <a:spLocks noChangeArrowheads="1"/>
            </p:cNvSpPr>
            <p:nvPr/>
          </p:nvSpPr>
          <p:spPr bwMode="auto">
            <a:xfrm>
              <a:off x="5897137" y="2709408"/>
              <a:ext cx="1080000" cy="540000"/>
            </a:xfrm>
            <a:prstGeom prst="round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ko-KR" altLang="ko-KR" sz="1200" dirty="0">
                  <a:solidFill>
                    <a:srgbClr val="000000"/>
                  </a:solidFill>
                  <a:latin typeface="+mn-ea"/>
                  <a:ea typeface="+mn-ea"/>
                </a:rPr>
                <a:t>D</a:t>
              </a:r>
              <a:r>
                <a:rPr lang="en-US" altLang="ko-KR" sz="1200" dirty="0">
                  <a:solidFill>
                    <a:srgbClr val="000000"/>
                  </a:solidFill>
                  <a:latin typeface="+mn-ea"/>
                  <a:ea typeface="+mn-ea"/>
                </a:rPr>
                <a:t>DL</a:t>
              </a:r>
            </a:p>
            <a:p>
              <a:pPr algn="ctr"/>
              <a:r>
                <a:rPr lang="ko-KR" altLang="en-US" sz="1200" dirty="0">
                  <a:solidFill>
                    <a:srgbClr val="000000"/>
                  </a:solidFill>
                  <a:latin typeface="+mn-ea"/>
                  <a:ea typeface="+mn-ea"/>
                </a:rPr>
                <a:t>컴파일러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38" name="Rectangle 44"/>
            <p:cNvSpPr>
              <a:spLocks noChangeArrowheads="1"/>
            </p:cNvSpPr>
            <p:nvPr/>
          </p:nvSpPr>
          <p:spPr bwMode="auto">
            <a:xfrm>
              <a:off x="6549448" y="2895312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39" name="Rectangle 45"/>
            <p:cNvSpPr>
              <a:spLocks noChangeArrowheads="1"/>
            </p:cNvSpPr>
            <p:nvPr/>
          </p:nvSpPr>
          <p:spPr bwMode="auto">
            <a:xfrm>
              <a:off x="2675009" y="3982749"/>
              <a:ext cx="1553912" cy="549650"/>
            </a:xfrm>
            <a:prstGeom prst="round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rIns="36000" anchor="b"/>
            <a:lstStyle/>
            <a:p>
              <a:pPr algn="ctr"/>
              <a:r>
                <a:rPr lang="ko-KR" altLang="en-US" sz="1200" dirty="0">
                  <a:solidFill>
                    <a:srgbClr val="000000"/>
                  </a:solidFill>
                  <a:latin typeface="+mn-ea"/>
                  <a:ea typeface="+mn-ea"/>
                </a:rPr>
                <a:t>트랜잭션</a:t>
              </a:r>
              <a:endParaRPr lang="en-US" altLang="ko-KR" sz="1200" dirty="0">
                <a:solidFill>
                  <a:srgbClr val="000000"/>
                </a:solidFill>
                <a:latin typeface="+mn-ea"/>
                <a:ea typeface="+mn-ea"/>
              </a:endParaRPr>
            </a:p>
            <a:p>
              <a:pPr algn="ctr"/>
              <a:r>
                <a:rPr lang="ko-KR" altLang="en-US" sz="1200" dirty="0">
                  <a:solidFill>
                    <a:srgbClr val="000000"/>
                  </a:solidFill>
                  <a:latin typeface="+mn-ea"/>
                  <a:ea typeface="+mn-ea"/>
                </a:rPr>
                <a:t>관리자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40" name="Rectangle 50"/>
            <p:cNvSpPr>
              <a:spLocks noChangeArrowheads="1"/>
            </p:cNvSpPr>
            <p:nvPr/>
          </p:nvSpPr>
          <p:spPr bwMode="auto">
            <a:xfrm>
              <a:off x="5621409" y="3992399"/>
              <a:ext cx="1080000" cy="540000"/>
            </a:xfrm>
            <a:prstGeom prst="round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algn="ctr"/>
              <a:r>
                <a:rPr lang="ko-KR" altLang="en-US" sz="1200" dirty="0">
                  <a:solidFill>
                    <a:srgbClr val="000000"/>
                  </a:solidFill>
                  <a:latin typeface="+mn-ea"/>
                  <a:ea typeface="+mn-ea"/>
                </a:rPr>
                <a:t>버퍼 관리자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41" name="Rectangle 52"/>
            <p:cNvSpPr>
              <a:spLocks noChangeArrowheads="1"/>
            </p:cNvSpPr>
            <p:nvPr/>
          </p:nvSpPr>
          <p:spPr bwMode="auto">
            <a:xfrm>
              <a:off x="4961948" y="4036725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42" name="Rectangle 53"/>
            <p:cNvSpPr>
              <a:spLocks noChangeArrowheads="1"/>
            </p:cNvSpPr>
            <p:nvPr/>
          </p:nvSpPr>
          <p:spPr bwMode="auto">
            <a:xfrm>
              <a:off x="7248827" y="2725450"/>
              <a:ext cx="931862" cy="344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ko-KR" altLang="en-US" sz="1200">
                <a:latin typeface="+mn-ea"/>
                <a:ea typeface="+mn-ea"/>
              </a:endParaRPr>
            </a:p>
          </p:txBody>
        </p:sp>
        <p:sp>
          <p:nvSpPr>
            <p:cNvPr id="43" name="Rectangle 54"/>
            <p:cNvSpPr>
              <a:spLocks noChangeArrowheads="1"/>
            </p:cNvSpPr>
            <p:nvPr/>
          </p:nvSpPr>
          <p:spPr bwMode="auto">
            <a:xfrm>
              <a:off x="1269164" y="1322414"/>
              <a:ext cx="46166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en-US" sz="1200" b="1" dirty="0">
                  <a:latin typeface="+mn-ea"/>
                  <a:ea typeface="+mn-ea"/>
                </a:rPr>
                <a:t>사용자</a:t>
              </a:r>
              <a:endParaRPr lang="ko-KR" altLang="ko-KR" sz="1200" b="1" dirty="0">
                <a:latin typeface="+mn-ea"/>
                <a:ea typeface="+mn-ea"/>
              </a:endParaRPr>
            </a:p>
          </p:txBody>
        </p:sp>
        <p:sp>
          <p:nvSpPr>
            <p:cNvPr id="44" name="Rectangle 125"/>
            <p:cNvSpPr>
              <a:spLocks noChangeArrowheads="1"/>
            </p:cNvSpPr>
            <p:nvPr/>
          </p:nvSpPr>
          <p:spPr bwMode="auto">
            <a:xfrm>
              <a:off x="4394999" y="3992399"/>
              <a:ext cx="1080000" cy="540000"/>
            </a:xfrm>
            <a:prstGeom prst="round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algn="ctr"/>
              <a:r>
                <a:rPr lang="ko-KR" altLang="en-US" sz="1200" dirty="0">
                  <a:solidFill>
                    <a:srgbClr val="000000"/>
                  </a:solidFill>
                  <a:latin typeface="+mn-ea"/>
                  <a:ea typeface="+mn-ea"/>
                </a:rPr>
                <a:t>파일 관리자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45" name="Rectangle 127"/>
            <p:cNvSpPr>
              <a:spLocks noChangeArrowheads="1"/>
            </p:cNvSpPr>
            <p:nvPr/>
          </p:nvSpPr>
          <p:spPr bwMode="auto">
            <a:xfrm>
              <a:off x="4788911" y="4379625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46" name="Rectangle 131"/>
            <p:cNvSpPr>
              <a:spLocks noChangeArrowheads="1"/>
            </p:cNvSpPr>
            <p:nvPr/>
          </p:nvSpPr>
          <p:spPr bwMode="auto">
            <a:xfrm>
              <a:off x="2197076" y="1340067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grpSp>
          <p:nvGrpSpPr>
            <p:cNvPr id="47" name="Group 138"/>
            <p:cNvGrpSpPr>
              <a:grpSpLocks/>
            </p:cNvGrpSpPr>
            <p:nvPr/>
          </p:nvGrpSpPr>
          <p:grpSpPr bwMode="auto">
            <a:xfrm>
              <a:off x="2064673" y="1106390"/>
              <a:ext cx="5040560" cy="578165"/>
              <a:chOff x="836" y="538"/>
              <a:chExt cx="3353" cy="217"/>
            </a:xfrm>
            <a:solidFill>
              <a:schemeClr val="tx2">
                <a:lumMod val="20000"/>
                <a:lumOff val="80000"/>
              </a:schemeClr>
            </a:solidFill>
          </p:grpSpPr>
          <p:grpSp>
            <p:nvGrpSpPr>
              <p:cNvPr id="48" name="Group 136"/>
              <p:cNvGrpSpPr>
                <a:grpSpLocks/>
              </p:cNvGrpSpPr>
              <p:nvPr/>
            </p:nvGrpSpPr>
            <p:grpSpPr bwMode="auto">
              <a:xfrm>
                <a:off x="875" y="538"/>
                <a:ext cx="2891" cy="217"/>
                <a:chOff x="875" y="538"/>
                <a:chExt cx="2891" cy="217"/>
              </a:xfrm>
              <a:grpFill/>
            </p:grpSpPr>
            <p:sp>
              <p:nvSpPr>
                <p:cNvPr id="50" name="Rectangle 132"/>
                <p:cNvSpPr>
                  <a:spLocks noChangeArrowheads="1"/>
                </p:cNvSpPr>
                <p:nvPr/>
              </p:nvSpPr>
              <p:spPr bwMode="auto">
                <a:xfrm>
                  <a:off x="875" y="538"/>
                  <a:ext cx="2890" cy="216"/>
                </a:xfrm>
                <a:prstGeom prst="roundRect">
                  <a:avLst/>
                </a:prstGeom>
                <a:grpFill/>
                <a:ln w="952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  <p:sp>
              <p:nvSpPr>
                <p:cNvPr id="51" name="Rectangle 133"/>
                <p:cNvSpPr>
                  <a:spLocks noChangeArrowheads="1"/>
                </p:cNvSpPr>
                <p:nvPr/>
              </p:nvSpPr>
              <p:spPr bwMode="auto">
                <a:xfrm>
                  <a:off x="875" y="538"/>
                  <a:ext cx="2890" cy="216"/>
                </a:xfrm>
                <a:prstGeom prst="roundRect">
                  <a:avLst/>
                </a:prstGeom>
                <a:grpFill/>
                <a:ln w="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  <p:sp>
              <p:nvSpPr>
                <p:cNvPr id="52" name="Rectangle 134"/>
                <p:cNvSpPr>
                  <a:spLocks noChangeArrowheads="1"/>
                </p:cNvSpPr>
                <p:nvPr/>
              </p:nvSpPr>
              <p:spPr bwMode="auto">
                <a:xfrm>
                  <a:off x="875" y="538"/>
                  <a:ext cx="2891" cy="217"/>
                </a:xfrm>
                <a:prstGeom prst="roundRect">
                  <a:avLst/>
                </a:prstGeom>
                <a:grpFill/>
                <a:ln w="952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  <p:sp>
              <p:nvSpPr>
                <p:cNvPr id="53" name="Rectangle 135"/>
                <p:cNvSpPr>
                  <a:spLocks noChangeArrowheads="1"/>
                </p:cNvSpPr>
                <p:nvPr/>
              </p:nvSpPr>
              <p:spPr bwMode="auto">
                <a:xfrm>
                  <a:off x="875" y="538"/>
                  <a:ext cx="2890" cy="216"/>
                </a:xfrm>
                <a:prstGeom prst="roundRect">
                  <a:avLst/>
                </a:prstGeom>
                <a:grpFill/>
                <a:ln w="952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9" name="Rectangle 137"/>
              <p:cNvSpPr>
                <a:spLocks noChangeArrowheads="1"/>
              </p:cNvSpPr>
              <p:nvPr/>
            </p:nvSpPr>
            <p:spPr bwMode="auto">
              <a:xfrm>
                <a:off x="836" y="538"/>
                <a:ext cx="3353" cy="217"/>
              </a:xfrm>
              <a:prstGeom prst="roundRect">
                <a:avLst/>
              </a:prstGeom>
              <a:grpFill/>
              <a:ln w="11113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endParaRPr lang="ko-KR" altLang="en-US" sz="1200">
                  <a:latin typeface="+mn-ea"/>
                  <a:ea typeface="+mn-ea"/>
                </a:endParaRPr>
              </a:p>
            </p:txBody>
          </p:sp>
        </p:grpSp>
        <p:sp>
          <p:nvSpPr>
            <p:cNvPr id="54" name="Rectangle 139"/>
            <p:cNvSpPr>
              <a:spLocks noChangeArrowheads="1"/>
            </p:cNvSpPr>
            <p:nvPr/>
          </p:nvSpPr>
          <p:spPr bwMode="auto">
            <a:xfrm>
              <a:off x="2374227" y="1295867"/>
              <a:ext cx="819134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en-US" sz="1200" dirty="0">
                  <a:latin typeface="+mn-ea"/>
                  <a:ea typeface="+mn-ea"/>
                </a:rPr>
                <a:t>일반</a:t>
              </a:r>
              <a:r>
                <a:rPr lang="en-US" altLang="ko-KR" sz="1200" dirty="0">
                  <a:latin typeface="+mn-ea"/>
                  <a:ea typeface="+mn-ea"/>
                </a:rPr>
                <a:t> </a:t>
              </a:r>
              <a:r>
                <a:rPr lang="ko-KR" altLang="en-US" sz="1200" dirty="0">
                  <a:latin typeface="+mn-ea"/>
                  <a:ea typeface="+mn-ea"/>
                </a:rPr>
                <a:t>사용자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55" name="Rectangle 140"/>
            <p:cNvSpPr>
              <a:spLocks noChangeArrowheads="1"/>
            </p:cNvSpPr>
            <p:nvPr/>
          </p:nvSpPr>
          <p:spPr bwMode="auto">
            <a:xfrm>
              <a:off x="2841680" y="1390867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56" name="Rectangle 141"/>
            <p:cNvSpPr>
              <a:spLocks noChangeArrowheads="1"/>
            </p:cNvSpPr>
            <p:nvPr/>
          </p:nvSpPr>
          <p:spPr bwMode="auto">
            <a:xfrm>
              <a:off x="2845996" y="1390867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57" name="Rectangle 142"/>
            <p:cNvSpPr>
              <a:spLocks noChangeArrowheads="1"/>
            </p:cNvSpPr>
            <p:nvPr/>
          </p:nvSpPr>
          <p:spPr bwMode="auto">
            <a:xfrm>
              <a:off x="3629144" y="1173835"/>
              <a:ext cx="76944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rgbClr val="000000"/>
                  </a:solidFill>
                  <a:latin typeface="+mn-ea"/>
                  <a:ea typeface="+mn-ea"/>
                </a:rPr>
                <a:t>응용 </a:t>
              </a:r>
              <a:endParaRPr lang="en-US" altLang="ko-KR" sz="1200" dirty="0">
                <a:solidFill>
                  <a:srgbClr val="000000"/>
                </a:solidFill>
                <a:latin typeface="+mn-ea"/>
                <a:ea typeface="+mn-ea"/>
              </a:endParaRPr>
            </a:p>
            <a:p>
              <a:pPr algn="ctr"/>
              <a:r>
                <a:rPr lang="ko-KR" altLang="en-US" sz="1200" dirty="0">
                  <a:solidFill>
                    <a:srgbClr val="000000"/>
                  </a:solidFill>
                  <a:latin typeface="+mn-ea"/>
                  <a:ea typeface="+mn-ea"/>
                </a:rPr>
                <a:t>프로그래머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58" name="Rectangle 145"/>
            <p:cNvSpPr>
              <a:spLocks noChangeArrowheads="1"/>
            </p:cNvSpPr>
            <p:nvPr/>
          </p:nvSpPr>
          <p:spPr bwMode="auto">
            <a:xfrm>
              <a:off x="4826331" y="1316752"/>
              <a:ext cx="80631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  <a:ea typeface="+mn-ea"/>
                </a:rPr>
                <a:t>SQL </a:t>
              </a:r>
              <a:r>
                <a:rPr lang="ko-KR" altLang="en-US" sz="1200" dirty="0">
                  <a:latin typeface="+mn-ea"/>
                  <a:ea typeface="+mn-ea"/>
                </a:rPr>
                <a:t>사용자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59" name="Rectangle 147"/>
            <p:cNvSpPr>
              <a:spLocks noChangeArrowheads="1"/>
            </p:cNvSpPr>
            <p:nvPr/>
          </p:nvSpPr>
          <p:spPr bwMode="auto">
            <a:xfrm>
              <a:off x="6169010" y="1295867"/>
              <a:ext cx="518297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000000"/>
                  </a:solidFill>
                  <a:latin typeface="+mn-ea"/>
                  <a:ea typeface="+mn-ea"/>
                </a:rPr>
                <a:t>DBA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60" name="Rectangle 148"/>
            <p:cNvSpPr>
              <a:spLocks noChangeArrowheads="1"/>
            </p:cNvSpPr>
            <p:nvPr/>
          </p:nvSpPr>
          <p:spPr bwMode="auto">
            <a:xfrm>
              <a:off x="5939518" y="1390867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61" name="Rectangle 150"/>
            <p:cNvSpPr>
              <a:spLocks noChangeArrowheads="1"/>
            </p:cNvSpPr>
            <p:nvPr/>
          </p:nvSpPr>
          <p:spPr bwMode="auto">
            <a:xfrm>
              <a:off x="3243118" y="1509929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62" name="Rectangle 154"/>
            <p:cNvSpPr>
              <a:spLocks noChangeArrowheads="1"/>
            </p:cNvSpPr>
            <p:nvPr/>
          </p:nvSpPr>
          <p:spPr bwMode="auto">
            <a:xfrm>
              <a:off x="4700670" y="1509929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63" name="Rectangle 155"/>
            <p:cNvSpPr>
              <a:spLocks noChangeArrowheads="1"/>
            </p:cNvSpPr>
            <p:nvPr/>
          </p:nvSpPr>
          <p:spPr bwMode="auto">
            <a:xfrm>
              <a:off x="4992756" y="1509929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64" name="Rectangle 157"/>
            <p:cNvSpPr>
              <a:spLocks noChangeArrowheads="1"/>
            </p:cNvSpPr>
            <p:nvPr/>
          </p:nvSpPr>
          <p:spPr bwMode="auto">
            <a:xfrm>
              <a:off x="6165417" y="1509929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65" name="Rectangle 163"/>
            <p:cNvSpPr>
              <a:spLocks noChangeArrowheads="1"/>
            </p:cNvSpPr>
            <p:nvPr/>
          </p:nvSpPr>
          <p:spPr bwMode="auto">
            <a:xfrm>
              <a:off x="3418966" y="1909561"/>
              <a:ext cx="1237994" cy="461901"/>
            </a:xfrm>
            <a:prstGeom prst="round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/>
              <a:r>
                <a:rPr lang="ko-KR" altLang="en-US" sz="1200" dirty="0">
                  <a:latin typeface="+mn-ea"/>
                  <a:ea typeface="+mn-ea"/>
                </a:rPr>
                <a:t>응용 프로그램</a:t>
              </a:r>
              <a:endParaRPr lang="en-US" altLang="ko-KR" sz="12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200" dirty="0">
                  <a:latin typeface="+mn-ea"/>
                  <a:ea typeface="+mn-ea"/>
                </a:rPr>
                <a:t>개발</a:t>
              </a:r>
            </a:p>
          </p:txBody>
        </p:sp>
        <p:sp>
          <p:nvSpPr>
            <p:cNvPr id="66" name="Rectangle 167"/>
            <p:cNvSpPr>
              <a:spLocks noChangeArrowheads="1"/>
            </p:cNvSpPr>
            <p:nvPr/>
          </p:nvSpPr>
          <p:spPr bwMode="auto">
            <a:xfrm>
              <a:off x="4728967" y="1909561"/>
              <a:ext cx="1009849" cy="461901"/>
            </a:xfrm>
            <a:prstGeom prst="round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/>
              <a:r>
                <a:rPr lang="en-US" altLang="ko-KR" sz="1200" dirty="0">
                  <a:latin typeface="+mn-ea"/>
                  <a:ea typeface="+mn-ea"/>
                </a:rPr>
                <a:t>SQL</a:t>
              </a:r>
            </a:p>
            <a:p>
              <a:pPr algn="ctr"/>
              <a:r>
                <a:rPr lang="ko-KR" altLang="en-US" sz="1200" dirty="0">
                  <a:latin typeface="+mn-ea"/>
                  <a:ea typeface="+mn-ea"/>
                </a:rPr>
                <a:t>질의</a:t>
              </a:r>
            </a:p>
          </p:txBody>
        </p:sp>
        <p:sp>
          <p:nvSpPr>
            <p:cNvPr id="67" name="Rectangle 170"/>
            <p:cNvSpPr>
              <a:spLocks noChangeArrowheads="1"/>
            </p:cNvSpPr>
            <p:nvPr/>
          </p:nvSpPr>
          <p:spPr bwMode="auto">
            <a:xfrm>
              <a:off x="5808890" y="1909561"/>
              <a:ext cx="1224333" cy="461901"/>
            </a:xfrm>
            <a:prstGeom prst="round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/>
              <a:r>
                <a:rPr lang="ko-KR" altLang="en-US" sz="1200" dirty="0">
                  <a:latin typeface="+mn-ea"/>
                  <a:ea typeface="+mn-ea"/>
                </a:rPr>
                <a:t>데이터베이스 </a:t>
              </a:r>
              <a:endParaRPr lang="en-US" altLang="ko-KR" sz="12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200" dirty="0">
                  <a:latin typeface="+mn-ea"/>
                  <a:ea typeface="+mn-ea"/>
                </a:rPr>
                <a:t>스키마</a:t>
              </a:r>
            </a:p>
          </p:txBody>
        </p:sp>
        <p:sp>
          <p:nvSpPr>
            <p:cNvPr id="68" name="Rectangle 172"/>
            <p:cNvSpPr>
              <a:spLocks noChangeArrowheads="1"/>
            </p:cNvSpPr>
            <p:nvPr/>
          </p:nvSpPr>
          <p:spPr bwMode="auto">
            <a:xfrm>
              <a:off x="6074769" y="1961948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69" name="Rectangle 174"/>
            <p:cNvSpPr>
              <a:spLocks noChangeArrowheads="1"/>
            </p:cNvSpPr>
            <p:nvPr/>
          </p:nvSpPr>
          <p:spPr bwMode="auto">
            <a:xfrm>
              <a:off x="6020093" y="2081011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70" name="Rectangle 177"/>
            <p:cNvSpPr>
              <a:spLocks noChangeArrowheads="1"/>
            </p:cNvSpPr>
            <p:nvPr/>
          </p:nvSpPr>
          <p:spPr bwMode="auto">
            <a:xfrm>
              <a:off x="6707862" y="1389279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71" name="아래쪽 화살표 70"/>
            <p:cNvSpPr/>
            <p:nvPr/>
          </p:nvSpPr>
          <p:spPr>
            <a:xfrm>
              <a:off x="2665757" y="1706397"/>
              <a:ext cx="118995" cy="177993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>
                <a:latin typeface="+mn-ea"/>
              </a:endParaRPr>
            </a:p>
          </p:txBody>
        </p:sp>
        <p:sp>
          <p:nvSpPr>
            <p:cNvPr id="72" name="위쪽/아래쪽 화살표 71"/>
            <p:cNvSpPr/>
            <p:nvPr/>
          </p:nvSpPr>
          <p:spPr>
            <a:xfrm>
              <a:off x="4545752" y="4667878"/>
              <a:ext cx="135205" cy="345299"/>
            </a:xfrm>
            <a:prstGeom prst="up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n-ea"/>
              </a:endParaRPr>
            </a:p>
          </p:txBody>
        </p:sp>
        <p:sp>
          <p:nvSpPr>
            <p:cNvPr id="73" name="Rectangle 163"/>
            <p:cNvSpPr>
              <a:spLocks noChangeArrowheads="1"/>
            </p:cNvSpPr>
            <p:nvPr/>
          </p:nvSpPr>
          <p:spPr bwMode="auto">
            <a:xfrm>
              <a:off x="2064673" y="1909561"/>
              <a:ext cx="1237994" cy="461901"/>
            </a:xfrm>
            <a:prstGeom prst="round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/>
              <a:r>
                <a:rPr lang="ko-KR" altLang="en-US" sz="1200" dirty="0">
                  <a:latin typeface="+mn-ea"/>
                  <a:ea typeface="+mn-ea"/>
                </a:rPr>
                <a:t>응용 프로그램 화면</a:t>
              </a:r>
            </a:p>
          </p:txBody>
        </p:sp>
        <p:sp>
          <p:nvSpPr>
            <p:cNvPr id="74" name="아래쪽 화살표 73"/>
            <p:cNvSpPr/>
            <p:nvPr/>
          </p:nvSpPr>
          <p:spPr>
            <a:xfrm rot="16200000">
              <a:off x="3323142" y="3391213"/>
              <a:ext cx="129169" cy="206693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>
                <a:latin typeface="+mn-ea"/>
              </a:endParaRPr>
            </a:p>
          </p:txBody>
        </p:sp>
        <p:sp>
          <p:nvSpPr>
            <p:cNvPr id="75" name="아래쪽 화살표 74"/>
            <p:cNvSpPr/>
            <p:nvPr/>
          </p:nvSpPr>
          <p:spPr>
            <a:xfrm>
              <a:off x="3978465" y="1706397"/>
              <a:ext cx="118995" cy="177993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>
                <a:latin typeface="+mn-ea"/>
              </a:endParaRPr>
            </a:p>
          </p:txBody>
        </p:sp>
        <p:sp>
          <p:nvSpPr>
            <p:cNvPr id="76" name="아래쪽 화살표 75"/>
            <p:cNvSpPr/>
            <p:nvPr/>
          </p:nvSpPr>
          <p:spPr>
            <a:xfrm>
              <a:off x="5169988" y="1706397"/>
              <a:ext cx="118995" cy="177993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>
                <a:latin typeface="+mn-ea"/>
              </a:endParaRPr>
            </a:p>
          </p:txBody>
        </p:sp>
        <p:sp>
          <p:nvSpPr>
            <p:cNvPr id="77" name="아래쪽 화살표 76"/>
            <p:cNvSpPr/>
            <p:nvPr/>
          </p:nvSpPr>
          <p:spPr>
            <a:xfrm>
              <a:off x="6328280" y="1706397"/>
              <a:ext cx="118995" cy="177993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>
                <a:latin typeface="+mn-ea"/>
              </a:endParaRPr>
            </a:p>
          </p:txBody>
        </p:sp>
        <p:sp>
          <p:nvSpPr>
            <p:cNvPr id="78" name="아래쪽 화살표 77"/>
            <p:cNvSpPr/>
            <p:nvPr/>
          </p:nvSpPr>
          <p:spPr>
            <a:xfrm>
              <a:off x="2665757" y="2373025"/>
              <a:ext cx="118037" cy="799284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>
                <a:latin typeface="+mn-ea"/>
              </a:endParaRPr>
            </a:p>
          </p:txBody>
        </p:sp>
        <p:sp>
          <p:nvSpPr>
            <p:cNvPr id="79" name="Rectangle 172"/>
            <p:cNvSpPr>
              <a:spLocks noChangeArrowheads="1"/>
            </p:cNvSpPr>
            <p:nvPr/>
          </p:nvSpPr>
          <p:spPr bwMode="auto">
            <a:xfrm>
              <a:off x="6074769" y="2638667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80" name="아래쪽 화살표 79"/>
            <p:cNvSpPr/>
            <p:nvPr/>
          </p:nvSpPr>
          <p:spPr>
            <a:xfrm>
              <a:off x="3978465" y="2383116"/>
              <a:ext cx="118995" cy="347884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>
                <a:latin typeface="+mn-ea"/>
              </a:endParaRPr>
            </a:p>
          </p:txBody>
        </p:sp>
        <p:sp>
          <p:nvSpPr>
            <p:cNvPr id="81" name="아래쪽 화살표 80"/>
            <p:cNvSpPr/>
            <p:nvPr/>
          </p:nvSpPr>
          <p:spPr>
            <a:xfrm>
              <a:off x="5193877" y="2383116"/>
              <a:ext cx="118995" cy="347884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>
                <a:latin typeface="+mn-ea"/>
              </a:endParaRPr>
            </a:p>
          </p:txBody>
        </p:sp>
        <p:sp>
          <p:nvSpPr>
            <p:cNvPr id="82" name="아래쪽 화살표 81"/>
            <p:cNvSpPr/>
            <p:nvPr/>
          </p:nvSpPr>
          <p:spPr>
            <a:xfrm>
              <a:off x="6328701" y="2383116"/>
              <a:ext cx="118995" cy="347884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>
                <a:latin typeface="+mn-ea"/>
              </a:endParaRPr>
            </a:p>
          </p:txBody>
        </p:sp>
        <p:sp>
          <p:nvSpPr>
            <p:cNvPr id="83" name="Rectangle 54"/>
            <p:cNvSpPr>
              <a:spLocks noChangeArrowheads="1"/>
            </p:cNvSpPr>
            <p:nvPr/>
          </p:nvSpPr>
          <p:spPr bwMode="auto">
            <a:xfrm>
              <a:off x="1115277" y="2114502"/>
              <a:ext cx="769441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en-US" sz="1200" b="1" dirty="0">
                  <a:latin typeface="+mn-ea"/>
                  <a:ea typeface="+mn-ea"/>
                </a:rPr>
                <a:t>인터페이스</a:t>
              </a:r>
              <a:endParaRPr lang="ko-KR" altLang="ko-KR" sz="1200" b="1" dirty="0">
                <a:latin typeface="+mn-ea"/>
                <a:ea typeface="+mn-ea"/>
              </a:endParaRPr>
            </a:p>
          </p:txBody>
        </p:sp>
        <p:sp>
          <p:nvSpPr>
            <p:cNvPr id="84" name="Rectangle 54"/>
            <p:cNvSpPr>
              <a:spLocks noChangeArrowheads="1"/>
            </p:cNvSpPr>
            <p:nvPr/>
          </p:nvSpPr>
          <p:spPr bwMode="auto">
            <a:xfrm>
              <a:off x="1275577" y="3482654"/>
              <a:ext cx="448841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altLang="ko-KR" sz="1200" b="1" dirty="0">
                  <a:latin typeface="+mn-ea"/>
                  <a:ea typeface="+mn-ea"/>
                </a:rPr>
                <a:t>DBMS</a:t>
              </a:r>
              <a:endParaRPr lang="ko-KR" altLang="ko-KR" sz="1200" b="1" dirty="0">
                <a:latin typeface="+mn-ea"/>
                <a:ea typeface="+mn-ea"/>
              </a:endParaRPr>
            </a:p>
          </p:txBody>
        </p:sp>
        <p:sp>
          <p:nvSpPr>
            <p:cNvPr id="85" name="Rectangle 54"/>
            <p:cNvSpPr>
              <a:spLocks noChangeArrowheads="1"/>
            </p:cNvSpPr>
            <p:nvPr/>
          </p:nvSpPr>
          <p:spPr bwMode="auto">
            <a:xfrm>
              <a:off x="1038332" y="5570886"/>
              <a:ext cx="92333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en-US" sz="1200" b="1" dirty="0">
                  <a:latin typeface="+mn-ea"/>
                  <a:ea typeface="+mn-ea"/>
                </a:rPr>
                <a:t>데이터베이스</a:t>
              </a:r>
              <a:endParaRPr lang="ko-KR" altLang="ko-KR" sz="1200" b="1" dirty="0">
                <a:latin typeface="+mn-ea"/>
                <a:ea typeface="+mn-ea"/>
              </a:endParaRPr>
            </a:p>
          </p:txBody>
        </p:sp>
        <p:sp>
          <p:nvSpPr>
            <p:cNvPr id="86" name="오른쪽 대괄호 85"/>
            <p:cNvSpPr/>
            <p:nvPr/>
          </p:nvSpPr>
          <p:spPr>
            <a:xfrm>
              <a:off x="7185840" y="2618558"/>
              <a:ext cx="144016" cy="2016224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+mn-ea"/>
              </a:endParaRPr>
            </a:p>
          </p:txBody>
        </p:sp>
        <p:sp>
          <p:nvSpPr>
            <p:cNvPr id="87" name="오른쪽 대괄호 86"/>
            <p:cNvSpPr/>
            <p:nvPr/>
          </p:nvSpPr>
          <p:spPr>
            <a:xfrm>
              <a:off x="7257848" y="5210846"/>
              <a:ext cx="135632" cy="864096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+mn-ea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7375036" y="3475299"/>
              <a:ext cx="12596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chemeClr val="accent3">
                      <a:lumMod val="50000"/>
                    </a:schemeClr>
                  </a:solidFill>
                  <a:latin typeface="+mn-ea"/>
                  <a:ea typeface="+mn-ea"/>
                </a:rPr>
                <a:t>주기억장치</a:t>
              </a:r>
              <a:endParaRPr lang="en-US" altLang="ko-KR" sz="1200" dirty="0">
                <a:solidFill>
                  <a:schemeClr val="accent3">
                    <a:lumMod val="50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447044" y="5484832"/>
              <a:ext cx="12596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chemeClr val="accent3">
                      <a:lumMod val="50000"/>
                    </a:schemeClr>
                  </a:solidFill>
                  <a:ea typeface="맑은 고딕" panose="020B0503020000020004" pitchFamily="50" charset="-127"/>
                </a:rPr>
                <a:t>하드디스크</a:t>
              </a:r>
              <a:endParaRPr lang="en-US" altLang="ko-KR" sz="1200" dirty="0">
                <a:solidFill>
                  <a:schemeClr val="accent3">
                    <a:lumMod val="50000"/>
                  </a:schemeClr>
                </a:solidFill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데이터베이스 언어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SQL</a:t>
            </a:r>
            <a:endParaRPr lang="en-US" altLang="ko-KR" sz="1800" dirty="0"/>
          </a:p>
          <a:p>
            <a:pPr indent="-165100">
              <a:buClr>
                <a:schemeClr val="tx1"/>
              </a:buClr>
              <a:buFont typeface="Arial" pitchFamily="34" charset="0"/>
              <a:buChar char="•"/>
            </a:pPr>
            <a:r>
              <a:rPr lang="ko-KR" altLang="en-US" sz="1400" dirty="0"/>
              <a:t>데이터 </a:t>
            </a:r>
            <a:r>
              <a:rPr lang="ko-KR" altLang="en-US" sz="1400" dirty="0" err="1"/>
              <a:t>정의어</a:t>
            </a:r>
            <a:r>
              <a:rPr lang="en-US" altLang="ko-KR" sz="1400" dirty="0"/>
              <a:t>(DDL, Data Definition Language)</a:t>
            </a:r>
          </a:p>
          <a:p>
            <a:pPr indent="-165100">
              <a:buClr>
                <a:schemeClr val="tx1"/>
              </a:buClr>
              <a:buFont typeface="Arial" pitchFamily="34" charset="0"/>
              <a:buChar char="•"/>
            </a:pPr>
            <a:r>
              <a:rPr lang="ko-KR" altLang="en-US" sz="1400" dirty="0"/>
              <a:t>데이터 </a:t>
            </a:r>
            <a:r>
              <a:rPr lang="ko-KR" altLang="en-US" sz="1400" dirty="0" err="1"/>
              <a:t>조작어</a:t>
            </a:r>
            <a:r>
              <a:rPr lang="en-US" altLang="ko-KR" sz="1400" dirty="0"/>
              <a:t>(DML, Data Manipulation Language)</a:t>
            </a:r>
          </a:p>
          <a:p>
            <a:pPr indent="-165100">
              <a:buClr>
                <a:schemeClr val="tx1"/>
              </a:buClr>
              <a:buFont typeface="Arial" pitchFamily="34" charset="0"/>
              <a:buChar char="•"/>
            </a:pPr>
            <a:r>
              <a:rPr lang="ko-KR" altLang="en-US" sz="1400" dirty="0"/>
              <a:t>데이터 </a:t>
            </a:r>
            <a:r>
              <a:rPr lang="ko-KR" altLang="en-US" sz="1400" dirty="0" err="1"/>
              <a:t>제어어</a:t>
            </a:r>
            <a:r>
              <a:rPr lang="en-US" altLang="ko-KR" sz="1400" dirty="0"/>
              <a:t>(DCL, Data Control Language)</a:t>
            </a:r>
            <a:endParaRPr lang="ko-KR" altLang="en-US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565076" y="4408401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200" b="1" dirty="0">
                <a:ea typeface="맑은 고딕" panose="020B0503020000020004" pitchFamily="50" charset="-127"/>
              </a:rPr>
              <a:t>Book </a:t>
            </a:r>
            <a:r>
              <a:rPr lang="ko-KR" altLang="en-US" sz="1200" b="1" dirty="0">
                <a:ea typeface="맑은 고딕" panose="020B0503020000020004" pitchFamily="50" charset="-127"/>
              </a:rPr>
              <a:t>테이블</a:t>
            </a:r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-5400000">
            <a:off x="4343517" y="3758994"/>
            <a:ext cx="305370" cy="336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4599" y="4215887"/>
            <a:ext cx="305370" cy="336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>
              <a:rot lat="0" lon="0" rev="10800000"/>
            </a:camera>
            <a:lightRig rig="threePt" dir="t"/>
          </a:scene3d>
        </p:spPr>
      </p:pic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365190"/>
              </p:ext>
            </p:extLst>
          </p:nvPr>
        </p:nvGraphicFramePr>
        <p:xfrm>
          <a:off x="683568" y="2852934"/>
          <a:ext cx="784887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1-1   Book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테이블에서 모든 도서이름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bookname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 출판사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(publisher)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검색하시오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178114"/>
              </p:ext>
            </p:extLst>
          </p:nvPr>
        </p:nvGraphicFramePr>
        <p:xfrm>
          <a:off x="683568" y="4725142"/>
          <a:ext cx="4464495" cy="1656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0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bookid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bookname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publisher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price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축구의 역사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축구아는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사람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나무수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13000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축구의 이해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22000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골프 바이블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35000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피겨 교본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8000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262423"/>
              </p:ext>
            </p:extLst>
          </p:nvPr>
        </p:nvGraphicFramePr>
        <p:xfrm>
          <a:off x="5508104" y="3402518"/>
          <a:ext cx="2736304" cy="1656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bookname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publisher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축구의 역사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축구아는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사람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나무수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축구의 이해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골프 바이블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피겨 교본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78235" y="3501006"/>
            <a:ext cx="3001439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SELECT	</a:t>
            </a:r>
            <a:r>
              <a:rPr lang="en-US" altLang="ko-KR" sz="1400" dirty="0" err="1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publisher</a:t>
            </a:r>
          </a:p>
          <a:p>
            <a:r>
              <a:rPr lang="en-US" altLang="ko-KR" sz="14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FROM	Book;</a:t>
            </a:r>
            <a:endParaRPr lang="ko-KR" altLang="en-US" sz="14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데이터베이스 언어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4423" y="314096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200" b="1" dirty="0">
                <a:ea typeface="맑은 고딕" panose="020B0503020000020004" pitchFamily="50" charset="-127"/>
              </a:rPr>
              <a:t>Book </a:t>
            </a:r>
            <a:r>
              <a:rPr lang="ko-KR" altLang="en-US" sz="1200" b="1" dirty="0">
                <a:ea typeface="맑은 고딕" panose="020B0503020000020004" pitchFamily="50" charset="-127"/>
              </a:rPr>
              <a:t>테이블</a:t>
            </a: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706823"/>
              </p:ext>
            </p:extLst>
          </p:nvPr>
        </p:nvGraphicFramePr>
        <p:xfrm>
          <a:off x="433636" y="1412776"/>
          <a:ext cx="828092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1-2  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가격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(price)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10,000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원 이상인 도서이름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bookname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 출판사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(publisher)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검색하시오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591810"/>
              </p:ext>
            </p:extLst>
          </p:nvPr>
        </p:nvGraphicFramePr>
        <p:xfrm>
          <a:off x="654423" y="3501006"/>
          <a:ext cx="4464495" cy="1656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0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bookid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bookname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publisher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price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축구의 역사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축구아는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사람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나무수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13000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축구의 이해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22000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골프 바이블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35000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피겨 교본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굿스포츠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8000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144378"/>
              </p:ext>
            </p:extLst>
          </p:nvPr>
        </p:nvGraphicFramePr>
        <p:xfrm>
          <a:off x="5364088" y="2195446"/>
          <a:ext cx="2611309" cy="1104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9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bookname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publisher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축구아는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 사람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나무수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축구의 이해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골프 바이블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대한미디어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6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9645" y="2972701"/>
            <a:ext cx="305370" cy="336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>
              <a:rot lat="0" lon="0" rev="10800000"/>
            </a:camera>
            <a:lightRig rig="threePt" dir="t"/>
          </a:scene3d>
        </p:spPr>
      </p:pic>
      <p:sp>
        <p:nvSpPr>
          <p:cNvPr id="9" name="직사각형 8"/>
          <p:cNvSpPr/>
          <p:nvPr/>
        </p:nvSpPr>
        <p:spPr>
          <a:xfrm>
            <a:off x="429444" y="2085231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SELECT	</a:t>
            </a:r>
            <a:r>
              <a:rPr lang="en-US" altLang="ko-KR" sz="1400" dirty="0" err="1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, publisher</a:t>
            </a:r>
          </a:p>
          <a:p>
            <a:r>
              <a:rPr lang="en-US" altLang="ko-KR" sz="14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FROM	Book</a:t>
            </a:r>
          </a:p>
          <a:p>
            <a:r>
              <a:rPr lang="en-US" altLang="ko-KR" sz="1400" dirty="0">
                <a:solidFill>
                  <a:sysClr val="windowText" lastClr="000000"/>
                </a:solidFill>
                <a:ea typeface="맑은 고딕" panose="020B0503020000020004" pitchFamily="50" charset="-127"/>
              </a:rPr>
              <a:t>Where	price &gt;= 10000;</a:t>
            </a:r>
            <a:endParaRPr lang="ko-KR" altLang="en-US" sz="1400" dirty="0">
              <a:solidFill>
                <a:sysClr val="windowText" lastClr="000000"/>
              </a:solidFill>
              <a:ea typeface="맑은 고딕" panose="020B0503020000020004" pitchFamily="50" charset="-127"/>
            </a:endParaRPr>
          </a:p>
        </p:txBody>
      </p:sp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-5400000">
            <a:off x="4319234" y="2388532"/>
            <a:ext cx="305370" cy="336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데이터베이스 사용자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일반사용자</a:t>
            </a:r>
            <a:endParaRPr lang="en-US" altLang="ko-KR" dirty="0"/>
          </a:p>
          <a:p>
            <a:pPr indent="-165100" algn="just">
              <a:buClr>
                <a:schemeClr val="tx1"/>
              </a:buClr>
              <a:buFont typeface="Arial" pitchFamily="34" charset="0"/>
              <a:buChar char="•"/>
            </a:pPr>
            <a:r>
              <a:rPr lang="ko-KR" altLang="en-US" sz="1400" b="0" dirty="0"/>
              <a:t>은행의 창구 혹은 관공서의 민원 접수처 등에서 데이터를 다루는 업무를 하는 사람</a:t>
            </a:r>
            <a:endParaRPr lang="en-US" altLang="ko-KR" sz="1400" b="0" dirty="0"/>
          </a:p>
          <a:p>
            <a:pPr indent="-165100" algn="just">
              <a:buClr>
                <a:schemeClr val="tx1"/>
              </a:buClr>
              <a:buFont typeface="Arial" pitchFamily="34" charset="0"/>
              <a:buChar char="•"/>
            </a:pPr>
            <a:r>
              <a:rPr lang="ko-KR" altLang="en-US" sz="1400" b="0" dirty="0"/>
              <a:t>프로그래머가 개발한 프로그램을 이용하여 데이터베이스에 접근</a:t>
            </a:r>
            <a:r>
              <a:rPr lang="en-US" altLang="ko-KR" sz="1400" b="0" dirty="0"/>
              <a:t> </a:t>
            </a:r>
            <a:r>
              <a:rPr lang="ko-KR" altLang="en-US" sz="1400" b="0" dirty="0"/>
              <a:t>일반인 </a:t>
            </a:r>
            <a:endParaRPr lang="en-US" altLang="ko-KR" sz="1400" b="0" dirty="0"/>
          </a:p>
          <a:p>
            <a:pPr algn="just">
              <a:buNone/>
            </a:pPr>
            <a:endParaRPr lang="en-US" altLang="ko-KR" sz="500" dirty="0"/>
          </a:p>
          <a:p>
            <a:r>
              <a:rPr lang="ko-KR" altLang="en-US" dirty="0"/>
              <a:t>응용프로그래머</a:t>
            </a:r>
            <a:endParaRPr lang="en-US" altLang="ko-KR" dirty="0"/>
          </a:p>
          <a:p>
            <a:pPr indent="-165100" algn="just">
              <a:buClrTx/>
              <a:buFont typeface="Arial" pitchFamily="34" charset="0"/>
              <a:buChar char="•"/>
            </a:pPr>
            <a:r>
              <a:rPr lang="ko-KR" altLang="en-US" sz="1400" b="0" dirty="0"/>
              <a:t>일반 사용자가 사용할 수 있도록 프로그램을 만드는 사람</a:t>
            </a:r>
            <a:endParaRPr lang="en-US" altLang="ko-KR" sz="1400" b="0" dirty="0"/>
          </a:p>
          <a:p>
            <a:pPr indent="-165100" algn="just">
              <a:buClrTx/>
              <a:buFont typeface="Arial" pitchFamily="34" charset="0"/>
              <a:buChar char="•"/>
            </a:pPr>
            <a:r>
              <a:rPr lang="ko-KR" altLang="en-US" sz="1400" b="0" dirty="0"/>
              <a:t>자바</a:t>
            </a:r>
            <a:r>
              <a:rPr lang="en-US" altLang="ko-KR" sz="1400" b="0" dirty="0"/>
              <a:t>, C, JSP </a:t>
            </a:r>
            <a:r>
              <a:rPr lang="ko-KR" altLang="en-US" sz="1400" b="0" dirty="0"/>
              <a:t>등 프로그래밍 언어와 </a:t>
            </a:r>
            <a:r>
              <a:rPr lang="en-US" altLang="ko-KR" sz="1400" b="0" dirty="0"/>
              <a:t>SQL</a:t>
            </a:r>
            <a:r>
              <a:rPr lang="ko-KR" altLang="en-US" sz="1400" b="0" dirty="0"/>
              <a:t>을 사용하여 일반 사용자를 위한 사용자 인터페이스와 데이터를 관리하는 응용 </a:t>
            </a:r>
            <a:r>
              <a:rPr lang="ko-KR" altLang="en-US" sz="1400" b="0" dirty="0" err="1"/>
              <a:t>로직을</a:t>
            </a:r>
            <a:r>
              <a:rPr lang="ko-KR" altLang="en-US" sz="1400" b="0" dirty="0"/>
              <a:t> 개발</a:t>
            </a:r>
            <a:endParaRPr lang="en-US" altLang="ko-KR" sz="1400" b="0" dirty="0"/>
          </a:p>
          <a:p>
            <a:pPr algn="just">
              <a:buNone/>
            </a:pPr>
            <a:endParaRPr lang="en-US" altLang="ko-KR" sz="500" dirty="0"/>
          </a:p>
          <a:p>
            <a:r>
              <a:rPr lang="en-US" altLang="ko-KR" dirty="0"/>
              <a:t>SQL </a:t>
            </a:r>
            <a:r>
              <a:rPr lang="ko-KR" altLang="en-US" dirty="0"/>
              <a:t>사용자</a:t>
            </a:r>
            <a:endParaRPr lang="en-US" altLang="ko-KR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en-US" altLang="ko-KR" sz="1400" b="0" dirty="0"/>
              <a:t>SQL</a:t>
            </a:r>
            <a:r>
              <a:rPr lang="ko-KR" altLang="en-US" sz="1400" b="0" dirty="0"/>
              <a:t>을 사용하여 업무를 처리하는 </a:t>
            </a:r>
            <a:r>
              <a:rPr lang="en-US" altLang="ko-KR" sz="1400" b="0" dirty="0"/>
              <a:t>IT </a:t>
            </a:r>
            <a:r>
              <a:rPr lang="ko-KR" altLang="en-US" sz="1400" b="0" dirty="0"/>
              <a:t>부서의 담당자</a:t>
            </a:r>
            <a:endParaRPr lang="en-US" altLang="ko-KR" sz="1400" b="0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응용 프로그램으로 구현되어 있지 않은 업무를 </a:t>
            </a:r>
            <a:r>
              <a:rPr lang="en-US" altLang="ko-KR" sz="1400" b="0" dirty="0"/>
              <a:t>SQL</a:t>
            </a:r>
            <a:r>
              <a:rPr lang="ko-KR" altLang="en-US" sz="1400" b="0" dirty="0"/>
              <a:t>을 사용하여 처리</a:t>
            </a:r>
            <a:endParaRPr lang="en-US" altLang="ko-KR" sz="1400" b="0" dirty="0"/>
          </a:p>
          <a:p>
            <a:pPr>
              <a:buNone/>
            </a:pPr>
            <a:endParaRPr lang="en-US" altLang="ko-KR" sz="500" dirty="0"/>
          </a:p>
          <a:p>
            <a:r>
              <a:rPr lang="ko-KR" altLang="en-US" dirty="0"/>
              <a:t>데이터베이스 관리자</a:t>
            </a:r>
            <a:r>
              <a:rPr lang="en-US" altLang="ko-KR" dirty="0"/>
              <a:t>(DBA, Database Administrator)</a:t>
            </a:r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데이터베이스 운영 조직의 데이터베이스 시스템을 총괄하는 사람</a:t>
            </a:r>
            <a:endParaRPr lang="en-US" altLang="ko-KR" sz="1400" b="0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데이터 설계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구현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유지보수의 전 과정을 담당</a:t>
            </a:r>
            <a:endParaRPr lang="en-US" altLang="ko-KR" sz="1400" b="0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데이터베이스 사용자 통제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보안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성능 모니터링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데이터 전체 파악 및 관리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데이터 이동 및 복사 등 제반 업무를 함</a:t>
            </a:r>
            <a:endParaRPr lang="en-US" altLang="ko-KR" sz="1400" b="0" dirty="0"/>
          </a:p>
          <a:p>
            <a:pPr>
              <a:buNone/>
            </a:pPr>
            <a:r>
              <a:rPr lang="en-US" altLang="ko-KR" dirty="0"/>
              <a:t>     </a:t>
            </a:r>
          </a:p>
          <a:p>
            <a:pPr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데이터베이스 사용자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2716" y="1469951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1-7 </a:t>
            </a:r>
            <a:r>
              <a:rPr lang="ko-KR" altLang="en-US" sz="1400" b="1" dirty="0">
                <a:ea typeface="맑은 고딕" panose="020B0503020000020004" pitchFamily="50" charset="-127"/>
              </a:rPr>
              <a:t>데이터베이스</a:t>
            </a:r>
            <a:r>
              <a:rPr lang="en-US" altLang="ko-KR" sz="1400" b="1" dirty="0"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ea typeface="맑은 고딕" panose="020B0503020000020004" pitchFamily="50" charset="-127"/>
              </a:rPr>
              <a:t>사용자 별로 갖추어야 할 지식 수준</a:t>
            </a:r>
            <a:r>
              <a:rPr lang="en-US" altLang="ko-KR" sz="1400" b="1" dirty="0">
                <a:ea typeface="맑은 고딕" panose="020B0503020000020004" pitchFamily="50" charset="-127"/>
              </a:rPr>
              <a:t>(× : </a:t>
            </a:r>
            <a:r>
              <a:rPr lang="ko-KR" altLang="en-US" sz="1400" b="1" dirty="0">
                <a:ea typeface="맑은 고딕" panose="020B0503020000020004" pitchFamily="50" charset="-127"/>
              </a:rPr>
              <a:t>없음</a:t>
            </a:r>
            <a:r>
              <a:rPr lang="en-US" altLang="ko-KR" sz="1400" b="1" dirty="0">
                <a:ea typeface="맑은 고딕" panose="020B0503020000020004" pitchFamily="50" charset="-127"/>
              </a:rPr>
              <a:t>, </a:t>
            </a:r>
            <a:r>
              <a:rPr lang="en-US" altLang="ko-KR" sz="1400" b="1" dirty="0">
                <a:ea typeface="맑은 고딕" panose="020B0503020000020004" pitchFamily="50" charset="-127"/>
                <a:sym typeface="Wingdings 2"/>
              </a:rPr>
              <a:t></a:t>
            </a:r>
            <a:r>
              <a:rPr lang="en-US" altLang="ko-KR" sz="1400" b="1" dirty="0">
                <a:ea typeface="맑은 고딕" panose="020B0503020000020004" pitchFamily="50" charset="-127"/>
              </a:rPr>
              <a:t> : </a:t>
            </a:r>
            <a:r>
              <a:rPr lang="ko-KR" altLang="en-US" sz="1400" b="1" dirty="0">
                <a:ea typeface="맑은 고딕" panose="020B0503020000020004" pitchFamily="50" charset="-127"/>
              </a:rPr>
              <a:t>보통</a:t>
            </a:r>
            <a:r>
              <a:rPr lang="en-US" altLang="ko-KR" sz="1400" b="1" dirty="0">
                <a:ea typeface="맑은 고딕" panose="020B0503020000020004" pitchFamily="50" charset="-127"/>
              </a:rPr>
              <a:t>, ◎ : </a:t>
            </a:r>
            <a:r>
              <a:rPr lang="ko-KR" altLang="en-US" sz="1400" b="1" dirty="0">
                <a:ea typeface="맑은 고딕" panose="020B0503020000020004" pitchFamily="50" charset="-127"/>
              </a:rPr>
              <a:t>높음</a:t>
            </a:r>
            <a:r>
              <a:rPr lang="en-US" altLang="ko-KR" sz="1400" b="1" dirty="0">
                <a:ea typeface="맑은 고딕" panose="020B0503020000020004" pitchFamily="50" charset="-127"/>
              </a:rPr>
              <a:t>)</a:t>
            </a:r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948063"/>
              </p:ext>
            </p:extLst>
          </p:nvPr>
        </p:nvGraphicFramePr>
        <p:xfrm>
          <a:off x="611560" y="1916833"/>
          <a:ext cx="7920880" cy="20882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0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6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3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7646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SQL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언어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프로그래밍 능력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DBMS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지식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일반 사용자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×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×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×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×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64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+mn-ea"/>
                          <a:ea typeface="+mn-ea"/>
                        </a:rPr>
                        <a:t>SQL</a:t>
                      </a:r>
                      <a:r>
                        <a:rPr lang="en-US" altLang="ko-KR" sz="1400" b="1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1" baseline="0" dirty="0">
                          <a:latin typeface="+mn-ea"/>
                          <a:ea typeface="+mn-ea"/>
                        </a:rPr>
                        <a:t>사용자</a:t>
                      </a:r>
                      <a:endParaRPr lang="ko-KR" altLang="en-US" sz="14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◎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×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+mn-ea"/>
                          <a:ea typeface="+mn-ea"/>
                          <a:sym typeface="Wingdings 2"/>
                        </a:rPr>
                        <a:t>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+mn-ea"/>
                          <a:ea typeface="+mn-ea"/>
                          <a:sym typeface="Wingdings 2"/>
                        </a:rPr>
                        <a:t>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응용 프로그래머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◎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◎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+mn-ea"/>
                          <a:ea typeface="+mn-ea"/>
                          <a:sym typeface="Wingdings 2"/>
                        </a:rPr>
                        <a:t>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+mn-ea"/>
                          <a:ea typeface="+mn-ea"/>
                          <a:sym typeface="Wingdings 2"/>
                        </a:rPr>
                        <a:t>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6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n-ea"/>
                          <a:ea typeface="+mn-ea"/>
                        </a:rPr>
                        <a:t>데이터베이스 관리자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◎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+mn-ea"/>
                          <a:ea typeface="+mn-ea"/>
                          <a:sym typeface="Wingdings 2"/>
                        </a:rPr>
                        <a:t>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◎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◎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72409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0C77C3"/>
                </a:solidFill>
              </a:rPr>
              <a:t>&lt;</a:t>
            </a:r>
            <a:r>
              <a:rPr lang="ko-KR" altLang="en-US" dirty="0">
                <a:solidFill>
                  <a:srgbClr val="0C77C3"/>
                </a:solidFill>
              </a:rPr>
              <a:t>데이터베이스 시스템의 구성</a:t>
            </a:r>
            <a:r>
              <a:rPr lang="en-US" altLang="ko-KR" dirty="0">
                <a:solidFill>
                  <a:srgbClr val="0C77C3"/>
                </a:solidFill>
              </a:rPr>
              <a:t>&gt;</a:t>
            </a:r>
            <a:endParaRPr lang="ko-KR" altLang="en-US" dirty="0">
              <a:solidFill>
                <a:srgbClr val="0C77C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28019" y="640889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1-22 </a:t>
            </a:r>
            <a:r>
              <a:rPr lang="ko-KR" altLang="en-US" sz="1400" b="1" dirty="0">
                <a:ea typeface="맑은 고딕" panose="020B0503020000020004" pitchFamily="50" charset="-127"/>
              </a:rPr>
              <a:t>데이터베이스 시스템의 구성 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1038332" y="1106390"/>
            <a:ext cx="7668344" cy="5130922"/>
            <a:chOff x="1038332" y="1106390"/>
            <a:chExt cx="7668344" cy="5130922"/>
          </a:xfrm>
        </p:grpSpPr>
        <p:sp>
          <p:nvSpPr>
            <p:cNvPr id="8" name="AutoShape 83"/>
            <p:cNvSpPr>
              <a:spLocks noChangeArrowheads="1"/>
            </p:cNvSpPr>
            <p:nvPr/>
          </p:nvSpPr>
          <p:spPr bwMode="auto">
            <a:xfrm>
              <a:off x="2136680" y="5013177"/>
              <a:ext cx="5040560" cy="1224135"/>
            </a:xfrm>
            <a:prstGeom prst="flowChartMagneticDisk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 algn="ctr" eaLnBrk="0" hangingPunct="0"/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9" name="Text Box 84"/>
            <p:cNvSpPr txBox="1">
              <a:spLocks noChangeArrowheads="1"/>
            </p:cNvSpPr>
            <p:nvPr/>
          </p:nvSpPr>
          <p:spPr bwMode="auto">
            <a:xfrm>
              <a:off x="3526528" y="5583266"/>
              <a:ext cx="1080000" cy="3600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algn="ctr" eaLnBrk="0" hangingPunct="0"/>
              <a:r>
                <a:rPr lang="ko-KR" altLang="en-US" sz="1200" dirty="0">
                  <a:latin typeface="+mn-ea"/>
                  <a:ea typeface="+mn-ea"/>
                </a:rPr>
                <a:t>인덱스</a:t>
              </a:r>
              <a:endParaRPr lang="en-US" altLang="ko-KR" sz="1200" dirty="0">
                <a:latin typeface="+mn-ea"/>
                <a:ea typeface="+mn-ea"/>
              </a:endParaRPr>
            </a:p>
          </p:txBody>
        </p:sp>
        <p:sp>
          <p:nvSpPr>
            <p:cNvPr id="10" name="Text Box 85"/>
            <p:cNvSpPr txBox="1">
              <a:spLocks noChangeArrowheads="1"/>
            </p:cNvSpPr>
            <p:nvPr/>
          </p:nvSpPr>
          <p:spPr bwMode="auto">
            <a:xfrm>
              <a:off x="4722560" y="5591106"/>
              <a:ext cx="1080000" cy="3600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algn="ctr" eaLnBrk="0" hangingPunct="0"/>
              <a:r>
                <a:rPr lang="ko-KR" altLang="en-US" sz="1200" dirty="0">
                  <a:latin typeface="+mn-ea"/>
                  <a:ea typeface="+mn-ea"/>
                </a:rPr>
                <a:t>데이터 통계</a:t>
              </a:r>
              <a:endParaRPr lang="en-US" altLang="ko-KR" sz="1200" dirty="0">
                <a:latin typeface="+mn-ea"/>
                <a:ea typeface="+mn-ea"/>
              </a:endParaRPr>
            </a:p>
          </p:txBody>
        </p:sp>
        <p:sp>
          <p:nvSpPr>
            <p:cNvPr id="11" name="Text Box 86"/>
            <p:cNvSpPr txBox="1">
              <a:spLocks noChangeArrowheads="1"/>
            </p:cNvSpPr>
            <p:nvPr/>
          </p:nvSpPr>
          <p:spPr bwMode="auto">
            <a:xfrm>
              <a:off x="2334476" y="5591468"/>
              <a:ext cx="1080000" cy="3600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algn="ctr" eaLnBrk="0" hangingPunct="0"/>
              <a:r>
                <a:rPr lang="ko-KR" altLang="en-US" sz="1200" dirty="0">
                  <a:latin typeface="+mn-ea"/>
                  <a:ea typeface="+mn-ea"/>
                </a:rPr>
                <a:t>데이터 파일</a:t>
              </a:r>
              <a:endParaRPr lang="en-US" altLang="ko-KR" sz="1200" dirty="0">
                <a:latin typeface="+mn-ea"/>
                <a:ea typeface="+mn-ea"/>
              </a:endParaRPr>
            </a:p>
          </p:txBody>
        </p:sp>
        <p:sp>
          <p:nvSpPr>
            <p:cNvPr id="12" name="Text Box 87"/>
            <p:cNvSpPr txBox="1">
              <a:spLocks noChangeArrowheads="1"/>
            </p:cNvSpPr>
            <p:nvPr/>
          </p:nvSpPr>
          <p:spPr bwMode="auto">
            <a:xfrm>
              <a:off x="5902792" y="5583266"/>
              <a:ext cx="1080000" cy="3600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algn="ctr" eaLnBrk="0" hangingPunct="0"/>
              <a:r>
                <a:rPr lang="ko-KR" altLang="en-US" sz="1200" dirty="0">
                  <a:latin typeface="+mn-ea"/>
                  <a:ea typeface="+mn-ea"/>
                </a:rPr>
                <a:t>데이터 사전</a:t>
              </a:r>
              <a:endParaRPr lang="en-US" altLang="ko-KR" sz="1200" dirty="0">
                <a:latin typeface="+mn-ea"/>
                <a:ea typeface="+mn-ea"/>
              </a:endParaRPr>
            </a:p>
          </p:txBody>
        </p:sp>
        <p:sp>
          <p:nvSpPr>
            <p:cNvPr id="13" name="Rectangle 5"/>
            <p:cNvSpPr>
              <a:spLocks noChangeArrowheads="1"/>
            </p:cNvSpPr>
            <p:nvPr/>
          </p:nvSpPr>
          <p:spPr bwMode="auto">
            <a:xfrm>
              <a:off x="1960694" y="2373025"/>
              <a:ext cx="72136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600" b="1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600" b="1">
                <a:latin typeface="+mn-ea"/>
                <a:ea typeface="+mn-ea"/>
              </a:endParaRPr>
            </a:p>
          </p:txBody>
        </p:sp>
        <p:grpSp>
          <p:nvGrpSpPr>
            <p:cNvPr id="14" name="Group 13"/>
            <p:cNvGrpSpPr>
              <a:grpSpLocks/>
            </p:cNvGrpSpPr>
            <p:nvPr/>
          </p:nvGrpSpPr>
          <p:grpSpPr bwMode="auto">
            <a:xfrm>
              <a:off x="2088994" y="3883630"/>
              <a:ext cx="5016238" cy="786507"/>
              <a:chOff x="796" y="1969"/>
              <a:chExt cx="3128" cy="505"/>
            </a:xfrm>
            <a:solidFill>
              <a:schemeClr val="tx2">
                <a:lumMod val="20000"/>
                <a:lumOff val="80000"/>
              </a:schemeClr>
            </a:solidFill>
          </p:grpSpPr>
          <p:grpSp>
            <p:nvGrpSpPr>
              <p:cNvPr id="15" name="Group 11"/>
              <p:cNvGrpSpPr>
                <a:grpSpLocks/>
              </p:cNvGrpSpPr>
              <p:nvPr/>
            </p:nvGrpSpPr>
            <p:grpSpPr bwMode="auto">
              <a:xfrm>
                <a:off x="796" y="1969"/>
                <a:ext cx="3128" cy="505"/>
                <a:chOff x="796" y="1969"/>
                <a:chExt cx="3128" cy="505"/>
              </a:xfrm>
              <a:grpFill/>
            </p:grpSpPr>
            <p:sp>
              <p:nvSpPr>
                <p:cNvPr id="17" name="Rectangle 7"/>
                <p:cNvSpPr>
                  <a:spLocks noChangeArrowheads="1"/>
                </p:cNvSpPr>
                <p:nvPr/>
              </p:nvSpPr>
              <p:spPr bwMode="auto">
                <a:xfrm>
                  <a:off x="796" y="1969"/>
                  <a:ext cx="3127" cy="504"/>
                </a:xfrm>
                <a:prstGeom prst="roundRect">
                  <a:avLst/>
                </a:pr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  <p:sp>
              <p:nvSpPr>
                <p:cNvPr id="18" name="Rectangle 8"/>
                <p:cNvSpPr>
                  <a:spLocks noChangeArrowheads="1"/>
                </p:cNvSpPr>
                <p:nvPr/>
              </p:nvSpPr>
              <p:spPr bwMode="auto">
                <a:xfrm>
                  <a:off x="796" y="1969"/>
                  <a:ext cx="3127" cy="504"/>
                </a:xfrm>
                <a:prstGeom prst="roundRect">
                  <a:avLst/>
                </a:pr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  <p:sp>
              <p:nvSpPr>
                <p:cNvPr id="19" name="Rectangle 9"/>
                <p:cNvSpPr>
                  <a:spLocks noChangeArrowheads="1"/>
                </p:cNvSpPr>
                <p:nvPr/>
              </p:nvSpPr>
              <p:spPr bwMode="auto">
                <a:xfrm>
                  <a:off x="796" y="1969"/>
                  <a:ext cx="3128" cy="505"/>
                </a:xfrm>
                <a:prstGeom prst="roundRect">
                  <a:avLst/>
                </a:pr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  <p:sp>
              <p:nvSpPr>
                <p:cNvPr id="20" name="Rectangle 10"/>
                <p:cNvSpPr>
                  <a:spLocks noChangeArrowheads="1"/>
                </p:cNvSpPr>
                <p:nvPr/>
              </p:nvSpPr>
              <p:spPr bwMode="auto">
                <a:xfrm>
                  <a:off x="796" y="1969"/>
                  <a:ext cx="3127" cy="504"/>
                </a:xfrm>
                <a:prstGeom prst="roundRect">
                  <a:avLst/>
                </a:pr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796" y="1969"/>
                <a:ext cx="3128" cy="505"/>
              </a:xfrm>
              <a:prstGeom prst="roundRect">
                <a:avLst/>
              </a:prstGeom>
              <a:grp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endParaRPr lang="ko-KR" altLang="en-US" sz="1200">
                  <a:latin typeface="+mn-ea"/>
                  <a:ea typeface="+mn-ea"/>
                </a:endParaRPr>
              </a:p>
            </p:txBody>
          </p:sp>
        </p:grpSp>
        <p:grpSp>
          <p:nvGrpSpPr>
            <p:cNvPr id="21" name="Group 20"/>
            <p:cNvGrpSpPr>
              <a:grpSpLocks/>
            </p:cNvGrpSpPr>
            <p:nvPr/>
          </p:nvGrpSpPr>
          <p:grpSpPr bwMode="auto">
            <a:xfrm>
              <a:off x="2088994" y="2611150"/>
              <a:ext cx="5016238" cy="1200472"/>
              <a:chOff x="829" y="1177"/>
              <a:chExt cx="3127" cy="721"/>
            </a:xfrm>
            <a:solidFill>
              <a:schemeClr val="tx2">
                <a:lumMod val="20000"/>
                <a:lumOff val="80000"/>
              </a:schemeClr>
            </a:solidFill>
          </p:grpSpPr>
          <p:grpSp>
            <p:nvGrpSpPr>
              <p:cNvPr id="22" name="Group 18"/>
              <p:cNvGrpSpPr>
                <a:grpSpLocks/>
              </p:cNvGrpSpPr>
              <p:nvPr/>
            </p:nvGrpSpPr>
            <p:grpSpPr bwMode="auto">
              <a:xfrm>
                <a:off x="829" y="1177"/>
                <a:ext cx="3127" cy="721"/>
                <a:chOff x="829" y="1177"/>
                <a:chExt cx="3127" cy="721"/>
              </a:xfrm>
              <a:grpFill/>
            </p:grpSpPr>
            <p:sp>
              <p:nvSpPr>
                <p:cNvPr id="24" name="Rectangle 14"/>
                <p:cNvSpPr>
                  <a:spLocks noChangeArrowheads="1"/>
                </p:cNvSpPr>
                <p:nvPr/>
              </p:nvSpPr>
              <p:spPr bwMode="auto">
                <a:xfrm>
                  <a:off x="829" y="1177"/>
                  <a:ext cx="3126" cy="720"/>
                </a:xfrm>
                <a:prstGeom prst="roundRect">
                  <a:avLst/>
                </a:pr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  <p:sp>
              <p:nvSpPr>
                <p:cNvPr id="25" name="Rectangle 15"/>
                <p:cNvSpPr>
                  <a:spLocks noChangeArrowheads="1"/>
                </p:cNvSpPr>
                <p:nvPr/>
              </p:nvSpPr>
              <p:spPr bwMode="auto">
                <a:xfrm>
                  <a:off x="829" y="1177"/>
                  <a:ext cx="3126" cy="720"/>
                </a:xfrm>
                <a:prstGeom prst="roundRect">
                  <a:avLst/>
                </a:pr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  <p:sp>
              <p:nvSpPr>
                <p:cNvPr id="26" name="Rectangle 16"/>
                <p:cNvSpPr>
                  <a:spLocks noChangeArrowheads="1"/>
                </p:cNvSpPr>
                <p:nvPr/>
              </p:nvSpPr>
              <p:spPr bwMode="auto">
                <a:xfrm>
                  <a:off x="829" y="1177"/>
                  <a:ext cx="3127" cy="721"/>
                </a:xfrm>
                <a:prstGeom prst="roundRect">
                  <a:avLst/>
                </a:pr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  <p:sp>
              <p:nvSpPr>
                <p:cNvPr id="27" name="Rectangle 17"/>
                <p:cNvSpPr>
                  <a:spLocks noChangeArrowheads="1"/>
                </p:cNvSpPr>
                <p:nvPr/>
              </p:nvSpPr>
              <p:spPr bwMode="auto">
                <a:xfrm>
                  <a:off x="829" y="1177"/>
                  <a:ext cx="3126" cy="720"/>
                </a:xfrm>
                <a:prstGeom prst="roundRect">
                  <a:avLst/>
                </a:prstGeom>
                <a:grpFill/>
                <a:ln w="317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829" y="1177"/>
                <a:ext cx="3127" cy="721"/>
              </a:xfrm>
              <a:prstGeom prst="roundRect">
                <a:avLst/>
              </a:prstGeom>
              <a:grp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endParaRPr lang="ko-KR" altLang="en-US" sz="1200">
                  <a:latin typeface="+mn-ea"/>
                  <a:ea typeface="+mn-ea"/>
                </a:endParaRPr>
              </a:p>
            </p:txBody>
          </p:sp>
        </p:grpSp>
        <p:sp>
          <p:nvSpPr>
            <p:cNvPr id="28" name="Rectangle 21"/>
            <p:cNvSpPr>
              <a:spLocks noChangeArrowheads="1"/>
            </p:cNvSpPr>
            <p:nvPr/>
          </p:nvSpPr>
          <p:spPr bwMode="auto">
            <a:xfrm>
              <a:off x="2162771" y="3172309"/>
              <a:ext cx="1080000" cy="540000"/>
            </a:xfrm>
            <a:prstGeom prst="round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ko-KR" altLang="en-US" sz="1200" dirty="0">
                  <a:latin typeface="+mn-ea"/>
                  <a:ea typeface="+mn-ea"/>
                </a:rPr>
                <a:t>오브젝트 </a:t>
              </a:r>
              <a:endParaRPr lang="en-US" altLang="ko-KR" sz="12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200" dirty="0">
                  <a:latin typeface="+mn-ea"/>
                  <a:ea typeface="+mn-ea"/>
                </a:rPr>
                <a:t>코드</a:t>
              </a:r>
            </a:p>
          </p:txBody>
        </p:sp>
        <p:sp>
          <p:nvSpPr>
            <p:cNvPr id="29" name="Rectangle 25"/>
            <p:cNvSpPr>
              <a:spLocks noChangeArrowheads="1"/>
            </p:cNvSpPr>
            <p:nvPr/>
          </p:nvSpPr>
          <p:spPr bwMode="auto">
            <a:xfrm>
              <a:off x="3042661" y="3355687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auto">
            <a:xfrm>
              <a:off x="3497433" y="3379574"/>
              <a:ext cx="3464103" cy="298647"/>
            </a:xfrm>
            <a:prstGeom prst="round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ko-KR" altLang="en-US" sz="1200" dirty="0">
                  <a:solidFill>
                    <a:srgbClr val="000000"/>
                  </a:solidFill>
                  <a:latin typeface="+mn-ea"/>
                  <a:ea typeface="+mn-ea"/>
                </a:rPr>
                <a:t>질의처리기</a:t>
              </a:r>
              <a:endParaRPr lang="ko-KR" altLang="ko-KR" sz="1200" dirty="0">
                <a:latin typeface="+mn-ea"/>
                <a:ea typeface="+mn-ea"/>
              </a:endParaRPr>
            </a:p>
            <a:p>
              <a:pPr algn="ctr"/>
              <a:endParaRPr lang="ko-KR" altLang="en-US" sz="1200" dirty="0">
                <a:latin typeface="+mn-ea"/>
                <a:ea typeface="+mn-ea"/>
              </a:endParaRPr>
            </a:p>
          </p:txBody>
        </p:sp>
        <p:sp>
          <p:nvSpPr>
            <p:cNvPr id="31" name="Rectangle 28"/>
            <p:cNvSpPr>
              <a:spLocks noChangeArrowheads="1"/>
            </p:cNvSpPr>
            <p:nvPr/>
          </p:nvSpPr>
          <p:spPr bwMode="auto">
            <a:xfrm>
              <a:off x="5039736" y="3347750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32" name="Rectangle 29"/>
            <p:cNvSpPr>
              <a:spLocks noChangeArrowheads="1"/>
            </p:cNvSpPr>
            <p:nvPr/>
          </p:nvSpPr>
          <p:spPr bwMode="auto">
            <a:xfrm>
              <a:off x="4115811" y="3422362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4571423" y="3466812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34" name="Rectangle 32"/>
            <p:cNvSpPr>
              <a:spLocks noChangeArrowheads="1"/>
            </p:cNvSpPr>
            <p:nvPr/>
          </p:nvSpPr>
          <p:spPr bwMode="auto">
            <a:xfrm>
              <a:off x="3509361" y="2725449"/>
              <a:ext cx="1080000" cy="540000"/>
            </a:xfrm>
            <a:prstGeom prst="round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algn="ctr"/>
              <a:r>
                <a:rPr lang="en-US" altLang="ko-KR" sz="1200" dirty="0">
                  <a:solidFill>
                    <a:srgbClr val="000000"/>
                  </a:solidFill>
                  <a:latin typeface="+mn-ea"/>
                  <a:ea typeface="+mn-ea"/>
                </a:rPr>
                <a:t>Embedded </a:t>
              </a:r>
            </a:p>
            <a:p>
              <a:pPr algn="ctr"/>
              <a:r>
                <a:rPr lang="en-US" altLang="ko-KR" sz="1200" dirty="0">
                  <a:solidFill>
                    <a:srgbClr val="000000"/>
                  </a:solidFill>
                  <a:latin typeface="+mn-ea"/>
                  <a:ea typeface="+mn-ea"/>
                </a:rPr>
                <a:t>DML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35" name="Rectangle 36"/>
            <p:cNvSpPr>
              <a:spLocks noChangeArrowheads="1"/>
            </p:cNvSpPr>
            <p:nvPr/>
          </p:nvSpPr>
          <p:spPr bwMode="auto">
            <a:xfrm>
              <a:off x="4265036" y="3012787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36" name="Rectangle 37"/>
            <p:cNvSpPr>
              <a:spLocks noChangeArrowheads="1"/>
            </p:cNvSpPr>
            <p:nvPr/>
          </p:nvSpPr>
          <p:spPr bwMode="auto">
            <a:xfrm>
              <a:off x="4689486" y="2725450"/>
              <a:ext cx="1080000" cy="540000"/>
            </a:xfrm>
            <a:prstGeom prst="round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altLang="ko-KR" sz="1200" dirty="0">
                  <a:solidFill>
                    <a:srgbClr val="000000"/>
                  </a:solidFill>
                  <a:latin typeface="+mn-ea"/>
                  <a:ea typeface="+mn-ea"/>
                </a:rPr>
                <a:t>DML </a:t>
              </a:r>
            </a:p>
            <a:p>
              <a:pPr algn="ctr"/>
              <a:r>
                <a:rPr lang="ko-KR" altLang="en-US" sz="1200" dirty="0">
                  <a:solidFill>
                    <a:srgbClr val="000000"/>
                  </a:solidFill>
                  <a:latin typeface="+mn-ea"/>
                  <a:ea typeface="+mn-ea"/>
                </a:rPr>
                <a:t>컴파일러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37" name="Rectangle 41"/>
            <p:cNvSpPr>
              <a:spLocks noChangeArrowheads="1"/>
            </p:cNvSpPr>
            <p:nvPr/>
          </p:nvSpPr>
          <p:spPr bwMode="auto">
            <a:xfrm>
              <a:off x="5897137" y="2709408"/>
              <a:ext cx="1080000" cy="540000"/>
            </a:xfrm>
            <a:prstGeom prst="round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ko-KR" altLang="ko-KR" sz="1200" dirty="0">
                  <a:solidFill>
                    <a:srgbClr val="000000"/>
                  </a:solidFill>
                  <a:latin typeface="+mn-ea"/>
                  <a:ea typeface="+mn-ea"/>
                </a:rPr>
                <a:t>D</a:t>
              </a:r>
              <a:r>
                <a:rPr lang="en-US" altLang="ko-KR" sz="1200" dirty="0">
                  <a:solidFill>
                    <a:srgbClr val="000000"/>
                  </a:solidFill>
                  <a:latin typeface="+mn-ea"/>
                  <a:ea typeface="+mn-ea"/>
                </a:rPr>
                <a:t>DL</a:t>
              </a:r>
            </a:p>
            <a:p>
              <a:pPr algn="ctr"/>
              <a:r>
                <a:rPr lang="ko-KR" altLang="en-US" sz="1200" dirty="0">
                  <a:solidFill>
                    <a:srgbClr val="000000"/>
                  </a:solidFill>
                  <a:latin typeface="+mn-ea"/>
                  <a:ea typeface="+mn-ea"/>
                </a:rPr>
                <a:t>컴파일러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38" name="Rectangle 44"/>
            <p:cNvSpPr>
              <a:spLocks noChangeArrowheads="1"/>
            </p:cNvSpPr>
            <p:nvPr/>
          </p:nvSpPr>
          <p:spPr bwMode="auto">
            <a:xfrm>
              <a:off x="6549448" y="2895312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39" name="Rectangle 45"/>
            <p:cNvSpPr>
              <a:spLocks noChangeArrowheads="1"/>
            </p:cNvSpPr>
            <p:nvPr/>
          </p:nvSpPr>
          <p:spPr bwMode="auto">
            <a:xfrm>
              <a:off x="2675009" y="3982749"/>
              <a:ext cx="1553912" cy="549650"/>
            </a:xfrm>
            <a:prstGeom prst="round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rIns="36000" anchor="b"/>
            <a:lstStyle/>
            <a:p>
              <a:pPr algn="ctr"/>
              <a:r>
                <a:rPr lang="ko-KR" altLang="en-US" sz="1200" dirty="0">
                  <a:solidFill>
                    <a:srgbClr val="000000"/>
                  </a:solidFill>
                  <a:latin typeface="+mn-ea"/>
                  <a:ea typeface="+mn-ea"/>
                </a:rPr>
                <a:t>트랜잭션</a:t>
              </a:r>
              <a:endParaRPr lang="en-US" altLang="ko-KR" sz="1200" dirty="0">
                <a:solidFill>
                  <a:srgbClr val="000000"/>
                </a:solidFill>
                <a:latin typeface="+mn-ea"/>
                <a:ea typeface="+mn-ea"/>
              </a:endParaRPr>
            </a:p>
            <a:p>
              <a:pPr algn="ctr"/>
              <a:r>
                <a:rPr lang="ko-KR" altLang="en-US" sz="1200" dirty="0">
                  <a:solidFill>
                    <a:srgbClr val="000000"/>
                  </a:solidFill>
                  <a:latin typeface="+mn-ea"/>
                  <a:ea typeface="+mn-ea"/>
                </a:rPr>
                <a:t>관리자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40" name="Rectangle 50"/>
            <p:cNvSpPr>
              <a:spLocks noChangeArrowheads="1"/>
            </p:cNvSpPr>
            <p:nvPr/>
          </p:nvSpPr>
          <p:spPr bwMode="auto">
            <a:xfrm>
              <a:off x="5621409" y="3992399"/>
              <a:ext cx="1080000" cy="540000"/>
            </a:xfrm>
            <a:prstGeom prst="round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algn="ctr"/>
              <a:r>
                <a:rPr lang="ko-KR" altLang="en-US" sz="1200" dirty="0">
                  <a:solidFill>
                    <a:srgbClr val="000000"/>
                  </a:solidFill>
                  <a:latin typeface="+mn-ea"/>
                  <a:ea typeface="+mn-ea"/>
                </a:rPr>
                <a:t>버퍼 관리자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41" name="Rectangle 52"/>
            <p:cNvSpPr>
              <a:spLocks noChangeArrowheads="1"/>
            </p:cNvSpPr>
            <p:nvPr/>
          </p:nvSpPr>
          <p:spPr bwMode="auto">
            <a:xfrm>
              <a:off x="4961948" y="4036725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42" name="Rectangle 53"/>
            <p:cNvSpPr>
              <a:spLocks noChangeArrowheads="1"/>
            </p:cNvSpPr>
            <p:nvPr/>
          </p:nvSpPr>
          <p:spPr bwMode="auto">
            <a:xfrm>
              <a:off x="7248827" y="2725450"/>
              <a:ext cx="931862" cy="3444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ko-KR" altLang="en-US" sz="1200">
                <a:latin typeface="+mn-ea"/>
                <a:ea typeface="+mn-ea"/>
              </a:endParaRPr>
            </a:p>
          </p:txBody>
        </p:sp>
        <p:sp>
          <p:nvSpPr>
            <p:cNvPr id="43" name="Rectangle 54"/>
            <p:cNvSpPr>
              <a:spLocks noChangeArrowheads="1"/>
            </p:cNvSpPr>
            <p:nvPr/>
          </p:nvSpPr>
          <p:spPr bwMode="auto">
            <a:xfrm>
              <a:off x="1269164" y="1322414"/>
              <a:ext cx="461666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en-US" sz="1200" b="1" dirty="0">
                  <a:latin typeface="+mn-ea"/>
                  <a:ea typeface="+mn-ea"/>
                </a:rPr>
                <a:t>사용자</a:t>
              </a:r>
              <a:endParaRPr lang="ko-KR" altLang="ko-KR" sz="1200" b="1" dirty="0">
                <a:latin typeface="+mn-ea"/>
                <a:ea typeface="+mn-ea"/>
              </a:endParaRPr>
            </a:p>
          </p:txBody>
        </p:sp>
        <p:sp>
          <p:nvSpPr>
            <p:cNvPr id="44" name="Rectangle 125"/>
            <p:cNvSpPr>
              <a:spLocks noChangeArrowheads="1"/>
            </p:cNvSpPr>
            <p:nvPr/>
          </p:nvSpPr>
          <p:spPr bwMode="auto">
            <a:xfrm>
              <a:off x="4394999" y="3992399"/>
              <a:ext cx="1080000" cy="540000"/>
            </a:xfrm>
            <a:prstGeom prst="roundRect">
              <a:avLst/>
            </a:prstGeom>
            <a:solidFill>
              <a:srgbClr val="FFFFFF"/>
            </a:solidFill>
            <a:ln w="31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rIns="36000" anchor="ctr"/>
            <a:lstStyle/>
            <a:p>
              <a:pPr algn="ctr"/>
              <a:r>
                <a:rPr lang="ko-KR" altLang="en-US" sz="1200" dirty="0">
                  <a:solidFill>
                    <a:srgbClr val="000000"/>
                  </a:solidFill>
                  <a:latin typeface="+mn-ea"/>
                  <a:ea typeface="+mn-ea"/>
                </a:rPr>
                <a:t>파일 관리자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45" name="Rectangle 127"/>
            <p:cNvSpPr>
              <a:spLocks noChangeArrowheads="1"/>
            </p:cNvSpPr>
            <p:nvPr/>
          </p:nvSpPr>
          <p:spPr bwMode="auto">
            <a:xfrm>
              <a:off x="4788911" y="4379625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46" name="Rectangle 131"/>
            <p:cNvSpPr>
              <a:spLocks noChangeArrowheads="1"/>
            </p:cNvSpPr>
            <p:nvPr/>
          </p:nvSpPr>
          <p:spPr bwMode="auto">
            <a:xfrm>
              <a:off x="2197076" y="1340067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grpSp>
          <p:nvGrpSpPr>
            <p:cNvPr id="47" name="Group 138"/>
            <p:cNvGrpSpPr>
              <a:grpSpLocks/>
            </p:cNvGrpSpPr>
            <p:nvPr/>
          </p:nvGrpSpPr>
          <p:grpSpPr bwMode="auto">
            <a:xfrm>
              <a:off x="2064673" y="1106390"/>
              <a:ext cx="5040560" cy="578165"/>
              <a:chOff x="836" y="538"/>
              <a:chExt cx="3353" cy="217"/>
            </a:xfrm>
            <a:solidFill>
              <a:schemeClr val="tx2">
                <a:lumMod val="20000"/>
                <a:lumOff val="80000"/>
              </a:schemeClr>
            </a:solidFill>
          </p:grpSpPr>
          <p:grpSp>
            <p:nvGrpSpPr>
              <p:cNvPr id="48" name="Group 136"/>
              <p:cNvGrpSpPr>
                <a:grpSpLocks/>
              </p:cNvGrpSpPr>
              <p:nvPr/>
            </p:nvGrpSpPr>
            <p:grpSpPr bwMode="auto">
              <a:xfrm>
                <a:off x="875" y="538"/>
                <a:ext cx="2891" cy="217"/>
                <a:chOff x="875" y="538"/>
                <a:chExt cx="2891" cy="217"/>
              </a:xfrm>
              <a:grpFill/>
            </p:grpSpPr>
            <p:sp>
              <p:nvSpPr>
                <p:cNvPr id="50" name="Rectangle 132"/>
                <p:cNvSpPr>
                  <a:spLocks noChangeArrowheads="1"/>
                </p:cNvSpPr>
                <p:nvPr/>
              </p:nvSpPr>
              <p:spPr bwMode="auto">
                <a:xfrm>
                  <a:off x="875" y="538"/>
                  <a:ext cx="2890" cy="216"/>
                </a:xfrm>
                <a:prstGeom prst="roundRect">
                  <a:avLst/>
                </a:prstGeom>
                <a:grpFill/>
                <a:ln w="952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  <p:sp>
              <p:nvSpPr>
                <p:cNvPr id="51" name="Rectangle 133"/>
                <p:cNvSpPr>
                  <a:spLocks noChangeArrowheads="1"/>
                </p:cNvSpPr>
                <p:nvPr/>
              </p:nvSpPr>
              <p:spPr bwMode="auto">
                <a:xfrm>
                  <a:off x="875" y="538"/>
                  <a:ext cx="2890" cy="216"/>
                </a:xfrm>
                <a:prstGeom prst="roundRect">
                  <a:avLst/>
                </a:prstGeom>
                <a:grpFill/>
                <a:ln w="0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  <p:sp>
              <p:nvSpPr>
                <p:cNvPr id="52" name="Rectangle 134"/>
                <p:cNvSpPr>
                  <a:spLocks noChangeArrowheads="1"/>
                </p:cNvSpPr>
                <p:nvPr/>
              </p:nvSpPr>
              <p:spPr bwMode="auto">
                <a:xfrm>
                  <a:off x="875" y="538"/>
                  <a:ext cx="2891" cy="217"/>
                </a:xfrm>
                <a:prstGeom prst="roundRect">
                  <a:avLst/>
                </a:prstGeom>
                <a:grpFill/>
                <a:ln w="952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  <p:sp>
              <p:nvSpPr>
                <p:cNvPr id="53" name="Rectangle 135"/>
                <p:cNvSpPr>
                  <a:spLocks noChangeArrowheads="1"/>
                </p:cNvSpPr>
                <p:nvPr/>
              </p:nvSpPr>
              <p:spPr bwMode="auto">
                <a:xfrm>
                  <a:off x="875" y="538"/>
                  <a:ext cx="2890" cy="216"/>
                </a:xfrm>
                <a:prstGeom prst="roundRect">
                  <a:avLst/>
                </a:prstGeom>
                <a:grpFill/>
                <a:ln w="9525">
                  <a:solidFill>
                    <a:schemeClr val="bg1">
                      <a:lumMod val="50000"/>
                    </a:schemeClr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en-US" sz="120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9" name="Rectangle 137"/>
              <p:cNvSpPr>
                <a:spLocks noChangeArrowheads="1"/>
              </p:cNvSpPr>
              <p:nvPr/>
            </p:nvSpPr>
            <p:spPr bwMode="auto">
              <a:xfrm>
                <a:off x="836" y="538"/>
                <a:ext cx="3353" cy="217"/>
              </a:xfrm>
              <a:prstGeom prst="roundRect">
                <a:avLst/>
              </a:prstGeom>
              <a:grpFill/>
              <a:ln w="11113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endParaRPr lang="ko-KR" altLang="en-US" sz="1200">
                  <a:latin typeface="+mn-ea"/>
                  <a:ea typeface="+mn-ea"/>
                </a:endParaRPr>
              </a:p>
            </p:txBody>
          </p:sp>
        </p:grpSp>
        <p:sp>
          <p:nvSpPr>
            <p:cNvPr id="54" name="Rectangle 139"/>
            <p:cNvSpPr>
              <a:spLocks noChangeArrowheads="1"/>
            </p:cNvSpPr>
            <p:nvPr/>
          </p:nvSpPr>
          <p:spPr bwMode="auto">
            <a:xfrm>
              <a:off x="2374227" y="1295867"/>
              <a:ext cx="819134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en-US" sz="1200" dirty="0">
                  <a:latin typeface="+mn-ea"/>
                  <a:ea typeface="+mn-ea"/>
                </a:rPr>
                <a:t>일반</a:t>
              </a:r>
              <a:r>
                <a:rPr lang="en-US" altLang="ko-KR" sz="1200" dirty="0">
                  <a:latin typeface="+mn-ea"/>
                  <a:ea typeface="+mn-ea"/>
                </a:rPr>
                <a:t> </a:t>
              </a:r>
              <a:r>
                <a:rPr lang="ko-KR" altLang="en-US" sz="1200" dirty="0">
                  <a:latin typeface="+mn-ea"/>
                  <a:ea typeface="+mn-ea"/>
                </a:rPr>
                <a:t>사용자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55" name="Rectangle 140"/>
            <p:cNvSpPr>
              <a:spLocks noChangeArrowheads="1"/>
            </p:cNvSpPr>
            <p:nvPr/>
          </p:nvSpPr>
          <p:spPr bwMode="auto">
            <a:xfrm>
              <a:off x="2841680" y="1390867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56" name="Rectangle 141"/>
            <p:cNvSpPr>
              <a:spLocks noChangeArrowheads="1"/>
            </p:cNvSpPr>
            <p:nvPr/>
          </p:nvSpPr>
          <p:spPr bwMode="auto">
            <a:xfrm>
              <a:off x="2845996" y="1390867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57" name="Rectangle 142"/>
            <p:cNvSpPr>
              <a:spLocks noChangeArrowheads="1"/>
            </p:cNvSpPr>
            <p:nvPr/>
          </p:nvSpPr>
          <p:spPr bwMode="auto">
            <a:xfrm>
              <a:off x="3629144" y="1173835"/>
              <a:ext cx="769441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rgbClr val="000000"/>
                  </a:solidFill>
                  <a:latin typeface="+mn-ea"/>
                  <a:ea typeface="+mn-ea"/>
                </a:rPr>
                <a:t>응용 </a:t>
              </a:r>
              <a:endParaRPr lang="en-US" altLang="ko-KR" sz="1200" dirty="0">
                <a:solidFill>
                  <a:srgbClr val="000000"/>
                </a:solidFill>
                <a:latin typeface="+mn-ea"/>
                <a:ea typeface="+mn-ea"/>
              </a:endParaRPr>
            </a:p>
            <a:p>
              <a:pPr algn="ctr"/>
              <a:r>
                <a:rPr lang="ko-KR" altLang="en-US" sz="1200" dirty="0">
                  <a:solidFill>
                    <a:srgbClr val="000000"/>
                  </a:solidFill>
                  <a:latin typeface="+mn-ea"/>
                  <a:ea typeface="+mn-ea"/>
                </a:rPr>
                <a:t>프로그래머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58" name="Rectangle 145"/>
            <p:cNvSpPr>
              <a:spLocks noChangeArrowheads="1"/>
            </p:cNvSpPr>
            <p:nvPr/>
          </p:nvSpPr>
          <p:spPr bwMode="auto">
            <a:xfrm>
              <a:off x="4826331" y="1316752"/>
              <a:ext cx="80631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  <a:ea typeface="+mn-ea"/>
                </a:rPr>
                <a:t>SQL </a:t>
              </a:r>
              <a:r>
                <a:rPr lang="ko-KR" altLang="en-US" sz="1200" dirty="0">
                  <a:latin typeface="+mn-ea"/>
                  <a:ea typeface="+mn-ea"/>
                </a:rPr>
                <a:t>사용자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59" name="Rectangle 147"/>
            <p:cNvSpPr>
              <a:spLocks noChangeArrowheads="1"/>
            </p:cNvSpPr>
            <p:nvPr/>
          </p:nvSpPr>
          <p:spPr bwMode="auto">
            <a:xfrm>
              <a:off x="6169010" y="1295867"/>
              <a:ext cx="518297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000000"/>
                  </a:solidFill>
                  <a:latin typeface="+mn-ea"/>
                  <a:ea typeface="+mn-ea"/>
                </a:rPr>
                <a:t>DBA</a:t>
              </a:r>
              <a:endParaRPr lang="ko-KR" altLang="ko-KR" sz="1200" dirty="0">
                <a:latin typeface="+mn-ea"/>
                <a:ea typeface="+mn-ea"/>
              </a:endParaRPr>
            </a:p>
          </p:txBody>
        </p:sp>
        <p:sp>
          <p:nvSpPr>
            <p:cNvPr id="60" name="Rectangle 148"/>
            <p:cNvSpPr>
              <a:spLocks noChangeArrowheads="1"/>
            </p:cNvSpPr>
            <p:nvPr/>
          </p:nvSpPr>
          <p:spPr bwMode="auto">
            <a:xfrm>
              <a:off x="5939518" y="1390867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61" name="Rectangle 150"/>
            <p:cNvSpPr>
              <a:spLocks noChangeArrowheads="1"/>
            </p:cNvSpPr>
            <p:nvPr/>
          </p:nvSpPr>
          <p:spPr bwMode="auto">
            <a:xfrm>
              <a:off x="3243118" y="1509929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62" name="Rectangle 154"/>
            <p:cNvSpPr>
              <a:spLocks noChangeArrowheads="1"/>
            </p:cNvSpPr>
            <p:nvPr/>
          </p:nvSpPr>
          <p:spPr bwMode="auto">
            <a:xfrm>
              <a:off x="4700670" y="1509929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63" name="Rectangle 155"/>
            <p:cNvSpPr>
              <a:spLocks noChangeArrowheads="1"/>
            </p:cNvSpPr>
            <p:nvPr/>
          </p:nvSpPr>
          <p:spPr bwMode="auto">
            <a:xfrm>
              <a:off x="4992756" y="1509929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64" name="Rectangle 157"/>
            <p:cNvSpPr>
              <a:spLocks noChangeArrowheads="1"/>
            </p:cNvSpPr>
            <p:nvPr/>
          </p:nvSpPr>
          <p:spPr bwMode="auto">
            <a:xfrm>
              <a:off x="6165417" y="1509929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65" name="Rectangle 163"/>
            <p:cNvSpPr>
              <a:spLocks noChangeArrowheads="1"/>
            </p:cNvSpPr>
            <p:nvPr/>
          </p:nvSpPr>
          <p:spPr bwMode="auto">
            <a:xfrm>
              <a:off x="3418966" y="1909561"/>
              <a:ext cx="1237994" cy="461901"/>
            </a:xfrm>
            <a:prstGeom prst="round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/>
              <a:r>
                <a:rPr lang="ko-KR" altLang="en-US" sz="1200" dirty="0">
                  <a:latin typeface="+mn-ea"/>
                  <a:ea typeface="+mn-ea"/>
                </a:rPr>
                <a:t>응용 프로그램</a:t>
              </a:r>
              <a:endParaRPr lang="en-US" altLang="ko-KR" sz="12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200" dirty="0">
                  <a:latin typeface="+mn-ea"/>
                  <a:ea typeface="+mn-ea"/>
                </a:rPr>
                <a:t>개발</a:t>
              </a:r>
            </a:p>
          </p:txBody>
        </p:sp>
        <p:sp>
          <p:nvSpPr>
            <p:cNvPr id="66" name="Rectangle 167"/>
            <p:cNvSpPr>
              <a:spLocks noChangeArrowheads="1"/>
            </p:cNvSpPr>
            <p:nvPr/>
          </p:nvSpPr>
          <p:spPr bwMode="auto">
            <a:xfrm>
              <a:off x="4728967" y="1909561"/>
              <a:ext cx="1009849" cy="461901"/>
            </a:xfrm>
            <a:prstGeom prst="round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/>
              <a:r>
                <a:rPr lang="en-US" altLang="ko-KR" sz="1200" dirty="0">
                  <a:latin typeface="+mn-ea"/>
                  <a:ea typeface="+mn-ea"/>
                </a:rPr>
                <a:t>SQL</a:t>
              </a:r>
            </a:p>
            <a:p>
              <a:pPr algn="ctr"/>
              <a:r>
                <a:rPr lang="ko-KR" altLang="en-US" sz="1200" dirty="0">
                  <a:latin typeface="+mn-ea"/>
                  <a:ea typeface="+mn-ea"/>
                </a:rPr>
                <a:t>질의</a:t>
              </a:r>
            </a:p>
          </p:txBody>
        </p:sp>
        <p:sp>
          <p:nvSpPr>
            <p:cNvPr id="67" name="Rectangle 170"/>
            <p:cNvSpPr>
              <a:spLocks noChangeArrowheads="1"/>
            </p:cNvSpPr>
            <p:nvPr/>
          </p:nvSpPr>
          <p:spPr bwMode="auto">
            <a:xfrm>
              <a:off x="5808890" y="1909561"/>
              <a:ext cx="1224333" cy="461901"/>
            </a:xfrm>
            <a:prstGeom prst="round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/>
              <a:r>
                <a:rPr lang="ko-KR" altLang="en-US" sz="1200" dirty="0">
                  <a:latin typeface="+mn-ea"/>
                  <a:ea typeface="+mn-ea"/>
                </a:rPr>
                <a:t>데이터베이스 </a:t>
              </a:r>
              <a:endParaRPr lang="en-US" altLang="ko-KR" sz="1200" dirty="0">
                <a:latin typeface="+mn-ea"/>
                <a:ea typeface="+mn-ea"/>
              </a:endParaRPr>
            </a:p>
            <a:p>
              <a:pPr algn="ctr"/>
              <a:r>
                <a:rPr lang="ko-KR" altLang="en-US" sz="1200" dirty="0">
                  <a:latin typeface="+mn-ea"/>
                  <a:ea typeface="+mn-ea"/>
                </a:rPr>
                <a:t>스키마</a:t>
              </a:r>
            </a:p>
          </p:txBody>
        </p:sp>
        <p:sp>
          <p:nvSpPr>
            <p:cNvPr id="68" name="Rectangle 172"/>
            <p:cNvSpPr>
              <a:spLocks noChangeArrowheads="1"/>
            </p:cNvSpPr>
            <p:nvPr/>
          </p:nvSpPr>
          <p:spPr bwMode="auto">
            <a:xfrm>
              <a:off x="6074769" y="1961948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69" name="Rectangle 174"/>
            <p:cNvSpPr>
              <a:spLocks noChangeArrowheads="1"/>
            </p:cNvSpPr>
            <p:nvPr/>
          </p:nvSpPr>
          <p:spPr bwMode="auto">
            <a:xfrm>
              <a:off x="6020093" y="2081011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70" name="Rectangle 177"/>
            <p:cNvSpPr>
              <a:spLocks noChangeArrowheads="1"/>
            </p:cNvSpPr>
            <p:nvPr/>
          </p:nvSpPr>
          <p:spPr bwMode="auto">
            <a:xfrm>
              <a:off x="6707862" y="1389279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71" name="아래쪽 화살표 70"/>
            <p:cNvSpPr/>
            <p:nvPr/>
          </p:nvSpPr>
          <p:spPr>
            <a:xfrm>
              <a:off x="2665757" y="1706397"/>
              <a:ext cx="118995" cy="177993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>
                <a:latin typeface="+mn-ea"/>
              </a:endParaRPr>
            </a:p>
          </p:txBody>
        </p:sp>
        <p:sp>
          <p:nvSpPr>
            <p:cNvPr id="72" name="위쪽/아래쪽 화살표 71"/>
            <p:cNvSpPr/>
            <p:nvPr/>
          </p:nvSpPr>
          <p:spPr>
            <a:xfrm>
              <a:off x="4545752" y="4667878"/>
              <a:ext cx="135205" cy="345299"/>
            </a:xfrm>
            <a:prstGeom prst="up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+mn-ea"/>
              </a:endParaRPr>
            </a:p>
          </p:txBody>
        </p:sp>
        <p:sp>
          <p:nvSpPr>
            <p:cNvPr id="73" name="Rectangle 163"/>
            <p:cNvSpPr>
              <a:spLocks noChangeArrowheads="1"/>
            </p:cNvSpPr>
            <p:nvPr/>
          </p:nvSpPr>
          <p:spPr bwMode="auto">
            <a:xfrm>
              <a:off x="2064673" y="1909561"/>
              <a:ext cx="1237994" cy="461901"/>
            </a:xfrm>
            <a:prstGeom prst="round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tIns="36000" rIns="36000" bIns="36000"/>
            <a:lstStyle/>
            <a:p>
              <a:pPr algn="ctr"/>
              <a:r>
                <a:rPr lang="ko-KR" altLang="en-US" sz="1200" dirty="0">
                  <a:latin typeface="+mn-ea"/>
                  <a:ea typeface="+mn-ea"/>
                </a:rPr>
                <a:t>응용 프로그램 화면</a:t>
              </a:r>
            </a:p>
          </p:txBody>
        </p:sp>
        <p:sp>
          <p:nvSpPr>
            <p:cNvPr id="74" name="아래쪽 화살표 73"/>
            <p:cNvSpPr/>
            <p:nvPr/>
          </p:nvSpPr>
          <p:spPr>
            <a:xfrm rot="16200000">
              <a:off x="3323142" y="3391213"/>
              <a:ext cx="129169" cy="206693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>
                <a:latin typeface="+mn-ea"/>
              </a:endParaRPr>
            </a:p>
          </p:txBody>
        </p:sp>
        <p:sp>
          <p:nvSpPr>
            <p:cNvPr id="75" name="아래쪽 화살표 74"/>
            <p:cNvSpPr/>
            <p:nvPr/>
          </p:nvSpPr>
          <p:spPr>
            <a:xfrm>
              <a:off x="3978465" y="1706397"/>
              <a:ext cx="118995" cy="177993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>
                <a:latin typeface="+mn-ea"/>
              </a:endParaRPr>
            </a:p>
          </p:txBody>
        </p:sp>
        <p:sp>
          <p:nvSpPr>
            <p:cNvPr id="76" name="아래쪽 화살표 75"/>
            <p:cNvSpPr/>
            <p:nvPr/>
          </p:nvSpPr>
          <p:spPr>
            <a:xfrm>
              <a:off x="5169988" y="1706397"/>
              <a:ext cx="118995" cy="177993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>
                <a:latin typeface="+mn-ea"/>
              </a:endParaRPr>
            </a:p>
          </p:txBody>
        </p:sp>
        <p:sp>
          <p:nvSpPr>
            <p:cNvPr id="77" name="아래쪽 화살표 76"/>
            <p:cNvSpPr/>
            <p:nvPr/>
          </p:nvSpPr>
          <p:spPr>
            <a:xfrm>
              <a:off x="6328280" y="1706397"/>
              <a:ext cx="118995" cy="177993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>
                <a:latin typeface="+mn-ea"/>
              </a:endParaRPr>
            </a:p>
          </p:txBody>
        </p:sp>
        <p:sp>
          <p:nvSpPr>
            <p:cNvPr id="78" name="아래쪽 화살표 77"/>
            <p:cNvSpPr/>
            <p:nvPr/>
          </p:nvSpPr>
          <p:spPr>
            <a:xfrm>
              <a:off x="2665757" y="2373025"/>
              <a:ext cx="118037" cy="799284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>
                <a:latin typeface="+mn-ea"/>
              </a:endParaRPr>
            </a:p>
          </p:txBody>
        </p:sp>
        <p:sp>
          <p:nvSpPr>
            <p:cNvPr id="79" name="Rectangle 172"/>
            <p:cNvSpPr>
              <a:spLocks noChangeArrowheads="1"/>
            </p:cNvSpPr>
            <p:nvPr/>
          </p:nvSpPr>
          <p:spPr bwMode="auto">
            <a:xfrm>
              <a:off x="6074769" y="2638667"/>
              <a:ext cx="54502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ko-KR" sz="1200">
                  <a:solidFill>
                    <a:srgbClr val="000000"/>
                  </a:solidFill>
                  <a:latin typeface="+mn-ea"/>
                  <a:ea typeface="+mn-ea"/>
                </a:rPr>
                <a:t> </a:t>
              </a:r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80" name="아래쪽 화살표 79"/>
            <p:cNvSpPr/>
            <p:nvPr/>
          </p:nvSpPr>
          <p:spPr>
            <a:xfrm>
              <a:off x="3978465" y="2383116"/>
              <a:ext cx="118995" cy="347884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>
                <a:latin typeface="+mn-ea"/>
              </a:endParaRPr>
            </a:p>
          </p:txBody>
        </p:sp>
        <p:sp>
          <p:nvSpPr>
            <p:cNvPr id="81" name="아래쪽 화살표 80"/>
            <p:cNvSpPr/>
            <p:nvPr/>
          </p:nvSpPr>
          <p:spPr>
            <a:xfrm>
              <a:off x="5193877" y="2383116"/>
              <a:ext cx="118995" cy="347884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>
                <a:latin typeface="+mn-ea"/>
              </a:endParaRPr>
            </a:p>
          </p:txBody>
        </p:sp>
        <p:sp>
          <p:nvSpPr>
            <p:cNvPr id="82" name="아래쪽 화살표 81"/>
            <p:cNvSpPr/>
            <p:nvPr/>
          </p:nvSpPr>
          <p:spPr>
            <a:xfrm>
              <a:off x="6328701" y="2383116"/>
              <a:ext cx="118995" cy="347884"/>
            </a:xfrm>
            <a:prstGeom prst="downArrow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200">
                <a:latin typeface="+mn-ea"/>
              </a:endParaRPr>
            </a:p>
          </p:txBody>
        </p:sp>
        <p:sp>
          <p:nvSpPr>
            <p:cNvPr id="83" name="Rectangle 54"/>
            <p:cNvSpPr>
              <a:spLocks noChangeArrowheads="1"/>
            </p:cNvSpPr>
            <p:nvPr/>
          </p:nvSpPr>
          <p:spPr bwMode="auto">
            <a:xfrm>
              <a:off x="1115277" y="2114502"/>
              <a:ext cx="769441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en-US" sz="1200" b="1" dirty="0">
                  <a:latin typeface="+mn-ea"/>
                  <a:ea typeface="+mn-ea"/>
                </a:rPr>
                <a:t>인터페이스</a:t>
              </a:r>
              <a:endParaRPr lang="ko-KR" altLang="ko-KR" sz="1200" b="1" dirty="0">
                <a:latin typeface="+mn-ea"/>
                <a:ea typeface="+mn-ea"/>
              </a:endParaRPr>
            </a:p>
          </p:txBody>
        </p:sp>
        <p:sp>
          <p:nvSpPr>
            <p:cNvPr id="84" name="Rectangle 54"/>
            <p:cNvSpPr>
              <a:spLocks noChangeArrowheads="1"/>
            </p:cNvSpPr>
            <p:nvPr/>
          </p:nvSpPr>
          <p:spPr bwMode="auto">
            <a:xfrm>
              <a:off x="1275577" y="3482654"/>
              <a:ext cx="448841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altLang="ko-KR" sz="1200" b="1" dirty="0">
                  <a:latin typeface="+mn-ea"/>
                  <a:ea typeface="+mn-ea"/>
                </a:rPr>
                <a:t>DBMS</a:t>
              </a:r>
              <a:endParaRPr lang="ko-KR" altLang="ko-KR" sz="1200" b="1" dirty="0">
                <a:latin typeface="+mn-ea"/>
                <a:ea typeface="+mn-ea"/>
              </a:endParaRPr>
            </a:p>
          </p:txBody>
        </p:sp>
        <p:sp>
          <p:nvSpPr>
            <p:cNvPr id="85" name="Rectangle 54"/>
            <p:cNvSpPr>
              <a:spLocks noChangeArrowheads="1"/>
            </p:cNvSpPr>
            <p:nvPr/>
          </p:nvSpPr>
          <p:spPr bwMode="auto">
            <a:xfrm>
              <a:off x="1038332" y="5570886"/>
              <a:ext cx="923330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ko-KR" altLang="en-US" sz="1200" b="1" dirty="0">
                  <a:latin typeface="+mn-ea"/>
                  <a:ea typeface="+mn-ea"/>
                </a:rPr>
                <a:t>데이터베이스</a:t>
              </a:r>
              <a:endParaRPr lang="ko-KR" altLang="ko-KR" sz="1200" b="1" dirty="0">
                <a:latin typeface="+mn-ea"/>
                <a:ea typeface="+mn-ea"/>
              </a:endParaRPr>
            </a:p>
          </p:txBody>
        </p:sp>
        <p:sp>
          <p:nvSpPr>
            <p:cNvPr id="86" name="오른쪽 대괄호 85"/>
            <p:cNvSpPr/>
            <p:nvPr/>
          </p:nvSpPr>
          <p:spPr>
            <a:xfrm>
              <a:off x="7185840" y="2618558"/>
              <a:ext cx="144016" cy="2016224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+mn-ea"/>
              </a:endParaRPr>
            </a:p>
          </p:txBody>
        </p:sp>
        <p:sp>
          <p:nvSpPr>
            <p:cNvPr id="87" name="오른쪽 대괄호 86"/>
            <p:cNvSpPr/>
            <p:nvPr/>
          </p:nvSpPr>
          <p:spPr>
            <a:xfrm>
              <a:off x="7257848" y="5210846"/>
              <a:ext cx="135632" cy="864096"/>
            </a:xfrm>
            <a:prstGeom prst="rightBracket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+mn-ea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7375036" y="3475299"/>
              <a:ext cx="12596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chemeClr val="accent3">
                      <a:lumMod val="50000"/>
                    </a:schemeClr>
                  </a:solidFill>
                  <a:latin typeface="+mn-ea"/>
                  <a:ea typeface="+mn-ea"/>
                </a:rPr>
                <a:t>주기억장치</a:t>
              </a:r>
              <a:endParaRPr lang="en-US" altLang="ko-KR" sz="1200" dirty="0">
                <a:solidFill>
                  <a:schemeClr val="accent3">
                    <a:lumMod val="50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447044" y="5484832"/>
              <a:ext cx="12596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chemeClr val="accent3">
                      <a:lumMod val="50000"/>
                    </a:schemeClr>
                  </a:solidFill>
                  <a:ea typeface="맑은 고딕" panose="020B0503020000020004" pitchFamily="50" charset="-127"/>
                </a:rPr>
                <a:t>하드디스크</a:t>
              </a:r>
              <a:endParaRPr lang="en-US" altLang="ko-KR" sz="1200" dirty="0">
                <a:solidFill>
                  <a:schemeClr val="accent3">
                    <a:lumMod val="50000"/>
                  </a:schemeClr>
                </a:solidFill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27481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DBMS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67544" y="1325935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1-8  </a:t>
            </a:r>
            <a:r>
              <a:rPr lang="en-US" altLang="ko-KR" sz="1400" b="1" dirty="0">
                <a:ea typeface="맑은 고딕" panose="020B0503020000020004" pitchFamily="50" charset="-127"/>
              </a:rPr>
              <a:t>DBMS</a:t>
            </a:r>
            <a:r>
              <a:rPr lang="ko-KR" altLang="en-US" sz="1400" b="1" dirty="0">
                <a:ea typeface="맑은 고딕" panose="020B0503020000020004" pitchFamily="50" charset="-127"/>
              </a:rPr>
              <a:t>의 기능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749462"/>
              </p:ext>
            </p:extLst>
          </p:nvPr>
        </p:nvGraphicFramePr>
        <p:xfrm>
          <a:off x="539552" y="1772816"/>
          <a:ext cx="8064896" cy="3312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9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5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809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 정의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(Definition)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데이터의 구조를 정의하고 데이터 구조에 대한 삭제 및 변경 기능을 수행함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09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 조작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(manipulation)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데이터를 조작하는 소프트웨어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응용 프로그램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요청하는 데이터의 삽입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삭제 작업을 지원함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09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 추출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(Retrieval)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사용자가 조회하는 데이터 혹은 응용 프로그램의 데이터를 추출함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09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제어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(Control)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 사용자를 생성하고 모니터링하며 접근을 제어함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백업과 회복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동시성 제어 등의 기능을 지원함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72409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모델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계층 데이터 모델</a:t>
            </a:r>
            <a:r>
              <a:rPr lang="en-US" altLang="ko-KR" dirty="0"/>
              <a:t>(hierarchical data model)</a:t>
            </a:r>
          </a:p>
          <a:p>
            <a:r>
              <a:rPr lang="ko-KR" altLang="en-US" dirty="0"/>
              <a:t>네트워크 데이터 모델</a:t>
            </a:r>
            <a:r>
              <a:rPr lang="en-US" altLang="ko-KR" dirty="0"/>
              <a:t>(network data model) </a:t>
            </a:r>
          </a:p>
          <a:p>
            <a:r>
              <a:rPr lang="ko-KR" altLang="en-US" dirty="0"/>
              <a:t>객체 데이터 모델</a:t>
            </a:r>
            <a:r>
              <a:rPr lang="en-US" altLang="ko-KR" dirty="0"/>
              <a:t>(object data model)</a:t>
            </a:r>
          </a:p>
          <a:p>
            <a:r>
              <a:rPr lang="ko-KR" altLang="en-US" dirty="0"/>
              <a:t>관계 데이터 모델</a:t>
            </a:r>
            <a:r>
              <a:rPr lang="en-US" altLang="ko-KR" dirty="0"/>
              <a:t>(relational data model)</a:t>
            </a:r>
          </a:p>
          <a:p>
            <a:r>
              <a:rPr lang="ko-KR" altLang="en-US" dirty="0"/>
              <a:t>객체</a:t>
            </a:r>
            <a:r>
              <a:rPr lang="en-US" altLang="ko-KR" dirty="0"/>
              <a:t>-</a:t>
            </a:r>
            <a:r>
              <a:rPr lang="ko-KR" altLang="en-US" dirty="0"/>
              <a:t>관계 데이터 모델</a:t>
            </a:r>
            <a:r>
              <a:rPr lang="en-US" altLang="ko-KR" dirty="0"/>
              <a:t>(object-relational data model)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0488" y="2143634"/>
            <a:ext cx="2088232" cy="57606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ko-KR" altLang="en-US" sz="1700" b="1" i="1" dirty="0">
                <a:solidFill>
                  <a:srgbClr val="0070C0"/>
                </a:solidFill>
                <a:latin typeface="+mn-lt"/>
                <a:ea typeface="맑은 고딕" panose="020B0503020000020004" pitchFamily="50" charset="-127"/>
              </a:rPr>
              <a:t>→ </a:t>
            </a:r>
            <a:r>
              <a:rPr lang="ko-KR" altLang="en-US" sz="1400" b="1" i="1" dirty="0">
                <a:solidFill>
                  <a:srgbClr val="0070C0"/>
                </a:solidFill>
                <a:latin typeface="+mj-lt"/>
                <a:ea typeface="+mj-ea"/>
              </a:rPr>
              <a:t>가장 많이 쓰인다</a:t>
            </a:r>
            <a:endParaRPr lang="en-US" altLang="ko-KR" sz="1400" b="1" i="1" dirty="0">
              <a:solidFill>
                <a:srgbClr val="0070C0"/>
              </a:solidFill>
              <a:latin typeface="+mj-lt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84168" y="2660408"/>
            <a:ext cx="2880320" cy="72008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60000"/>
              </a:lnSpc>
            </a:pPr>
            <a:r>
              <a:rPr lang="ko-KR" altLang="en-US" sz="1400" b="1" i="1" dirty="0">
                <a:solidFill>
                  <a:srgbClr val="0070C0"/>
                </a:solidFill>
                <a:latin typeface="+mj-ea"/>
                <a:ea typeface="+mj-ea"/>
              </a:rPr>
              <a:t>→ 관계 데이터 모델과 객체 데이터 </a:t>
            </a:r>
            <a:endParaRPr lang="en-US" altLang="ko-KR" sz="1400" b="1" i="1" dirty="0">
              <a:solidFill>
                <a:srgbClr val="0070C0"/>
              </a:solidFill>
              <a:latin typeface="+mj-ea"/>
              <a:ea typeface="+mj-ea"/>
            </a:endParaRPr>
          </a:p>
          <a:p>
            <a:pPr>
              <a:lnSpc>
                <a:spcPct val="160000"/>
              </a:lnSpc>
            </a:pPr>
            <a:r>
              <a:rPr lang="en-US" altLang="ko-KR" sz="1400" b="1" i="1" dirty="0">
                <a:solidFill>
                  <a:srgbClr val="0070C0"/>
                </a:solidFill>
                <a:latin typeface="+mj-ea"/>
                <a:ea typeface="+mj-ea"/>
              </a:rPr>
              <a:t>     </a:t>
            </a:r>
            <a:r>
              <a:rPr lang="ko-KR" altLang="en-US" sz="1400" b="1" i="1" dirty="0">
                <a:solidFill>
                  <a:srgbClr val="0070C0"/>
                </a:solidFill>
                <a:latin typeface="+mj-ea"/>
                <a:ea typeface="+mj-ea"/>
              </a:rPr>
              <a:t>모델의 장점을 결합한 모델</a:t>
            </a:r>
            <a:endParaRPr lang="en-US" altLang="ko-KR" sz="1400" b="1" i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모델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Font typeface="Wingdings" pitchFamily="2" charset="2"/>
              <a:buChar char=""/>
            </a:pPr>
            <a:r>
              <a:rPr lang="ko-KR" altLang="en-US" dirty="0"/>
              <a:t>포인터 사용 </a:t>
            </a:r>
            <a:r>
              <a:rPr lang="en-US" altLang="ko-KR" dirty="0"/>
              <a:t>: </a:t>
            </a:r>
            <a:r>
              <a:rPr lang="ko-KR" altLang="en-US" dirty="0"/>
              <a:t>계층 데이터 모델</a:t>
            </a:r>
            <a:r>
              <a:rPr lang="en-US" altLang="ko-KR" dirty="0"/>
              <a:t>, </a:t>
            </a:r>
            <a:r>
              <a:rPr lang="ko-KR" altLang="en-US" dirty="0"/>
              <a:t>네트워크 데이터 모델</a:t>
            </a:r>
            <a:endParaRPr lang="en-US" altLang="ko-KR" dirty="0"/>
          </a:p>
        </p:txBody>
      </p:sp>
      <p:sp>
        <p:nvSpPr>
          <p:cNvPr id="10" name="TextBox 9"/>
          <p:cNvSpPr txBox="1"/>
          <p:nvPr/>
        </p:nvSpPr>
        <p:spPr>
          <a:xfrm>
            <a:off x="611560" y="370750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1-23 </a:t>
            </a:r>
            <a:r>
              <a:rPr lang="ko-KR" altLang="en-US" sz="1400" b="1" dirty="0">
                <a:ea typeface="맑은 고딕" panose="020B0503020000020004" pitchFamily="50" charset="-127"/>
              </a:rPr>
              <a:t>관계 표현을 위한 예시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560" y="615577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1-24 </a:t>
            </a:r>
            <a:r>
              <a:rPr lang="ko-KR" altLang="en-US" sz="1400" b="1" dirty="0">
                <a:ea typeface="맑은 고딕" panose="020B0503020000020004" pitchFamily="50" charset="-127"/>
              </a:rPr>
              <a:t>포인터를 사용하여 관계 표현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83568" y="1628800"/>
            <a:ext cx="3528392" cy="201622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학생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학번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이름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925225"/>
              </p:ext>
            </p:extLst>
          </p:nvPr>
        </p:nvGraphicFramePr>
        <p:xfrm>
          <a:off x="1331640" y="2276872"/>
          <a:ext cx="1440160" cy="274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956229"/>
              </p:ext>
            </p:extLst>
          </p:nvPr>
        </p:nvGraphicFramePr>
        <p:xfrm>
          <a:off x="2123728" y="2852936"/>
          <a:ext cx="1440160" cy="274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직사각형 13"/>
          <p:cNvSpPr/>
          <p:nvPr/>
        </p:nvSpPr>
        <p:spPr>
          <a:xfrm>
            <a:off x="4427984" y="1628800"/>
            <a:ext cx="3528392" cy="201622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강좌번호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강좌이름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116723"/>
              </p:ext>
            </p:extLst>
          </p:nvPr>
        </p:nvGraphicFramePr>
        <p:xfrm>
          <a:off x="5292080" y="2204864"/>
          <a:ext cx="1872208" cy="2880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266135"/>
              </p:ext>
            </p:extLst>
          </p:nvPr>
        </p:nvGraphicFramePr>
        <p:xfrm>
          <a:off x="5868144" y="2689870"/>
          <a:ext cx="1872208" cy="2880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230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스포츠경영학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781829"/>
              </p:ext>
            </p:extLst>
          </p:nvPr>
        </p:nvGraphicFramePr>
        <p:xfrm>
          <a:off x="4644008" y="3140968"/>
          <a:ext cx="1872208" cy="2880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자료구조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직사각형 17"/>
          <p:cNvSpPr/>
          <p:nvPr/>
        </p:nvSpPr>
        <p:spPr>
          <a:xfrm>
            <a:off x="683568" y="4077072"/>
            <a:ext cx="3528392" cy="201622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학생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학번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이름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강좌포인터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866564"/>
              </p:ext>
            </p:extLst>
          </p:nvPr>
        </p:nvGraphicFramePr>
        <p:xfrm>
          <a:off x="1187624" y="4725144"/>
          <a:ext cx="1800201" cy="274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66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4427984" y="4077072"/>
            <a:ext cx="3528392" cy="201622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강좌번호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강좌이름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030048"/>
              </p:ext>
            </p:extLst>
          </p:nvPr>
        </p:nvGraphicFramePr>
        <p:xfrm>
          <a:off x="5292080" y="4653136"/>
          <a:ext cx="1872208" cy="2880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615029"/>
              </p:ext>
            </p:extLst>
          </p:nvPr>
        </p:nvGraphicFramePr>
        <p:xfrm>
          <a:off x="5868144" y="5138142"/>
          <a:ext cx="1872208" cy="2880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230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스포츠경영학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779886"/>
              </p:ext>
            </p:extLst>
          </p:nvPr>
        </p:nvGraphicFramePr>
        <p:xfrm>
          <a:off x="4644008" y="5589240"/>
          <a:ext cx="1872208" cy="2880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자료구조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6" name="꺾인 연결선 25"/>
          <p:cNvCxnSpPr/>
          <p:nvPr/>
        </p:nvCxnSpPr>
        <p:spPr>
          <a:xfrm>
            <a:off x="2843808" y="4869160"/>
            <a:ext cx="1800200" cy="86409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170283"/>
              </p:ext>
            </p:extLst>
          </p:nvPr>
        </p:nvGraphicFramePr>
        <p:xfrm>
          <a:off x="1835695" y="5301208"/>
          <a:ext cx="1800201" cy="274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66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꺾인 연결선 29"/>
          <p:cNvCxnSpPr/>
          <p:nvPr/>
        </p:nvCxnSpPr>
        <p:spPr>
          <a:xfrm flipV="1">
            <a:off x="3419872" y="4797152"/>
            <a:ext cx="1872208" cy="648072"/>
          </a:xfrm>
          <a:prstGeom prst="bentConnector3">
            <a:avLst>
              <a:gd name="adj1" fmla="val 7442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모델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Font typeface="Wingdings" pitchFamily="2" charset="2"/>
              <a:buChar char=""/>
            </a:pPr>
            <a:r>
              <a:rPr lang="ko-KR" altLang="en-US" dirty="0"/>
              <a:t>속성 값 사용 </a:t>
            </a:r>
            <a:r>
              <a:rPr lang="en-US" altLang="ko-KR" dirty="0"/>
              <a:t>: </a:t>
            </a:r>
            <a:r>
              <a:rPr lang="ko-KR" altLang="en-US" dirty="0"/>
              <a:t>관계 데이터 모델</a:t>
            </a:r>
            <a:endParaRPr lang="en-US" altLang="ko-KR" dirty="0"/>
          </a:p>
        </p:txBody>
      </p:sp>
      <p:sp>
        <p:nvSpPr>
          <p:cNvPr id="10" name="TextBox 9"/>
          <p:cNvSpPr txBox="1"/>
          <p:nvPr/>
        </p:nvSpPr>
        <p:spPr>
          <a:xfrm>
            <a:off x="611560" y="370750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1-23 </a:t>
            </a:r>
            <a:r>
              <a:rPr lang="ko-KR" altLang="en-US" sz="1400" b="1" dirty="0">
                <a:ea typeface="맑은 고딕" panose="020B0503020000020004" pitchFamily="50" charset="-127"/>
              </a:rPr>
              <a:t>관계 표현을 위한 예시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560" y="615577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1-25 </a:t>
            </a:r>
            <a:r>
              <a:rPr lang="ko-KR" altLang="en-US" sz="1400" b="1" dirty="0">
                <a:ea typeface="맑은 고딕" panose="020B0503020000020004" pitchFamily="50" charset="-127"/>
              </a:rPr>
              <a:t>속성 값을 사용하여 관계 표현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83568" y="4096122"/>
            <a:ext cx="3528392" cy="201622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학생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학번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이름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강좌번호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9778768"/>
              </p:ext>
            </p:extLst>
          </p:nvPr>
        </p:nvGraphicFramePr>
        <p:xfrm>
          <a:off x="1115616" y="4816202"/>
          <a:ext cx="1944216" cy="274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8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직사각형 14"/>
          <p:cNvSpPr/>
          <p:nvPr/>
        </p:nvSpPr>
        <p:spPr>
          <a:xfrm>
            <a:off x="4427984" y="4096122"/>
            <a:ext cx="3528392" cy="201622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강좌번호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강좌이름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632643"/>
              </p:ext>
            </p:extLst>
          </p:nvPr>
        </p:nvGraphicFramePr>
        <p:xfrm>
          <a:off x="5292080" y="4672186"/>
          <a:ext cx="1872208" cy="2880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545888"/>
              </p:ext>
            </p:extLst>
          </p:nvPr>
        </p:nvGraphicFramePr>
        <p:xfrm>
          <a:off x="5868144" y="5157192"/>
          <a:ext cx="1872208" cy="2880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230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스포츠경영학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545619"/>
              </p:ext>
            </p:extLst>
          </p:nvPr>
        </p:nvGraphicFramePr>
        <p:xfrm>
          <a:off x="4644008" y="5608290"/>
          <a:ext cx="1872208" cy="2880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자료구조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036682"/>
              </p:ext>
            </p:extLst>
          </p:nvPr>
        </p:nvGraphicFramePr>
        <p:xfrm>
          <a:off x="1619672" y="5333970"/>
          <a:ext cx="1944216" cy="274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8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683568" y="1628800"/>
            <a:ext cx="3528392" cy="201622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학생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학번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이름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18369"/>
              </p:ext>
            </p:extLst>
          </p:nvPr>
        </p:nvGraphicFramePr>
        <p:xfrm>
          <a:off x="1331640" y="2276872"/>
          <a:ext cx="1440160" cy="274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441140"/>
              </p:ext>
            </p:extLst>
          </p:nvPr>
        </p:nvGraphicFramePr>
        <p:xfrm>
          <a:off x="2123728" y="2852936"/>
          <a:ext cx="1440160" cy="274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직사각형 36"/>
          <p:cNvSpPr/>
          <p:nvPr/>
        </p:nvSpPr>
        <p:spPr>
          <a:xfrm>
            <a:off x="4427984" y="1628800"/>
            <a:ext cx="3528392" cy="201622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강좌번호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강좌이름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21516"/>
              </p:ext>
            </p:extLst>
          </p:nvPr>
        </p:nvGraphicFramePr>
        <p:xfrm>
          <a:off x="5292080" y="2204864"/>
          <a:ext cx="1872208" cy="2880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표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007297"/>
              </p:ext>
            </p:extLst>
          </p:nvPr>
        </p:nvGraphicFramePr>
        <p:xfrm>
          <a:off x="5868144" y="2689870"/>
          <a:ext cx="1872208" cy="2880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230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스포츠경영학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표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476199"/>
              </p:ext>
            </p:extLst>
          </p:nvPr>
        </p:nvGraphicFramePr>
        <p:xfrm>
          <a:off x="4644008" y="3140968"/>
          <a:ext cx="1872208" cy="2880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자료구조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모델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Font typeface="Wingdings" pitchFamily="2" charset="2"/>
              <a:buChar char=""/>
            </a:pPr>
            <a:r>
              <a:rPr lang="ko-KR" altLang="en-US" dirty="0" err="1"/>
              <a:t>객체식별자</a:t>
            </a:r>
            <a:r>
              <a:rPr lang="ko-KR" altLang="en-US" dirty="0"/>
              <a:t> 사용 </a:t>
            </a:r>
            <a:r>
              <a:rPr lang="en-US" altLang="ko-KR" dirty="0"/>
              <a:t>: </a:t>
            </a:r>
            <a:r>
              <a:rPr lang="ko-KR" altLang="en-US" dirty="0"/>
              <a:t>객체 데이터 모델</a:t>
            </a:r>
            <a:endParaRPr lang="en-US" altLang="ko-KR" dirty="0"/>
          </a:p>
        </p:txBody>
      </p:sp>
      <p:sp>
        <p:nvSpPr>
          <p:cNvPr id="10" name="TextBox 9"/>
          <p:cNvSpPr txBox="1"/>
          <p:nvPr/>
        </p:nvSpPr>
        <p:spPr>
          <a:xfrm>
            <a:off x="611560" y="370750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1-23 </a:t>
            </a:r>
            <a:r>
              <a:rPr lang="ko-KR" altLang="en-US" sz="1400" b="1" dirty="0">
                <a:ea typeface="맑은 고딕" panose="020B0503020000020004" pitchFamily="50" charset="-127"/>
              </a:rPr>
              <a:t>관계 표현을 위한 예시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893" y="615577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1-26 </a:t>
            </a:r>
            <a:r>
              <a:rPr lang="ko-KR" altLang="en-US" sz="1400" b="1" dirty="0" err="1">
                <a:ea typeface="맑은 고딕" panose="020B0503020000020004" pitchFamily="50" charset="-127"/>
              </a:rPr>
              <a:t>객체식별자를</a:t>
            </a:r>
            <a:r>
              <a:rPr lang="ko-KR" altLang="en-US" sz="1400" b="1" dirty="0">
                <a:ea typeface="맑은 고딕" panose="020B0503020000020004" pitchFamily="50" charset="-127"/>
              </a:rPr>
              <a:t> 사용하여 관계 표현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683568" y="4110980"/>
            <a:ext cx="3528392" cy="201622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학생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학번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이름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200" b="1" dirty="0" err="1">
                <a:solidFill>
                  <a:schemeClr val="tx1"/>
                </a:solidFill>
                <a:latin typeface="+mn-ea"/>
              </a:rPr>
              <a:t>objectid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2130339"/>
              </p:ext>
            </p:extLst>
          </p:nvPr>
        </p:nvGraphicFramePr>
        <p:xfrm>
          <a:off x="1115616" y="4831060"/>
          <a:ext cx="1944216" cy="274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8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oid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4427984" y="4110980"/>
            <a:ext cx="3528392" cy="201622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강좌번호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강좌이름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902160"/>
              </p:ext>
            </p:extLst>
          </p:nvPr>
        </p:nvGraphicFramePr>
        <p:xfrm>
          <a:off x="5292080" y="4687044"/>
          <a:ext cx="1872208" cy="2880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587830"/>
              </p:ext>
            </p:extLst>
          </p:nvPr>
        </p:nvGraphicFramePr>
        <p:xfrm>
          <a:off x="5868144" y="5172050"/>
          <a:ext cx="1872208" cy="2880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230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스포츠경영학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690395"/>
              </p:ext>
            </p:extLst>
          </p:nvPr>
        </p:nvGraphicFramePr>
        <p:xfrm>
          <a:off x="4644008" y="5623148"/>
          <a:ext cx="1872208" cy="2880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자료구조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293013"/>
              </p:ext>
            </p:extLst>
          </p:nvPr>
        </p:nvGraphicFramePr>
        <p:xfrm>
          <a:off x="1619672" y="5348828"/>
          <a:ext cx="1944216" cy="274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86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oid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직사각형 17"/>
          <p:cNvSpPr/>
          <p:nvPr/>
        </p:nvSpPr>
        <p:spPr>
          <a:xfrm>
            <a:off x="683568" y="1628800"/>
            <a:ext cx="3528392" cy="201622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학생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학번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이름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109559"/>
              </p:ext>
            </p:extLst>
          </p:nvPr>
        </p:nvGraphicFramePr>
        <p:xfrm>
          <a:off x="1331640" y="2276872"/>
          <a:ext cx="1440160" cy="274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764817"/>
              </p:ext>
            </p:extLst>
          </p:nvPr>
        </p:nvGraphicFramePr>
        <p:xfrm>
          <a:off x="2123728" y="2852936"/>
          <a:ext cx="1440160" cy="2743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0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4427984" y="1628800"/>
            <a:ext cx="3528392" cy="2016224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강좌번호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강좌이름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216140"/>
              </p:ext>
            </p:extLst>
          </p:nvPr>
        </p:nvGraphicFramePr>
        <p:xfrm>
          <a:off x="5292080" y="2204864"/>
          <a:ext cx="1872208" cy="2880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데이터베이스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357665"/>
              </p:ext>
            </p:extLst>
          </p:nvPr>
        </p:nvGraphicFramePr>
        <p:xfrm>
          <a:off x="5868144" y="2689870"/>
          <a:ext cx="1872208" cy="2880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230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스포츠경영학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113965"/>
              </p:ext>
            </p:extLst>
          </p:nvPr>
        </p:nvGraphicFramePr>
        <p:xfrm>
          <a:off x="4644008" y="3140968"/>
          <a:ext cx="1872208" cy="2880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5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자료구조 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536" y="1333711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1-9 </a:t>
            </a:r>
            <a:r>
              <a:rPr lang="ko-KR" altLang="en-US" sz="1400" b="1" dirty="0">
                <a:ea typeface="맑은 고딕" panose="020B0503020000020004" pitchFamily="50" charset="-127"/>
              </a:rPr>
              <a:t>데이터 모델과 각 모델에서 관계의 표현 방법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226413"/>
              </p:ext>
            </p:extLst>
          </p:nvPr>
        </p:nvGraphicFramePr>
        <p:xfrm>
          <a:off x="539552" y="1771104"/>
          <a:ext cx="8064897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2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데이터 모델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관계의 표현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데이터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계층 데이터 모델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포인터 사용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네트워크 데이터 모델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포인터 사용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5414764" y="2204864"/>
            <a:ext cx="2696203" cy="1800000"/>
            <a:chOff x="5414764" y="2204864"/>
            <a:chExt cx="2696203" cy="1800000"/>
          </a:xfrm>
        </p:grpSpPr>
        <p:sp>
          <p:nvSpPr>
            <p:cNvPr id="10" name="직사각형 9"/>
            <p:cNvSpPr/>
            <p:nvPr/>
          </p:nvSpPr>
          <p:spPr>
            <a:xfrm>
              <a:off x="6536160" y="2204864"/>
              <a:ext cx="73491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연결선 10"/>
            <p:cNvCxnSpPr>
              <a:stCxn id="10" idx="2"/>
              <a:endCxn id="14" idx="0"/>
            </p:cNvCxnSpPr>
            <p:nvPr/>
          </p:nvCxnSpPr>
          <p:spPr>
            <a:xfrm>
              <a:off x="6903615" y="2624812"/>
              <a:ext cx="839897" cy="270077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>
              <a:stCxn id="10" idx="2"/>
              <a:endCxn id="13" idx="0"/>
            </p:cNvCxnSpPr>
            <p:nvPr/>
          </p:nvCxnSpPr>
          <p:spPr>
            <a:xfrm flipH="1">
              <a:off x="6221199" y="2624812"/>
              <a:ext cx="682416" cy="270077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직사각형 12"/>
            <p:cNvSpPr/>
            <p:nvPr/>
          </p:nvSpPr>
          <p:spPr>
            <a:xfrm>
              <a:off x="5853744" y="2894890"/>
              <a:ext cx="73491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7376057" y="2894890"/>
              <a:ext cx="73491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AutoShape 6"/>
            <p:cNvSpPr>
              <a:spLocks noChangeArrowheads="1"/>
            </p:cNvSpPr>
            <p:nvPr/>
          </p:nvSpPr>
          <p:spPr bwMode="auto">
            <a:xfrm>
              <a:off x="6588654" y="2257358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Line 10"/>
            <p:cNvSpPr>
              <a:spLocks noChangeShapeType="1"/>
            </p:cNvSpPr>
            <p:nvPr/>
          </p:nvSpPr>
          <p:spPr bwMode="auto">
            <a:xfrm>
              <a:off x="6956109" y="2257358"/>
              <a:ext cx="0" cy="157481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AutoShape 6"/>
            <p:cNvSpPr>
              <a:spLocks noChangeArrowheads="1"/>
            </p:cNvSpPr>
            <p:nvPr/>
          </p:nvSpPr>
          <p:spPr bwMode="auto">
            <a:xfrm>
              <a:off x="6693641" y="2309851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>
              <a:off x="7061096" y="2309851"/>
              <a:ext cx="0" cy="157481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AutoShape 6"/>
            <p:cNvSpPr>
              <a:spLocks noChangeArrowheads="1"/>
            </p:cNvSpPr>
            <p:nvPr/>
          </p:nvSpPr>
          <p:spPr bwMode="auto">
            <a:xfrm>
              <a:off x="5906238" y="2947383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Line 10"/>
            <p:cNvSpPr>
              <a:spLocks noChangeShapeType="1"/>
            </p:cNvSpPr>
            <p:nvPr/>
          </p:nvSpPr>
          <p:spPr bwMode="auto">
            <a:xfrm>
              <a:off x="6273693" y="2947383"/>
              <a:ext cx="0" cy="157481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AutoShape 6"/>
            <p:cNvSpPr>
              <a:spLocks noChangeArrowheads="1"/>
            </p:cNvSpPr>
            <p:nvPr/>
          </p:nvSpPr>
          <p:spPr bwMode="auto">
            <a:xfrm>
              <a:off x="6011225" y="2999877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" name="Line 10"/>
            <p:cNvSpPr>
              <a:spLocks noChangeShapeType="1"/>
            </p:cNvSpPr>
            <p:nvPr/>
          </p:nvSpPr>
          <p:spPr bwMode="auto">
            <a:xfrm>
              <a:off x="6378680" y="2999877"/>
              <a:ext cx="0" cy="157481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AutoShape 6"/>
            <p:cNvSpPr>
              <a:spLocks noChangeArrowheads="1"/>
            </p:cNvSpPr>
            <p:nvPr/>
          </p:nvSpPr>
          <p:spPr bwMode="auto">
            <a:xfrm>
              <a:off x="7428551" y="2947383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Line 10"/>
            <p:cNvSpPr>
              <a:spLocks noChangeShapeType="1"/>
            </p:cNvSpPr>
            <p:nvPr/>
          </p:nvSpPr>
          <p:spPr bwMode="auto">
            <a:xfrm>
              <a:off x="7796006" y="2947383"/>
              <a:ext cx="0" cy="157481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AutoShape 6"/>
            <p:cNvSpPr>
              <a:spLocks noChangeArrowheads="1"/>
            </p:cNvSpPr>
            <p:nvPr/>
          </p:nvSpPr>
          <p:spPr bwMode="auto">
            <a:xfrm>
              <a:off x="7533538" y="2999877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Line 10"/>
            <p:cNvSpPr>
              <a:spLocks noChangeShapeType="1"/>
            </p:cNvSpPr>
            <p:nvPr/>
          </p:nvSpPr>
          <p:spPr bwMode="auto">
            <a:xfrm>
              <a:off x="7900993" y="2999877"/>
              <a:ext cx="0" cy="157481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6536160" y="3584916"/>
              <a:ext cx="73491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8" name="직선 연결선 27"/>
            <p:cNvCxnSpPr>
              <a:stCxn id="27" idx="0"/>
              <a:endCxn id="13" idx="2"/>
            </p:cNvCxnSpPr>
            <p:nvPr/>
          </p:nvCxnSpPr>
          <p:spPr>
            <a:xfrm flipH="1" flipV="1">
              <a:off x="6221199" y="3314838"/>
              <a:ext cx="682416" cy="270077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/>
            <p:cNvCxnSpPr>
              <a:stCxn id="13" idx="2"/>
            </p:cNvCxnSpPr>
            <p:nvPr/>
          </p:nvCxnSpPr>
          <p:spPr>
            <a:xfrm rot="5400000">
              <a:off x="5791589" y="3192632"/>
              <a:ext cx="307405" cy="551817"/>
            </a:xfrm>
            <a:prstGeom prst="lin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/>
            <p:cNvSpPr/>
            <p:nvPr/>
          </p:nvSpPr>
          <p:spPr>
            <a:xfrm>
              <a:off x="5414764" y="3584916"/>
              <a:ext cx="73491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AutoShape 6"/>
            <p:cNvSpPr>
              <a:spLocks noChangeArrowheads="1"/>
            </p:cNvSpPr>
            <p:nvPr/>
          </p:nvSpPr>
          <p:spPr bwMode="auto">
            <a:xfrm>
              <a:off x="6594587" y="3637409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Line 10"/>
            <p:cNvSpPr>
              <a:spLocks noChangeShapeType="1"/>
            </p:cNvSpPr>
            <p:nvPr/>
          </p:nvSpPr>
          <p:spPr bwMode="auto">
            <a:xfrm>
              <a:off x="6962042" y="3637409"/>
              <a:ext cx="0" cy="157481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AutoShape 6"/>
            <p:cNvSpPr>
              <a:spLocks noChangeArrowheads="1"/>
            </p:cNvSpPr>
            <p:nvPr/>
          </p:nvSpPr>
          <p:spPr bwMode="auto">
            <a:xfrm>
              <a:off x="6699574" y="3689903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Line 10"/>
            <p:cNvSpPr>
              <a:spLocks noChangeShapeType="1"/>
            </p:cNvSpPr>
            <p:nvPr/>
          </p:nvSpPr>
          <p:spPr bwMode="auto">
            <a:xfrm>
              <a:off x="7067029" y="3689903"/>
              <a:ext cx="0" cy="157481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5" name="AutoShape 6"/>
            <p:cNvSpPr>
              <a:spLocks noChangeArrowheads="1"/>
            </p:cNvSpPr>
            <p:nvPr/>
          </p:nvSpPr>
          <p:spPr bwMode="auto">
            <a:xfrm>
              <a:off x="5453715" y="3676360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6" name="Line 10"/>
            <p:cNvSpPr>
              <a:spLocks noChangeShapeType="1"/>
            </p:cNvSpPr>
            <p:nvPr/>
          </p:nvSpPr>
          <p:spPr bwMode="auto">
            <a:xfrm>
              <a:off x="5821170" y="3676360"/>
              <a:ext cx="0" cy="157481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7" name="AutoShape 6"/>
            <p:cNvSpPr>
              <a:spLocks noChangeArrowheads="1"/>
            </p:cNvSpPr>
            <p:nvPr/>
          </p:nvSpPr>
          <p:spPr bwMode="auto">
            <a:xfrm>
              <a:off x="5558702" y="3728854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8" name="Line 10"/>
            <p:cNvSpPr>
              <a:spLocks noChangeShapeType="1"/>
            </p:cNvSpPr>
            <p:nvPr/>
          </p:nvSpPr>
          <p:spPr bwMode="auto">
            <a:xfrm>
              <a:off x="5926157" y="3728854"/>
              <a:ext cx="0" cy="157481"/>
            </a:xfrm>
            <a:prstGeom prst="line">
              <a:avLst/>
            </a:prstGeom>
            <a:solidFill>
              <a:schemeClr val="bg1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2961842" y="2223914"/>
            <a:ext cx="1466142" cy="1728136"/>
            <a:chOff x="2961842" y="2223914"/>
            <a:chExt cx="1466142" cy="1728136"/>
          </a:xfrm>
        </p:grpSpPr>
        <p:grpSp>
          <p:nvGrpSpPr>
            <p:cNvPr id="44" name="그룹 43"/>
            <p:cNvGrpSpPr>
              <a:grpSpLocks noChangeAspect="1"/>
            </p:cNvGrpSpPr>
            <p:nvPr/>
          </p:nvGrpSpPr>
          <p:grpSpPr>
            <a:xfrm>
              <a:off x="2961842" y="3448050"/>
              <a:ext cx="1466142" cy="504000"/>
              <a:chOff x="1070901" y="3864868"/>
              <a:chExt cx="1890058" cy="762000"/>
            </a:xfrm>
            <a:solidFill>
              <a:schemeClr val="tx2">
                <a:lumMod val="20000"/>
                <a:lumOff val="80000"/>
              </a:schemeClr>
            </a:solidFill>
          </p:grpSpPr>
          <p:grpSp>
            <p:nvGrpSpPr>
              <p:cNvPr id="45" name="Group 38"/>
              <p:cNvGrpSpPr>
                <a:grpSpLocks/>
              </p:cNvGrpSpPr>
              <p:nvPr/>
            </p:nvGrpSpPr>
            <p:grpSpPr bwMode="auto">
              <a:xfrm>
                <a:off x="1070901" y="3864868"/>
                <a:ext cx="1585258" cy="457200"/>
                <a:chOff x="720" y="2784"/>
                <a:chExt cx="1104" cy="288"/>
              </a:xfrm>
              <a:grpFill/>
            </p:grpSpPr>
            <p:sp>
              <p:nvSpPr>
                <p:cNvPr id="51" name="AutoShape 39"/>
                <p:cNvSpPr>
                  <a:spLocks noChangeArrowheads="1"/>
                </p:cNvSpPr>
                <p:nvPr/>
              </p:nvSpPr>
              <p:spPr bwMode="auto">
                <a:xfrm>
                  <a:off x="720" y="2784"/>
                  <a:ext cx="1104" cy="288"/>
                </a:xfrm>
                <a:prstGeom prst="roundRect">
                  <a:avLst>
                    <a:gd name="adj" fmla="val 16667"/>
                  </a:avLst>
                </a:prstGeom>
                <a:grpFill/>
                <a:ln w="9525">
                  <a:solidFill>
                    <a:schemeClr val="bg1">
                      <a:lumMod val="5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1584" y="2784"/>
                  <a:ext cx="0" cy="288"/>
                </a:xfrm>
                <a:prstGeom prst="line">
                  <a:avLst/>
                </a:prstGeom>
                <a:grpFill/>
                <a:ln w="9525">
                  <a:solidFill>
                    <a:schemeClr val="bg1">
                      <a:lumMod val="5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grpSp>
            <p:nvGrpSpPr>
              <p:cNvPr id="46" name="Group 38"/>
              <p:cNvGrpSpPr>
                <a:grpSpLocks/>
              </p:cNvGrpSpPr>
              <p:nvPr/>
            </p:nvGrpSpPr>
            <p:grpSpPr bwMode="auto">
              <a:xfrm>
                <a:off x="1223301" y="4017268"/>
                <a:ext cx="1585258" cy="457200"/>
                <a:chOff x="720" y="2784"/>
                <a:chExt cx="1104" cy="288"/>
              </a:xfrm>
              <a:grpFill/>
            </p:grpSpPr>
            <p:sp>
              <p:nvSpPr>
                <p:cNvPr id="49" name="AutoShape 39"/>
                <p:cNvSpPr>
                  <a:spLocks noChangeArrowheads="1"/>
                </p:cNvSpPr>
                <p:nvPr/>
              </p:nvSpPr>
              <p:spPr bwMode="auto">
                <a:xfrm>
                  <a:off x="720" y="2784"/>
                  <a:ext cx="1104" cy="288"/>
                </a:xfrm>
                <a:prstGeom prst="roundRect">
                  <a:avLst>
                    <a:gd name="adj" fmla="val 16667"/>
                  </a:avLst>
                </a:prstGeom>
                <a:grpFill/>
                <a:ln w="9525">
                  <a:solidFill>
                    <a:schemeClr val="bg1">
                      <a:lumMod val="5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50" name="Line 40"/>
                <p:cNvSpPr>
                  <a:spLocks noChangeShapeType="1"/>
                </p:cNvSpPr>
                <p:nvPr/>
              </p:nvSpPr>
              <p:spPr bwMode="auto">
                <a:xfrm>
                  <a:off x="1584" y="2784"/>
                  <a:ext cx="0" cy="288"/>
                </a:xfrm>
                <a:prstGeom prst="line">
                  <a:avLst/>
                </a:prstGeom>
                <a:grpFill/>
                <a:ln w="9525">
                  <a:solidFill>
                    <a:schemeClr val="bg1">
                      <a:lumMod val="5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sp>
            <p:nvSpPr>
              <p:cNvPr id="47" name="AutoShape 39"/>
              <p:cNvSpPr>
                <a:spLocks noChangeArrowheads="1"/>
              </p:cNvSpPr>
              <p:nvPr/>
            </p:nvSpPr>
            <p:spPr bwMode="auto">
              <a:xfrm>
                <a:off x="1375701" y="4169668"/>
                <a:ext cx="1585258" cy="457200"/>
              </a:xfrm>
              <a:prstGeom prst="roundRect">
                <a:avLst>
                  <a:gd name="adj" fmla="val 16667"/>
                </a:avLst>
              </a:prstGeom>
              <a:grpFill/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rPr>
                  <a:t>  </a:t>
                </a: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8" name="Line 40"/>
              <p:cNvSpPr>
                <a:spLocks noChangeShapeType="1"/>
              </p:cNvSpPr>
              <p:nvPr/>
            </p:nvSpPr>
            <p:spPr bwMode="auto">
              <a:xfrm>
                <a:off x="2616338" y="4169668"/>
                <a:ext cx="0" cy="457200"/>
              </a:xfrm>
              <a:prstGeom prst="line">
                <a:avLst/>
              </a:prstGeom>
              <a:grpFill/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53" name="Text Box 41"/>
            <p:cNvSpPr txBox="1">
              <a:spLocks noChangeArrowheads="1"/>
            </p:cNvSpPr>
            <p:nvPr/>
          </p:nvSpPr>
          <p:spPr bwMode="auto">
            <a:xfrm>
              <a:off x="3040227" y="2223914"/>
              <a:ext cx="492443" cy="27699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맑은 고딕" panose="020B0503020000020004" pitchFamily="50" charset="-127"/>
                </a:rPr>
                <a:t>학생</a:t>
              </a:r>
              <a:endParaRPr lang="en-US" altLang="ko-KR" sz="1200" dirty="0">
                <a:latin typeface="맑은 고딕" panose="020B0503020000020004" pitchFamily="50" charset="-127"/>
              </a:endParaRPr>
            </a:p>
          </p:txBody>
        </p:sp>
        <p:sp>
          <p:nvSpPr>
            <p:cNvPr id="54" name="Text Box 41"/>
            <p:cNvSpPr txBox="1">
              <a:spLocks noChangeArrowheads="1"/>
            </p:cNvSpPr>
            <p:nvPr/>
          </p:nvSpPr>
          <p:spPr bwMode="auto">
            <a:xfrm>
              <a:off x="3040227" y="3171051"/>
              <a:ext cx="492444" cy="27699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맑은 고딕" panose="020B0503020000020004" pitchFamily="50" charset="-127"/>
                </a:rPr>
                <a:t>강좌</a:t>
              </a:r>
              <a:endParaRPr lang="en-US" altLang="ko-KR" sz="1200" dirty="0">
                <a:latin typeface="맑은 고딕" panose="020B0503020000020004" pitchFamily="50" charset="-127"/>
              </a:endParaRPr>
            </a:p>
          </p:txBody>
        </p:sp>
        <p:cxnSp>
          <p:nvCxnSpPr>
            <p:cNvPr id="56" name="꺾인 연결선 55"/>
            <p:cNvCxnSpPr/>
            <p:nvPr/>
          </p:nvCxnSpPr>
          <p:spPr>
            <a:xfrm rot="5400000">
              <a:off x="3610723" y="3074395"/>
              <a:ext cx="777664" cy="372846"/>
            </a:xfrm>
            <a:prstGeom prst="bentConnector3">
              <a:avLst>
                <a:gd name="adj1" fmla="val 23054"/>
              </a:avLst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그룹 38"/>
            <p:cNvGrpSpPr>
              <a:grpSpLocks noChangeAspect="1"/>
            </p:cNvGrpSpPr>
            <p:nvPr/>
          </p:nvGrpSpPr>
          <p:grpSpPr>
            <a:xfrm>
              <a:off x="3033851" y="2511946"/>
              <a:ext cx="1328748" cy="396000"/>
              <a:chOff x="1165276" y="2384410"/>
              <a:chExt cx="1723107" cy="609600"/>
            </a:xfrm>
            <a:solidFill>
              <a:schemeClr val="tx2">
                <a:lumMod val="20000"/>
                <a:lumOff val="80000"/>
              </a:schemeClr>
            </a:solidFill>
          </p:grpSpPr>
          <p:sp>
            <p:nvSpPr>
              <p:cNvPr id="40" name="AutoShape 6"/>
              <p:cNvSpPr>
                <a:spLocks noChangeArrowheads="1"/>
              </p:cNvSpPr>
              <p:nvPr/>
            </p:nvSpPr>
            <p:spPr bwMode="auto">
              <a:xfrm>
                <a:off x="1165276" y="2384410"/>
                <a:ext cx="1585258" cy="457200"/>
              </a:xfrm>
              <a:prstGeom prst="roundRect">
                <a:avLst>
                  <a:gd name="adj" fmla="val 16667"/>
                </a:avLst>
              </a:prstGeom>
              <a:grpFill/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1" name="Line 7"/>
              <p:cNvSpPr>
                <a:spLocks noChangeShapeType="1"/>
              </p:cNvSpPr>
              <p:nvPr/>
            </p:nvSpPr>
            <p:spPr bwMode="auto">
              <a:xfrm>
                <a:off x="2307152" y="2399600"/>
                <a:ext cx="26191" cy="442009"/>
              </a:xfrm>
              <a:prstGeom prst="line">
                <a:avLst/>
              </a:prstGeom>
              <a:grpFill/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2" name="AutoShape 9"/>
              <p:cNvSpPr>
                <a:spLocks noChangeArrowheads="1"/>
              </p:cNvSpPr>
              <p:nvPr/>
            </p:nvSpPr>
            <p:spPr bwMode="auto">
              <a:xfrm>
                <a:off x="1303125" y="2536810"/>
                <a:ext cx="1585258" cy="457200"/>
              </a:xfrm>
              <a:prstGeom prst="roundRect">
                <a:avLst>
                  <a:gd name="adj" fmla="val 16667"/>
                </a:avLst>
              </a:prstGeom>
              <a:grpFill/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rPr>
                  <a:t>              </a:t>
                </a: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rPr>
                  <a:t>p</a:t>
                </a:r>
                <a:endPara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3" name="Line 10"/>
              <p:cNvSpPr>
                <a:spLocks noChangeShapeType="1"/>
              </p:cNvSpPr>
              <p:nvPr/>
            </p:nvSpPr>
            <p:spPr bwMode="auto">
              <a:xfrm>
                <a:off x="2442164" y="2536810"/>
                <a:ext cx="0" cy="457200"/>
              </a:xfrm>
              <a:prstGeom prst="line">
                <a:avLst/>
              </a:prstGeom>
              <a:grpFill/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pSp>
        <p:nvGrpSpPr>
          <p:cNvPr id="6" name="그룹 5"/>
          <p:cNvGrpSpPr/>
          <p:nvPr/>
        </p:nvGrpSpPr>
        <p:grpSpPr>
          <a:xfrm>
            <a:off x="2961842" y="4168186"/>
            <a:ext cx="1466142" cy="1728136"/>
            <a:chOff x="2961842" y="4168186"/>
            <a:chExt cx="1466142" cy="1728136"/>
          </a:xfrm>
        </p:grpSpPr>
        <p:grpSp>
          <p:nvGrpSpPr>
            <p:cNvPr id="59" name="그룹 58"/>
            <p:cNvGrpSpPr>
              <a:grpSpLocks noChangeAspect="1"/>
            </p:cNvGrpSpPr>
            <p:nvPr/>
          </p:nvGrpSpPr>
          <p:grpSpPr>
            <a:xfrm>
              <a:off x="2961842" y="5392322"/>
              <a:ext cx="1466142" cy="504000"/>
              <a:chOff x="1070901" y="3864868"/>
              <a:chExt cx="1890058" cy="762000"/>
            </a:xfrm>
            <a:solidFill>
              <a:schemeClr val="tx2">
                <a:lumMod val="20000"/>
                <a:lumOff val="80000"/>
              </a:schemeClr>
            </a:solidFill>
          </p:grpSpPr>
          <p:grpSp>
            <p:nvGrpSpPr>
              <p:cNvPr id="60" name="Group 38"/>
              <p:cNvGrpSpPr>
                <a:grpSpLocks/>
              </p:cNvGrpSpPr>
              <p:nvPr/>
            </p:nvGrpSpPr>
            <p:grpSpPr bwMode="auto">
              <a:xfrm>
                <a:off x="1070901" y="3864868"/>
                <a:ext cx="1585258" cy="457200"/>
                <a:chOff x="720" y="2784"/>
                <a:chExt cx="1104" cy="288"/>
              </a:xfrm>
              <a:grpFill/>
            </p:grpSpPr>
            <p:sp>
              <p:nvSpPr>
                <p:cNvPr id="66" name="AutoShape 39"/>
                <p:cNvSpPr>
                  <a:spLocks noChangeArrowheads="1"/>
                </p:cNvSpPr>
                <p:nvPr/>
              </p:nvSpPr>
              <p:spPr bwMode="auto">
                <a:xfrm>
                  <a:off x="720" y="2784"/>
                  <a:ext cx="1104" cy="288"/>
                </a:xfrm>
                <a:prstGeom prst="roundRect">
                  <a:avLst>
                    <a:gd name="adj" fmla="val 16667"/>
                  </a:avLst>
                </a:prstGeom>
                <a:grpFill/>
                <a:ln w="9525">
                  <a:solidFill>
                    <a:schemeClr val="bg1">
                      <a:lumMod val="5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7" name="Line 40"/>
                <p:cNvSpPr>
                  <a:spLocks noChangeShapeType="1"/>
                </p:cNvSpPr>
                <p:nvPr/>
              </p:nvSpPr>
              <p:spPr bwMode="auto">
                <a:xfrm>
                  <a:off x="1584" y="2784"/>
                  <a:ext cx="0" cy="288"/>
                </a:xfrm>
                <a:prstGeom prst="line">
                  <a:avLst/>
                </a:prstGeom>
                <a:grpFill/>
                <a:ln w="9525">
                  <a:solidFill>
                    <a:schemeClr val="bg1">
                      <a:lumMod val="5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grpSp>
            <p:nvGrpSpPr>
              <p:cNvPr id="61" name="Group 38"/>
              <p:cNvGrpSpPr>
                <a:grpSpLocks/>
              </p:cNvGrpSpPr>
              <p:nvPr/>
            </p:nvGrpSpPr>
            <p:grpSpPr bwMode="auto">
              <a:xfrm>
                <a:off x="1223301" y="4017268"/>
                <a:ext cx="1585258" cy="457200"/>
                <a:chOff x="720" y="2784"/>
                <a:chExt cx="1104" cy="288"/>
              </a:xfrm>
              <a:grpFill/>
            </p:grpSpPr>
            <p:sp>
              <p:nvSpPr>
                <p:cNvPr id="64" name="AutoShape 39"/>
                <p:cNvSpPr>
                  <a:spLocks noChangeArrowheads="1"/>
                </p:cNvSpPr>
                <p:nvPr/>
              </p:nvSpPr>
              <p:spPr bwMode="auto">
                <a:xfrm>
                  <a:off x="720" y="2784"/>
                  <a:ext cx="1104" cy="288"/>
                </a:xfrm>
                <a:prstGeom prst="roundRect">
                  <a:avLst>
                    <a:gd name="adj" fmla="val 16667"/>
                  </a:avLst>
                </a:prstGeom>
                <a:grpFill/>
                <a:ln w="9525">
                  <a:solidFill>
                    <a:schemeClr val="bg1">
                      <a:lumMod val="5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5" name="Line 40"/>
                <p:cNvSpPr>
                  <a:spLocks noChangeShapeType="1"/>
                </p:cNvSpPr>
                <p:nvPr/>
              </p:nvSpPr>
              <p:spPr bwMode="auto">
                <a:xfrm>
                  <a:off x="1584" y="2784"/>
                  <a:ext cx="0" cy="288"/>
                </a:xfrm>
                <a:prstGeom prst="line">
                  <a:avLst/>
                </a:prstGeom>
                <a:grpFill/>
                <a:ln w="9525">
                  <a:solidFill>
                    <a:schemeClr val="bg1">
                      <a:lumMod val="5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sp>
            <p:nvSpPr>
              <p:cNvPr id="62" name="AutoShape 39"/>
              <p:cNvSpPr>
                <a:spLocks noChangeArrowheads="1"/>
              </p:cNvSpPr>
              <p:nvPr/>
            </p:nvSpPr>
            <p:spPr bwMode="auto">
              <a:xfrm>
                <a:off x="1375701" y="4169668"/>
                <a:ext cx="1585258" cy="457200"/>
              </a:xfrm>
              <a:prstGeom prst="roundRect">
                <a:avLst>
                  <a:gd name="adj" fmla="val 16667"/>
                </a:avLst>
              </a:prstGeom>
              <a:grpFill/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rPr>
                  <a:t>  </a:t>
                </a: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3" name="Line 40"/>
              <p:cNvSpPr>
                <a:spLocks noChangeShapeType="1"/>
              </p:cNvSpPr>
              <p:nvPr/>
            </p:nvSpPr>
            <p:spPr bwMode="auto">
              <a:xfrm>
                <a:off x="2616338" y="4169668"/>
                <a:ext cx="0" cy="457200"/>
              </a:xfrm>
              <a:prstGeom prst="line">
                <a:avLst/>
              </a:prstGeom>
              <a:grpFill/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68" name="Text Box 41"/>
            <p:cNvSpPr txBox="1">
              <a:spLocks noChangeArrowheads="1"/>
            </p:cNvSpPr>
            <p:nvPr/>
          </p:nvSpPr>
          <p:spPr bwMode="auto">
            <a:xfrm>
              <a:off x="3040227" y="4168186"/>
              <a:ext cx="492443" cy="27699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맑은 고딕" panose="020B0503020000020004" pitchFamily="50" charset="-127"/>
                </a:rPr>
                <a:t>학생</a:t>
              </a:r>
              <a:endParaRPr lang="en-US" altLang="ko-KR" sz="1200" dirty="0">
                <a:latin typeface="맑은 고딕" panose="020B0503020000020004" pitchFamily="50" charset="-127"/>
              </a:endParaRPr>
            </a:p>
          </p:txBody>
        </p:sp>
        <p:sp>
          <p:nvSpPr>
            <p:cNvPr id="69" name="Text Box 41"/>
            <p:cNvSpPr txBox="1">
              <a:spLocks noChangeArrowheads="1"/>
            </p:cNvSpPr>
            <p:nvPr/>
          </p:nvSpPr>
          <p:spPr bwMode="auto">
            <a:xfrm>
              <a:off x="3040227" y="5115323"/>
              <a:ext cx="492444" cy="27699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맑은 고딕" panose="020B0503020000020004" pitchFamily="50" charset="-127"/>
                </a:rPr>
                <a:t>강좌</a:t>
              </a:r>
              <a:endParaRPr lang="en-US" altLang="ko-KR" sz="1200" dirty="0">
                <a:latin typeface="맑은 고딕" panose="020B0503020000020004" pitchFamily="50" charset="-127"/>
              </a:endParaRPr>
            </a:p>
          </p:txBody>
        </p:sp>
        <p:cxnSp>
          <p:nvCxnSpPr>
            <p:cNvPr id="70" name="꺾인 연결선 69"/>
            <p:cNvCxnSpPr/>
            <p:nvPr/>
          </p:nvCxnSpPr>
          <p:spPr>
            <a:xfrm rot="5400000">
              <a:off x="3610723" y="5018667"/>
              <a:ext cx="777664" cy="372846"/>
            </a:xfrm>
            <a:prstGeom prst="bentConnector3">
              <a:avLst>
                <a:gd name="adj1" fmla="val 21829"/>
              </a:avLst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그룹 70"/>
            <p:cNvGrpSpPr>
              <a:grpSpLocks noChangeAspect="1"/>
            </p:cNvGrpSpPr>
            <p:nvPr/>
          </p:nvGrpSpPr>
          <p:grpSpPr>
            <a:xfrm>
              <a:off x="3033851" y="4456218"/>
              <a:ext cx="1328748" cy="396000"/>
              <a:chOff x="1165276" y="2384410"/>
              <a:chExt cx="1723107" cy="609600"/>
            </a:xfrm>
            <a:solidFill>
              <a:schemeClr val="tx2">
                <a:lumMod val="20000"/>
                <a:lumOff val="80000"/>
              </a:schemeClr>
            </a:solidFill>
          </p:grpSpPr>
          <p:sp>
            <p:nvSpPr>
              <p:cNvPr id="72" name="AutoShape 6"/>
              <p:cNvSpPr>
                <a:spLocks noChangeArrowheads="1"/>
              </p:cNvSpPr>
              <p:nvPr/>
            </p:nvSpPr>
            <p:spPr bwMode="auto">
              <a:xfrm>
                <a:off x="1165276" y="2384410"/>
                <a:ext cx="1585258" cy="457200"/>
              </a:xfrm>
              <a:prstGeom prst="roundRect">
                <a:avLst>
                  <a:gd name="adj" fmla="val 16667"/>
                </a:avLst>
              </a:prstGeom>
              <a:grpFill/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3" name="Line 7"/>
              <p:cNvSpPr>
                <a:spLocks noChangeShapeType="1"/>
              </p:cNvSpPr>
              <p:nvPr/>
            </p:nvSpPr>
            <p:spPr bwMode="auto">
              <a:xfrm>
                <a:off x="2307152" y="2399600"/>
                <a:ext cx="26191" cy="442009"/>
              </a:xfrm>
              <a:prstGeom prst="line">
                <a:avLst/>
              </a:prstGeom>
              <a:grpFill/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4" name="AutoShape 9"/>
              <p:cNvSpPr>
                <a:spLocks noChangeArrowheads="1"/>
              </p:cNvSpPr>
              <p:nvPr/>
            </p:nvSpPr>
            <p:spPr bwMode="auto">
              <a:xfrm>
                <a:off x="1303125" y="2536810"/>
                <a:ext cx="1585258" cy="457200"/>
              </a:xfrm>
              <a:prstGeom prst="roundRect">
                <a:avLst>
                  <a:gd name="adj" fmla="val 16667"/>
                </a:avLst>
              </a:prstGeom>
              <a:grpFill/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rPr>
                  <a:t>              </a:t>
                </a:r>
                <a:r>
                  <a:rPr kumimoji="0" lang="en-US" altLang="ko-KR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rPr>
                  <a:t>p</a:t>
                </a:r>
                <a:endPara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5" name="Line 10"/>
              <p:cNvSpPr>
                <a:spLocks noChangeShapeType="1"/>
              </p:cNvSpPr>
              <p:nvPr/>
            </p:nvSpPr>
            <p:spPr bwMode="auto">
              <a:xfrm>
                <a:off x="2442164" y="2536810"/>
                <a:ext cx="0" cy="457200"/>
              </a:xfrm>
              <a:prstGeom prst="line">
                <a:avLst/>
              </a:prstGeom>
              <a:grpFill/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pSp>
        <p:nvGrpSpPr>
          <p:cNvPr id="8" name="그룹 7"/>
          <p:cNvGrpSpPr/>
          <p:nvPr/>
        </p:nvGrpSpPr>
        <p:grpSpPr>
          <a:xfrm>
            <a:off x="5555729" y="4206230"/>
            <a:ext cx="2490509" cy="1800000"/>
            <a:chOff x="5555729" y="4206230"/>
            <a:chExt cx="2490509" cy="1800000"/>
          </a:xfrm>
        </p:grpSpPr>
        <p:sp>
          <p:nvSpPr>
            <p:cNvPr id="110" name="직사각형 109"/>
            <p:cNvSpPr/>
            <p:nvPr/>
          </p:nvSpPr>
          <p:spPr>
            <a:xfrm>
              <a:off x="6471430" y="4206230"/>
              <a:ext cx="73491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1" name="직선 연결선 110"/>
            <p:cNvCxnSpPr>
              <a:stCxn id="127" idx="0"/>
              <a:endCxn id="114" idx="2"/>
            </p:cNvCxnSpPr>
            <p:nvPr/>
          </p:nvCxnSpPr>
          <p:spPr>
            <a:xfrm flipV="1">
              <a:off x="7416315" y="5316204"/>
              <a:ext cx="262468" cy="262468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연결선 111"/>
            <p:cNvCxnSpPr>
              <a:stCxn id="110" idx="2"/>
              <a:endCxn id="113" idx="0"/>
            </p:cNvCxnSpPr>
            <p:nvPr/>
          </p:nvCxnSpPr>
          <p:spPr>
            <a:xfrm flipH="1">
              <a:off x="6051481" y="4626178"/>
              <a:ext cx="787404" cy="165090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직사각형 112"/>
            <p:cNvSpPr/>
            <p:nvPr/>
          </p:nvSpPr>
          <p:spPr>
            <a:xfrm>
              <a:off x="5684026" y="4791269"/>
              <a:ext cx="73491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/>
            <p:cNvSpPr/>
            <p:nvPr/>
          </p:nvSpPr>
          <p:spPr>
            <a:xfrm>
              <a:off x="7311328" y="4896256"/>
              <a:ext cx="73491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AutoShape 6"/>
            <p:cNvSpPr>
              <a:spLocks noChangeArrowheads="1"/>
            </p:cNvSpPr>
            <p:nvPr/>
          </p:nvSpPr>
          <p:spPr bwMode="auto">
            <a:xfrm>
              <a:off x="6523924" y="4258724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6" name="Line 10"/>
            <p:cNvSpPr>
              <a:spLocks noChangeShapeType="1"/>
            </p:cNvSpPr>
            <p:nvPr/>
          </p:nvSpPr>
          <p:spPr bwMode="auto">
            <a:xfrm>
              <a:off x="6891379" y="4258724"/>
              <a:ext cx="0" cy="157481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7" name="AutoShape 6"/>
            <p:cNvSpPr>
              <a:spLocks noChangeArrowheads="1"/>
            </p:cNvSpPr>
            <p:nvPr/>
          </p:nvSpPr>
          <p:spPr bwMode="auto">
            <a:xfrm>
              <a:off x="6628911" y="4311217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8" name="Line 10"/>
            <p:cNvSpPr>
              <a:spLocks noChangeShapeType="1"/>
            </p:cNvSpPr>
            <p:nvPr/>
          </p:nvSpPr>
          <p:spPr bwMode="auto">
            <a:xfrm>
              <a:off x="6996366" y="4311217"/>
              <a:ext cx="0" cy="157481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9" name="AutoShape 6"/>
            <p:cNvSpPr>
              <a:spLocks noChangeArrowheads="1"/>
            </p:cNvSpPr>
            <p:nvPr/>
          </p:nvSpPr>
          <p:spPr bwMode="auto">
            <a:xfrm>
              <a:off x="5736520" y="4843762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0" name="Line 10"/>
            <p:cNvSpPr>
              <a:spLocks noChangeShapeType="1"/>
            </p:cNvSpPr>
            <p:nvPr/>
          </p:nvSpPr>
          <p:spPr bwMode="auto">
            <a:xfrm>
              <a:off x="6103975" y="4843762"/>
              <a:ext cx="0" cy="157481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1" name="AutoShape 6"/>
            <p:cNvSpPr>
              <a:spLocks noChangeArrowheads="1"/>
            </p:cNvSpPr>
            <p:nvPr/>
          </p:nvSpPr>
          <p:spPr bwMode="auto">
            <a:xfrm>
              <a:off x="5841507" y="4896256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2" name="Line 10"/>
            <p:cNvSpPr>
              <a:spLocks noChangeShapeType="1"/>
            </p:cNvSpPr>
            <p:nvPr/>
          </p:nvSpPr>
          <p:spPr bwMode="auto">
            <a:xfrm>
              <a:off x="6208962" y="4896256"/>
              <a:ext cx="0" cy="157481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3" name="AutoShape 6"/>
            <p:cNvSpPr>
              <a:spLocks noChangeArrowheads="1"/>
            </p:cNvSpPr>
            <p:nvPr/>
          </p:nvSpPr>
          <p:spPr bwMode="auto">
            <a:xfrm>
              <a:off x="7363821" y="4948749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4" name="Line 10"/>
            <p:cNvSpPr>
              <a:spLocks noChangeShapeType="1"/>
            </p:cNvSpPr>
            <p:nvPr/>
          </p:nvSpPr>
          <p:spPr bwMode="auto">
            <a:xfrm>
              <a:off x="7731276" y="4948749"/>
              <a:ext cx="0" cy="157481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5" name="AutoShape 6"/>
            <p:cNvSpPr>
              <a:spLocks noChangeArrowheads="1"/>
            </p:cNvSpPr>
            <p:nvPr/>
          </p:nvSpPr>
          <p:spPr bwMode="auto">
            <a:xfrm>
              <a:off x="7468808" y="5001243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6" name="Line 10"/>
            <p:cNvSpPr>
              <a:spLocks noChangeShapeType="1"/>
            </p:cNvSpPr>
            <p:nvPr/>
          </p:nvSpPr>
          <p:spPr bwMode="auto">
            <a:xfrm>
              <a:off x="7836264" y="5001243"/>
              <a:ext cx="0" cy="157481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7" name="직사각형 126"/>
            <p:cNvSpPr/>
            <p:nvPr/>
          </p:nvSpPr>
          <p:spPr>
            <a:xfrm>
              <a:off x="7048860" y="5578672"/>
              <a:ext cx="73491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8" name="직선 연결선 127"/>
            <p:cNvCxnSpPr>
              <a:stCxn id="127" idx="0"/>
              <a:endCxn id="113" idx="2"/>
            </p:cNvCxnSpPr>
            <p:nvPr/>
          </p:nvCxnSpPr>
          <p:spPr>
            <a:xfrm flipH="1" flipV="1">
              <a:off x="6051481" y="5211217"/>
              <a:ext cx="1364834" cy="367455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직선 연결선 128"/>
            <p:cNvCxnSpPr>
              <a:stCxn id="113" idx="2"/>
              <a:endCxn id="130" idx="0"/>
            </p:cNvCxnSpPr>
            <p:nvPr/>
          </p:nvCxnSpPr>
          <p:spPr>
            <a:xfrm flipH="1">
              <a:off x="5923184" y="5211217"/>
              <a:ext cx="128297" cy="375065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직사각형 129"/>
            <p:cNvSpPr/>
            <p:nvPr/>
          </p:nvSpPr>
          <p:spPr>
            <a:xfrm>
              <a:off x="5555729" y="5586282"/>
              <a:ext cx="73491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AutoShape 6"/>
            <p:cNvSpPr>
              <a:spLocks noChangeArrowheads="1"/>
            </p:cNvSpPr>
            <p:nvPr/>
          </p:nvSpPr>
          <p:spPr bwMode="auto">
            <a:xfrm>
              <a:off x="7107286" y="5631165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2" name="Line 10"/>
            <p:cNvSpPr>
              <a:spLocks noChangeShapeType="1"/>
            </p:cNvSpPr>
            <p:nvPr/>
          </p:nvSpPr>
          <p:spPr bwMode="auto">
            <a:xfrm>
              <a:off x="7474741" y="5631165"/>
              <a:ext cx="0" cy="157481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3" name="AutoShape 6"/>
            <p:cNvSpPr>
              <a:spLocks noChangeArrowheads="1"/>
            </p:cNvSpPr>
            <p:nvPr/>
          </p:nvSpPr>
          <p:spPr bwMode="auto">
            <a:xfrm>
              <a:off x="7212273" y="5683659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4" name="Line 10"/>
            <p:cNvSpPr>
              <a:spLocks noChangeShapeType="1"/>
            </p:cNvSpPr>
            <p:nvPr/>
          </p:nvSpPr>
          <p:spPr bwMode="auto">
            <a:xfrm>
              <a:off x="7579728" y="5683659"/>
              <a:ext cx="0" cy="157481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5" name="AutoShape 6"/>
            <p:cNvSpPr>
              <a:spLocks noChangeArrowheads="1"/>
            </p:cNvSpPr>
            <p:nvPr/>
          </p:nvSpPr>
          <p:spPr bwMode="auto">
            <a:xfrm>
              <a:off x="5594680" y="5677726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6" name="Line 10"/>
            <p:cNvSpPr>
              <a:spLocks noChangeShapeType="1"/>
            </p:cNvSpPr>
            <p:nvPr/>
          </p:nvSpPr>
          <p:spPr bwMode="auto">
            <a:xfrm>
              <a:off x="5962135" y="5677726"/>
              <a:ext cx="0" cy="157481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7" name="AutoShape 6"/>
            <p:cNvSpPr>
              <a:spLocks noChangeArrowheads="1"/>
            </p:cNvSpPr>
            <p:nvPr/>
          </p:nvSpPr>
          <p:spPr bwMode="auto">
            <a:xfrm>
              <a:off x="5699667" y="5730220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8" name="Line 10"/>
            <p:cNvSpPr>
              <a:spLocks noChangeShapeType="1"/>
            </p:cNvSpPr>
            <p:nvPr/>
          </p:nvSpPr>
          <p:spPr bwMode="auto">
            <a:xfrm>
              <a:off x="6067122" y="5730220"/>
              <a:ext cx="0" cy="157481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39" name="직선 연결선 138"/>
            <p:cNvCxnSpPr>
              <a:stCxn id="114" idx="0"/>
              <a:endCxn id="110" idx="3"/>
            </p:cNvCxnSpPr>
            <p:nvPr/>
          </p:nvCxnSpPr>
          <p:spPr>
            <a:xfrm flipH="1" flipV="1">
              <a:off x="7206340" y="4416204"/>
              <a:ext cx="472442" cy="480052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7901866F-CE18-5D35-FB13-8C95C47438B4}"/>
              </a:ext>
            </a:extLst>
          </p:cNvPr>
          <p:cNvSpPr/>
          <p:nvPr/>
        </p:nvSpPr>
        <p:spPr>
          <a:xfrm>
            <a:off x="6936222" y="5501203"/>
            <a:ext cx="1012678" cy="556994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2409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536" y="136477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1-9 </a:t>
            </a:r>
            <a:r>
              <a:rPr lang="ko-KR" altLang="en-US" sz="1400" b="1" dirty="0">
                <a:ea typeface="맑은 고딕" panose="020B0503020000020004" pitchFamily="50" charset="-127"/>
              </a:rPr>
              <a:t>데이터 모델과 각 모델에서 관계의 표현 방법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841100"/>
              </p:ext>
            </p:extLst>
          </p:nvPr>
        </p:nvGraphicFramePr>
        <p:xfrm>
          <a:off x="539552" y="1772816"/>
          <a:ext cx="8064897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2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데이터 모델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관계의 표현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데이터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관계 데이터 모델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속성 값 사용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객체 데이터 모델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</a:rPr>
                        <a:t>객체식별자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사용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 Box 41"/>
          <p:cNvSpPr txBox="1">
            <a:spLocks noChangeArrowheads="1"/>
          </p:cNvSpPr>
          <p:nvPr/>
        </p:nvSpPr>
        <p:spPr bwMode="auto">
          <a:xfrm>
            <a:off x="3040227" y="2276872"/>
            <a:ext cx="492443" cy="2769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latin typeface="맑은 고딕" panose="020B0503020000020004" pitchFamily="50" charset="-127"/>
              </a:rPr>
              <a:t>학생</a:t>
            </a:r>
            <a:endParaRPr lang="en-US" altLang="ko-KR" sz="1200" dirty="0">
              <a:latin typeface="맑은 고딕" panose="020B0503020000020004" pitchFamily="50" charset="-127"/>
            </a:endParaRPr>
          </a:p>
        </p:txBody>
      </p:sp>
      <p:sp>
        <p:nvSpPr>
          <p:cNvPr id="19" name="Text Box 41"/>
          <p:cNvSpPr txBox="1">
            <a:spLocks noChangeArrowheads="1"/>
          </p:cNvSpPr>
          <p:nvPr/>
        </p:nvSpPr>
        <p:spPr bwMode="auto">
          <a:xfrm>
            <a:off x="3040227" y="3224009"/>
            <a:ext cx="492444" cy="2769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dirty="0">
                <a:latin typeface="맑은 고딕" panose="020B0503020000020004" pitchFamily="50" charset="-127"/>
              </a:rPr>
              <a:t>강좌</a:t>
            </a:r>
            <a:endParaRPr lang="en-US" altLang="ko-KR" sz="1200" dirty="0">
              <a:latin typeface="맑은 고딕" panose="020B0503020000020004" pitchFamily="50" charset="-127"/>
            </a:endParaRPr>
          </a:p>
        </p:txBody>
      </p:sp>
      <p:grpSp>
        <p:nvGrpSpPr>
          <p:cNvPr id="21" name="그룹 20"/>
          <p:cNvGrpSpPr>
            <a:grpSpLocks noChangeAspect="1"/>
          </p:cNvGrpSpPr>
          <p:nvPr/>
        </p:nvGrpSpPr>
        <p:grpSpPr>
          <a:xfrm>
            <a:off x="3033851" y="2564904"/>
            <a:ext cx="1328748" cy="396000"/>
            <a:chOff x="1165276" y="2384410"/>
            <a:chExt cx="1723107" cy="6096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22" name="AutoShape 6"/>
            <p:cNvSpPr>
              <a:spLocks noChangeArrowheads="1"/>
            </p:cNvSpPr>
            <p:nvPr/>
          </p:nvSpPr>
          <p:spPr bwMode="auto">
            <a:xfrm>
              <a:off x="1165276" y="2384410"/>
              <a:ext cx="1585258" cy="457200"/>
            </a:xfrm>
            <a:prstGeom prst="roundRect">
              <a:avLst>
                <a:gd name="adj" fmla="val 16667"/>
              </a:avLst>
            </a:prstGeom>
            <a:grpFill/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Line 7"/>
            <p:cNvSpPr>
              <a:spLocks noChangeShapeType="1"/>
            </p:cNvSpPr>
            <p:nvPr/>
          </p:nvSpPr>
          <p:spPr bwMode="auto">
            <a:xfrm>
              <a:off x="2307152" y="2399600"/>
              <a:ext cx="26191" cy="442009"/>
            </a:xfrm>
            <a:prstGeom prst="line">
              <a:avLst/>
            </a:prstGeom>
            <a:grpFill/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4" name="AutoShape 9"/>
            <p:cNvSpPr>
              <a:spLocks noChangeArrowheads="1"/>
            </p:cNvSpPr>
            <p:nvPr/>
          </p:nvSpPr>
          <p:spPr bwMode="auto">
            <a:xfrm>
              <a:off x="1303125" y="2536810"/>
              <a:ext cx="1585258" cy="45720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b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rPr>
                <a:t>              </a:t>
              </a:r>
              <a:r>
                <a:rPr kumimoji="0" lang="en-US" altLang="ko-KR" sz="1000" dirty="0">
                  <a:solidFill>
                    <a:sysClr val="windowText" lastClr="000000"/>
                  </a:solidFill>
                  <a:latin typeface="Gill Sans MT"/>
                  <a:ea typeface="맑은 고딕" panose="020B0503020000020004" pitchFamily="50" charset="-127"/>
                </a:rPr>
                <a:t>X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5" name="Line 10"/>
            <p:cNvSpPr>
              <a:spLocks noChangeShapeType="1"/>
            </p:cNvSpPr>
            <p:nvPr/>
          </p:nvSpPr>
          <p:spPr bwMode="auto">
            <a:xfrm>
              <a:off x="2442164" y="2536810"/>
              <a:ext cx="0" cy="457200"/>
            </a:xfrm>
            <a:prstGeom prst="line">
              <a:avLst/>
            </a:prstGeom>
            <a:grpFill/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5547400" y="2258022"/>
            <a:ext cx="2490509" cy="1800000"/>
            <a:chOff x="5547400" y="2258022"/>
            <a:chExt cx="2490509" cy="1800000"/>
          </a:xfrm>
        </p:grpSpPr>
        <p:sp>
          <p:nvSpPr>
            <p:cNvPr id="27" name="직사각형 26"/>
            <p:cNvSpPr/>
            <p:nvPr/>
          </p:nvSpPr>
          <p:spPr>
            <a:xfrm>
              <a:off x="6463101" y="2258022"/>
              <a:ext cx="73491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5675697" y="2843061"/>
              <a:ext cx="73491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302999" y="2948048"/>
              <a:ext cx="73491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AutoShape 6"/>
            <p:cNvSpPr>
              <a:spLocks noChangeArrowheads="1"/>
            </p:cNvSpPr>
            <p:nvPr/>
          </p:nvSpPr>
          <p:spPr bwMode="auto">
            <a:xfrm>
              <a:off x="6515595" y="2310516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1" name="Line 10"/>
            <p:cNvSpPr>
              <a:spLocks noChangeShapeType="1"/>
            </p:cNvSpPr>
            <p:nvPr/>
          </p:nvSpPr>
          <p:spPr bwMode="auto">
            <a:xfrm>
              <a:off x="6883050" y="2310516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AutoShape 6"/>
            <p:cNvSpPr>
              <a:spLocks noChangeArrowheads="1"/>
            </p:cNvSpPr>
            <p:nvPr/>
          </p:nvSpPr>
          <p:spPr bwMode="auto">
            <a:xfrm>
              <a:off x="6620582" y="2363009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Line 10"/>
            <p:cNvSpPr>
              <a:spLocks noChangeShapeType="1"/>
            </p:cNvSpPr>
            <p:nvPr/>
          </p:nvSpPr>
          <p:spPr bwMode="auto">
            <a:xfrm>
              <a:off x="6988037" y="2363009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AutoShape 6"/>
            <p:cNvSpPr>
              <a:spLocks noChangeArrowheads="1"/>
            </p:cNvSpPr>
            <p:nvPr/>
          </p:nvSpPr>
          <p:spPr bwMode="auto">
            <a:xfrm>
              <a:off x="5728191" y="2895554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5" name="Line 10"/>
            <p:cNvSpPr>
              <a:spLocks noChangeShapeType="1"/>
            </p:cNvSpPr>
            <p:nvPr/>
          </p:nvSpPr>
          <p:spPr bwMode="auto">
            <a:xfrm>
              <a:off x="6095646" y="2895554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6" name="AutoShape 6"/>
            <p:cNvSpPr>
              <a:spLocks noChangeArrowheads="1"/>
            </p:cNvSpPr>
            <p:nvPr/>
          </p:nvSpPr>
          <p:spPr bwMode="auto">
            <a:xfrm>
              <a:off x="5833178" y="2948048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7" name="Line 10"/>
            <p:cNvSpPr>
              <a:spLocks noChangeShapeType="1"/>
            </p:cNvSpPr>
            <p:nvPr/>
          </p:nvSpPr>
          <p:spPr bwMode="auto">
            <a:xfrm>
              <a:off x="6200633" y="2948048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8" name="AutoShape 6"/>
            <p:cNvSpPr>
              <a:spLocks noChangeArrowheads="1"/>
            </p:cNvSpPr>
            <p:nvPr/>
          </p:nvSpPr>
          <p:spPr bwMode="auto">
            <a:xfrm>
              <a:off x="7355492" y="3000541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9" name="Line 10"/>
            <p:cNvSpPr>
              <a:spLocks noChangeShapeType="1"/>
            </p:cNvSpPr>
            <p:nvPr/>
          </p:nvSpPr>
          <p:spPr bwMode="auto">
            <a:xfrm>
              <a:off x="7722947" y="3000541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" name="AutoShape 6"/>
            <p:cNvSpPr>
              <a:spLocks noChangeArrowheads="1"/>
            </p:cNvSpPr>
            <p:nvPr/>
          </p:nvSpPr>
          <p:spPr bwMode="auto">
            <a:xfrm>
              <a:off x="7460479" y="3053035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Line 10"/>
            <p:cNvSpPr>
              <a:spLocks noChangeShapeType="1"/>
            </p:cNvSpPr>
            <p:nvPr/>
          </p:nvSpPr>
          <p:spPr bwMode="auto">
            <a:xfrm>
              <a:off x="7827935" y="3053035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7040531" y="3630464"/>
              <a:ext cx="73491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5547400" y="3638074"/>
              <a:ext cx="73491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AutoShape 6"/>
            <p:cNvSpPr>
              <a:spLocks noChangeArrowheads="1"/>
            </p:cNvSpPr>
            <p:nvPr/>
          </p:nvSpPr>
          <p:spPr bwMode="auto">
            <a:xfrm>
              <a:off x="7098957" y="3682957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5" name="Line 10"/>
            <p:cNvSpPr>
              <a:spLocks noChangeShapeType="1"/>
            </p:cNvSpPr>
            <p:nvPr/>
          </p:nvSpPr>
          <p:spPr bwMode="auto">
            <a:xfrm>
              <a:off x="7466412" y="3682957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" name="AutoShape 6"/>
            <p:cNvSpPr>
              <a:spLocks noChangeArrowheads="1"/>
            </p:cNvSpPr>
            <p:nvPr/>
          </p:nvSpPr>
          <p:spPr bwMode="auto">
            <a:xfrm>
              <a:off x="7203944" y="3735451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" name="Line 10"/>
            <p:cNvSpPr>
              <a:spLocks noChangeShapeType="1"/>
            </p:cNvSpPr>
            <p:nvPr/>
          </p:nvSpPr>
          <p:spPr bwMode="auto">
            <a:xfrm>
              <a:off x="7571399" y="3735451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8" name="AutoShape 6"/>
            <p:cNvSpPr>
              <a:spLocks noChangeArrowheads="1"/>
            </p:cNvSpPr>
            <p:nvPr/>
          </p:nvSpPr>
          <p:spPr bwMode="auto">
            <a:xfrm>
              <a:off x="5586351" y="3729518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9" name="Line 10"/>
            <p:cNvSpPr>
              <a:spLocks noChangeShapeType="1"/>
            </p:cNvSpPr>
            <p:nvPr/>
          </p:nvSpPr>
          <p:spPr bwMode="auto">
            <a:xfrm>
              <a:off x="5953806" y="3729518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0" name="AutoShape 6"/>
            <p:cNvSpPr>
              <a:spLocks noChangeArrowheads="1"/>
            </p:cNvSpPr>
            <p:nvPr/>
          </p:nvSpPr>
          <p:spPr bwMode="auto">
            <a:xfrm>
              <a:off x="5691338" y="3782012"/>
              <a:ext cx="533207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" name="Line 10"/>
            <p:cNvSpPr>
              <a:spLocks noChangeShapeType="1"/>
            </p:cNvSpPr>
            <p:nvPr/>
          </p:nvSpPr>
          <p:spPr bwMode="auto">
            <a:xfrm>
              <a:off x="6058793" y="3782012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2961842" y="4149080"/>
            <a:ext cx="1466142" cy="2005135"/>
            <a:chOff x="2961842" y="4149080"/>
            <a:chExt cx="1466142" cy="2005135"/>
          </a:xfrm>
        </p:grpSpPr>
        <p:grpSp>
          <p:nvGrpSpPr>
            <p:cNvPr id="52" name="그룹 51"/>
            <p:cNvGrpSpPr>
              <a:grpSpLocks noChangeAspect="1"/>
            </p:cNvGrpSpPr>
            <p:nvPr/>
          </p:nvGrpSpPr>
          <p:grpSpPr>
            <a:xfrm>
              <a:off x="2961842" y="5373216"/>
              <a:ext cx="1466142" cy="504000"/>
              <a:chOff x="1070901" y="3864868"/>
              <a:chExt cx="1890058" cy="762000"/>
            </a:xfrm>
            <a:solidFill>
              <a:schemeClr val="accent1">
                <a:lumMod val="20000"/>
                <a:lumOff val="80000"/>
              </a:schemeClr>
            </a:solidFill>
          </p:grpSpPr>
          <p:grpSp>
            <p:nvGrpSpPr>
              <p:cNvPr id="53" name="Group 38"/>
              <p:cNvGrpSpPr>
                <a:grpSpLocks/>
              </p:cNvGrpSpPr>
              <p:nvPr/>
            </p:nvGrpSpPr>
            <p:grpSpPr bwMode="auto">
              <a:xfrm>
                <a:off x="1070901" y="3864868"/>
                <a:ext cx="1585258" cy="457200"/>
                <a:chOff x="720" y="2784"/>
                <a:chExt cx="1104" cy="288"/>
              </a:xfrm>
              <a:grpFill/>
            </p:grpSpPr>
            <p:sp>
              <p:nvSpPr>
                <p:cNvPr id="59" name="AutoShape 39"/>
                <p:cNvSpPr>
                  <a:spLocks noChangeArrowheads="1"/>
                </p:cNvSpPr>
                <p:nvPr/>
              </p:nvSpPr>
              <p:spPr bwMode="auto">
                <a:xfrm>
                  <a:off x="720" y="2784"/>
                  <a:ext cx="1104" cy="288"/>
                </a:xfrm>
                <a:prstGeom prst="roundRect">
                  <a:avLst>
                    <a:gd name="adj" fmla="val 16667"/>
                  </a:avLst>
                </a:prstGeom>
                <a:grpFill/>
                <a:ln w="9525">
                  <a:solidFill>
                    <a:schemeClr val="bg1">
                      <a:lumMod val="5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60" name="Line 40"/>
                <p:cNvSpPr>
                  <a:spLocks noChangeShapeType="1"/>
                </p:cNvSpPr>
                <p:nvPr/>
              </p:nvSpPr>
              <p:spPr bwMode="auto">
                <a:xfrm>
                  <a:off x="1584" y="2784"/>
                  <a:ext cx="0" cy="288"/>
                </a:xfrm>
                <a:prstGeom prst="line">
                  <a:avLst/>
                </a:prstGeom>
                <a:grpFill/>
                <a:ln w="9525">
                  <a:solidFill>
                    <a:schemeClr val="bg1">
                      <a:lumMod val="5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grpSp>
            <p:nvGrpSpPr>
              <p:cNvPr id="54" name="Group 38"/>
              <p:cNvGrpSpPr>
                <a:grpSpLocks/>
              </p:cNvGrpSpPr>
              <p:nvPr/>
            </p:nvGrpSpPr>
            <p:grpSpPr bwMode="auto">
              <a:xfrm>
                <a:off x="1223301" y="4017268"/>
                <a:ext cx="1585258" cy="457200"/>
                <a:chOff x="720" y="2784"/>
                <a:chExt cx="1104" cy="288"/>
              </a:xfrm>
              <a:grpFill/>
            </p:grpSpPr>
            <p:sp>
              <p:nvSpPr>
                <p:cNvPr id="57" name="AutoShape 39"/>
                <p:cNvSpPr>
                  <a:spLocks noChangeArrowheads="1"/>
                </p:cNvSpPr>
                <p:nvPr/>
              </p:nvSpPr>
              <p:spPr bwMode="auto">
                <a:xfrm>
                  <a:off x="720" y="2784"/>
                  <a:ext cx="1104" cy="288"/>
                </a:xfrm>
                <a:prstGeom prst="roundRect">
                  <a:avLst>
                    <a:gd name="adj" fmla="val 16667"/>
                  </a:avLst>
                </a:prstGeom>
                <a:grpFill/>
                <a:ln w="9525">
                  <a:solidFill>
                    <a:schemeClr val="bg1">
                      <a:lumMod val="5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58" name="Line 40"/>
                <p:cNvSpPr>
                  <a:spLocks noChangeShapeType="1"/>
                </p:cNvSpPr>
                <p:nvPr/>
              </p:nvSpPr>
              <p:spPr bwMode="auto">
                <a:xfrm>
                  <a:off x="1584" y="2784"/>
                  <a:ext cx="0" cy="288"/>
                </a:xfrm>
                <a:prstGeom prst="line">
                  <a:avLst/>
                </a:prstGeom>
                <a:grpFill/>
                <a:ln w="9525">
                  <a:solidFill>
                    <a:schemeClr val="bg1">
                      <a:lumMod val="5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sp>
            <p:nvSpPr>
              <p:cNvPr id="55" name="AutoShape 39"/>
              <p:cNvSpPr>
                <a:spLocks noChangeArrowheads="1"/>
              </p:cNvSpPr>
              <p:nvPr/>
            </p:nvSpPr>
            <p:spPr bwMode="auto">
              <a:xfrm>
                <a:off x="1375701" y="4169668"/>
                <a:ext cx="1585258" cy="457200"/>
              </a:xfrm>
              <a:prstGeom prst="roundRect">
                <a:avLst>
                  <a:gd name="adj" fmla="val 16667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rPr>
                  <a:t>  </a:t>
                </a: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6" name="Line 40"/>
              <p:cNvSpPr>
                <a:spLocks noChangeShapeType="1"/>
              </p:cNvSpPr>
              <p:nvPr/>
            </p:nvSpPr>
            <p:spPr bwMode="auto">
              <a:xfrm>
                <a:off x="2616338" y="4169668"/>
                <a:ext cx="0" cy="457200"/>
              </a:xfrm>
              <a:prstGeom prst="line">
                <a:avLst/>
              </a:prstGeom>
              <a:grpFill/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61" name="Text Box 41"/>
            <p:cNvSpPr txBox="1">
              <a:spLocks noChangeArrowheads="1"/>
            </p:cNvSpPr>
            <p:nvPr/>
          </p:nvSpPr>
          <p:spPr bwMode="auto">
            <a:xfrm>
              <a:off x="3040227" y="4149080"/>
              <a:ext cx="49244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맑은 고딕" panose="020B0503020000020004" pitchFamily="50" charset="-127"/>
                </a:rPr>
                <a:t>학생</a:t>
              </a:r>
              <a:endParaRPr lang="en-US" altLang="ko-KR" sz="1200" dirty="0">
                <a:latin typeface="맑은 고딕" panose="020B0503020000020004" pitchFamily="50" charset="-127"/>
              </a:endParaRPr>
            </a:p>
          </p:txBody>
        </p:sp>
        <p:sp>
          <p:nvSpPr>
            <p:cNvPr id="62" name="Text Box 41"/>
            <p:cNvSpPr txBox="1">
              <a:spLocks noChangeArrowheads="1"/>
            </p:cNvSpPr>
            <p:nvPr/>
          </p:nvSpPr>
          <p:spPr bwMode="auto">
            <a:xfrm>
              <a:off x="3040227" y="5096217"/>
              <a:ext cx="492444" cy="27699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맑은 고딕" panose="020B0503020000020004" pitchFamily="50" charset="-127"/>
                </a:rPr>
                <a:t>강좌</a:t>
              </a:r>
              <a:endParaRPr lang="en-US" altLang="ko-KR" sz="1200" dirty="0">
                <a:latin typeface="맑은 고딕" panose="020B0503020000020004" pitchFamily="50" charset="-127"/>
              </a:endParaRPr>
            </a:p>
          </p:txBody>
        </p:sp>
        <p:cxnSp>
          <p:nvCxnSpPr>
            <p:cNvPr id="63" name="꺾인 연결선 62"/>
            <p:cNvCxnSpPr/>
            <p:nvPr/>
          </p:nvCxnSpPr>
          <p:spPr>
            <a:xfrm rot="5400000">
              <a:off x="3610723" y="4999561"/>
              <a:ext cx="777664" cy="372846"/>
            </a:xfrm>
            <a:prstGeom prst="bentConnector3">
              <a:avLst>
                <a:gd name="adj1" fmla="val 21829"/>
              </a:avLst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그룹 63"/>
            <p:cNvGrpSpPr>
              <a:grpSpLocks noChangeAspect="1"/>
            </p:cNvGrpSpPr>
            <p:nvPr/>
          </p:nvGrpSpPr>
          <p:grpSpPr>
            <a:xfrm>
              <a:off x="3033851" y="4437112"/>
              <a:ext cx="1328748" cy="396000"/>
              <a:chOff x="1165276" y="2384410"/>
              <a:chExt cx="1723107" cy="609600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65" name="AutoShape 6"/>
              <p:cNvSpPr>
                <a:spLocks noChangeArrowheads="1"/>
              </p:cNvSpPr>
              <p:nvPr/>
            </p:nvSpPr>
            <p:spPr bwMode="auto">
              <a:xfrm>
                <a:off x="1165276" y="2384410"/>
                <a:ext cx="1585258" cy="457200"/>
              </a:xfrm>
              <a:prstGeom prst="roundRect">
                <a:avLst>
                  <a:gd name="adj" fmla="val 16667"/>
                </a:avLst>
              </a:prstGeom>
              <a:grpFill/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6" name="Line 7"/>
              <p:cNvSpPr>
                <a:spLocks noChangeShapeType="1"/>
              </p:cNvSpPr>
              <p:nvPr/>
            </p:nvSpPr>
            <p:spPr bwMode="auto">
              <a:xfrm>
                <a:off x="2307152" y="2399600"/>
                <a:ext cx="26191" cy="442009"/>
              </a:xfrm>
              <a:prstGeom prst="line">
                <a:avLst/>
              </a:prstGeom>
              <a:grpFill/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7" name="AutoShape 9"/>
              <p:cNvSpPr>
                <a:spLocks noChangeArrowheads="1"/>
              </p:cNvSpPr>
              <p:nvPr/>
            </p:nvSpPr>
            <p:spPr bwMode="auto">
              <a:xfrm>
                <a:off x="1303125" y="2536810"/>
                <a:ext cx="1585258" cy="457200"/>
              </a:xfrm>
              <a:prstGeom prst="roundRect">
                <a:avLst>
                  <a:gd name="adj" fmla="val 16667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b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Gill Sans MT"/>
                    <a:ea typeface="맑은 고딕" panose="020B0503020000020004" pitchFamily="50" charset="-127"/>
                    <a:cs typeface="+mn-cs"/>
                  </a:rPr>
                  <a:t>             </a:t>
                </a:r>
                <a:r>
                  <a:rPr kumimoji="0" lang="en-US" altLang="ko-KR" sz="1400" dirty="0" err="1">
                    <a:solidFill>
                      <a:sysClr val="windowText" lastClr="000000"/>
                    </a:solidFill>
                    <a:latin typeface="Gill Sans MT"/>
                    <a:ea typeface="맑은 고딕" panose="020B0503020000020004" pitchFamily="50" charset="-127"/>
                  </a:rPr>
                  <a:t>oid</a:t>
                </a:r>
                <a:endPara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8" name="Line 10"/>
              <p:cNvSpPr>
                <a:spLocks noChangeShapeType="1"/>
              </p:cNvSpPr>
              <p:nvPr/>
            </p:nvSpPr>
            <p:spPr bwMode="auto">
              <a:xfrm>
                <a:off x="2442164" y="2536810"/>
                <a:ext cx="0" cy="457200"/>
              </a:xfrm>
              <a:prstGeom prst="line">
                <a:avLst/>
              </a:prstGeom>
              <a:grpFill/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69" name="Text Box 41"/>
            <p:cNvSpPr txBox="1">
              <a:spLocks noChangeArrowheads="1"/>
            </p:cNvSpPr>
            <p:nvPr/>
          </p:nvSpPr>
          <p:spPr bwMode="auto">
            <a:xfrm>
              <a:off x="3230347" y="5877216"/>
              <a:ext cx="1125629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200" dirty="0">
                  <a:latin typeface="+mn-ea"/>
                </a:rPr>
                <a:t>객체 번호 </a:t>
              </a:r>
              <a:r>
                <a:rPr lang="en-US" altLang="ko-KR" sz="1200" dirty="0" err="1">
                  <a:latin typeface="+mn-ea"/>
                </a:rPr>
                <a:t>oid</a:t>
              </a:r>
              <a:endParaRPr lang="en-US" altLang="ko-KR" sz="1200" dirty="0">
                <a:latin typeface="+mn-ea"/>
              </a:endParaRPr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546916" y="4249663"/>
            <a:ext cx="2492134" cy="1800000"/>
            <a:chOff x="5546916" y="4249663"/>
            <a:chExt cx="2492134" cy="1800000"/>
          </a:xfrm>
        </p:grpSpPr>
        <p:sp>
          <p:nvSpPr>
            <p:cNvPr id="71" name="직사각형 70"/>
            <p:cNvSpPr/>
            <p:nvPr/>
          </p:nvSpPr>
          <p:spPr>
            <a:xfrm>
              <a:off x="6463214" y="4249663"/>
              <a:ext cx="73539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2" name="직선 연결선 71"/>
            <p:cNvCxnSpPr>
              <a:stCxn id="88" idx="0"/>
              <a:endCxn id="75" idx="2"/>
            </p:cNvCxnSpPr>
            <p:nvPr/>
          </p:nvCxnSpPr>
          <p:spPr>
            <a:xfrm flipV="1">
              <a:off x="7408716" y="5359637"/>
              <a:ext cx="262639" cy="26246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/>
            <p:cNvCxnSpPr>
              <a:stCxn id="71" idx="2"/>
              <a:endCxn id="74" idx="0"/>
            </p:cNvCxnSpPr>
            <p:nvPr/>
          </p:nvCxnSpPr>
          <p:spPr>
            <a:xfrm flipH="1">
              <a:off x="6042992" y="4669611"/>
              <a:ext cx="787918" cy="16509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직사각형 73"/>
            <p:cNvSpPr/>
            <p:nvPr/>
          </p:nvSpPr>
          <p:spPr>
            <a:xfrm>
              <a:off x="5675297" y="4834702"/>
              <a:ext cx="73539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7303660" y="4939689"/>
              <a:ext cx="73539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AutoShape 6"/>
            <p:cNvSpPr>
              <a:spLocks noChangeArrowheads="1"/>
            </p:cNvSpPr>
            <p:nvPr/>
          </p:nvSpPr>
          <p:spPr bwMode="auto">
            <a:xfrm>
              <a:off x="6515742" y="4302157"/>
              <a:ext cx="533555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7" name="Line 10"/>
            <p:cNvSpPr>
              <a:spLocks noChangeShapeType="1"/>
            </p:cNvSpPr>
            <p:nvPr/>
          </p:nvSpPr>
          <p:spPr bwMode="auto">
            <a:xfrm>
              <a:off x="6883437" y="4302157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8" name="AutoShape 6"/>
            <p:cNvSpPr>
              <a:spLocks noChangeArrowheads="1"/>
            </p:cNvSpPr>
            <p:nvPr/>
          </p:nvSpPr>
          <p:spPr bwMode="auto">
            <a:xfrm>
              <a:off x="6620798" y="4354650"/>
              <a:ext cx="533555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Line 10"/>
            <p:cNvSpPr>
              <a:spLocks noChangeShapeType="1"/>
            </p:cNvSpPr>
            <p:nvPr/>
          </p:nvSpPr>
          <p:spPr bwMode="auto">
            <a:xfrm>
              <a:off x="6988493" y="4354650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0" name="AutoShape 6"/>
            <p:cNvSpPr>
              <a:spLocks noChangeArrowheads="1"/>
            </p:cNvSpPr>
            <p:nvPr/>
          </p:nvSpPr>
          <p:spPr bwMode="auto">
            <a:xfrm>
              <a:off x="5727825" y="4887195"/>
              <a:ext cx="533555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1" name="Line 10"/>
            <p:cNvSpPr>
              <a:spLocks noChangeShapeType="1"/>
            </p:cNvSpPr>
            <p:nvPr/>
          </p:nvSpPr>
          <p:spPr bwMode="auto">
            <a:xfrm>
              <a:off x="6095519" y="4887195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AutoShape 6"/>
            <p:cNvSpPr>
              <a:spLocks noChangeArrowheads="1"/>
            </p:cNvSpPr>
            <p:nvPr/>
          </p:nvSpPr>
          <p:spPr bwMode="auto">
            <a:xfrm>
              <a:off x="5832880" y="4939689"/>
              <a:ext cx="533555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3" name="Line 10"/>
            <p:cNvSpPr>
              <a:spLocks noChangeShapeType="1"/>
            </p:cNvSpPr>
            <p:nvPr/>
          </p:nvSpPr>
          <p:spPr bwMode="auto">
            <a:xfrm>
              <a:off x="6200575" y="4939689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4" name="AutoShape 6"/>
            <p:cNvSpPr>
              <a:spLocks noChangeArrowheads="1"/>
            </p:cNvSpPr>
            <p:nvPr/>
          </p:nvSpPr>
          <p:spPr bwMode="auto">
            <a:xfrm>
              <a:off x="7356188" y="4992182"/>
              <a:ext cx="533555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Line 10"/>
            <p:cNvSpPr>
              <a:spLocks noChangeShapeType="1"/>
            </p:cNvSpPr>
            <p:nvPr/>
          </p:nvSpPr>
          <p:spPr bwMode="auto">
            <a:xfrm>
              <a:off x="7723883" y="4992182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6" name="AutoShape 6"/>
            <p:cNvSpPr>
              <a:spLocks noChangeArrowheads="1"/>
            </p:cNvSpPr>
            <p:nvPr/>
          </p:nvSpPr>
          <p:spPr bwMode="auto">
            <a:xfrm>
              <a:off x="7461244" y="5044676"/>
              <a:ext cx="533555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7" name="Line 10"/>
            <p:cNvSpPr>
              <a:spLocks noChangeShapeType="1"/>
            </p:cNvSpPr>
            <p:nvPr/>
          </p:nvSpPr>
          <p:spPr bwMode="auto">
            <a:xfrm>
              <a:off x="7828939" y="5044676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7041021" y="5622105"/>
              <a:ext cx="73539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9" name="직선 연결선 88"/>
            <p:cNvCxnSpPr>
              <a:stCxn id="88" idx="0"/>
              <a:endCxn id="74" idx="2"/>
            </p:cNvCxnSpPr>
            <p:nvPr/>
          </p:nvCxnSpPr>
          <p:spPr>
            <a:xfrm flipH="1" flipV="1">
              <a:off x="6042992" y="5254650"/>
              <a:ext cx="1365724" cy="36745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/>
            <p:cNvCxnSpPr>
              <a:stCxn id="74" idx="2"/>
              <a:endCxn id="91" idx="0"/>
            </p:cNvCxnSpPr>
            <p:nvPr/>
          </p:nvCxnSpPr>
          <p:spPr>
            <a:xfrm flipH="1">
              <a:off x="5914611" y="5254650"/>
              <a:ext cx="128381" cy="37506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직사각형 90"/>
            <p:cNvSpPr/>
            <p:nvPr/>
          </p:nvSpPr>
          <p:spPr>
            <a:xfrm>
              <a:off x="5546916" y="5629715"/>
              <a:ext cx="735390" cy="41994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AutoShape 6"/>
            <p:cNvSpPr>
              <a:spLocks noChangeArrowheads="1"/>
            </p:cNvSpPr>
            <p:nvPr/>
          </p:nvSpPr>
          <p:spPr bwMode="auto">
            <a:xfrm>
              <a:off x="7099485" y="5674598"/>
              <a:ext cx="533555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3" name="Line 10"/>
            <p:cNvSpPr>
              <a:spLocks noChangeShapeType="1"/>
            </p:cNvSpPr>
            <p:nvPr/>
          </p:nvSpPr>
          <p:spPr bwMode="auto">
            <a:xfrm>
              <a:off x="7467180" y="5674598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AutoShape 6"/>
            <p:cNvSpPr>
              <a:spLocks noChangeArrowheads="1"/>
            </p:cNvSpPr>
            <p:nvPr/>
          </p:nvSpPr>
          <p:spPr bwMode="auto">
            <a:xfrm>
              <a:off x="7204541" y="5727092"/>
              <a:ext cx="533555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5" name="Line 10"/>
            <p:cNvSpPr>
              <a:spLocks noChangeShapeType="1"/>
            </p:cNvSpPr>
            <p:nvPr/>
          </p:nvSpPr>
          <p:spPr bwMode="auto">
            <a:xfrm>
              <a:off x="7572236" y="5727092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6" name="AutoShape 6"/>
            <p:cNvSpPr>
              <a:spLocks noChangeArrowheads="1"/>
            </p:cNvSpPr>
            <p:nvPr/>
          </p:nvSpPr>
          <p:spPr bwMode="auto">
            <a:xfrm>
              <a:off x="5585892" y="5721159"/>
              <a:ext cx="533555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Line 10"/>
            <p:cNvSpPr>
              <a:spLocks noChangeShapeType="1"/>
            </p:cNvSpPr>
            <p:nvPr/>
          </p:nvSpPr>
          <p:spPr bwMode="auto">
            <a:xfrm>
              <a:off x="5953587" y="5721159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8" name="AutoShape 6"/>
            <p:cNvSpPr>
              <a:spLocks noChangeArrowheads="1"/>
            </p:cNvSpPr>
            <p:nvPr/>
          </p:nvSpPr>
          <p:spPr bwMode="auto">
            <a:xfrm>
              <a:off x="5690948" y="5773653"/>
              <a:ext cx="533555" cy="157481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9" name="Line 10"/>
            <p:cNvSpPr>
              <a:spLocks noChangeShapeType="1"/>
            </p:cNvSpPr>
            <p:nvPr/>
          </p:nvSpPr>
          <p:spPr bwMode="auto">
            <a:xfrm>
              <a:off x="6058643" y="5773653"/>
              <a:ext cx="0" cy="157481"/>
            </a:xfrm>
            <a:prstGeom prst="line">
              <a:avLst/>
            </a:prstGeom>
            <a:solidFill>
              <a:srgbClr val="F9FDD7"/>
            </a:solidFill>
            <a:ln w="9525">
              <a:solidFill>
                <a:sysClr val="windowText" lastClr="000000"/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00" name="직선 연결선 99"/>
            <p:cNvCxnSpPr>
              <a:stCxn id="75" idx="0"/>
              <a:endCxn id="71" idx="3"/>
            </p:cNvCxnSpPr>
            <p:nvPr/>
          </p:nvCxnSpPr>
          <p:spPr>
            <a:xfrm flipH="1" flipV="1">
              <a:off x="7198604" y="4459637"/>
              <a:ext cx="472751" cy="48005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/>
          <p:cNvGrpSpPr/>
          <p:nvPr/>
        </p:nvGrpSpPr>
        <p:grpSpPr>
          <a:xfrm>
            <a:off x="3033851" y="3510660"/>
            <a:ext cx="1466142" cy="504000"/>
            <a:chOff x="5362448" y="1093715"/>
            <a:chExt cx="1466142" cy="504000"/>
          </a:xfrm>
        </p:grpSpPr>
        <p:sp>
          <p:nvSpPr>
            <p:cNvPr id="108" name="AutoShape 39"/>
            <p:cNvSpPr>
              <a:spLocks noChangeArrowheads="1"/>
            </p:cNvSpPr>
            <p:nvPr/>
          </p:nvSpPr>
          <p:spPr bwMode="auto">
            <a:xfrm>
              <a:off x="5362448" y="1093715"/>
              <a:ext cx="1229705" cy="30240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Line 40"/>
            <p:cNvSpPr>
              <a:spLocks noChangeShapeType="1"/>
            </p:cNvSpPr>
            <p:nvPr/>
          </p:nvSpPr>
          <p:spPr bwMode="auto">
            <a:xfrm>
              <a:off x="5751802" y="1093715"/>
              <a:ext cx="0" cy="302400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AutoShape 39"/>
            <p:cNvSpPr>
              <a:spLocks noChangeArrowheads="1"/>
            </p:cNvSpPr>
            <p:nvPr/>
          </p:nvSpPr>
          <p:spPr bwMode="auto">
            <a:xfrm>
              <a:off x="5480667" y="1194515"/>
              <a:ext cx="1229705" cy="30240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7" name="Line 40"/>
            <p:cNvSpPr>
              <a:spLocks noChangeShapeType="1"/>
            </p:cNvSpPr>
            <p:nvPr/>
          </p:nvSpPr>
          <p:spPr bwMode="auto">
            <a:xfrm>
              <a:off x="5845637" y="1194515"/>
              <a:ext cx="0" cy="302400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4" name="AutoShape 39"/>
            <p:cNvSpPr>
              <a:spLocks noChangeArrowheads="1"/>
            </p:cNvSpPr>
            <p:nvPr/>
          </p:nvSpPr>
          <p:spPr bwMode="auto">
            <a:xfrm>
              <a:off x="5598885" y="1295315"/>
              <a:ext cx="1229705" cy="302400"/>
            </a:xfrm>
            <a:prstGeom prst="roundRect">
              <a:avLst>
                <a:gd name="adj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ill Sans MT"/>
                  <a:ea typeface="맑은 고딕" panose="020B0503020000020004" pitchFamily="50" charset="-127"/>
                  <a:cs typeface="+mn-cs"/>
                </a:rPr>
                <a:t>X</a:t>
              </a:r>
              <a:endPara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5" name="Line 40"/>
            <p:cNvSpPr>
              <a:spLocks noChangeShapeType="1"/>
            </p:cNvSpPr>
            <p:nvPr/>
          </p:nvSpPr>
          <p:spPr bwMode="auto">
            <a:xfrm>
              <a:off x="5933276" y="1295315"/>
              <a:ext cx="0" cy="302400"/>
            </a:xfrm>
            <a:prstGeom prst="lin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72409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1736" y="134076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1-10 </a:t>
            </a:r>
            <a:r>
              <a:rPr lang="ko-KR" altLang="en-US" sz="1400" b="1" dirty="0">
                <a:ea typeface="맑은 고딕" panose="020B0503020000020004" pitchFamily="50" charset="-127"/>
              </a:rPr>
              <a:t>데이터 모델의 역사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406697"/>
              </p:ext>
            </p:extLst>
          </p:nvPr>
        </p:nvGraphicFramePr>
        <p:xfrm>
          <a:off x="572725" y="1772825"/>
          <a:ext cx="8064892" cy="3888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8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8098">
                  <a:extLst>
                    <a:ext uri="{9D8B030D-6E8A-4147-A177-3AD203B41FA5}">
                      <a16:colId xmlns:a16="http://schemas.microsoft.com/office/drawing/2014/main" val="2897225858"/>
                    </a:ext>
                  </a:extLst>
                </a:gridCol>
                <a:gridCol w="888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8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80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80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270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데이터 모델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1960</a:t>
                      </a:r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년대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1970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년대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1980</a:t>
                      </a:r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년대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1990</a:t>
                      </a:r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년대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2000</a:t>
                      </a:r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년대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2010</a:t>
                      </a:r>
                    </a:p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년대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70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제품 종류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60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>
                          <a:latin typeface="+mn-ea"/>
                          <a:ea typeface="+mn-ea"/>
                        </a:rPr>
                        <a:t>계층 데이터 모델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IMS(IBM)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⇒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⇒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⇒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60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네트워크</a:t>
                      </a:r>
                      <a:r>
                        <a:rPr lang="ko-KR" altLang="en-US" sz="1400" baseline="0" dirty="0">
                          <a:latin typeface="+mn-ea"/>
                          <a:ea typeface="+mn-ea"/>
                        </a:rPr>
                        <a:t> 데이터 모델 </a:t>
                      </a:r>
                      <a:endParaRPr lang="en-US" altLang="ko-KR" sz="1400" baseline="0" dirty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400" baseline="0" dirty="0">
                          <a:latin typeface="+mn-ea"/>
                          <a:ea typeface="+mn-ea"/>
                        </a:rPr>
                        <a:t>IDS(GE)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⇒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⇒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⇒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60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관계 데이터 모델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400" baseline="0" dirty="0">
                          <a:latin typeface="+mn-ea"/>
                          <a:ea typeface="+mn-ea"/>
                        </a:rPr>
                        <a:t>Oracle(Oracle), System R(IBM)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⇒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⇒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⇒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⇒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60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객체 데이터 모델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400" dirty="0" err="1">
                          <a:latin typeface="+mn-ea"/>
                          <a:ea typeface="+mn-ea"/>
                        </a:rPr>
                        <a:t>GemStone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1400" dirty="0" err="1">
                          <a:latin typeface="+mn-ea"/>
                          <a:ea typeface="+mn-ea"/>
                        </a:rPr>
                        <a:t>Obeject</a:t>
                      </a:r>
                      <a:r>
                        <a:rPr lang="en-US" altLang="ko-KR" sz="1400" baseline="0" dirty="0" err="1">
                          <a:latin typeface="+mn-ea"/>
                          <a:ea typeface="+mn-ea"/>
                        </a:rPr>
                        <a:t>Store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⇒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⇒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60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객체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관계 데이터 모델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400" dirty="0" err="1">
                          <a:latin typeface="+mn-ea"/>
                          <a:ea typeface="+mn-ea"/>
                        </a:rPr>
                        <a:t>UniSQL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⇒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⇒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4445" y="5949280"/>
            <a:ext cx="7981598" cy="43204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100">
                <a:latin typeface="+mn-ea"/>
                <a:ea typeface="+mn-ea"/>
              </a:rPr>
              <a:t>- </a:t>
            </a:r>
            <a:r>
              <a:rPr lang="ko-KR" altLang="en-US" sz="1100">
                <a:latin typeface="+mn-ea"/>
                <a:ea typeface="+mn-ea"/>
              </a:rPr>
              <a:t>위 표에는 해당 </a:t>
            </a:r>
            <a:r>
              <a:rPr lang="ko-KR" altLang="en-US" sz="1100" dirty="0">
                <a:latin typeface="+mn-ea"/>
                <a:ea typeface="+mn-ea"/>
              </a:rPr>
              <a:t>데이터 모델이 </a:t>
            </a:r>
            <a:r>
              <a:rPr lang="ko-KR" altLang="en-US" sz="1100">
                <a:latin typeface="+mn-ea"/>
                <a:ea typeface="+mn-ea"/>
              </a:rPr>
              <a:t>주로 사용되던 시기를 표시한 것이다</a:t>
            </a:r>
            <a:r>
              <a:rPr lang="en-US" altLang="ko-KR" sz="1100" dirty="0">
                <a:latin typeface="+mn-ea"/>
                <a:ea typeface="+mn-ea"/>
              </a:rPr>
              <a:t>. </a:t>
            </a:r>
          </a:p>
          <a:p>
            <a:pPr latinLnBrk="0">
              <a:lnSpc>
                <a:spcPct val="150000"/>
              </a:lnSpc>
            </a:pPr>
            <a:r>
              <a:rPr lang="en-US" altLang="ko-KR" sz="1100">
                <a:latin typeface="+mn-ea"/>
                <a:ea typeface="+mn-ea"/>
              </a:rPr>
              <a:t>- </a:t>
            </a:r>
            <a:r>
              <a:rPr lang="ko-KR" altLang="en-US" sz="1100">
                <a:latin typeface="+mn-ea"/>
                <a:ea typeface="+mn-ea"/>
              </a:rPr>
              <a:t>계층 데이터 모델과 네트워크 데이터 모델은 </a:t>
            </a:r>
            <a:r>
              <a:rPr lang="en-US" altLang="ko-KR" sz="1100">
                <a:latin typeface="+mn-ea"/>
                <a:ea typeface="+mn-ea"/>
              </a:rPr>
              <a:t>1960</a:t>
            </a:r>
            <a:r>
              <a:rPr lang="ko-KR" altLang="en-US" sz="1100">
                <a:latin typeface="+mn-ea"/>
                <a:ea typeface="+mn-ea"/>
              </a:rPr>
              <a:t>년대에</a:t>
            </a:r>
            <a:r>
              <a:rPr lang="en-US" altLang="ko-KR" sz="1100">
                <a:latin typeface="+mn-ea"/>
                <a:ea typeface="+mn-ea"/>
              </a:rPr>
              <a:t>, </a:t>
            </a:r>
            <a:r>
              <a:rPr lang="ko-KR" altLang="en-US" sz="1100">
                <a:latin typeface="+mn-ea"/>
                <a:ea typeface="+mn-ea"/>
              </a:rPr>
              <a:t>관계 데이터 모델은 </a:t>
            </a:r>
            <a:r>
              <a:rPr lang="en-US" altLang="ko-KR" sz="1100" dirty="0">
                <a:latin typeface="+mn-ea"/>
                <a:ea typeface="+mn-ea"/>
              </a:rPr>
              <a:t>1970</a:t>
            </a:r>
            <a:r>
              <a:rPr lang="ko-KR" altLang="en-US" sz="1100" dirty="0">
                <a:latin typeface="+mn-ea"/>
                <a:ea typeface="+mn-ea"/>
              </a:rPr>
              <a:t>년대에 처음 사용되기 </a:t>
            </a:r>
            <a:r>
              <a:rPr lang="ko-KR" altLang="en-US" sz="1100">
                <a:latin typeface="+mn-ea"/>
                <a:ea typeface="+mn-ea"/>
              </a:rPr>
              <a:t>시작하였다</a:t>
            </a:r>
            <a:r>
              <a:rPr lang="en-US" altLang="ko-KR" sz="1100">
                <a:latin typeface="+mn-ea"/>
                <a:ea typeface="+mn-ea"/>
              </a:rPr>
              <a:t>.</a:t>
            </a:r>
            <a:endParaRPr lang="ko-KR" altLang="en-US" sz="11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72409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데이터베이스의 개념적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4880" y="638132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1-27</a:t>
            </a:r>
            <a:r>
              <a:rPr lang="ko-KR" altLang="en-US" sz="1400" b="1" dirty="0"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ea typeface="맑은 고딕" panose="020B0503020000020004" pitchFamily="50" charset="-127"/>
              </a:rPr>
              <a:t>ANSI</a:t>
            </a:r>
            <a:r>
              <a:rPr lang="ko-KR" altLang="en-US" sz="1400" b="1" dirty="0">
                <a:ea typeface="맑은 고딕" panose="020B0503020000020004" pitchFamily="50" charset="-127"/>
              </a:rPr>
              <a:t>의 </a:t>
            </a:r>
            <a:r>
              <a:rPr lang="en-US" altLang="ko-KR" sz="1400" b="1" dirty="0">
                <a:ea typeface="맑은 고딕" panose="020B0503020000020004" pitchFamily="50" charset="-127"/>
              </a:rPr>
              <a:t>3</a:t>
            </a:r>
            <a:r>
              <a:rPr lang="ko-KR" altLang="en-US" sz="1400" b="1" dirty="0">
                <a:ea typeface="맑은 고딕" panose="020B0503020000020004" pitchFamily="50" charset="-127"/>
              </a:rPr>
              <a:t>단계 데이터베이스 구조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467544" y="1897022"/>
            <a:ext cx="7848872" cy="4124266"/>
            <a:chOff x="467544" y="1753006"/>
            <a:chExt cx="7848872" cy="4124266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2196200" y="1753006"/>
              <a:ext cx="1332000" cy="360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rnd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>
                <a:defRPr/>
              </a:pPr>
              <a:r>
                <a:rPr lang="ko-KR" altLang="en-US" sz="1400" dirty="0">
                  <a:latin typeface="+mn-ea"/>
                  <a:ea typeface="+mn-ea"/>
                </a:rPr>
                <a:t>외부</a:t>
              </a:r>
              <a:r>
                <a:rPr lang="en-US" altLang="ko-KR" sz="1400" dirty="0">
                  <a:latin typeface="+mn-ea"/>
                  <a:ea typeface="+mn-ea"/>
                </a:rPr>
                <a:t> </a:t>
              </a:r>
              <a:r>
                <a:rPr lang="ko-KR" altLang="en-US" sz="1400" dirty="0">
                  <a:latin typeface="+mn-ea"/>
                  <a:ea typeface="+mn-ea"/>
                </a:rPr>
                <a:t>스키마 </a:t>
              </a:r>
              <a:r>
                <a:rPr lang="en-US" altLang="ko-KR" sz="14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3732659" y="1753006"/>
              <a:ext cx="1332000" cy="360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rnd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>
                <a:defRPr/>
              </a:pPr>
              <a:r>
                <a:rPr lang="ko-KR" altLang="en-US" sz="1400" dirty="0">
                  <a:latin typeface="+mn-ea"/>
                  <a:ea typeface="+mn-ea"/>
                </a:rPr>
                <a:t>외부</a:t>
              </a:r>
              <a:r>
                <a:rPr lang="en-US" altLang="ko-KR" sz="1400" dirty="0">
                  <a:latin typeface="+mn-ea"/>
                  <a:ea typeface="+mn-ea"/>
                </a:rPr>
                <a:t> </a:t>
              </a:r>
              <a:r>
                <a:rPr lang="ko-KR" altLang="en-US" sz="1400" dirty="0">
                  <a:latin typeface="+mn-ea"/>
                  <a:ea typeface="+mn-ea"/>
                </a:rPr>
                <a:t>스키마 </a:t>
              </a:r>
              <a:r>
                <a:rPr lang="en-US" altLang="ko-KR" sz="1400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9" name="Rectangle 3"/>
            <p:cNvSpPr>
              <a:spLocks noChangeArrowheads="1"/>
            </p:cNvSpPr>
            <p:nvPr/>
          </p:nvSpPr>
          <p:spPr bwMode="auto">
            <a:xfrm>
              <a:off x="5269600" y="1753006"/>
              <a:ext cx="1332000" cy="360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rnd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>
                <a:defRPr/>
              </a:pPr>
              <a:r>
                <a:rPr lang="ko-KR" altLang="en-US" sz="1400" dirty="0">
                  <a:latin typeface="+mn-ea"/>
                  <a:ea typeface="+mn-ea"/>
                </a:rPr>
                <a:t>외부</a:t>
              </a:r>
              <a:r>
                <a:rPr lang="en-US" altLang="ko-KR" sz="1400" dirty="0">
                  <a:latin typeface="+mn-ea"/>
                  <a:ea typeface="+mn-ea"/>
                </a:rPr>
                <a:t> </a:t>
              </a:r>
              <a:r>
                <a:rPr lang="ko-KR" altLang="en-US" sz="1400" dirty="0">
                  <a:latin typeface="+mn-ea"/>
                  <a:ea typeface="+mn-ea"/>
                </a:rPr>
                <a:t>스키마 </a:t>
              </a:r>
              <a:r>
                <a:rPr lang="en-US" altLang="ko-KR" sz="1400" dirty="0"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2883880" y="2795855"/>
              <a:ext cx="3024336" cy="360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rnd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>
                <a:defRPr/>
              </a:pPr>
              <a:r>
                <a:rPr lang="ko-KR" altLang="en-US" sz="1400" dirty="0">
                  <a:latin typeface="+mn-ea"/>
                  <a:ea typeface="+mn-ea"/>
                </a:rPr>
                <a:t>개념</a:t>
              </a:r>
              <a:r>
                <a:rPr lang="en-US" altLang="ko-KR" sz="1400" dirty="0">
                  <a:latin typeface="+mn-ea"/>
                  <a:ea typeface="+mn-ea"/>
                </a:rPr>
                <a:t> </a:t>
              </a:r>
              <a:r>
                <a:rPr lang="ko-KR" altLang="en-US" sz="1400" dirty="0">
                  <a:latin typeface="+mn-ea"/>
                  <a:ea typeface="+mn-ea"/>
                </a:rPr>
                <a:t>스키마</a:t>
              </a:r>
              <a:endParaRPr lang="en-US" altLang="ko-KR" sz="1400" dirty="0">
                <a:latin typeface="+mn-ea"/>
                <a:ea typeface="+mn-ea"/>
              </a:endParaRPr>
            </a:p>
          </p:txBody>
        </p:sp>
        <p:sp>
          <p:nvSpPr>
            <p:cNvPr id="11" name="Rectangle 3"/>
            <p:cNvSpPr>
              <a:spLocks noChangeArrowheads="1"/>
            </p:cNvSpPr>
            <p:nvPr/>
          </p:nvSpPr>
          <p:spPr bwMode="auto">
            <a:xfrm>
              <a:off x="2898022" y="3731959"/>
              <a:ext cx="3024336" cy="360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rnd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>
                <a:defRPr/>
              </a:pPr>
              <a:r>
                <a:rPr lang="ko-KR" altLang="en-US" sz="1400" dirty="0">
                  <a:latin typeface="+mn-ea"/>
                  <a:ea typeface="+mn-ea"/>
                </a:rPr>
                <a:t>내부</a:t>
              </a:r>
              <a:r>
                <a:rPr lang="en-US" altLang="ko-KR" sz="1400" dirty="0">
                  <a:latin typeface="+mn-ea"/>
                  <a:ea typeface="+mn-ea"/>
                </a:rPr>
                <a:t> </a:t>
              </a:r>
              <a:r>
                <a:rPr lang="ko-KR" altLang="en-US" sz="1400" dirty="0">
                  <a:latin typeface="+mn-ea"/>
                  <a:ea typeface="+mn-ea"/>
                </a:rPr>
                <a:t>스키마</a:t>
              </a:r>
              <a:endParaRPr lang="en-US" altLang="ko-KR" sz="1400" dirty="0">
                <a:latin typeface="+mn-ea"/>
                <a:ea typeface="+mn-ea"/>
              </a:endParaRPr>
            </a:p>
          </p:txBody>
        </p:sp>
        <p:cxnSp>
          <p:nvCxnSpPr>
            <p:cNvPr id="12" name="직선 화살표 연결선 11"/>
            <p:cNvCxnSpPr/>
            <p:nvPr/>
          </p:nvCxnSpPr>
          <p:spPr>
            <a:xfrm rot="16200000" flipH="1">
              <a:off x="3287700" y="1687506"/>
              <a:ext cx="682849" cy="153384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/>
            <p:cNvCxnSpPr/>
            <p:nvPr/>
          </p:nvCxnSpPr>
          <p:spPr>
            <a:xfrm rot="5400000">
              <a:off x="4055930" y="2453125"/>
              <a:ext cx="682849" cy="261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/>
            <p:cNvCxnSpPr/>
            <p:nvPr/>
          </p:nvCxnSpPr>
          <p:spPr>
            <a:xfrm rot="5400000">
              <a:off x="4824400" y="1684654"/>
              <a:ext cx="682849" cy="1539552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/>
            <p:cNvCxnSpPr/>
            <p:nvPr/>
          </p:nvCxnSpPr>
          <p:spPr>
            <a:xfrm rot="16200000" flipH="1">
              <a:off x="4115067" y="3436836"/>
              <a:ext cx="576104" cy="14142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AutoShape 83"/>
            <p:cNvSpPr>
              <a:spLocks noChangeArrowheads="1"/>
            </p:cNvSpPr>
            <p:nvPr/>
          </p:nvSpPr>
          <p:spPr bwMode="auto">
            <a:xfrm>
              <a:off x="3052256" y="4858734"/>
              <a:ext cx="2769664" cy="1018538"/>
            </a:xfrm>
            <a:prstGeom prst="flowChartMagneticDisk">
              <a:avLst/>
            </a:prstGeom>
            <a:solidFill>
              <a:schemeClr val="bg1">
                <a:lumMod val="95000"/>
                <a:alpha val="50195"/>
              </a:schemeClr>
            </a:solidFill>
            <a:ln w="9525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 eaLnBrk="0" hangingPunct="0"/>
              <a:r>
                <a:rPr lang="ko-KR" altLang="en-US" sz="1400" dirty="0">
                  <a:latin typeface="+mn-ea"/>
                  <a:ea typeface="+mn-ea"/>
                </a:rPr>
                <a:t>데이터베이스</a:t>
              </a:r>
              <a:endParaRPr lang="en-US" altLang="ko-KR" sz="1400" dirty="0">
                <a:latin typeface="+mn-ea"/>
                <a:ea typeface="+mn-ea"/>
              </a:endParaRPr>
            </a:p>
            <a:p>
              <a:pPr algn="ctr" eaLnBrk="0" hangingPunct="0"/>
              <a:r>
                <a:rPr lang="en-US" altLang="ko-KR" sz="1400" dirty="0">
                  <a:latin typeface="+mn-ea"/>
                  <a:ea typeface="+mn-ea"/>
                </a:rPr>
                <a:t>(</a:t>
              </a:r>
              <a:r>
                <a:rPr lang="ko-KR" altLang="en-US" sz="1400" dirty="0">
                  <a:latin typeface="+mn-ea"/>
                  <a:ea typeface="+mn-ea"/>
                </a:rPr>
                <a:t>물리적인 데이터 구조</a:t>
              </a:r>
              <a:r>
                <a:rPr lang="en-US" altLang="ko-KR" sz="1400" dirty="0">
                  <a:latin typeface="+mn-ea"/>
                  <a:ea typeface="+mn-ea"/>
                </a:rPr>
                <a:t>)</a:t>
              </a:r>
              <a:endParaRPr lang="ko-KR" altLang="ko-KR" sz="1400" dirty="0">
                <a:latin typeface="+mn-ea"/>
                <a:ea typeface="+mn-ea"/>
              </a:endParaRPr>
            </a:p>
          </p:txBody>
        </p:sp>
        <p:cxnSp>
          <p:nvCxnSpPr>
            <p:cNvPr id="17" name="직선 화살표 연결선 16"/>
            <p:cNvCxnSpPr/>
            <p:nvPr/>
          </p:nvCxnSpPr>
          <p:spPr>
            <a:xfrm rot="16200000" flipV="1">
              <a:off x="4038963" y="4463186"/>
              <a:ext cx="752672" cy="1021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모서리가 둥근 직사각형 17"/>
            <p:cNvSpPr/>
            <p:nvPr/>
          </p:nvSpPr>
          <p:spPr>
            <a:xfrm>
              <a:off x="6772219" y="2291799"/>
              <a:ext cx="1544197" cy="360000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i="1" dirty="0">
                  <a:solidFill>
                    <a:schemeClr val="tx1"/>
                  </a:solidFill>
                  <a:latin typeface="+mn-ea"/>
                </a:rPr>
                <a:t>외부</a:t>
              </a:r>
              <a:r>
                <a:rPr lang="en-US" altLang="ko-KR" sz="1400" i="1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1400" i="1" dirty="0">
                  <a:solidFill>
                    <a:schemeClr val="tx1"/>
                  </a:solidFill>
                  <a:latin typeface="+mn-ea"/>
                </a:rPr>
                <a:t>개념 </a:t>
              </a:r>
              <a:r>
                <a:rPr lang="ko-KR" altLang="en-US" sz="1400" i="1" dirty="0" err="1">
                  <a:solidFill>
                    <a:schemeClr val="tx1"/>
                  </a:solidFill>
                  <a:latin typeface="+mn-ea"/>
                </a:rPr>
                <a:t>매핑</a:t>
              </a:r>
              <a:endParaRPr lang="ko-KR" altLang="en-US" sz="1400" i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9" name="모서리가 둥근 직사각형 18"/>
            <p:cNvSpPr/>
            <p:nvPr/>
          </p:nvSpPr>
          <p:spPr>
            <a:xfrm>
              <a:off x="6772219" y="3299911"/>
              <a:ext cx="1544197" cy="360000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i="1" dirty="0">
                  <a:solidFill>
                    <a:schemeClr val="tx1"/>
                  </a:solidFill>
                  <a:latin typeface="+mn-ea"/>
                </a:rPr>
                <a:t>개념</a:t>
              </a:r>
              <a:r>
                <a:rPr lang="en-US" altLang="ko-KR" sz="1400" i="1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1400" i="1" dirty="0">
                  <a:solidFill>
                    <a:schemeClr val="tx1"/>
                  </a:solidFill>
                  <a:latin typeface="+mn-ea"/>
                </a:rPr>
                <a:t>내부 </a:t>
              </a:r>
              <a:r>
                <a:rPr lang="ko-KR" altLang="en-US" sz="1400" i="1" dirty="0" err="1">
                  <a:solidFill>
                    <a:schemeClr val="tx1"/>
                  </a:solidFill>
                  <a:latin typeface="+mn-ea"/>
                </a:rPr>
                <a:t>매핑</a:t>
              </a:r>
              <a:endParaRPr lang="ko-KR" altLang="en-US" sz="1400" i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20" name="직선 화살표 연결선 19"/>
            <p:cNvCxnSpPr/>
            <p:nvPr/>
          </p:nvCxnSpPr>
          <p:spPr>
            <a:xfrm flipH="1" flipV="1">
              <a:off x="6000597" y="2475632"/>
              <a:ext cx="768286" cy="212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/>
            <p:cNvCxnSpPr/>
            <p:nvPr/>
          </p:nvCxnSpPr>
          <p:spPr>
            <a:xfrm flipH="1" flipV="1">
              <a:off x="6000597" y="3474414"/>
              <a:ext cx="768286" cy="212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467544" y="1859751"/>
              <a:ext cx="16722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tx2"/>
                  </a:solidFill>
                  <a:ea typeface="맑은 고딕" panose="020B0503020000020004" pitchFamily="50" charset="-127"/>
                </a:rPr>
                <a:t>사용자가 보는 데이터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35696" y="2867863"/>
              <a:ext cx="10054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tx2"/>
                  </a:solidFill>
                  <a:ea typeface="맑은 고딕" panose="020B0503020000020004" pitchFamily="50" charset="-127"/>
                </a:rPr>
                <a:t>전체 데이터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87624" y="3803967"/>
              <a:ext cx="16401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chemeClr val="tx2"/>
                  </a:solidFill>
                  <a:ea typeface="맑은 고딕" panose="020B0503020000020004" pitchFamily="50" charset="-127"/>
                </a:rPr>
                <a:t>DBMS</a:t>
              </a:r>
              <a:r>
                <a:rPr lang="ko-KR" altLang="en-US" sz="1200" dirty="0">
                  <a:solidFill>
                    <a:schemeClr val="tx2"/>
                  </a:solidFill>
                  <a:ea typeface="맑은 고딕" panose="020B0503020000020004" pitchFamily="50" charset="-127"/>
                </a:rPr>
                <a:t>가 보는 데이터</a:t>
              </a:r>
            </a:p>
          </p:txBody>
        </p:sp>
      </p:grpSp>
      <p:sp>
        <p:nvSpPr>
          <p:cNvPr id="25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471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3</a:t>
            </a:r>
            <a:r>
              <a:rPr kumimoji="0" lang="ko-KR" altLang="en-US" sz="2000" dirty="0">
                <a:solidFill>
                  <a:schemeClr val="tx2"/>
                </a:solidFill>
              </a:rPr>
              <a:t>단계 데이터베이스 구조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데이터베이스의 개념적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72820" cy="5472608"/>
          </a:xfrm>
        </p:spPr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외부 단계</a:t>
            </a:r>
            <a:endParaRPr lang="en-US" altLang="ko-KR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일반 사용자나 응용 프로그래머가 접근하는 계층으로 전체 데이터베이스 중에서 하나의 논리적인 부분을 의미</a:t>
            </a:r>
            <a:endParaRPr lang="en-US" altLang="ko-KR" sz="1400" b="0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여러 개의 외부 스키마</a:t>
            </a:r>
            <a:r>
              <a:rPr lang="en-US" altLang="ko-KR" sz="1400" b="0" dirty="0"/>
              <a:t>(external schema)</a:t>
            </a:r>
            <a:r>
              <a:rPr lang="ko-KR" altLang="en-US" sz="1400" b="0" dirty="0"/>
              <a:t>가 있을 수 있음</a:t>
            </a:r>
            <a:endParaRPr lang="en-US" altLang="ko-KR" sz="1400" b="0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서브 스키마</a:t>
            </a:r>
            <a:r>
              <a:rPr lang="en-US" altLang="ko-KR" sz="1400" b="0" dirty="0"/>
              <a:t>(sub schema)</a:t>
            </a:r>
            <a:r>
              <a:rPr lang="ko-KR" altLang="en-US" sz="1400" b="0" dirty="0"/>
              <a:t>라고도 하며</a:t>
            </a:r>
            <a:r>
              <a:rPr lang="en-US" altLang="ko-KR" sz="1400" b="0" dirty="0"/>
              <a:t>, </a:t>
            </a:r>
            <a:r>
              <a:rPr lang="ko-KR" altLang="en-US" sz="1400" b="0" dirty="0" err="1"/>
              <a:t>뷰</a:t>
            </a:r>
            <a:r>
              <a:rPr lang="en-US" altLang="ko-KR" sz="1400" b="0" dirty="0"/>
              <a:t>(view)</a:t>
            </a:r>
            <a:r>
              <a:rPr lang="ko-KR" altLang="en-US" sz="1400" b="0" dirty="0"/>
              <a:t>의 개념임</a:t>
            </a:r>
            <a:endParaRPr lang="en-US" altLang="ko-KR" sz="1400" b="0" dirty="0"/>
          </a:p>
          <a:p>
            <a:pPr>
              <a:buNone/>
            </a:pPr>
            <a:endParaRPr lang="en-US" altLang="ko-KR" sz="800" b="0" dirty="0"/>
          </a:p>
          <a:p>
            <a:r>
              <a:rPr lang="ko-KR" altLang="en-US" dirty="0"/>
              <a:t>개념 단계</a:t>
            </a:r>
            <a:endParaRPr lang="en-US" altLang="ko-KR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전체 데이터베이스의 정의를 의미</a:t>
            </a:r>
            <a:endParaRPr lang="en-US" altLang="ko-KR" sz="1400" b="0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통합 </a:t>
            </a:r>
            <a:r>
              <a:rPr lang="ko-KR" altLang="en-US" sz="1400" b="0" dirty="0" err="1"/>
              <a:t>조직별로</a:t>
            </a:r>
            <a:r>
              <a:rPr lang="ko-KR" altLang="en-US" sz="1400" b="0" dirty="0"/>
              <a:t> 하나만 존재하며 </a:t>
            </a:r>
            <a:r>
              <a:rPr lang="en-US" altLang="ko-KR" sz="1400" b="0" dirty="0"/>
              <a:t>DBA</a:t>
            </a:r>
            <a:r>
              <a:rPr lang="ko-KR" altLang="en-US" sz="1400" b="0" dirty="0"/>
              <a:t>가 관리함</a:t>
            </a:r>
            <a:endParaRPr lang="en-US" altLang="ko-KR" sz="1400" b="0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하나의 데이터베이스에는 하나의 개념 스키마</a:t>
            </a:r>
            <a:r>
              <a:rPr lang="en-US" altLang="ko-KR" sz="1400" b="0" dirty="0"/>
              <a:t>(conceptual schema)</a:t>
            </a:r>
            <a:r>
              <a:rPr lang="ko-KR" altLang="en-US" sz="1400" b="0" dirty="0"/>
              <a:t>가 있음</a:t>
            </a:r>
            <a:endParaRPr lang="en-US" altLang="ko-KR" sz="1400" b="0" dirty="0"/>
          </a:p>
          <a:p>
            <a:pPr>
              <a:buNone/>
            </a:pPr>
            <a:endParaRPr lang="en-US" altLang="ko-KR" sz="900" b="0" dirty="0"/>
          </a:p>
          <a:p>
            <a:r>
              <a:rPr lang="ko-KR" altLang="en-US" dirty="0"/>
              <a:t>내부 스키마</a:t>
            </a:r>
            <a:endParaRPr lang="en-US" altLang="ko-KR" dirty="0"/>
          </a:p>
          <a:p>
            <a:pPr indent="-165100">
              <a:buFont typeface="Arial" pitchFamily="34" charset="0"/>
              <a:buChar char="•"/>
            </a:pPr>
            <a:r>
              <a:rPr lang="ko-KR" altLang="en-US" sz="1400" b="0" dirty="0"/>
              <a:t>물리적 저장 장치에 데이터베이스가 실제로 저장되는 방법의 표현</a:t>
            </a:r>
            <a:endParaRPr lang="en-US" altLang="ko-KR" sz="1400" b="0" dirty="0"/>
          </a:p>
          <a:p>
            <a:pPr indent="-165100">
              <a:buFont typeface="Arial" pitchFamily="34" charset="0"/>
              <a:buChar char="•"/>
            </a:pPr>
            <a:r>
              <a:rPr lang="ko-KR" altLang="en-US" sz="1400" b="0" dirty="0"/>
              <a:t>내부 스키마</a:t>
            </a:r>
            <a:r>
              <a:rPr lang="en-US" altLang="ko-KR" sz="1400" b="0" dirty="0"/>
              <a:t>(</a:t>
            </a:r>
            <a:r>
              <a:rPr lang="en-US" altLang="ko-KR" sz="1400" b="0" dirty="0" err="1"/>
              <a:t>intenal</a:t>
            </a:r>
            <a:r>
              <a:rPr lang="en-US" altLang="ko-KR" sz="1400" b="0" dirty="0"/>
              <a:t> schema)</a:t>
            </a:r>
            <a:r>
              <a:rPr lang="ko-KR" altLang="en-US" sz="1400" b="0" dirty="0"/>
              <a:t>는 하나</a:t>
            </a:r>
            <a:endParaRPr lang="en-US" altLang="ko-KR" sz="1400" b="0" dirty="0"/>
          </a:p>
          <a:p>
            <a:pPr indent="-165100">
              <a:buFont typeface="Arial" pitchFamily="34" charset="0"/>
              <a:buChar char="•"/>
            </a:pPr>
            <a:r>
              <a:rPr lang="ko-KR" altLang="en-US" sz="1400" b="0" dirty="0"/>
              <a:t>인덱스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데이터 레코드의 배치 방법</a:t>
            </a:r>
            <a:r>
              <a:rPr lang="en-US" altLang="ko-KR" sz="1400" b="0" dirty="0"/>
              <a:t>, </a:t>
            </a:r>
            <a:r>
              <a:rPr lang="ko-KR" altLang="en-US" sz="1400" b="0" dirty="0"/>
              <a:t>데이터 압축 등에 관한 사항이 포함됨</a:t>
            </a:r>
            <a:endParaRPr lang="en-US" altLang="ko-KR" sz="1400" b="0" dirty="0"/>
          </a:p>
          <a:p>
            <a:pPr>
              <a:buNone/>
            </a:pPr>
            <a:endParaRPr lang="en-US" altLang="ko-KR" sz="1400" dirty="0"/>
          </a:p>
          <a:p>
            <a:pPr>
              <a:buNone/>
            </a:pPr>
            <a:endParaRPr lang="ko-KR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데이터베이스의 개념적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208912" cy="5472608"/>
          </a:xfrm>
        </p:spPr>
        <p:txBody>
          <a:bodyPr/>
          <a:lstStyle/>
          <a:p>
            <a:pPr>
              <a:buNone/>
            </a:pPr>
            <a:endParaRPr lang="en-US" altLang="ko-KR" dirty="0"/>
          </a:p>
          <a:p>
            <a:r>
              <a:rPr lang="ko-KR" altLang="en-US" dirty="0"/>
              <a:t>외부</a:t>
            </a:r>
            <a:r>
              <a:rPr lang="en-US" altLang="ko-KR" dirty="0"/>
              <a:t>/</a:t>
            </a:r>
            <a:r>
              <a:rPr lang="ko-KR" altLang="en-US" dirty="0"/>
              <a:t>개념 </a:t>
            </a:r>
            <a:r>
              <a:rPr lang="ko-KR" altLang="en-US" dirty="0" err="1"/>
              <a:t>매핑</a:t>
            </a:r>
            <a:endParaRPr lang="en-US" altLang="ko-KR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사용자의 외부 스키마와 개념 스키마 간의 </a:t>
            </a:r>
            <a:r>
              <a:rPr lang="ko-KR" altLang="en-US" sz="1400" b="0" dirty="0" err="1"/>
              <a:t>매핑</a:t>
            </a:r>
            <a:r>
              <a:rPr lang="en-US" altLang="ko-KR" sz="1400" b="0" dirty="0"/>
              <a:t>(</a:t>
            </a:r>
            <a:r>
              <a:rPr lang="ko-KR" altLang="en-US" sz="1400" b="0" dirty="0"/>
              <a:t>사상</a:t>
            </a:r>
            <a:r>
              <a:rPr lang="en-US" altLang="ko-KR" sz="1400" b="0" dirty="0"/>
              <a:t>)</a:t>
            </a:r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외부 스키마의 데이터가 개념 스키마의 어느 부분에 해당되는지 대응시킴</a:t>
            </a:r>
            <a:endParaRPr lang="en-US" altLang="ko-KR" sz="1400" b="0" dirty="0"/>
          </a:p>
          <a:p>
            <a:pPr>
              <a:buNone/>
            </a:pPr>
            <a:endParaRPr lang="en-US" altLang="ko-KR" sz="800" b="0" dirty="0"/>
          </a:p>
          <a:p>
            <a:r>
              <a:rPr lang="ko-KR" altLang="en-US" dirty="0"/>
              <a:t>개념</a:t>
            </a:r>
            <a:r>
              <a:rPr lang="en-US" altLang="ko-KR" dirty="0"/>
              <a:t>/</a:t>
            </a:r>
            <a:r>
              <a:rPr lang="ko-KR" altLang="en-US" dirty="0"/>
              <a:t>내부 </a:t>
            </a:r>
            <a:r>
              <a:rPr lang="ko-KR" altLang="en-US" dirty="0" err="1"/>
              <a:t>매핑</a:t>
            </a:r>
            <a:endParaRPr lang="en-US" altLang="ko-KR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개념 스키마의 데이터가 내부 스키마의 물리적 장치 어디에 어떤 방법으로 저장되는지 대응시킴</a:t>
            </a:r>
            <a:endParaRPr lang="en-US" altLang="ko-KR" sz="1400" b="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데이터베이스의 개념적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462" y="6309320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1-28</a:t>
            </a:r>
            <a:r>
              <a:rPr lang="ko-KR" altLang="en-US" sz="1400" b="1" dirty="0">
                <a:ea typeface="맑은 고딕" panose="020B0503020000020004" pitchFamily="50" charset="-127"/>
              </a:rPr>
              <a:t> 수강신청 데이터베이스의 개념 스키마</a:t>
            </a: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3470" y="1842272"/>
            <a:ext cx="5898810" cy="4371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471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데이터베이스 구조의 예 </a:t>
            </a:r>
            <a:r>
              <a:rPr kumimoji="0" lang="en-US" altLang="ko-KR" sz="2000" dirty="0">
                <a:solidFill>
                  <a:schemeClr val="tx2"/>
                </a:solidFill>
              </a:rPr>
              <a:t>: </a:t>
            </a:r>
            <a:r>
              <a:rPr kumimoji="0" lang="ko-KR" altLang="en-US" sz="2000" dirty="0">
                <a:solidFill>
                  <a:schemeClr val="tx2"/>
                </a:solidFill>
              </a:rPr>
              <a:t>수강신청 데이터베이스 구조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데이터베이스의 개념적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477" y="566124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1-29</a:t>
            </a:r>
            <a:r>
              <a:rPr lang="ko-KR" altLang="en-US" sz="1400" b="1" dirty="0">
                <a:ea typeface="맑은 고딕" panose="020B0503020000020004" pitchFamily="50" charset="-127"/>
              </a:rPr>
              <a:t> 수강등록 담당 부서에서 필요한 데이터베이스</a:t>
            </a:r>
            <a:r>
              <a:rPr lang="en-US" altLang="ko-KR" sz="1400" b="1" dirty="0"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ea typeface="맑은 고딕" panose="020B0503020000020004" pitchFamily="50" charset="-127"/>
              </a:rPr>
              <a:t>외부 스키마</a:t>
            </a:r>
            <a:r>
              <a:rPr lang="en-US" altLang="ko-KR" sz="1400" b="1" dirty="0">
                <a:ea typeface="맑은 고딕" panose="020B0503020000020004" pitchFamily="50" charset="-127"/>
              </a:rPr>
              <a:t>1)</a:t>
            </a:r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6485" y="1556792"/>
            <a:ext cx="5707394" cy="3927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데이터베이스의 개념적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767" y="566124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1-30</a:t>
            </a:r>
            <a:r>
              <a:rPr lang="ko-KR" altLang="en-US" sz="1400" b="1" dirty="0">
                <a:ea typeface="맑은 고딕" panose="020B0503020000020004" pitchFamily="50" charset="-127"/>
              </a:rPr>
              <a:t> 시간표 담당 부서에서 필요한 데이터베이스</a:t>
            </a:r>
            <a:r>
              <a:rPr lang="en-US" altLang="ko-KR" sz="1400" b="1" dirty="0"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ea typeface="맑은 고딕" panose="020B0503020000020004" pitchFamily="50" charset="-127"/>
              </a:rPr>
              <a:t>외부 스키마</a:t>
            </a:r>
            <a:r>
              <a:rPr lang="en-US" altLang="ko-KR" sz="1400" b="1" dirty="0">
                <a:ea typeface="맑은 고딕" panose="020B0503020000020004" pitchFamily="50" charset="-127"/>
              </a:rPr>
              <a:t>2)</a:t>
            </a:r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496" y="1285947"/>
            <a:ext cx="5868144" cy="437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1394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데이터베이스의 개념적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347" y="585521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1-31</a:t>
            </a:r>
            <a:r>
              <a:rPr lang="ko-KR" altLang="en-US" sz="1400" b="1" dirty="0">
                <a:ea typeface="맑은 고딕" panose="020B0503020000020004" pitchFamily="50" charset="-127"/>
              </a:rPr>
              <a:t> 수강신청 데이터베이스의 내부 스키마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347" y="1429236"/>
            <a:ext cx="6732240" cy="444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5889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데이터베이스의 개념적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39312" y="6151097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1-32</a:t>
            </a:r>
            <a:r>
              <a:rPr lang="ko-KR" altLang="en-US" sz="1400" b="1" dirty="0">
                <a:ea typeface="맑은 고딕" panose="020B0503020000020004" pitchFamily="50" charset="-127"/>
              </a:rPr>
              <a:t> 수강신청 데이터베이스의 </a:t>
            </a:r>
            <a:r>
              <a:rPr lang="en-US" altLang="ko-KR" sz="1400" b="1" dirty="0">
                <a:ea typeface="맑은 고딕" panose="020B0503020000020004" pitchFamily="50" charset="-127"/>
              </a:rPr>
              <a:t>3</a:t>
            </a:r>
            <a:r>
              <a:rPr lang="ko-KR" altLang="en-US" sz="1400" b="1" dirty="0">
                <a:ea typeface="맑은 고딕" panose="020B0503020000020004" pitchFamily="50" charset="-127"/>
              </a:rPr>
              <a:t>단계 구조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173964" y="1058069"/>
            <a:ext cx="4536504" cy="5733256"/>
            <a:chOff x="539552" y="1268760"/>
            <a:chExt cx="4981052" cy="7023223"/>
          </a:xfrm>
        </p:grpSpPr>
        <p:pic>
          <p:nvPicPr>
            <p:cNvPr id="24581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39552" y="1268760"/>
              <a:ext cx="4981052" cy="43264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582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29197" y="5589240"/>
              <a:ext cx="2822599" cy="27027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데이터베이스의 개념적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208912" cy="5472608"/>
          </a:xfrm>
        </p:spPr>
        <p:txBody>
          <a:bodyPr/>
          <a:lstStyle/>
          <a:p>
            <a:endParaRPr lang="en-US" altLang="ko-KR" dirty="0"/>
          </a:p>
          <a:p>
            <a:endParaRPr lang="en-US" altLang="ko-KR" sz="1200" dirty="0"/>
          </a:p>
          <a:p>
            <a:r>
              <a:rPr lang="ko-KR" altLang="en-US" dirty="0"/>
              <a:t>논리적 데이터 독립성</a:t>
            </a:r>
            <a:r>
              <a:rPr lang="en-US" altLang="ko-KR" dirty="0"/>
              <a:t>(logical data independence)</a:t>
            </a:r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외부 단계</a:t>
            </a:r>
            <a:r>
              <a:rPr lang="en-US" altLang="ko-KR" sz="1400" b="0" dirty="0"/>
              <a:t>(</a:t>
            </a:r>
            <a:r>
              <a:rPr lang="ko-KR" altLang="en-US" sz="1400" b="0" dirty="0"/>
              <a:t>외부 스키마</a:t>
            </a:r>
            <a:r>
              <a:rPr lang="en-US" altLang="ko-KR" sz="1400" b="0" dirty="0"/>
              <a:t>)</a:t>
            </a:r>
            <a:r>
              <a:rPr lang="ko-KR" altLang="en-US" sz="1400" b="0" dirty="0"/>
              <a:t>와 개념 단계</a:t>
            </a:r>
            <a:r>
              <a:rPr lang="en-US" altLang="ko-KR" sz="1400" b="0" dirty="0"/>
              <a:t>(</a:t>
            </a:r>
            <a:r>
              <a:rPr lang="ko-KR" altLang="en-US" sz="1400" b="0" dirty="0"/>
              <a:t>개념 스키마</a:t>
            </a:r>
            <a:r>
              <a:rPr lang="en-US" altLang="ko-KR" sz="1400" b="0" dirty="0"/>
              <a:t>)</a:t>
            </a:r>
            <a:r>
              <a:rPr lang="ko-KR" altLang="en-US" sz="1400" b="0" dirty="0"/>
              <a:t> 사이의 독립성</a:t>
            </a:r>
            <a:endParaRPr lang="en-US" altLang="ko-KR" sz="1400" b="0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개념 스키마가 변경되어도 외부 스키마에는 영향을 미치지 않도록 지원</a:t>
            </a:r>
            <a:endParaRPr lang="en-US" altLang="ko-KR" sz="1400" b="0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논리적 구조가 변경되어도 응용 프로그램에는 영향이 없도록 하는 개념</a:t>
            </a:r>
            <a:r>
              <a:rPr lang="en-US" altLang="ko-KR" sz="1400" b="0" dirty="0"/>
              <a:t> </a:t>
            </a:r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개념 스키마의 테이블을 생성하거나 변경하여도 외부 스키마가 직접 다루는 테이블이 아니면   영향이 없음</a:t>
            </a:r>
            <a:endParaRPr lang="en-US" altLang="ko-KR" sz="1400" b="0" dirty="0"/>
          </a:p>
          <a:p>
            <a:pPr>
              <a:buNone/>
            </a:pPr>
            <a:endParaRPr lang="en-US" altLang="ko-KR" sz="600" dirty="0"/>
          </a:p>
          <a:p>
            <a:r>
              <a:rPr lang="ko-KR" altLang="en-US" dirty="0"/>
              <a:t>물리적 데이터 독립성</a:t>
            </a:r>
            <a:r>
              <a:rPr lang="en-US" altLang="ko-KR" dirty="0"/>
              <a:t>(physical data independence)</a:t>
            </a:r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개념 단계</a:t>
            </a:r>
            <a:r>
              <a:rPr lang="en-US" altLang="ko-KR" sz="1400" b="0" dirty="0"/>
              <a:t>(</a:t>
            </a:r>
            <a:r>
              <a:rPr lang="ko-KR" altLang="en-US" sz="1400" b="0" dirty="0"/>
              <a:t>개념 스키마</a:t>
            </a:r>
            <a:r>
              <a:rPr lang="en-US" altLang="ko-KR" sz="1400" b="0" dirty="0"/>
              <a:t>)</a:t>
            </a:r>
            <a:r>
              <a:rPr lang="ko-KR" altLang="en-US" sz="1400" b="0" dirty="0"/>
              <a:t>와 내부 단계</a:t>
            </a:r>
            <a:r>
              <a:rPr lang="en-US" altLang="ko-KR" sz="1400" b="0" dirty="0"/>
              <a:t>(</a:t>
            </a:r>
            <a:r>
              <a:rPr lang="ko-KR" altLang="en-US" sz="1400" b="0" dirty="0"/>
              <a:t>내부 스키마</a:t>
            </a:r>
            <a:r>
              <a:rPr lang="en-US" altLang="ko-KR" sz="1400" b="0" dirty="0"/>
              <a:t>)</a:t>
            </a:r>
            <a:r>
              <a:rPr lang="ko-KR" altLang="en-US" sz="1400" b="0" dirty="0"/>
              <a:t> 사이의 독립성</a:t>
            </a:r>
            <a:endParaRPr lang="en-US" altLang="ko-KR" sz="1400" b="0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저장장치 구조 변경과 같이 내부 스키마가 변경되어도 개념 스키마에 영향을 미치지 않도록 지원</a:t>
            </a:r>
            <a:endParaRPr lang="en-US" altLang="ko-KR" sz="1400" b="0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성능 개선을 위하여 물리적 저장 장치를 재구성할 경우 개념 스키마나 응용 프로그램 같은 외부 스키마에 영향이 없음</a:t>
            </a:r>
            <a:endParaRPr lang="en-US" altLang="ko-KR" sz="1400" b="0" dirty="0"/>
          </a:p>
          <a:p>
            <a:pPr indent="-165100">
              <a:buClrTx/>
              <a:buFont typeface="Arial" pitchFamily="34" charset="0"/>
              <a:buChar char="•"/>
            </a:pPr>
            <a:r>
              <a:rPr lang="ko-KR" altLang="en-US" sz="1400" b="0" dirty="0"/>
              <a:t>물리적 독립성은 논리적 독립성보다 구현하기 쉬움</a:t>
            </a:r>
          </a:p>
          <a:p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471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데이터 독립성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데이터베이스의 개념적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4880" y="6381328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1-27</a:t>
            </a:r>
            <a:r>
              <a:rPr lang="ko-KR" altLang="en-US" sz="1400" b="1" dirty="0"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ea typeface="맑은 고딕" panose="020B0503020000020004" pitchFamily="50" charset="-127"/>
              </a:rPr>
              <a:t>ANSI</a:t>
            </a:r>
            <a:r>
              <a:rPr lang="ko-KR" altLang="en-US" sz="1400" b="1" dirty="0">
                <a:ea typeface="맑은 고딕" panose="020B0503020000020004" pitchFamily="50" charset="-127"/>
              </a:rPr>
              <a:t>의 </a:t>
            </a:r>
            <a:r>
              <a:rPr lang="en-US" altLang="ko-KR" sz="1400" b="1" dirty="0">
                <a:ea typeface="맑은 고딕" panose="020B0503020000020004" pitchFamily="50" charset="-127"/>
              </a:rPr>
              <a:t>3</a:t>
            </a:r>
            <a:r>
              <a:rPr lang="ko-KR" altLang="en-US" sz="1400" b="1" dirty="0">
                <a:ea typeface="맑은 고딕" panose="020B0503020000020004" pitchFamily="50" charset="-127"/>
              </a:rPr>
              <a:t>단계 데이터베이스 구조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467544" y="1897022"/>
            <a:ext cx="7848872" cy="4124266"/>
            <a:chOff x="467544" y="1753006"/>
            <a:chExt cx="7848872" cy="4124266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2196200" y="1753006"/>
              <a:ext cx="1332000" cy="360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rnd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>
                <a:defRPr/>
              </a:pPr>
              <a:r>
                <a:rPr lang="ko-KR" altLang="en-US" sz="1400" dirty="0">
                  <a:latin typeface="+mn-ea"/>
                  <a:ea typeface="+mn-ea"/>
                </a:rPr>
                <a:t>외부</a:t>
              </a:r>
              <a:r>
                <a:rPr lang="en-US" altLang="ko-KR" sz="1400" dirty="0">
                  <a:latin typeface="+mn-ea"/>
                  <a:ea typeface="+mn-ea"/>
                </a:rPr>
                <a:t> </a:t>
              </a:r>
              <a:r>
                <a:rPr lang="ko-KR" altLang="en-US" sz="1400" dirty="0">
                  <a:latin typeface="+mn-ea"/>
                  <a:ea typeface="+mn-ea"/>
                </a:rPr>
                <a:t>스키마 </a:t>
              </a:r>
              <a:r>
                <a:rPr lang="en-US" altLang="ko-KR" sz="1400" dirty="0">
                  <a:latin typeface="+mn-ea"/>
                  <a:ea typeface="+mn-ea"/>
                </a:rPr>
                <a:t>1</a:t>
              </a:r>
            </a:p>
          </p:txBody>
        </p:sp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3732659" y="1753006"/>
              <a:ext cx="1332000" cy="360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rnd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>
                <a:defRPr/>
              </a:pPr>
              <a:r>
                <a:rPr lang="ko-KR" altLang="en-US" sz="1400" dirty="0">
                  <a:latin typeface="+mn-ea"/>
                  <a:ea typeface="+mn-ea"/>
                </a:rPr>
                <a:t>외부</a:t>
              </a:r>
              <a:r>
                <a:rPr lang="en-US" altLang="ko-KR" sz="1400" dirty="0">
                  <a:latin typeface="+mn-ea"/>
                  <a:ea typeface="+mn-ea"/>
                </a:rPr>
                <a:t> </a:t>
              </a:r>
              <a:r>
                <a:rPr lang="ko-KR" altLang="en-US" sz="1400" dirty="0">
                  <a:latin typeface="+mn-ea"/>
                  <a:ea typeface="+mn-ea"/>
                </a:rPr>
                <a:t>스키마 </a:t>
              </a:r>
              <a:r>
                <a:rPr lang="en-US" altLang="ko-KR" sz="1400" dirty="0">
                  <a:latin typeface="+mn-ea"/>
                  <a:ea typeface="+mn-ea"/>
                </a:rPr>
                <a:t>2</a:t>
              </a:r>
            </a:p>
          </p:txBody>
        </p:sp>
        <p:sp>
          <p:nvSpPr>
            <p:cNvPr id="9" name="Rectangle 3"/>
            <p:cNvSpPr>
              <a:spLocks noChangeArrowheads="1"/>
            </p:cNvSpPr>
            <p:nvPr/>
          </p:nvSpPr>
          <p:spPr bwMode="auto">
            <a:xfrm>
              <a:off x="5269600" y="1753006"/>
              <a:ext cx="1332000" cy="360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rnd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>
                <a:defRPr/>
              </a:pPr>
              <a:r>
                <a:rPr lang="ko-KR" altLang="en-US" sz="1400" dirty="0">
                  <a:latin typeface="+mn-ea"/>
                  <a:ea typeface="+mn-ea"/>
                </a:rPr>
                <a:t>외부</a:t>
              </a:r>
              <a:r>
                <a:rPr lang="en-US" altLang="ko-KR" sz="1400" dirty="0">
                  <a:latin typeface="+mn-ea"/>
                  <a:ea typeface="+mn-ea"/>
                </a:rPr>
                <a:t> </a:t>
              </a:r>
              <a:r>
                <a:rPr lang="ko-KR" altLang="en-US" sz="1400" dirty="0">
                  <a:latin typeface="+mn-ea"/>
                  <a:ea typeface="+mn-ea"/>
                </a:rPr>
                <a:t>스키마 </a:t>
              </a:r>
              <a:r>
                <a:rPr lang="en-US" altLang="ko-KR" sz="1400" dirty="0">
                  <a:latin typeface="+mn-ea"/>
                  <a:ea typeface="+mn-ea"/>
                </a:rPr>
                <a:t>3</a:t>
              </a:r>
            </a:p>
          </p:txBody>
        </p:sp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2883880" y="2795855"/>
              <a:ext cx="3024336" cy="360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rnd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>
                <a:defRPr/>
              </a:pPr>
              <a:r>
                <a:rPr lang="ko-KR" altLang="en-US" sz="1400" dirty="0">
                  <a:latin typeface="+mn-ea"/>
                  <a:ea typeface="+mn-ea"/>
                </a:rPr>
                <a:t>개념</a:t>
              </a:r>
              <a:r>
                <a:rPr lang="en-US" altLang="ko-KR" sz="1400" dirty="0">
                  <a:latin typeface="+mn-ea"/>
                  <a:ea typeface="+mn-ea"/>
                </a:rPr>
                <a:t> </a:t>
              </a:r>
              <a:r>
                <a:rPr lang="ko-KR" altLang="en-US" sz="1400" dirty="0">
                  <a:latin typeface="+mn-ea"/>
                  <a:ea typeface="+mn-ea"/>
                </a:rPr>
                <a:t>스키마</a:t>
              </a:r>
              <a:endParaRPr lang="en-US" altLang="ko-KR" sz="1400" dirty="0">
                <a:latin typeface="+mn-ea"/>
                <a:ea typeface="+mn-ea"/>
              </a:endParaRPr>
            </a:p>
          </p:txBody>
        </p:sp>
        <p:sp>
          <p:nvSpPr>
            <p:cNvPr id="11" name="Rectangle 3"/>
            <p:cNvSpPr>
              <a:spLocks noChangeArrowheads="1"/>
            </p:cNvSpPr>
            <p:nvPr/>
          </p:nvSpPr>
          <p:spPr bwMode="auto">
            <a:xfrm>
              <a:off x="2898022" y="3731959"/>
              <a:ext cx="3024336" cy="36000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rnd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 algn="ctr">
                <a:defRPr/>
              </a:pPr>
              <a:r>
                <a:rPr lang="ko-KR" altLang="en-US" sz="1400" dirty="0">
                  <a:latin typeface="+mn-ea"/>
                  <a:ea typeface="+mn-ea"/>
                </a:rPr>
                <a:t>내부</a:t>
              </a:r>
              <a:r>
                <a:rPr lang="en-US" altLang="ko-KR" sz="1400" dirty="0">
                  <a:latin typeface="+mn-ea"/>
                  <a:ea typeface="+mn-ea"/>
                </a:rPr>
                <a:t> </a:t>
              </a:r>
              <a:r>
                <a:rPr lang="ko-KR" altLang="en-US" sz="1400" dirty="0">
                  <a:latin typeface="+mn-ea"/>
                  <a:ea typeface="+mn-ea"/>
                </a:rPr>
                <a:t>스키마</a:t>
              </a:r>
              <a:endParaRPr lang="en-US" altLang="ko-KR" sz="1400" dirty="0">
                <a:latin typeface="+mn-ea"/>
                <a:ea typeface="+mn-ea"/>
              </a:endParaRPr>
            </a:p>
          </p:txBody>
        </p:sp>
        <p:cxnSp>
          <p:nvCxnSpPr>
            <p:cNvPr id="12" name="직선 화살표 연결선 11"/>
            <p:cNvCxnSpPr/>
            <p:nvPr/>
          </p:nvCxnSpPr>
          <p:spPr>
            <a:xfrm rot="16200000" flipH="1">
              <a:off x="3287700" y="1687506"/>
              <a:ext cx="682849" cy="153384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/>
            <p:cNvCxnSpPr/>
            <p:nvPr/>
          </p:nvCxnSpPr>
          <p:spPr>
            <a:xfrm rot="5400000">
              <a:off x="4055930" y="2453125"/>
              <a:ext cx="682849" cy="2611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/>
            <p:cNvCxnSpPr/>
            <p:nvPr/>
          </p:nvCxnSpPr>
          <p:spPr>
            <a:xfrm rot="5400000">
              <a:off x="4824400" y="1684654"/>
              <a:ext cx="682849" cy="1539552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/>
            <p:cNvCxnSpPr/>
            <p:nvPr/>
          </p:nvCxnSpPr>
          <p:spPr>
            <a:xfrm rot="16200000" flipH="1">
              <a:off x="4115067" y="3436836"/>
              <a:ext cx="576104" cy="14142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AutoShape 83"/>
            <p:cNvSpPr>
              <a:spLocks noChangeArrowheads="1"/>
            </p:cNvSpPr>
            <p:nvPr/>
          </p:nvSpPr>
          <p:spPr bwMode="auto">
            <a:xfrm>
              <a:off x="3052256" y="4858734"/>
              <a:ext cx="2769664" cy="1018538"/>
            </a:xfrm>
            <a:prstGeom prst="flowChartMagneticDisk">
              <a:avLst/>
            </a:prstGeom>
            <a:solidFill>
              <a:schemeClr val="bg1">
                <a:lumMod val="95000"/>
                <a:alpha val="50195"/>
              </a:schemeClr>
            </a:solidFill>
            <a:ln w="9525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 eaLnBrk="0" hangingPunct="0"/>
              <a:r>
                <a:rPr lang="ko-KR" altLang="en-US" sz="1400" dirty="0">
                  <a:latin typeface="+mn-ea"/>
                  <a:ea typeface="+mn-ea"/>
                </a:rPr>
                <a:t>데이터베이스</a:t>
              </a:r>
              <a:endParaRPr lang="en-US" altLang="ko-KR" sz="1400" dirty="0">
                <a:latin typeface="+mn-ea"/>
                <a:ea typeface="+mn-ea"/>
              </a:endParaRPr>
            </a:p>
            <a:p>
              <a:pPr algn="ctr" eaLnBrk="0" hangingPunct="0"/>
              <a:r>
                <a:rPr lang="en-US" altLang="ko-KR" sz="1400" dirty="0">
                  <a:latin typeface="+mn-ea"/>
                  <a:ea typeface="+mn-ea"/>
                </a:rPr>
                <a:t>(</a:t>
              </a:r>
              <a:r>
                <a:rPr lang="ko-KR" altLang="en-US" sz="1400" dirty="0">
                  <a:latin typeface="+mn-ea"/>
                  <a:ea typeface="+mn-ea"/>
                </a:rPr>
                <a:t>물리적인 데이터 구조</a:t>
              </a:r>
              <a:r>
                <a:rPr lang="en-US" altLang="ko-KR" sz="1400" dirty="0">
                  <a:latin typeface="+mn-ea"/>
                  <a:ea typeface="+mn-ea"/>
                </a:rPr>
                <a:t>)</a:t>
              </a:r>
              <a:endParaRPr lang="ko-KR" altLang="ko-KR" sz="1400" dirty="0">
                <a:latin typeface="+mn-ea"/>
                <a:ea typeface="+mn-ea"/>
              </a:endParaRPr>
            </a:p>
          </p:txBody>
        </p:sp>
        <p:cxnSp>
          <p:nvCxnSpPr>
            <p:cNvPr id="17" name="직선 화살표 연결선 16"/>
            <p:cNvCxnSpPr/>
            <p:nvPr/>
          </p:nvCxnSpPr>
          <p:spPr>
            <a:xfrm rot="16200000" flipV="1">
              <a:off x="4038963" y="4463186"/>
              <a:ext cx="752672" cy="10218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모서리가 둥근 직사각형 17"/>
            <p:cNvSpPr/>
            <p:nvPr/>
          </p:nvSpPr>
          <p:spPr>
            <a:xfrm>
              <a:off x="6772219" y="2291799"/>
              <a:ext cx="1544197" cy="360000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i="1" dirty="0">
                  <a:solidFill>
                    <a:schemeClr val="tx1"/>
                  </a:solidFill>
                  <a:latin typeface="+mn-ea"/>
                </a:rPr>
                <a:t>논리적 독립성</a:t>
              </a:r>
            </a:p>
          </p:txBody>
        </p:sp>
        <p:sp>
          <p:nvSpPr>
            <p:cNvPr id="19" name="모서리가 둥근 직사각형 18"/>
            <p:cNvSpPr/>
            <p:nvPr/>
          </p:nvSpPr>
          <p:spPr>
            <a:xfrm>
              <a:off x="6772219" y="3299911"/>
              <a:ext cx="1544197" cy="360000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400" i="1" dirty="0">
                  <a:solidFill>
                    <a:schemeClr val="tx1"/>
                  </a:solidFill>
                  <a:latin typeface="+mn-ea"/>
                </a:rPr>
                <a:t>물리적 독립성</a:t>
              </a:r>
            </a:p>
          </p:txBody>
        </p:sp>
        <p:cxnSp>
          <p:nvCxnSpPr>
            <p:cNvPr id="20" name="직선 화살표 연결선 19"/>
            <p:cNvCxnSpPr/>
            <p:nvPr/>
          </p:nvCxnSpPr>
          <p:spPr>
            <a:xfrm flipH="1" flipV="1">
              <a:off x="6000597" y="2475632"/>
              <a:ext cx="768286" cy="212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/>
            <p:cNvCxnSpPr/>
            <p:nvPr/>
          </p:nvCxnSpPr>
          <p:spPr>
            <a:xfrm flipH="1" flipV="1">
              <a:off x="6000597" y="3474414"/>
              <a:ext cx="768286" cy="212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467544" y="1859751"/>
              <a:ext cx="16722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tx2"/>
                  </a:solidFill>
                  <a:ea typeface="맑은 고딕" panose="020B0503020000020004" pitchFamily="50" charset="-127"/>
                </a:rPr>
                <a:t>사용자가 보는 데이터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35696" y="2867863"/>
              <a:ext cx="10054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tx2"/>
                  </a:solidFill>
                  <a:ea typeface="맑은 고딕" panose="020B0503020000020004" pitchFamily="50" charset="-127"/>
                </a:rPr>
                <a:t>전체 데이터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87624" y="3803967"/>
              <a:ext cx="16401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chemeClr val="tx2"/>
                  </a:solidFill>
                  <a:ea typeface="맑은 고딕" panose="020B0503020000020004" pitchFamily="50" charset="-127"/>
                </a:rPr>
                <a:t>DBMS</a:t>
              </a:r>
              <a:r>
                <a:rPr lang="ko-KR" altLang="en-US" sz="1200" dirty="0">
                  <a:solidFill>
                    <a:schemeClr val="tx2"/>
                  </a:solidFill>
                  <a:ea typeface="맑은 고딕" panose="020B0503020000020004" pitchFamily="50" charset="-127"/>
                </a:rPr>
                <a:t>가 보는 데이터</a:t>
              </a:r>
            </a:p>
          </p:txBody>
        </p:sp>
      </p:grpSp>
      <p:sp>
        <p:nvSpPr>
          <p:cNvPr id="25" name="내용 개체 틀 2"/>
          <p:cNvSpPr txBox="1">
            <a:spLocks/>
          </p:cNvSpPr>
          <p:nvPr/>
        </p:nvSpPr>
        <p:spPr bwMode="auto">
          <a:xfrm>
            <a:off x="539552" y="1085503"/>
            <a:ext cx="8064896" cy="471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3</a:t>
            </a:r>
            <a:r>
              <a:rPr kumimoji="0" lang="ko-KR" altLang="en-US" sz="2000" dirty="0">
                <a:solidFill>
                  <a:schemeClr val="tx2"/>
                </a:solidFill>
              </a:rPr>
              <a:t>단계 데이터베이스 구조</a:t>
            </a:r>
            <a:endParaRPr kumimoji="0" lang="en-US" altLang="ko-KR" sz="2000" dirty="0">
              <a:solidFill>
                <a:schemeClr val="tx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EE268C4-E963-54B3-C12E-41FE86583368}"/>
              </a:ext>
            </a:extLst>
          </p:cNvPr>
          <p:cNvSpPr/>
          <p:nvPr/>
        </p:nvSpPr>
        <p:spPr>
          <a:xfrm>
            <a:off x="2196200" y="2435815"/>
            <a:ext cx="4394956" cy="351500"/>
          </a:xfrm>
          <a:prstGeom prst="rect">
            <a:avLst/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FC7DBD1-2D29-07F7-1D5D-88D2034196A4}"/>
              </a:ext>
            </a:extLst>
          </p:cNvPr>
          <p:cNvSpPr/>
          <p:nvPr/>
        </p:nvSpPr>
        <p:spPr>
          <a:xfrm>
            <a:off x="2205641" y="3404274"/>
            <a:ext cx="4394956" cy="351500"/>
          </a:xfrm>
          <a:prstGeom prst="rect">
            <a:avLst/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969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8058</TotalTime>
  <Words>4219</Words>
  <Application>Microsoft Office PowerPoint</Application>
  <PresentationFormat>화면 슬라이드 쇼(4:3)</PresentationFormat>
  <Paragraphs>1133</Paragraphs>
  <Slides>68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68</vt:i4>
      </vt:variant>
    </vt:vector>
  </HeadingPairs>
  <TitlesOfParts>
    <vt:vector size="73" baseType="lpstr">
      <vt:lpstr>맑은 고딕</vt:lpstr>
      <vt:lpstr>Arial</vt:lpstr>
      <vt:lpstr>Gill Sans MT</vt:lpstr>
      <vt:lpstr>Wingdings</vt:lpstr>
      <vt:lpstr>Office 테마</vt:lpstr>
      <vt:lpstr>  데이터베이스 시스템</vt:lpstr>
      <vt:lpstr>  </vt:lpstr>
      <vt:lpstr>PowerPoint 프레젠테이션</vt:lpstr>
      <vt:lpstr>1. 데이터, 정보, 지식</vt:lpstr>
      <vt:lpstr>2. 일상생활의 데이터베이스</vt:lpstr>
      <vt:lpstr>2. 일상생활의 데이터베이스</vt:lpstr>
      <vt:lpstr>2. 일상생활의 데이터베이스</vt:lpstr>
      <vt:lpstr>2. 일상생활의 데이터베이스</vt:lpstr>
      <vt:lpstr>3. 데이터베이스의 개념 및 특징</vt:lpstr>
      <vt:lpstr>3. 데이터베이스의 개념 및 특징 </vt:lpstr>
      <vt:lpstr>3. 데이터베이스의 개념 및 특징</vt:lpstr>
      <vt:lpstr>4. 데이터베이스 시스템의 구성</vt:lpstr>
      <vt:lpstr>PowerPoint 프레젠테이션</vt:lpstr>
      <vt:lpstr>1. 데이터베이스 시스템의 예 : 마당서점</vt:lpstr>
      <vt:lpstr>1. 데이터베이스 시스템의 예 : 마당서점</vt:lpstr>
      <vt:lpstr>1. 데이터베이스 시스템의 예 : 마당서점</vt:lpstr>
      <vt:lpstr>1. 데이터베이스 시스템의 예 : 마당서점</vt:lpstr>
      <vt:lpstr>1. 데이터베이스 시스템의 예 : 마당서점</vt:lpstr>
      <vt:lpstr>1. 데이터베이스 시스템의 예 : 마당서점</vt:lpstr>
      <vt:lpstr>2. 정보 시스템의 발전</vt:lpstr>
      <vt:lpstr>2. 정보 시스템의 발전</vt:lpstr>
      <vt:lpstr>2. 정보 시스템의 발전</vt:lpstr>
      <vt:lpstr>2. 정보 시스템의 발전</vt:lpstr>
      <vt:lpstr>2. 정보 시스템의 발전</vt:lpstr>
      <vt:lpstr>PowerPoint 프레젠테이션</vt:lpstr>
      <vt:lpstr>1. 데이터를 저장하는 방법</vt:lpstr>
      <vt:lpstr>1. 데이터를 저장하는 방법</vt:lpstr>
      <vt:lpstr>1. 데이터를 저장하는 방법</vt:lpstr>
      <vt:lpstr>1. 데이터를 저장하는 방법</vt:lpstr>
      <vt:lpstr>1. 데이터를 저장하는 방법</vt:lpstr>
      <vt:lpstr>1. 데이터를 저장하는 방법</vt:lpstr>
      <vt:lpstr>1. 데이터를 저장하는 방법</vt:lpstr>
      <vt:lpstr>1. 데이터를 저장하는 방법</vt:lpstr>
      <vt:lpstr>1. 데이터를 저장하는 방법</vt:lpstr>
      <vt:lpstr>1. 데이터를 저장하는 방법</vt:lpstr>
      <vt:lpstr>1. 데이터를 저장하는 방법</vt:lpstr>
      <vt:lpstr>1. 데이터를 저장하는 방법</vt:lpstr>
      <vt:lpstr>2. 데이터의 저장 방법 비교</vt:lpstr>
      <vt:lpstr>2. 데이터의 저장 방법 비교</vt:lpstr>
      <vt:lpstr>2. 데이터의 저장 방법 비교</vt:lpstr>
      <vt:lpstr>3. 파일 시스템과 DBMS의 비교</vt:lpstr>
      <vt:lpstr>3. 파일 시스템과 DBMS의 비교</vt:lpstr>
      <vt:lpstr>3. 파일 시스템과 DBMS의 비교</vt:lpstr>
      <vt:lpstr>PowerPoint 프레젠테이션</vt:lpstr>
      <vt:lpstr>&lt;데이터베이스 시스템의 구성&gt;</vt:lpstr>
      <vt:lpstr>1. 데이터베이스 언어</vt:lpstr>
      <vt:lpstr>1. 데이터베이스 언어</vt:lpstr>
      <vt:lpstr>2. 데이터베이스 사용자</vt:lpstr>
      <vt:lpstr>2. 데이터베이스 사용자</vt:lpstr>
      <vt:lpstr>&lt;데이터베이스 시스템의 구성&gt;</vt:lpstr>
      <vt:lpstr>3. DBMS</vt:lpstr>
      <vt:lpstr>4. 데이터 모델</vt:lpstr>
      <vt:lpstr>4. 데이터 모델</vt:lpstr>
      <vt:lpstr>4. 데이터 모델</vt:lpstr>
      <vt:lpstr>4. 데이터 모델</vt:lpstr>
      <vt:lpstr>4. 데이터 모델</vt:lpstr>
      <vt:lpstr>4. 데이터 모델</vt:lpstr>
      <vt:lpstr>4. 데이터 모델</vt:lpstr>
      <vt:lpstr>5. 데이터베이스의 개념적 구조</vt:lpstr>
      <vt:lpstr>5. 데이터베이스의 개념적 구조</vt:lpstr>
      <vt:lpstr>5. 데이터베이스의 개념적 구조</vt:lpstr>
      <vt:lpstr>5. 데이터베이스의 개념적 구조</vt:lpstr>
      <vt:lpstr>5. 데이터베이스의 개념적 구조</vt:lpstr>
      <vt:lpstr>5. 데이터베이스의 개념적 구조</vt:lpstr>
      <vt:lpstr>5. 데이터베이스의 개념적 구조</vt:lpstr>
      <vt:lpstr>5. 데이터베이스의 개념적 구조</vt:lpstr>
      <vt:lpstr>5. 데이터베이스의 개념적 구조</vt:lpstr>
      <vt:lpstr>5. 데이터베이스의 개념적 구조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603</cp:revision>
  <cp:lastPrinted>2023-02-19T06:43:06Z</cp:lastPrinted>
  <dcterms:created xsi:type="dcterms:W3CDTF">2012-07-11T10:23:22Z</dcterms:created>
  <dcterms:modified xsi:type="dcterms:W3CDTF">2026-03-02T02:31:01Z</dcterms:modified>
</cp:coreProperties>
</file>
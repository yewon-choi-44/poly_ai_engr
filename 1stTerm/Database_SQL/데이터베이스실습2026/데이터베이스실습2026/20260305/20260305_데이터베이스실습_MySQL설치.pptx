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6858000" cy="9144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9">
          <p15:clr>
            <a:srgbClr val="A4A3A4"/>
          </p15:clr>
        </p15:guide>
        <p15:guide id="2" pos="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j4nWqopuxHyx0RTX4FN34to584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208" y="288"/>
      </p:cViewPr>
      <p:guideLst>
        <p:guide orient="horz" pos="159"/>
        <p:guide pos="11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22"/>
          <p:cNvGrpSpPr/>
          <p:nvPr/>
        </p:nvGrpSpPr>
        <p:grpSpPr>
          <a:xfrm>
            <a:off x="0" y="107504"/>
            <a:ext cx="6858000" cy="649"/>
            <a:chOff x="0" y="907564"/>
            <a:chExt cx="9144000" cy="487"/>
          </a:xfrm>
        </p:grpSpPr>
        <p:cxnSp>
          <p:nvCxnSpPr>
            <p:cNvPr id="17" name="Google Shape;17;p22"/>
            <p:cNvCxnSpPr/>
            <p:nvPr/>
          </p:nvCxnSpPr>
          <p:spPr>
            <a:xfrm>
              <a:off x="2124744" y="908051"/>
              <a:ext cx="2339752" cy="0"/>
            </a:xfrm>
            <a:prstGeom prst="straightConnector1">
              <a:avLst/>
            </a:prstGeom>
            <a:noFill/>
            <a:ln w="76200" cap="flat" cmpd="sng">
              <a:solidFill>
                <a:srgbClr val="E6B4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" name="Google Shape;18;p22"/>
            <p:cNvCxnSpPr/>
            <p:nvPr/>
          </p:nvCxnSpPr>
          <p:spPr>
            <a:xfrm>
              <a:off x="4464496" y="908051"/>
              <a:ext cx="2339752" cy="0"/>
            </a:xfrm>
            <a:prstGeom prst="straightConnector1">
              <a:avLst/>
            </a:prstGeom>
            <a:noFill/>
            <a:ln w="76200" cap="flat" cmpd="sng">
              <a:solidFill>
                <a:srgbClr val="EDCAD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" name="Google Shape;19;p22"/>
            <p:cNvCxnSpPr/>
            <p:nvPr/>
          </p:nvCxnSpPr>
          <p:spPr>
            <a:xfrm>
              <a:off x="6804248" y="907564"/>
              <a:ext cx="2339752" cy="0"/>
            </a:xfrm>
            <a:prstGeom prst="straightConnector1">
              <a:avLst/>
            </a:prstGeom>
            <a:noFill/>
            <a:ln w="76200" cap="flat" cmpd="sng">
              <a:solidFill>
                <a:srgbClr val="F3DDE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" name="Google Shape;20;p22"/>
            <p:cNvCxnSpPr/>
            <p:nvPr/>
          </p:nvCxnSpPr>
          <p:spPr>
            <a:xfrm>
              <a:off x="0" y="908051"/>
              <a:ext cx="2339752" cy="0"/>
            </a:xfrm>
            <a:prstGeom prst="straightConnector1">
              <a:avLst/>
            </a:prstGeom>
            <a:noFill/>
            <a:ln w="76200" cap="flat" cmpd="sng">
              <a:solidFill>
                <a:srgbClr val="DB91A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1" name="Google Shape;21;p22"/>
          <p:cNvSpPr/>
          <p:nvPr/>
        </p:nvSpPr>
        <p:spPr>
          <a:xfrm>
            <a:off x="0" y="0"/>
            <a:ext cx="6858000" cy="5361353"/>
          </a:xfrm>
          <a:prstGeom prst="rect">
            <a:avLst/>
          </a:prstGeom>
          <a:solidFill>
            <a:srgbClr val="692C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22"/>
          <p:cNvSpPr/>
          <p:nvPr/>
        </p:nvSpPr>
        <p:spPr>
          <a:xfrm>
            <a:off x="272606" y="251635"/>
            <a:ext cx="6280594" cy="486744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>
            <a:spLocks noGrp="1"/>
          </p:cNvSpPr>
          <p:nvPr>
            <p:ph type="pic" idx="2"/>
          </p:nvPr>
        </p:nvSpPr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sp>
      <p:sp>
        <p:nvSpPr>
          <p:cNvPr id="25" name="Google Shape;25;p22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그림 1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0AE984CC-6A75-27DB-63CC-090427E40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470" y="5723066"/>
            <a:ext cx="918102" cy="6207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2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7"/>
          <p:cNvSpPr txBox="1"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body" idx="2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body" idx="3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4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0"/>
          <p:cNvSpPr txBox="1"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body" idx="1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body" idx="2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>
            <a:spLocks noGrp="1"/>
          </p:cNvSpPr>
          <p:nvPr>
            <p:ph type="pic" idx="2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31"/>
          <p:cNvSpPr txBox="1">
            <a:spLocks noGrp="1"/>
          </p:cNvSpPr>
          <p:nvPr>
            <p:ph type="body" idx="1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2"/>
          <p:cNvSpPr txBox="1"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2"/>
          <p:cNvSpPr txBox="1">
            <a:spLocks noGrp="1"/>
          </p:cNvSpPr>
          <p:nvPr>
            <p:ph type="body" idx="1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2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2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2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3"/>
          <p:cNvSpPr txBox="1">
            <a:spLocks noGrp="1"/>
          </p:cNvSpPr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body" idx="1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3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3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bg>
      <p:bgPr>
        <a:solidFill>
          <a:srgbClr val="D6D9D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34"/>
          <p:cNvGrpSpPr/>
          <p:nvPr/>
        </p:nvGrpSpPr>
        <p:grpSpPr>
          <a:xfrm>
            <a:off x="512676" y="453030"/>
            <a:ext cx="4506987" cy="6914167"/>
            <a:chOff x="-31235" y="260648"/>
            <a:chExt cx="6009316" cy="5185625"/>
          </a:xfrm>
        </p:grpSpPr>
        <p:grpSp>
          <p:nvGrpSpPr>
            <p:cNvPr id="97" name="Google Shape;97;p34"/>
            <p:cNvGrpSpPr/>
            <p:nvPr/>
          </p:nvGrpSpPr>
          <p:grpSpPr>
            <a:xfrm>
              <a:off x="-31235" y="260648"/>
              <a:ext cx="5897935" cy="5185625"/>
              <a:chOff x="-31235" y="260648"/>
              <a:chExt cx="5897935" cy="5185625"/>
            </a:xfrm>
          </p:grpSpPr>
          <p:pic>
            <p:nvPicPr>
              <p:cNvPr id="98" name="Google Shape;98;p34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-31235" y="260648"/>
                <a:ext cx="5897935" cy="51856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" name="Google Shape;99;p3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893169" y="4869161"/>
                <a:ext cx="686943" cy="5771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" name="Google Shape;100;p3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739074" y="5187357"/>
                <a:ext cx="308189" cy="2589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1" name="Google Shape;101;p3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866614" y="274787"/>
              <a:ext cx="111467" cy="158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" name="Google Shape;102;p34"/>
          <p:cNvGrpSpPr/>
          <p:nvPr/>
        </p:nvGrpSpPr>
        <p:grpSpPr>
          <a:xfrm>
            <a:off x="4700201" y="1115617"/>
            <a:ext cx="1894169" cy="3009369"/>
            <a:chOff x="5070778" y="1749430"/>
            <a:chExt cx="2525558" cy="2257027"/>
          </a:xfrm>
        </p:grpSpPr>
        <p:pic>
          <p:nvPicPr>
            <p:cNvPr id="103" name="Google Shape;103;p3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48064" y="1749430"/>
              <a:ext cx="2448272" cy="21534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3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070778" y="3226574"/>
              <a:ext cx="365317" cy="7798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34"/>
          <p:cNvSpPr txBox="1"/>
          <p:nvPr/>
        </p:nvSpPr>
        <p:spPr>
          <a:xfrm>
            <a:off x="1646802" y="7791456"/>
            <a:ext cx="5211198" cy="73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Malgun Gothic"/>
              <a:buNone/>
            </a:pPr>
            <a:endParaRPr sz="225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34"/>
          <p:cNvSpPr txBox="1"/>
          <p:nvPr/>
        </p:nvSpPr>
        <p:spPr>
          <a:xfrm>
            <a:off x="464959" y="7895906"/>
            <a:ext cx="1674186" cy="598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75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5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34"/>
          <p:cNvSpPr txBox="1">
            <a:spLocks noGrp="1"/>
          </p:cNvSpPr>
          <p:nvPr>
            <p:ph type="title"/>
          </p:nvPr>
        </p:nvSpPr>
        <p:spPr>
          <a:xfrm>
            <a:off x="1761102" y="7994656"/>
            <a:ext cx="5211198" cy="73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Malgun Gothic"/>
              <a:buNone/>
              <a:defRPr sz="225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  <a:defRPr sz="3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mysql.com/" TargetMode="Externa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55C3E6E1-66E5-822D-7518-AD219C43D1EF}"/>
              </a:ext>
            </a:extLst>
          </p:cNvPr>
          <p:cNvSpPr txBox="1">
            <a:spLocks/>
          </p:cNvSpPr>
          <p:nvPr/>
        </p:nvSpPr>
        <p:spPr>
          <a:xfrm>
            <a:off x="152702" y="396795"/>
            <a:ext cx="6480445" cy="549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9144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E1A7B5"/>
              </a:buClr>
              <a:buFont typeface="Wingdings" pitchFamily="2" charset="2"/>
              <a:buChar char="n"/>
              <a:defRPr sz="12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35756" indent="-135731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300"/>
              </a:spcAft>
              <a:buClr>
                <a:srgbClr val="EDCAD2"/>
              </a:buClr>
              <a:buFont typeface="Wingdings" pitchFamily="2" charset="2"/>
              <a:buChar char="§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1488" indent="-135731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225"/>
              </a:spcAft>
              <a:buClr>
                <a:srgbClr val="EDCAD2"/>
              </a:buClr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07219" indent="-135731" algn="l" defTabSz="914400" rtl="0" eaLnBrk="1" latinLnBrk="1" hangingPunct="1">
              <a:lnSpc>
                <a:spcPct val="90000"/>
              </a:lnSpc>
              <a:spcBef>
                <a:spcPts val="500"/>
              </a:spcBef>
              <a:spcAft>
                <a:spcPts val="225"/>
              </a:spcAft>
              <a:buClr>
                <a:srgbClr val="EDCAD2"/>
              </a:buClr>
              <a:buSzPct val="96000"/>
              <a:buFont typeface="Arial" panose="020B0604020202020204" pitchFamily="34" charset="0"/>
              <a:buChar char="•"/>
              <a:defRPr sz="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2950" indent="-135731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rgbClr val="EDCAD2"/>
              </a:buClr>
              <a:buFont typeface="Arial" panose="020B0604020202020204" pitchFamily="34" charset="0"/>
              <a:buChar char="•"/>
              <a:defRPr sz="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marR="0" lvl="0" indent="-2571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A7B5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학습 무료 에디션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MySQL 8.4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Community Edition</a:t>
            </a:r>
          </a:p>
          <a:p>
            <a:pPr marL="257175" marR="0" lvl="0" indent="-2571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A7B5"/>
              </a:buClr>
              <a:buSzTx/>
              <a:buFont typeface="Wingdings" pitchFamily="2" charset="2"/>
              <a:buChar char="n"/>
              <a:tabLst/>
              <a:defRPr/>
            </a:pPr>
            <a:r>
              <a:rPr lang="ko-KR" altLang="en-US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상용 </a:t>
            </a:r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대표하는 오라클에서 오픈소스 </a:t>
            </a:r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MySQL</a:t>
            </a:r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관리</a:t>
            </a:r>
            <a:endParaRPr lang="en-US" altLang="ko-KR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7175" marR="0" lvl="0" indent="-2571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A7B5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MySQL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공식 사이트</a:t>
            </a:r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hlinkClick r:id="rId2"/>
              </a:rPr>
              <a:t>https://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hlinkClick r:id="rId2"/>
              </a:rPr>
              <a:t>www.mysql.com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hlinkClick r:id="rId2"/>
              </a:rPr>
              <a:t>/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57175" marR="0" lvl="0" indent="-2571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A7B5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다운로드 주소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https://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dev.mysql.com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/downloads/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installer/</a:t>
            </a:r>
          </a:p>
          <a:p>
            <a:pPr marL="257175" marR="0" lvl="0" indent="-2571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A7B5"/>
              </a:buClr>
              <a:buSzTx/>
              <a:buFont typeface="Wingdings" pitchFamily="2" charset="2"/>
              <a:buChar char="n"/>
              <a:tabLst/>
              <a:defRPr/>
            </a:pPr>
            <a:r>
              <a:rPr lang="en-US" altLang="ko-KR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최신 버전 </a:t>
            </a:r>
            <a:r>
              <a:rPr lang="en-US" altLang="ko-KR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8.4.8 LTS</a:t>
            </a:r>
          </a:p>
          <a:p>
            <a:pPr marL="257175" marR="0" lvl="0" indent="-2571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A7B5"/>
              </a:buClr>
              <a:buSzTx/>
              <a:buFont typeface="Wingdings" pitchFamily="2" charset="2"/>
              <a:buChar char="n"/>
              <a:tabLst/>
              <a:defRPr/>
            </a:pPr>
            <a:r>
              <a:rPr lang="ko-KR" altLang="en-US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 버전 </a:t>
            </a:r>
            <a:r>
              <a:rPr lang="en-US" altLang="ko-KR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8.0</a:t>
            </a:r>
          </a:p>
          <a:p>
            <a:pPr marL="257175" marR="0" lvl="0" indent="-257175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A7B5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5AC38354-DCC6-235F-3C76-2C44F7EC5F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377" y="3737905"/>
            <a:ext cx="3099246" cy="2095513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89DC4151-A14D-21C5-CBFC-A5CDABD6A212}"/>
              </a:ext>
            </a:extLst>
          </p:cNvPr>
          <p:cNvGrpSpPr/>
          <p:nvPr/>
        </p:nvGrpSpPr>
        <p:grpSpPr>
          <a:xfrm>
            <a:off x="-7088" y="42584"/>
            <a:ext cx="6858000" cy="649"/>
            <a:chOff x="0" y="907564"/>
            <a:chExt cx="9144000" cy="487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305D7A2E-650D-A1F0-BCCD-43B189E4E8B8}"/>
                </a:ext>
              </a:extLst>
            </p:cNvPr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E6B4C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86F8131-8B99-AEC7-755F-11E65FE37405}"/>
                </a:ext>
              </a:extLst>
            </p:cNvPr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EDCAD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0B7553C-4C8B-2143-137A-2E251A6B134A}"/>
                </a:ext>
              </a:extLst>
            </p:cNvPr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F3DDE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E04EECB-9539-3534-B1AB-30B5C71D806C}"/>
                </a:ext>
              </a:extLst>
            </p:cNvPr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DB91A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Freeform: Shape 41">
            <a:extLst>
              <a:ext uri="{FF2B5EF4-FFF2-40B4-BE49-F238E27FC236}">
                <a16:creationId xmlns:a16="http://schemas.microsoft.com/office/drawing/2014/main" id="{8E27A57D-AB58-9F30-5B2B-9634C65B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706690"/>
            <a:ext cx="5876579" cy="2456939"/>
          </a:xfrm>
          <a:custGeom>
            <a:avLst/>
            <a:gdLst>
              <a:gd name="connsiteX0" fmla="*/ 0 w 10447252"/>
              <a:gd name="connsiteY0" fmla="*/ 0 h 1511306"/>
              <a:gd name="connsiteX1" fmla="*/ 3100647 w 10447252"/>
              <a:gd name="connsiteY1" fmla="*/ 0 h 1511306"/>
              <a:gd name="connsiteX2" fmla="*/ 3292695 w 10447252"/>
              <a:gd name="connsiteY2" fmla="*/ 0 h 1511306"/>
              <a:gd name="connsiteX3" fmla="*/ 3340133 w 10447252"/>
              <a:gd name="connsiteY3" fmla="*/ 0 h 1511306"/>
              <a:gd name="connsiteX4" fmla="*/ 4310215 w 10447252"/>
              <a:gd name="connsiteY4" fmla="*/ 0 h 1511306"/>
              <a:gd name="connsiteX5" fmla="*/ 5506390 w 10447252"/>
              <a:gd name="connsiteY5" fmla="*/ 0 h 1511306"/>
              <a:gd name="connsiteX6" fmla="*/ 5506390 w 10447252"/>
              <a:gd name="connsiteY6" fmla="*/ 2544 h 1511306"/>
              <a:gd name="connsiteX7" fmla="*/ 5901778 w 10447252"/>
              <a:gd name="connsiteY7" fmla="*/ 2544 h 1511306"/>
              <a:gd name="connsiteX8" fmla="*/ 5901778 w 10447252"/>
              <a:gd name="connsiteY8" fmla="*/ 0 h 1511306"/>
              <a:gd name="connsiteX9" fmla="*/ 10447252 w 10447252"/>
              <a:gd name="connsiteY9" fmla="*/ 0 h 1511306"/>
              <a:gd name="connsiteX10" fmla="*/ 9749635 w 10447252"/>
              <a:gd name="connsiteY10" fmla="*/ 1511301 h 1511306"/>
              <a:gd name="connsiteX11" fmla="*/ 5901779 w 10447252"/>
              <a:gd name="connsiteY11" fmla="*/ 1511301 h 1511306"/>
              <a:gd name="connsiteX12" fmla="*/ 5901779 w 10447252"/>
              <a:gd name="connsiteY12" fmla="*/ 1511304 h 1511306"/>
              <a:gd name="connsiteX13" fmla="*/ 5506390 w 10447252"/>
              <a:gd name="connsiteY13" fmla="*/ 1511304 h 1511306"/>
              <a:gd name="connsiteX14" fmla="*/ 5506390 w 10447252"/>
              <a:gd name="connsiteY14" fmla="*/ 1511306 h 1511306"/>
              <a:gd name="connsiteX15" fmla="*/ 4434058 w 10447252"/>
              <a:gd name="connsiteY15" fmla="*/ 1511306 h 1511306"/>
              <a:gd name="connsiteX16" fmla="*/ 4319855 w 10447252"/>
              <a:gd name="connsiteY16" fmla="*/ 1511306 h 1511306"/>
              <a:gd name="connsiteX17" fmla="*/ 4310215 w 10447252"/>
              <a:gd name="connsiteY17" fmla="*/ 1511306 h 1511306"/>
              <a:gd name="connsiteX18" fmla="*/ 3340133 w 10447252"/>
              <a:gd name="connsiteY18" fmla="*/ 1511306 h 1511306"/>
              <a:gd name="connsiteX19" fmla="*/ 3292695 w 10447252"/>
              <a:gd name="connsiteY19" fmla="*/ 1511306 h 1511306"/>
              <a:gd name="connsiteX20" fmla="*/ 3100647 w 10447252"/>
              <a:gd name="connsiteY20" fmla="*/ 1511306 h 1511306"/>
              <a:gd name="connsiteX21" fmla="*/ 0 w 10447252"/>
              <a:gd name="connsiteY21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447252" h="1511306">
                <a:moveTo>
                  <a:pt x="0" y="0"/>
                </a:moveTo>
                <a:lnTo>
                  <a:pt x="3100647" y="0"/>
                </a:lnTo>
                <a:lnTo>
                  <a:pt x="3292695" y="0"/>
                </a:lnTo>
                <a:lnTo>
                  <a:pt x="3340133" y="0"/>
                </a:lnTo>
                <a:lnTo>
                  <a:pt x="4310215" y="0"/>
                </a:lnTo>
                <a:lnTo>
                  <a:pt x="5506390" y="0"/>
                </a:lnTo>
                <a:lnTo>
                  <a:pt x="5506390" y="2544"/>
                </a:lnTo>
                <a:lnTo>
                  <a:pt x="5901778" y="2544"/>
                </a:lnTo>
                <a:lnTo>
                  <a:pt x="5901778" y="0"/>
                </a:lnTo>
                <a:lnTo>
                  <a:pt x="10447252" y="0"/>
                </a:lnTo>
                <a:lnTo>
                  <a:pt x="9749635" y="1511301"/>
                </a:lnTo>
                <a:lnTo>
                  <a:pt x="5901779" y="1511301"/>
                </a:lnTo>
                <a:lnTo>
                  <a:pt x="5901779" y="1511304"/>
                </a:lnTo>
                <a:lnTo>
                  <a:pt x="5506390" y="1511304"/>
                </a:lnTo>
                <a:lnTo>
                  <a:pt x="5506390" y="1511306"/>
                </a:lnTo>
                <a:lnTo>
                  <a:pt x="4434058" y="1511306"/>
                </a:lnTo>
                <a:lnTo>
                  <a:pt x="4319855" y="1511306"/>
                </a:lnTo>
                <a:lnTo>
                  <a:pt x="4310215" y="1511306"/>
                </a:lnTo>
                <a:lnTo>
                  <a:pt x="3340133" y="1511306"/>
                </a:lnTo>
                <a:lnTo>
                  <a:pt x="3292695" y="1511306"/>
                </a:lnTo>
                <a:lnTo>
                  <a:pt x="3100647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DDC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4" name="Freeform: Shape 43">
            <a:extLst>
              <a:ext uri="{FF2B5EF4-FFF2-40B4-BE49-F238E27FC236}">
                <a16:creationId xmlns:a16="http://schemas.microsoft.com/office/drawing/2014/main" id="{61013A03-3C17-BF19-C45D-23A9BCA8E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7876" y="6687069"/>
            <a:ext cx="1310124" cy="2456931"/>
          </a:xfrm>
          <a:custGeom>
            <a:avLst/>
            <a:gdLst>
              <a:gd name="connsiteX0" fmla="*/ 697617 w 2329109"/>
              <a:gd name="connsiteY0" fmla="*/ 0 h 1511301"/>
              <a:gd name="connsiteX1" fmla="*/ 2329109 w 2329109"/>
              <a:gd name="connsiteY1" fmla="*/ 0 h 1511301"/>
              <a:gd name="connsiteX2" fmla="*/ 2329109 w 2329109"/>
              <a:gd name="connsiteY2" fmla="*/ 1511301 h 1511301"/>
              <a:gd name="connsiteX3" fmla="*/ 0 w 2329109"/>
              <a:gd name="connsiteY3" fmla="*/ 1511301 h 151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9109" h="1511301">
                <a:moveTo>
                  <a:pt x="697617" y="0"/>
                </a:moveTo>
                <a:lnTo>
                  <a:pt x="2329109" y="0"/>
                </a:lnTo>
                <a:lnTo>
                  <a:pt x="2329109" y="1511301"/>
                </a:lnTo>
                <a:lnTo>
                  <a:pt x="0" y="1511301"/>
                </a:lnTo>
                <a:close/>
              </a:path>
            </a:pathLst>
          </a:custGeom>
          <a:solidFill>
            <a:srgbClr val="40404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4B689E0F-E03D-0295-28DF-45643F32E206}"/>
              </a:ext>
            </a:extLst>
          </p:cNvPr>
          <p:cNvSpPr txBox="1">
            <a:spLocks/>
          </p:cNvSpPr>
          <p:nvPr/>
        </p:nvSpPr>
        <p:spPr>
          <a:xfrm>
            <a:off x="431572" y="7104903"/>
            <a:ext cx="5670630" cy="731573"/>
          </a:xfrm>
          <a:prstGeom prst="rect">
            <a:avLst/>
          </a:prstGeom>
        </p:spPr>
        <p:txBody>
          <a:bodyPr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400" b="1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/>
              <a:t>MySQL</a:t>
            </a:r>
            <a:r>
              <a:rPr lang="ko-KR" altLang="en-US"/>
              <a:t> </a:t>
            </a:r>
            <a:r>
              <a:rPr lang="en-US" altLang="ko-KR"/>
              <a:t>Community</a:t>
            </a:r>
            <a:r>
              <a:rPr lang="ko-KR" altLang="en-US"/>
              <a:t> </a:t>
            </a:r>
            <a:r>
              <a:rPr lang="en-US" altLang="ko-KR"/>
              <a:t>Edition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5106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Setup Type Custom 선택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Next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3" name="Google Shape;113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4" name="Google Shape;114;p1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 sz="3300"/>
              <a:t>1. MySQL 설치</a:t>
            </a:r>
            <a:endParaRPr sz="3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그림과 같이 설치할 제품 선택</a:t>
            </a:r>
            <a:endParaRPr sz="1700"/>
          </a:p>
          <a:p>
            <a:pPr marL="514350" lvl="1" indent="-171450" algn="l" rtl="0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>
                <a:latin typeface="Malgun Gothic"/>
                <a:ea typeface="Malgun Gothic"/>
                <a:cs typeface="Malgun Gothic"/>
                <a:sym typeface="Malgun Gothic"/>
              </a:rPr>
              <a:t>Server, Workbench, Documentation, Samples and Exa</a:t>
            </a:r>
            <a:r>
              <a:rPr lang="en-US" sz="1400"/>
              <a:t>mples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Next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2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/>
              <a:t>2</a:t>
            </a:r>
            <a:r>
              <a:rPr lang="en-US" sz="3300"/>
              <a:t>. MySQL 설치</a:t>
            </a:r>
            <a:endParaRPr sz="3300"/>
          </a:p>
        </p:txBody>
      </p:sp>
      <p:pic>
        <p:nvPicPr>
          <p:cNvPr id="121" name="Google Shape;121;p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Next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폴더가 존재하는데 강제 설치 메시지 창 확인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3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/>
              <a:t>3</a:t>
            </a:r>
            <a:r>
              <a:rPr lang="en-US" sz="3300"/>
              <a:t>. MySQL 설치</a:t>
            </a:r>
            <a:endParaRPr sz="3300"/>
          </a:p>
        </p:txBody>
      </p:sp>
      <p:pic>
        <p:nvPicPr>
          <p:cNvPr id="128" name="Google Shape;128;p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Execute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4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/>
              <a:t>4</a:t>
            </a:r>
            <a:r>
              <a:rPr lang="en-US" sz="3300"/>
              <a:t>. MySQL 설치</a:t>
            </a:r>
            <a:endParaRPr sz="3300"/>
          </a:p>
        </p:txBody>
      </p:sp>
      <p:pic>
        <p:nvPicPr>
          <p:cNvPr id="135" name="Google Shape;135;p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제품 설치 Complete 상태 확인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Next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5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/>
              <a:t>5</a:t>
            </a:r>
            <a:r>
              <a:rPr lang="en-US" sz="3300"/>
              <a:t>. MySQL 설치</a:t>
            </a:r>
            <a:endParaRPr sz="3300"/>
          </a:p>
        </p:txBody>
      </p:sp>
      <p:pic>
        <p:nvPicPr>
          <p:cNvPr id="142" name="Google Shape;142;p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Next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p6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/>
              <a:t>6</a:t>
            </a:r>
            <a:r>
              <a:rPr lang="en-US" sz="3300"/>
              <a:t>. MySQL 설치</a:t>
            </a:r>
            <a:endParaRPr sz="3300"/>
          </a:p>
        </p:txBody>
      </p:sp>
      <p:pic>
        <p:nvPicPr>
          <p:cNvPr id="149" name="Google Shape;149;p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Development Computer 타입 선택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Next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7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/>
              <a:t>7</a:t>
            </a:r>
            <a:r>
              <a:rPr lang="en-US" sz="3300"/>
              <a:t>. MySQL 설치</a:t>
            </a:r>
            <a:endParaRPr sz="3300"/>
          </a:p>
        </p:txBody>
      </p:sp>
      <p:pic>
        <p:nvPicPr>
          <p:cNvPr id="156" name="Google Shape;156;p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비밀번호 인증방식 설정</a:t>
            </a:r>
            <a:endParaRPr sz="1700"/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Next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8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/>
              <a:t>8</a:t>
            </a:r>
            <a:r>
              <a:rPr lang="en-US" sz="3300"/>
              <a:t>. MySQL 설치</a:t>
            </a:r>
            <a:endParaRPr sz="3300"/>
          </a:p>
        </p:txBody>
      </p:sp>
      <p:pic>
        <p:nvPicPr>
          <p:cNvPr id="163" name="Google Shape;163;p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MySQL Root Password 설정</a:t>
            </a:r>
            <a:endParaRPr sz="1700"/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#</a:t>
            </a:r>
            <a:r>
              <a:rPr lang="en-US" sz="1700"/>
              <a:t>mysql123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Next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9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 sz="3300"/>
              <a:t>9. MySQL 설치</a:t>
            </a:r>
            <a:endParaRPr sz="3300"/>
          </a:p>
        </p:txBody>
      </p:sp>
      <p:pic>
        <p:nvPicPr>
          <p:cNvPr id="170" name="Google Shape;170;p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윈도우 서비스 등록(윈도우 시작시 자동시작)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Next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 sz="3300"/>
              <a:t>10. MySQL 설치</a:t>
            </a:r>
            <a:endParaRPr sz="3300"/>
          </a:p>
        </p:txBody>
      </p:sp>
      <p:pic>
        <p:nvPicPr>
          <p:cNvPr id="177" name="Google Shape;177;p1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Next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11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 sz="3300"/>
              <a:t>11. MySQL 설치</a:t>
            </a:r>
            <a:endParaRPr sz="3300"/>
          </a:p>
        </p:txBody>
      </p:sp>
      <p:pic>
        <p:nvPicPr>
          <p:cNvPr id="184" name="Google Shape;184;p1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Execute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12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 sz="3300"/>
              <a:t>1</a:t>
            </a:r>
            <a:r>
              <a:rPr lang="en-US"/>
              <a:t>2</a:t>
            </a:r>
            <a:r>
              <a:rPr lang="en-US" sz="3300"/>
              <a:t>. MySQL 설치</a:t>
            </a:r>
            <a:endParaRPr sz="3300"/>
          </a:p>
        </p:txBody>
      </p:sp>
      <p:pic>
        <p:nvPicPr>
          <p:cNvPr id="191" name="Google Shape;191;p1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Configuration Steps(설정 단계) </a:t>
            </a:r>
            <a:r>
              <a:rPr lang="en-US" sz="1700"/>
              <a:t>확인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Finish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 sz="3300"/>
              <a:t>1</a:t>
            </a:r>
            <a:r>
              <a:rPr lang="en-US"/>
              <a:t>3</a:t>
            </a:r>
            <a:r>
              <a:rPr lang="en-US" sz="3300"/>
              <a:t>. MySQL 설치</a:t>
            </a:r>
            <a:endParaRPr sz="3300"/>
          </a:p>
        </p:txBody>
      </p:sp>
      <p:pic>
        <p:nvPicPr>
          <p:cNvPr id="198" name="Google Shape;198;p1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Next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14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 sz="3300"/>
              <a:t>1</a:t>
            </a:r>
            <a:r>
              <a:rPr lang="en-US"/>
              <a:t>4</a:t>
            </a:r>
            <a:r>
              <a:rPr lang="en-US" sz="3300"/>
              <a:t>. MySQL 설치</a:t>
            </a:r>
            <a:endParaRPr sz="3300"/>
          </a:p>
        </p:txBody>
      </p:sp>
      <p:pic>
        <p:nvPicPr>
          <p:cNvPr id="205" name="Google Shape;205;p1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root 비밀번호 확인 #mysql123</a:t>
            </a:r>
            <a:endParaRPr/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Check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Next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15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 sz="3300"/>
              <a:t>1</a:t>
            </a:r>
            <a:r>
              <a:rPr lang="en-US"/>
              <a:t>5</a:t>
            </a:r>
            <a:r>
              <a:rPr lang="en-US" sz="3300"/>
              <a:t>. MySQL 설치</a:t>
            </a:r>
            <a:endParaRPr sz="3300"/>
          </a:p>
        </p:txBody>
      </p:sp>
      <p:pic>
        <p:nvPicPr>
          <p:cNvPr id="212" name="Google Shape;212;p1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Execute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" name="Google Shape;218;p16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/>
              <a:t>16</a:t>
            </a:r>
            <a:r>
              <a:rPr lang="en-US" sz="3300"/>
              <a:t>. MySQL 설치</a:t>
            </a:r>
            <a:endParaRPr sz="3300"/>
          </a:p>
        </p:txBody>
      </p:sp>
      <p:pic>
        <p:nvPicPr>
          <p:cNvPr id="219" name="Google Shape;219;p1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Configuration Steps(설정 단계) 확인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Finish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 sz="3300"/>
              <a:t>17. MySQL 설치</a:t>
            </a:r>
            <a:endParaRPr sz="3300"/>
          </a:p>
        </p:txBody>
      </p:sp>
      <p:pic>
        <p:nvPicPr>
          <p:cNvPr id="226" name="Google Shape;226;p1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데이터, 정보, 지식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일상생활의 데이터베이스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데이터베이스의 개념 및 특징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latin typeface="Malgun Gothic"/>
                <a:ea typeface="Malgun Gothic"/>
                <a:cs typeface="Malgun Gothic"/>
                <a:sym typeface="Malgun Gothic"/>
              </a:rPr>
              <a:t>데이터베이스 시스템의 구성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p18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 sz="3300"/>
              <a:t>1. MySQL 설치</a:t>
            </a:r>
            <a:endParaRPr sz="3300"/>
          </a:p>
        </p:txBody>
      </p:sp>
      <p:pic>
        <p:nvPicPr>
          <p:cNvPr id="233" name="Google Shape;233;p1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Finish 버튼 클릭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9" name="Google Shape;239;p19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 sz="3300"/>
              <a:t>18. MySQL 설치</a:t>
            </a:r>
            <a:endParaRPr sz="3300"/>
          </a:p>
        </p:txBody>
      </p:sp>
      <p:pic>
        <p:nvPicPr>
          <p:cNvPr id="240" name="Google Shape;240;p1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6" b="147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 txBox="1">
            <a:spLocks noGrp="1"/>
          </p:cNvSpPr>
          <p:nvPr>
            <p:ph type="body" idx="1"/>
          </p:nvPr>
        </p:nvSpPr>
        <p:spPr>
          <a:xfrm>
            <a:off x="272606" y="6705541"/>
            <a:ext cx="6280594" cy="196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/>
              <a:t>MySQL Workbench 실행 화면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lvl="0" indent="-63500" algn="l" rtl="0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p20"/>
          <p:cNvSpPr txBox="1">
            <a:spLocks noGrp="1"/>
          </p:cNvSpPr>
          <p:nvPr>
            <p:ph type="title"/>
          </p:nvPr>
        </p:nvSpPr>
        <p:spPr>
          <a:xfrm>
            <a:off x="250279" y="5436096"/>
            <a:ext cx="5915025" cy="123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en-US" sz="3300"/>
              <a:t>19. MySQL 설치</a:t>
            </a:r>
            <a:endParaRPr sz="3300"/>
          </a:p>
        </p:txBody>
      </p:sp>
      <p:pic>
        <p:nvPicPr>
          <p:cNvPr id="247" name="Google Shape;247;p2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-3" t="-152" r="-3" b="-152"/>
          <a:stretch/>
        </p:blipFill>
        <p:spPr>
          <a:xfrm>
            <a:off x="404961" y="395536"/>
            <a:ext cx="6048375" cy="4549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281</Words>
  <Application>Microsoft Office PowerPoint</Application>
  <PresentationFormat>화면 슬라이드 쇼(4:3)</PresentationFormat>
  <Paragraphs>64</Paragraphs>
  <Slides>21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맑은 고딕</vt:lpstr>
      <vt:lpstr>Arial</vt:lpstr>
      <vt:lpstr>Wingdings</vt:lpstr>
      <vt:lpstr>Office 테마</vt:lpstr>
      <vt:lpstr>PowerPoint 프레젠테이션</vt:lpstr>
      <vt:lpstr>1. MySQL 설치</vt:lpstr>
      <vt:lpstr>2. MySQL 설치</vt:lpstr>
      <vt:lpstr>3. MySQL 설치</vt:lpstr>
      <vt:lpstr>4. MySQL 설치</vt:lpstr>
      <vt:lpstr>5. MySQL 설치</vt:lpstr>
      <vt:lpstr>6. MySQL 설치</vt:lpstr>
      <vt:lpstr>7. MySQL 설치</vt:lpstr>
      <vt:lpstr>8. MySQL 설치</vt:lpstr>
      <vt:lpstr>9. MySQL 설치</vt:lpstr>
      <vt:lpstr>10. MySQL 설치</vt:lpstr>
      <vt:lpstr>11. MySQL 설치</vt:lpstr>
      <vt:lpstr>12. MySQL 설치</vt:lpstr>
      <vt:lpstr>13. MySQL 설치</vt:lpstr>
      <vt:lpstr>14. MySQL 설치</vt:lpstr>
      <vt:lpstr>15. MySQL 설치</vt:lpstr>
      <vt:lpstr>16. MySQL 설치</vt:lpstr>
      <vt:lpstr>17. MySQL 설치</vt:lpstr>
      <vt:lpstr>1. MySQL 설치</vt:lpstr>
      <vt:lpstr>18. MySQL 설치</vt:lpstr>
      <vt:lpstr>19. MySQL 설치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ㅇㅅㅇ</dc:creator>
  <cp:lastModifiedBy>준영 장</cp:lastModifiedBy>
  <cp:revision>8</cp:revision>
  <dcterms:created xsi:type="dcterms:W3CDTF">2020-06-18T03:20:34Z</dcterms:created>
  <dcterms:modified xsi:type="dcterms:W3CDTF">2026-03-02T03:18:15Z</dcterms:modified>
</cp:coreProperties>
</file>
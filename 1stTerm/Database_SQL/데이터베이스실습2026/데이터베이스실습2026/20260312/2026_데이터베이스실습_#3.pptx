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6"/>
  </p:notesMasterIdLst>
  <p:handoutMasterIdLst>
    <p:handoutMasterId r:id="rId47"/>
  </p:handoutMasterIdLst>
  <p:sldIdLst>
    <p:sldId id="465" r:id="rId3"/>
    <p:sldId id="516" r:id="rId4"/>
    <p:sldId id="498" r:id="rId5"/>
    <p:sldId id="392" r:id="rId6"/>
    <p:sldId id="499" r:id="rId7"/>
    <p:sldId id="500" r:id="rId8"/>
    <p:sldId id="394" r:id="rId9"/>
    <p:sldId id="501" r:id="rId10"/>
    <p:sldId id="502" r:id="rId11"/>
    <p:sldId id="517" r:id="rId12"/>
    <p:sldId id="397" r:id="rId13"/>
    <p:sldId id="503" r:id="rId14"/>
    <p:sldId id="504" r:id="rId15"/>
    <p:sldId id="505" r:id="rId16"/>
    <p:sldId id="408" r:id="rId17"/>
    <p:sldId id="506" r:id="rId18"/>
    <p:sldId id="410" r:id="rId19"/>
    <p:sldId id="411" r:id="rId20"/>
    <p:sldId id="412" r:id="rId21"/>
    <p:sldId id="413" r:id="rId22"/>
    <p:sldId id="507" r:id="rId23"/>
    <p:sldId id="414" r:id="rId24"/>
    <p:sldId id="405" r:id="rId25"/>
    <p:sldId id="407" r:id="rId26"/>
    <p:sldId id="415" r:id="rId27"/>
    <p:sldId id="417" r:id="rId28"/>
    <p:sldId id="418" r:id="rId29"/>
    <p:sldId id="419" r:id="rId30"/>
    <p:sldId id="420" r:id="rId31"/>
    <p:sldId id="508" r:id="rId32"/>
    <p:sldId id="421" r:id="rId33"/>
    <p:sldId id="509" r:id="rId34"/>
    <p:sldId id="510" r:id="rId35"/>
    <p:sldId id="422" r:id="rId36"/>
    <p:sldId id="423" r:id="rId37"/>
    <p:sldId id="424" r:id="rId38"/>
    <p:sldId id="425" r:id="rId39"/>
    <p:sldId id="511" r:id="rId40"/>
    <p:sldId id="426" r:id="rId41"/>
    <p:sldId id="427" r:id="rId42"/>
    <p:sldId id="512" r:id="rId43"/>
    <p:sldId id="428" r:id="rId44"/>
    <p:sldId id="513" r:id="rId45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132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기초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4" y="14315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172994" y="1988840"/>
            <a:ext cx="6798012" cy="4032448"/>
            <a:chOff x="1115616" y="1844824"/>
            <a:chExt cx="6798012" cy="4032448"/>
          </a:xfrm>
        </p:grpSpPr>
        <p:pic>
          <p:nvPicPr>
            <p:cNvPr id="1025" name="_x192988104" descr="EMB000027c4675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844824"/>
              <a:ext cx="6798012" cy="4032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742314" y="4982918"/>
              <a:ext cx="1800200" cy="67833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742314" y="4589636"/>
              <a:ext cx="1800200" cy="32978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35896" y="4616027"/>
              <a:ext cx="20668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</a:t>
              </a:r>
              <a:r>
                <a:rPr lang="ko-KR" altLang="en-US" sz="1200" b="1" dirty="0">
                  <a:solidFill>
                    <a:srgbClr val="FF0000"/>
                  </a:solidFill>
                  <a:latin typeface="+mn-ea"/>
                  <a:ea typeface="+mn-ea"/>
                </a:rPr>
                <a:t>생성 아이콘 </a:t>
              </a:r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+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35896" y="5108149"/>
              <a:ext cx="22828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– root </a:t>
              </a:r>
              <a:r>
                <a:rPr lang="ko-KR" altLang="en-US" sz="1200" b="1" dirty="0" err="1">
                  <a:solidFill>
                    <a:srgbClr val="FF0000"/>
                  </a:solidFill>
                  <a:latin typeface="+mn-ea"/>
                  <a:ea typeface="+mn-ea"/>
                </a:rPr>
                <a:t>계정용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46119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966433" y="6167229"/>
            <a:ext cx="3211135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3-9] Workbench SQL 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개발 화면</a:t>
            </a:r>
            <a:endParaRPr lang="ko-KR" altLang="en-US" sz="1400" kern="0" spc="0" dirty="0">
              <a:solidFill>
                <a:srgbClr val="000000"/>
              </a:solidFill>
              <a:effectLst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41" y="1790700"/>
            <a:ext cx="6322518" cy="4343888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 </a:t>
            </a:r>
            <a:r>
              <a:rPr lang="ko-KR" altLang="en-US" sz="2000" dirty="0">
                <a:solidFill>
                  <a:schemeClr val="tx2"/>
                </a:solidFill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100132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6076-3DE8-7D60-DBAF-E997EF57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A460-A362-DB0E-39ED-A62E5338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 생성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82A49-1FEE-CCFD-D8AE-448ADB19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704856" cy="5544616"/>
          </a:xfrm>
          <a:prstGeom prst="rect">
            <a:avLst/>
          </a:prstGeom>
        </p:spPr>
        <p:txBody>
          <a:bodyPr/>
          <a:lstStyle/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SQL script </a:t>
            </a:r>
            <a:r>
              <a:rPr lang="ko-KR" altLang="en-US" sz="1200" b="0" dirty="0"/>
              <a:t>파일 다운 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ko-KR" altLang="en-US" sz="1200" b="0" dirty="0"/>
              <a:t>강의 자료 링크에서 </a:t>
            </a:r>
            <a:r>
              <a:rPr lang="en-US" altLang="ko-KR" sz="1200" b="0" dirty="0"/>
              <a:t>20250318/</a:t>
            </a:r>
            <a:r>
              <a:rPr lang="en-US" altLang="ko-KR" sz="1200" b="0" dirty="0" err="1"/>
              <a:t>practice2.sql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다운로드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workbench </a:t>
            </a:r>
            <a:r>
              <a:rPr lang="ko-KR" altLang="en-US" sz="1200" b="0" dirty="0"/>
              <a:t>실행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Open SQL Script </a:t>
            </a:r>
            <a:r>
              <a:rPr lang="ko-KR" altLang="en-US" sz="1200" b="0" dirty="0"/>
              <a:t>메뉴 선택 </a:t>
            </a:r>
            <a:r>
              <a:rPr lang="en-US" altLang="ko-KR" sz="1200" b="0" dirty="0"/>
              <a:t>&gt; </a:t>
            </a:r>
            <a:r>
              <a:rPr lang="en-US" altLang="ko-KR" sz="1200" b="0" dirty="0" err="1"/>
              <a:t>practice2.sql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선택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script </a:t>
            </a:r>
            <a:r>
              <a:rPr lang="ko-KR" altLang="en-US" sz="1200" b="0" dirty="0"/>
              <a:t>실행 버튼 클릭</a:t>
            </a:r>
            <a:endParaRPr lang="en-US" altLang="ko-KR" sz="1200" b="0" dirty="0"/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48ED5-3F9A-8D0D-2C26-A0A78BB8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60" y="1718271"/>
            <a:ext cx="1628359" cy="18264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59F0A7-EE4E-EC34-4D97-D8AA0FBD2E31}"/>
              </a:ext>
            </a:extLst>
          </p:cNvPr>
          <p:cNvSpPr/>
          <p:nvPr/>
        </p:nvSpPr>
        <p:spPr>
          <a:xfrm>
            <a:off x="1995506" y="2239294"/>
            <a:ext cx="1728192" cy="144016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B1309E-44BD-3F08-D507-1AFF30B6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869093"/>
            <a:ext cx="2725631" cy="13803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E66C8F-F19B-4831-13BB-E9FBB0FDF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5509948"/>
            <a:ext cx="295316" cy="2953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BC665-D50E-7742-4AFD-9DC5FC13F748}"/>
              </a:ext>
            </a:extLst>
          </p:cNvPr>
          <p:cNvSpPr/>
          <p:nvPr/>
        </p:nvSpPr>
        <p:spPr>
          <a:xfrm>
            <a:off x="1152760" y="4000699"/>
            <a:ext cx="200784" cy="201600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219665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구성요소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기본 문법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806" y="4067919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WHERE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503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569293" y="1844824"/>
            <a:ext cx="7192934" cy="2144382"/>
            <a:chOff x="569293" y="1124744"/>
            <a:chExt cx="7192934" cy="2144382"/>
          </a:xfrm>
        </p:grpSpPr>
        <p:graphicFrame>
          <p:nvGraphicFramePr>
            <p:cNvPr id="24" name="내용 개체 틀 3"/>
            <p:cNvGraphicFramePr>
              <a:graphicFrameLocks/>
            </p:cNvGraphicFramePr>
            <p:nvPr/>
          </p:nvGraphicFramePr>
          <p:xfrm>
            <a:off x="569293" y="1124744"/>
            <a:ext cx="5298851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9885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이름과 가격을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price</a:t>
                        </a: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1298" y="1128936"/>
              <a:ext cx="1750929" cy="2140190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569293" y="4128368"/>
            <a:ext cx="7187945" cy="2090813"/>
            <a:chOff x="569293" y="4221088"/>
            <a:chExt cx="7187945" cy="2090813"/>
          </a:xfrm>
        </p:grpSpPr>
        <p:sp>
          <p:nvSpPr>
            <p:cNvPr id="23" name="TextBox 22"/>
            <p:cNvSpPr txBox="1"/>
            <p:nvPr/>
          </p:nvSpPr>
          <p:spPr>
            <a:xfrm>
              <a:off x="611560" y="4509552"/>
              <a:ext cx="2497383" cy="4572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price, </a:t>
              </a:r>
              <a:r>
                <a:rPr lang="en-US" altLang="ko-KR" sz="1400" dirty="0" err="1">
                  <a:solidFill>
                    <a:schemeClr val="dk1"/>
                  </a:solidFill>
                  <a:ea typeface="맑은 고딕" panose="020B0503020000020004" pitchFamily="50" charset="-127"/>
                </a:rPr>
                <a:t>bookname</a:t>
              </a:r>
              <a:endParaRPr lang="en-US" altLang="ko-KR" sz="1400" dirty="0">
                <a:solidFill>
                  <a:schemeClr val="dk1"/>
                </a:solidFill>
                <a:ea typeface="맑은 고딕" panose="020B0503020000020004" pitchFamily="50" charset="-127"/>
              </a:endParaRP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 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27" name="내용 개체 틀 3"/>
            <p:cNvGraphicFramePr>
              <a:graphicFrameLocks/>
            </p:cNvGraphicFramePr>
            <p:nvPr/>
          </p:nvGraphicFramePr>
          <p:xfrm>
            <a:off x="569293" y="4221088"/>
            <a:ext cx="5226843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2684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(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변형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)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가격과 이름을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price,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endParaRPr lang="en-US" altLang="ko-KR" sz="1400" dirty="0">
                          <a:solidFill>
                            <a:schemeClr val="dk1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774" y="4221089"/>
              <a:ext cx="1771464" cy="2090812"/>
            </a:xfrm>
            <a:prstGeom prst="rect">
              <a:avLst/>
            </a:prstGeom>
          </p:spPr>
        </p:pic>
      </p:grp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498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1DFD-33CB-AB36-EFE2-678AC781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3803F3-0BDC-1F54-AA6B-89007C5A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F82BC08-5471-6A2C-022E-84358862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주석</a:t>
            </a:r>
            <a:endParaRPr lang="en-US" altLang="ko-K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266700" lvl="1" indent="0" latinLnBrk="0">
              <a:buNone/>
            </a:pPr>
            <a:endParaRPr lang="ko-KR" alt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74C03DA-909D-FBC9-11AC-19C63BF55566}"/>
              </a:ext>
            </a:extLst>
          </p:cNvPr>
          <p:cNvSpPr txBox="1">
            <a:spLocks/>
          </p:cNvSpPr>
          <p:nvPr/>
        </p:nvSpPr>
        <p:spPr bwMode="auto">
          <a:xfrm>
            <a:off x="755576" y="1628800"/>
            <a:ext cx="7344816" cy="475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ko-KR" altLang="en-US" dirty="0"/>
              <a:t>코드에 목적</a:t>
            </a:r>
            <a:r>
              <a:rPr kumimoji="0" lang="en-US" altLang="ko-KR" dirty="0"/>
              <a:t>, </a:t>
            </a:r>
            <a:r>
              <a:rPr kumimoji="0" lang="ko-KR" altLang="en-US" dirty="0"/>
              <a:t>동작 </a:t>
            </a:r>
            <a:r>
              <a:rPr kumimoji="0" lang="ko-KR" altLang="en-US" dirty="0" err="1"/>
              <a:t>방식등의</a:t>
            </a:r>
            <a:r>
              <a:rPr kumimoji="0" lang="ko-KR" altLang="en-US" dirty="0"/>
              <a:t> 설명을 추가해 가독성을 향상</a:t>
            </a:r>
            <a:endParaRPr kumimoji="0" lang="en-US" altLang="ko-KR" dirty="0"/>
          </a:p>
          <a:p>
            <a:pPr lvl="1"/>
            <a:r>
              <a:rPr kumimoji="0" lang="en-US" altLang="ko-KR" dirty="0"/>
              <a:t> </a:t>
            </a:r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(#)</a:t>
            </a:r>
          </a:p>
          <a:p>
            <a:pPr lvl="1"/>
            <a:endParaRPr kumimoji="0" lang="en-US" altLang="ko-KR" sz="1400" dirty="0"/>
          </a:p>
          <a:p>
            <a:pPr marL="266700" lvl="1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(--)</a:t>
            </a:r>
          </a:p>
          <a:p>
            <a:pPr lvl="2"/>
            <a:r>
              <a:rPr kumimoji="0" lang="en-US" altLang="ko-KR" sz="1400" dirty="0"/>
              <a:t>-- </a:t>
            </a:r>
            <a:r>
              <a:rPr kumimoji="0" lang="ko-KR" altLang="en-US" sz="1400" dirty="0"/>
              <a:t>다음에 공백</a:t>
            </a:r>
            <a:r>
              <a:rPr kumimoji="0" lang="en-US" altLang="ko-KR" sz="1400" dirty="0"/>
              <a:t>(</a:t>
            </a:r>
            <a:r>
              <a:rPr kumimoji="0" lang="ko-KR" altLang="en-US" sz="1400" dirty="0"/>
              <a:t>띄어쓰기</a:t>
            </a:r>
            <a:r>
              <a:rPr kumimoji="0" lang="en-US" altLang="ko-KR" sz="1400" dirty="0"/>
              <a:t>)</a:t>
            </a:r>
            <a:r>
              <a:rPr kumimoji="0" lang="ko-KR" altLang="en-US" sz="1400" dirty="0"/>
              <a:t>가 필요</a:t>
            </a:r>
            <a:endParaRPr kumimoji="0" lang="en-US" altLang="ko-KR" sz="1400" dirty="0"/>
          </a:p>
          <a:p>
            <a:pPr lvl="2"/>
            <a:endParaRPr kumimoji="0" lang="en-US" altLang="ko-KR" sz="1400" dirty="0"/>
          </a:p>
          <a:p>
            <a:pPr marL="447675" lvl="2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여러 줄 주석</a:t>
            </a:r>
            <a:r>
              <a:rPr kumimoji="0" lang="en-US" altLang="ko-KR" sz="1400" dirty="0"/>
              <a:t>(/* … */)</a:t>
            </a:r>
          </a:p>
          <a:p>
            <a:pPr lvl="2">
              <a:lnSpc>
                <a:spcPct val="200000"/>
              </a:lnSpc>
            </a:pPr>
            <a:endParaRPr kumimoji="0"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321E1-0590-8EAC-C948-4B194F5E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39483"/>
            <a:ext cx="2448272" cy="5414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5CDA9C-5B1D-97A6-745B-5DD78DDD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573016"/>
            <a:ext cx="2808312" cy="6066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213F39-5B25-53F9-99A2-360476BB5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676113"/>
            <a:ext cx="3528392" cy="1594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724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81844" y="1844824"/>
            <a:ext cx="7279456" cy="4805843"/>
            <a:chOff x="467544" y="2042032"/>
            <a:chExt cx="7279456" cy="4805843"/>
          </a:xfrm>
        </p:grpSpPr>
        <p:sp>
          <p:nvSpPr>
            <p:cNvPr id="11" name="TextBox 10"/>
            <p:cNvSpPr txBox="1"/>
            <p:nvPr/>
          </p:nvSpPr>
          <p:spPr>
            <a:xfrm>
              <a:off x="634457" y="4811043"/>
              <a:ext cx="2497383" cy="60853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*</a:t>
              </a: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9" name="내용 개체 틀 3"/>
            <p:cNvGraphicFramePr>
              <a:graphicFrameLocks/>
            </p:cNvGraphicFramePr>
            <p:nvPr/>
          </p:nvGraphicFramePr>
          <p:xfrm>
            <a:off x="467544" y="2042032"/>
            <a:ext cx="7272808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727280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3-2 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도서번호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도서이름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출판사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가격을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bookid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publisher, price</a:t>
                        </a: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9264" y="2615208"/>
              <a:ext cx="2957736" cy="2044692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264" y="4792588"/>
              <a:ext cx="2957736" cy="2055287"/>
            </a:xfrm>
            <a:prstGeom prst="rect">
              <a:avLst/>
            </a:prstGeom>
          </p:spPr>
        </p:pic>
      </p:grp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7250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517525" y="4725144"/>
            <a:ext cx="6121375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/>
              <a:t>중복을 제거하고 싶으면 </a:t>
            </a:r>
            <a:r>
              <a:rPr lang="en-US" altLang="ko-KR" sz="1400" dirty="0"/>
              <a:t>DISTINCT</a:t>
            </a:r>
            <a:r>
              <a:rPr lang="ko-KR" altLang="en-US" sz="1400" dirty="0"/>
              <a:t>라는 키워드를 사용한다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0" indent="0">
              <a:buNone/>
            </a:pPr>
            <a:endParaRPr lang="en-US" altLang="ko-KR" sz="800" dirty="0"/>
          </a:p>
          <a:p>
            <a:pPr marL="0" indent="0">
              <a:buFont typeface="Wingdings" pitchFamily="2" charset="2"/>
              <a:buNone/>
            </a:pPr>
            <a:endParaRPr kumimoji="0" lang="en-US" altLang="ko-KR" sz="800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</p:txBody>
      </p:sp>
      <p:sp>
        <p:nvSpPr>
          <p:cNvPr id="11" name="TextBox 10"/>
          <p:cNvSpPr txBox="1"/>
          <p:nvPr/>
        </p:nvSpPr>
        <p:spPr>
          <a:xfrm>
            <a:off x="605535" y="526129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SELECT	DISTINCT publisher</a:t>
            </a:r>
          </a:p>
          <a:p>
            <a:r>
              <a:rPr lang="en-US" altLang="ko-KR" sz="1400" dirty="0">
                <a:latin typeface="+mn-ea"/>
                <a:ea typeface="+mn-ea"/>
              </a:rPr>
              <a:t>FROM	Book;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테이블에 있는 모든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276872"/>
            <a:ext cx="944435" cy="234009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4981153"/>
            <a:ext cx="945423" cy="154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0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49053" y="2452483"/>
          <a:ext cx="7229376" cy="2028511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=, &lt;&gt;, &lt;, &lt;=, &gt;, 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&lt;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BETWEEN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BETWEEN 10000 AND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IN,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IN (10000, 20000, 30000)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패턴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LIKE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IS NULL, IS NOT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IS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복합조건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AND, OR,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(price &lt; 20000) AND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213524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3-5 </a:t>
            </a:r>
            <a:r>
              <a:rPr lang="en-US" altLang="ko-KR" sz="1400" b="1" dirty="0">
                <a:ea typeface="맑은 고딕" panose="020B0503020000020004" pitchFamily="50" charset="-127"/>
              </a:rPr>
              <a:t>WHERE </a:t>
            </a:r>
            <a:r>
              <a:rPr lang="ko-KR" altLang="en-US" sz="1400" b="1" dirty="0">
                <a:ea typeface="맑은 고딕" panose="020B0503020000020004" pitchFamily="50" charset="-127"/>
              </a:rPr>
              <a:t>절에 조건으로 사용할 수 있는 술어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755576" y="1783755"/>
            <a:ext cx="8064896" cy="5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비교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929333" y="242088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미만인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&lt;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068960"/>
            <a:ext cx="3676433" cy="18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9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1500"/>
            <a:ext cx="8064896" cy="49558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범위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BETWEEN</a:t>
            </a:r>
            <a:r>
              <a:rPr lang="ko-KR" altLang="en-US" sz="1400" dirty="0"/>
              <a:t>은 논리 연산자인 </a:t>
            </a:r>
            <a:r>
              <a:rPr lang="en-US" altLang="ko-KR" sz="1400" dirty="0"/>
              <a:t>AND</a:t>
            </a:r>
            <a:r>
              <a:rPr lang="ko-KR" altLang="en-US" sz="1400" dirty="0"/>
              <a:t>를 사용할 수 있다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3" y="2234565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BETWEEN 10000 AND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16624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price &gt;= 10000 AND price &lt;= 20000;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08921"/>
            <a:ext cx="3472094" cy="115212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5" y="4633737"/>
            <a:ext cx="3456384" cy="11538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31603"/>
            <a:ext cx="8064896" cy="4540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집합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/>
              <a:t>출판사가 ‘</a:t>
            </a:r>
            <a:r>
              <a:rPr lang="ko-KR" altLang="en-US" sz="1400" dirty="0" err="1"/>
              <a:t>굿스포츠</a:t>
            </a:r>
            <a:r>
              <a:rPr lang="ko-KR" altLang="en-US" sz="1400" dirty="0"/>
              <a:t>’ 혹은 ‘대한미디어’가 아닌 도서를 검색하시오</a:t>
            </a:r>
            <a:r>
              <a:rPr lang="en-US" altLang="ko-KR" sz="1400" dirty="0"/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2" y="2224668"/>
          <a:ext cx="82064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publisher IN ('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',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0672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</a:t>
            </a:r>
            <a:r>
              <a:rPr lang="en-US" altLang="ko-KR" sz="1400" dirty="0">
                <a:ea typeface="맑은 고딕" panose="020B0503020000020004" pitchFamily="50" charset="-127"/>
              </a:rPr>
              <a:t>publisher NOT IN ('</a:t>
            </a:r>
            <a:r>
              <a:rPr lang="ko-KR" altLang="en-US" sz="1400" dirty="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>
                <a:ea typeface="맑은 고딕" panose="020B0503020000020004" pitchFamily="50" charset="-127"/>
              </a:rPr>
              <a:t>대한미디어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708920"/>
            <a:ext cx="3240360" cy="13588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6CDAA-696A-716D-C1C3-28895847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72" y="4796205"/>
            <a:ext cx="3054076" cy="130888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9706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패턴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8127" y="2237368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출간한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축구의 역사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68127" y="4472280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2852936"/>
            <a:ext cx="1512168" cy="443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7B2141-8FD5-95FF-69BA-AA55CC0B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7" y="5085184"/>
            <a:ext cx="1855927" cy="864096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93701" y="1835021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왼쪽 두 번째 위치에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갖는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'_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582984" y="4410796"/>
          <a:ext cx="7229376" cy="1736916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와일드 문자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문자열을 연결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‘골프 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바이블’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골프 바이블’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이상의 문자열과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축구를 포함하는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 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불일치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시작하지 않는 문자열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특정 위치의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 번째 위치에 ‘구’가 들어가는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5644" y="40770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3-6 </a:t>
            </a:r>
            <a:r>
              <a:rPr lang="ko-KR" altLang="en-US" sz="1400" b="1" dirty="0">
                <a:ea typeface="맑은 고딕" panose="020B0503020000020004" pitchFamily="50" charset="-127"/>
              </a:rPr>
              <a:t>와일드 문자의 종류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143CBF-1751-7AA3-4D20-3725C60A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71" y="2631869"/>
            <a:ext cx="3276485" cy="120015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2505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복합조건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93329" y="2237368"/>
          <a:ext cx="7941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축구에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관한 도서 중 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 AND price &gt;= 20000;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93329" y="4472280"/>
          <a:ext cx="79537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publisher='</a:t>
                      </a:r>
                      <a:r>
                        <a:rPr lang="ko-KR" altLang="en-US" sz="1400" spc="-100" baseline="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'  OR  publisher='</a:t>
                      </a:r>
                      <a:r>
                        <a:rPr lang="ko-KR" altLang="en-US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</a:rPr>
                        <a:t>';</a:t>
                      </a:r>
                      <a:endParaRPr lang="en-US" altLang="ko-KR" sz="1400" spc="-100" baseline="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3645024"/>
            <a:ext cx="3204706" cy="57606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5085184"/>
            <a:ext cx="3386417" cy="14012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이름순으로 검색하고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변경한 컬럼을 추가하세요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*, 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ORDER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FEEC9-DC8B-66C5-8A44-C5DD0F90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274" y="2465111"/>
            <a:ext cx="3456384" cy="1702313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23FBBD6-8317-FC4B-2EF0-DE1289CAB763}"/>
              </a:ext>
            </a:extLst>
          </p:cNvPr>
          <p:cNvGraphicFramePr>
            <a:graphicFrameLocks/>
          </p:cNvGraphicFramePr>
          <p:nvPr/>
        </p:nvGraphicFramePr>
        <p:xfrm>
          <a:off x="566473" y="4456777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컬럼은 첫번째로 배치하세요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bname, b.*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 as b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C4F02C-8236-9B80-ED94-38AA779D7EB2}"/>
              </a:ext>
            </a:extLst>
          </p:cNvPr>
          <p:cNvSpPr txBox="1"/>
          <p:nvPr/>
        </p:nvSpPr>
        <p:spPr>
          <a:xfrm>
            <a:off x="539552" y="3355850"/>
            <a:ext cx="4176464" cy="3416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400" b="1">
                <a:latin typeface="+mj-lt"/>
              </a:rPr>
              <a:t>※ SELECT </a:t>
            </a:r>
            <a:r>
              <a:rPr lang="ko-KR" altLang="en-US" sz="1400" b="1">
                <a:latin typeface="+mj-lt"/>
              </a:rPr>
              <a:t>에서 </a:t>
            </a:r>
            <a:r>
              <a:rPr lang="en-US" altLang="ko-KR" sz="1400" b="1">
                <a:latin typeface="+mj-lt"/>
              </a:rPr>
              <a:t>* </a:t>
            </a:r>
            <a:r>
              <a:rPr lang="ko-KR" altLang="en-US" sz="1400" b="1">
                <a:latin typeface="+mj-lt"/>
              </a:rPr>
              <a:t>는 모든 컬럼을 의미합니다</a:t>
            </a:r>
            <a:r>
              <a:rPr lang="en-US" altLang="ko-KR" sz="1400" b="1">
                <a:latin typeface="+mj-lt"/>
              </a:rPr>
              <a:t>.</a:t>
            </a:r>
            <a:endParaRPr lang="ko-KR" alt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4" name="내용 개체 틀 3"/>
          <p:cNvGraphicFramePr>
            <a:graphicFrameLocks/>
          </p:cNvGraphicFramePr>
          <p:nvPr/>
        </p:nvGraphicFramePr>
        <p:xfrm>
          <a:off x="569293" y="1843876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같으면 이름순으로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price,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420888"/>
            <a:ext cx="3622923" cy="24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21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16943"/>
          <a:ext cx="7272808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가격의 내림차순으로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만약 가격이 같다면 출판사의 오름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 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price DESC, publisher ASC;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645024"/>
            <a:ext cx="3662164" cy="25205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 고객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(customer)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전화번호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(phone)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phone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Customer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name 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피겨 교본의 출판사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(publisher)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publisher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(price)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&gt;=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BETWEEN ___ AND ___;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            -- price &gt;= 8000 AND price &lt;= 15,000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like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____;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왼쪽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위치에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같은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LIKE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70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dirty="0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416744" y="1637308"/>
            <a:ext cx="8064896" cy="474402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 </a:t>
            </a:r>
            <a:r>
              <a:rPr lang="ko-KR" altLang="en-US" sz="1400" dirty="0"/>
              <a:t>의미 있는 열 이름을 출력하고 싶으면 속성이름의 별칭을 지칭하는 </a:t>
            </a:r>
            <a:r>
              <a:rPr lang="en-US" altLang="ko-KR" sz="1400" dirty="0"/>
              <a:t>AS </a:t>
            </a:r>
            <a:r>
              <a:rPr lang="ko-KR" altLang="en-US" sz="1400" dirty="0"/>
              <a:t>키워드를 사용하여 </a:t>
            </a:r>
            <a:endParaRPr lang="en-US" altLang="ko-KR" sz="1400" dirty="0"/>
          </a:p>
          <a:p>
            <a:pPr>
              <a:buNone/>
            </a:pPr>
            <a:r>
              <a:rPr lang="ko-KR" altLang="en-US" sz="1400" dirty="0"/>
              <a:t>    열 이름을 </a:t>
            </a:r>
            <a:r>
              <a:rPr lang="ko-KR" altLang="en-US" sz="1400"/>
              <a:t>부여한다</a:t>
            </a:r>
            <a:r>
              <a:rPr lang="en-US" altLang="ko-KR" sz="1400"/>
              <a:t>. </a:t>
            </a:r>
            <a:r>
              <a:rPr lang="ko-KR" altLang="en-US" sz="1400"/>
              <a:t>테이블 이름을 줄이기 위해서도 사용할 수 있다</a:t>
            </a:r>
            <a:r>
              <a:rPr lang="en-US" altLang="ko-KR" sz="1400"/>
              <a:t>.</a:t>
            </a:r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90501" y="1820565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76784" y="4452392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SUM(</a:t>
            </a:r>
            <a:r>
              <a:rPr lang="en-US" altLang="ko-KR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	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39287" cy="5815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439952"/>
            <a:ext cx="671512" cy="633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3A250A-A6AA-0BA2-6E6B-3BA5CC94F7C4}"/>
              </a:ext>
            </a:extLst>
          </p:cNvPr>
          <p:cNvSpPr txBox="1"/>
          <p:nvPr/>
        </p:nvSpPr>
        <p:spPr>
          <a:xfrm>
            <a:off x="776784" y="5416860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SUM(O.saleprice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	Orders AS</a:t>
            </a:r>
            <a:r>
              <a:rPr lang="ko-KR" altLang="en-US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O;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A580F-F7CB-7F6C-C167-4CB3C985A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5405634"/>
            <a:ext cx="671512" cy="6334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2960" y="1837452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 고객이 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총매출</a:t>
                      </a:r>
                      <a:endParaRPr lang="ko-KR" altLang="en-US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=2;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572269" y="3834100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평균값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최저가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최고가를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Total,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AVG(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Average,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MIN(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Minimum,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MAX(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Maximum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64" y="2276872"/>
            <a:ext cx="1067941" cy="6165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65104"/>
            <a:ext cx="3470523" cy="5711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2824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마당서점의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판매 건수를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COUNT(*)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77652" y="4110764"/>
          <a:ext cx="7373392" cy="1736916"/>
        </p:xfrm>
        <a:graphic>
          <a:graphicData uri="http://schemas.openxmlformats.org/drawingml/2006/table">
            <a:tbl>
              <a:tblPr/>
              <a:tblGrid>
                <a:gridCol w="1069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집계 함수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COUNT({[[ALL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| *})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COUNT(*)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MAX(price)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9919" y="377704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3-7 </a:t>
            </a:r>
            <a:r>
              <a:rPr lang="ko-KR" altLang="en-US" sz="1400" b="1" dirty="0">
                <a:ea typeface="맑은 고딕" panose="020B0503020000020004" pitchFamily="50" charset="-127"/>
              </a:rPr>
              <a:t>집계 함수의 종류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67606" cy="59588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6309" y="18402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수량과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총액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7503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3-18 </a:t>
            </a:r>
            <a:r>
              <a:rPr lang="en-US" altLang="ko-KR" sz="1400" b="1" dirty="0">
                <a:ea typeface="맑은 고딕" panose="020B0503020000020004" pitchFamily="50" charset="-127"/>
              </a:rPr>
              <a:t>GROUP BY </a:t>
            </a:r>
            <a:r>
              <a:rPr lang="ko-KR" altLang="en-US" sz="1400" b="1" dirty="0">
                <a:ea typeface="맑은 고딕" panose="020B0503020000020004" pitchFamily="50" charset="-127"/>
              </a:rPr>
              <a:t>절의 수행</a:t>
            </a:r>
          </a:p>
        </p:txBody>
      </p:sp>
      <p:pic>
        <p:nvPicPr>
          <p:cNvPr id="20481" name="_x977191624" descr="EMB000024782fa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92" y="3797131"/>
            <a:ext cx="5816263" cy="201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2420888"/>
            <a:ext cx="2376588" cy="11521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3176"/>
          <a:ext cx="7459091" cy="196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구매한 고객에 대하여 고객별 주문 도서의 총 수량을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권 이상 구매한 고객만 구한다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 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&gt;= 8000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HAVING   	   count(*) &gt;= 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564904"/>
            <a:ext cx="2080444" cy="9239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47430" y="1844824"/>
          <a:ext cx="7425183" cy="426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col1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기준으로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GROUP BY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했을 때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col3, col4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모든 집계함수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(COUNT, MIN, Max, SUM, AVG)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값을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SELECT	   col1,  count(col3), count(col4),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min(col3), min(col4), 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max(col3), min(col4),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sum(col3), sum(col4),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avg(col3), avg(col4)</a:t>
                      </a:r>
                    </a:p>
                    <a:p>
                      <a:endParaRPr lang="ko-KR" altLang="en-US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FROM	   </a:t>
                      </a:r>
                      <a:r>
                        <a:rPr lang="en-US" altLang="ko-KR" sz="1600" dirty="0" err="1">
                          <a:solidFill>
                            <a:schemeClr val="dk1"/>
                          </a:solidFill>
                          <a:latin typeface="+mn-ea"/>
                        </a:rPr>
                        <a:t>exaggfn</a:t>
                      </a:r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GROUP BY   col1</a:t>
                      </a: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7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452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GROUP BY </a:t>
            </a:r>
            <a:r>
              <a:rPr kumimoji="0" lang="ko-KR" altLang="en-US" sz="2000" dirty="0">
                <a:solidFill>
                  <a:schemeClr val="tx2"/>
                </a:solidFill>
              </a:rPr>
              <a:t>집계 대상에 </a:t>
            </a:r>
            <a:r>
              <a:rPr kumimoji="0" lang="en-US" altLang="ko-KR" sz="2000" dirty="0">
                <a:solidFill>
                  <a:schemeClr val="tx2"/>
                </a:solidFill>
              </a:rPr>
              <a:t>NULL</a:t>
            </a:r>
            <a:r>
              <a:rPr kumimoji="0" lang="ko-KR" altLang="en-US" sz="2000" dirty="0">
                <a:solidFill>
                  <a:schemeClr val="tx2"/>
                </a:solidFill>
              </a:rPr>
              <a:t>이 있을 때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387A98-90E2-E129-CD39-D318A491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773" y="2564904"/>
            <a:ext cx="3105583" cy="2191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F3E11C-23A7-12FE-3899-927E755A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5476040"/>
            <a:ext cx="7488832" cy="429446"/>
          </a:xfrm>
          <a:prstGeom prst="rect">
            <a:avLst/>
          </a:prstGeom>
        </p:spPr>
      </p:pic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76F6C0CD-C455-A52F-91F1-98F4F9C411CC}"/>
              </a:ext>
            </a:extLst>
          </p:cNvPr>
          <p:cNvSpPr/>
          <p:nvPr/>
        </p:nvSpPr>
        <p:spPr>
          <a:xfrm>
            <a:off x="3563888" y="4755960"/>
            <a:ext cx="2376263" cy="564356"/>
          </a:xfrm>
          <a:prstGeom prst="wedgeRectCallout">
            <a:avLst>
              <a:gd name="adj1" fmla="val -23299"/>
              <a:gd name="adj2" fmla="val 9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(4 + 1 + 2 + 3) / 4 = 2.5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5198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67544" y="1610446"/>
          <a:ext cx="8352928" cy="4585208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주의사항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투플을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그룹으로 묶은 후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절에는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에서 사용한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집계함수만 나올 수 있음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SUM(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/* SELECT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 올 수 없다 *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절이 같이 포함된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문은 검색조건이 모호해질 수 있음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절은 ① 반드시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절과 같이 작성해야 하고 ②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절보다 뒤에 나와야 함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그리고 ③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에는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SUM, AVG, MAX, MIN, COUNT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와 같은 집계함수가 와야 함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맞는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 BY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2;</a:t>
                      </a:r>
                    </a:p>
                    <a:p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틀린 예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COUNT(*) AS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도서수량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          Orders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HAVING        COUNT(*)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2 /*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순서가 틀렸다 *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   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＞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 8000</a:t>
                      </a:r>
                    </a:p>
                    <a:p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GROUP BY     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;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7544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3-8 </a:t>
            </a:r>
            <a:r>
              <a:rPr lang="en-US" altLang="ko-KR" sz="1400" b="1" dirty="0">
                <a:ea typeface="맑은 고딕" panose="020B0503020000020004" pitchFamily="50" charset="-127"/>
              </a:rPr>
              <a:t>GROUP BY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HAVING </a:t>
            </a:r>
            <a:r>
              <a:rPr lang="ko-KR" altLang="en-US" sz="1400" b="1" dirty="0">
                <a:ea typeface="맑은 고딕" panose="020B0503020000020004" pitchFamily="50" charset="-127"/>
              </a:rPr>
              <a:t>절의 문법과 주의사항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1480262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36E1F-0356-2068-8213-35C54705047B}"/>
              </a:ext>
            </a:extLst>
          </p:cNvPr>
          <p:cNvSpPr txBox="1"/>
          <p:nvPr/>
        </p:nvSpPr>
        <p:spPr>
          <a:xfrm>
            <a:off x="2529804" y="4944194"/>
            <a:ext cx="3698379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ea typeface="맑은 고딕" panose="020B0503020000020004" pitchFamily="50" charset="-127"/>
              </a:rPr>
              <a:t>마당서점의 데이터 테이블 관계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FD2BE8-D815-E766-27DB-F2A559A0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844824"/>
            <a:ext cx="4274989" cy="30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5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</a:t>
                      </a:r>
                      <a:r>
                        <a:rPr lang="en-US" altLang="ko-KR" sz="140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 = Orders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04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5337" y="2276138"/>
          <a:ext cx="7579071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LEFT OUTER 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8155</TotalTime>
  <Words>2757</Words>
  <Application>Microsoft Office PowerPoint</Application>
  <PresentationFormat>화면 슬라이드 쇼(4:3)</PresentationFormat>
  <Paragraphs>871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43</vt:i4>
      </vt:variant>
    </vt:vector>
  </HeadingPairs>
  <TitlesOfParts>
    <vt:vector size="49" baseType="lpstr">
      <vt:lpstr>HY엽서L</vt:lpstr>
      <vt:lpstr>맑은 고딕</vt:lpstr>
      <vt:lpstr>Arial</vt:lpstr>
      <vt:lpstr>Wingdings</vt:lpstr>
      <vt:lpstr>Office 테마</vt:lpstr>
      <vt:lpstr>2_Office 테마</vt:lpstr>
      <vt:lpstr>  SQL 기초</vt:lpstr>
      <vt:lpstr>실습 자료</vt:lpstr>
      <vt:lpstr>MySQL 연습 데이터 베이스 생성</vt:lpstr>
      <vt:lpstr>MySQL 연습 데이터 베이스 생성</vt:lpstr>
      <vt:lpstr>MySQL 연습 데이터 베이스 생성</vt:lpstr>
      <vt:lpstr>MySQL 연습 데이터 베이스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SQL 문제</vt:lpstr>
      <vt:lpstr>SQL 문제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마당서점의 데이터</vt:lpstr>
      <vt:lpstr>마당서점의 데이터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608</cp:revision>
  <cp:lastPrinted>2023-02-19T06:43:06Z</cp:lastPrinted>
  <dcterms:created xsi:type="dcterms:W3CDTF">2012-07-11T10:23:22Z</dcterms:created>
  <dcterms:modified xsi:type="dcterms:W3CDTF">2026-03-02T10:16:57Z</dcterms:modified>
</cp:coreProperties>
</file>
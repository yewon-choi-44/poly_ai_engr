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4"/>
  </p:notesMasterIdLst>
  <p:handoutMasterIdLst>
    <p:handoutMasterId r:id="rId45"/>
  </p:handoutMasterIdLst>
  <p:sldIdLst>
    <p:sldId id="465" r:id="rId3"/>
    <p:sldId id="516" r:id="rId4"/>
    <p:sldId id="498" r:id="rId5"/>
    <p:sldId id="392" r:id="rId6"/>
    <p:sldId id="499" r:id="rId7"/>
    <p:sldId id="500" r:id="rId8"/>
    <p:sldId id="394" r:id="rId9"/>
    <p:sldId id="501" r:id="rId10"/>
    <p:sldId id="502" r:id="rId11"/>
    <p:sldId id="517" r:id="rId12"/>
    <p:sldId id="504" r:id="rId13"/>
    <p:sldId id="505" r:id="rId14"/>
    <p:sldId id="408" r:id="rId15"/>
    <p:sldId id="506" r:id="rId16"/>
    <p:sldId id="410" r:id="rId17"/>
    <p:sldId id="411" r:id="rId18"/>
    <p:sldId id="412" r:id="rId19"/>
    <p:sldId id="413" r:id="rId20"/>
    <p:sldId id="507" r:id="rId21"/>
    <p:sldId id="414" r:id="rId22"/>
    <p:sldId id="405" r:id="rId23"/>
    <p:sldId id="407" r:id="rId24"/>
    <p:sldId id="415" r:id="rId25"/>
    <p:sldId id="417" r:id="rId26"/>
    <p:sldId id="418" r:id="rId27"/>
    <p:sldId id="419" r:id="rId28"/>
    <p:sldId id="420" r:id="rId29"/>
    <p:sldId id="508" r:id="rId30"/>
    <p:sldId id="421" r:id="rId31"/>
    <p:sldId id="509" r:id="rId32"/>
    <p:sldId id="510" r:id="rId33"/>
    <p:sldId id="422" r:id="rId34"/>
    <p:sldId id="423" r:id="rId35"/>
    <p:sldId id="424" r:id="rId36"/>
    <p:sldId id="425" r:id="rId37"/>
    <p:sldId id="511" r:id="rId38"/>
    <p:sldId id="426" r:id="rId39"/>
    <p:sldId id="427" r:id="rId40"/>
    <p:sldId id="512" r:id="rId41"/>
    <p:sldId id="428" r:id="rId42"/>
    <p:sldId id="513" r:id="rId43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88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br>
              <a:rPr lang="en-US" altLang="ko-KR" sz="4000" b="1" dirty="0">
                <a:solidFill>
                  <a:srgbClr val="215968"/>
                </a:solidFill>
              </a:rPr>
            </a:br>
            <a:br>
              <a:rPr lang="en-US" altLang="ko-KR" sz="800"/>
            </a:b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 기초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2904-A219-4098-03C4-C41B6FB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CD194-A045-34A5-15B7-B677A3F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DC530D-73F9-DBD2-B306-311AF332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/>
              <a:t>https://syntaxwiki.com:3026</a:t>
            </a:r>
          </a:p>
          <a:p>
            <a:pPr>
              <a:lnSpc>
                <a:spcPct val="200000"/>
              </a:lnSpc>
            </a:pPr>
            <a:r>
              <a:rPr lang="en-US" altLang="ko-KR"/>
              <a:t>practice2.sql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472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</a:t>
            </a:r>
            <a:r>
              <a:rPr lang="ko-KR" altLang="en-US"/>
              <a:t> 연습 데이터 베이스 생성</a:t>
            </a:r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27584" y="14315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172994" y="1988840"/>
            <a:ext cx="6798012" cy="4032448"/>
            <a:chOff x="1115616" y="1844824"/>
            <a:chExt cx="6798012" cy="4032448"/>
          </a:xfrm>
        </p:grpSpPr>
        <p:pic>
          <p:nvPicPr>
            <p:cNvPr id="1025" name="_x192988104" descr="EMB000027c4675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844824"/>
              <a:ext cx="6798012" cy="4032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모서리가 둥근 직사각형 5"/>
            <p:cNvSpPr/>
            <p:nvPr/>
          </p:nvSpPr>
          <p:spPr>
            <a:xfrm>
              <a:off x="1742314" y="4982918"/>
              <a:ext cx="1800200" cy="67833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1742314" y="4589636"/>
              <a:ext cx="1800200" cy="329782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635896" y="4616027"/>
              <a:ext cx="206685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Connection </a:t>
              </a:r>
              <a:r>
                <a:rPr lang="ko-KR" altLang="en-US" sz="1200" b="1" dirty="0">
                  <a:solidFill>
                    <a:srgbClr val="FF0000"/>
                  </a:solidFill>
                  <a:latin typeface="+mn-ea"/>
                  <a:ea typeface="+mn-ea"/>
                </a:rPr>
                <a:t>생성 아이콘 </a:t>
              </a:r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+</a:t>
              </a:r>
              <a:endParaRPr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35896" y="5108149"/>
              <a:ext cx="22828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Connection – root </a:t>
              </a:r>
              <a:r>
                <a:rPr lang="ko-KR" altLang="en-US" sz="1200" b="1" dirty="0" err="1">
                  <a:solidFill>
                    <a:srgbClr val="FF0000"/>
                  </a:solidFill>
                  <a:latin typeface="+mn-ea"/>
                  <a:ea typeface="+mn-ea"/>
                </a:rPr>
                <a:t>계정용</a:t>
              </a:r>
              <a:endParaRPr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146119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</a:t>
            </a:r>
            <a:r>
              <a:rPr lang="ko-KR" altLang="en-US"/>
              <a:t> 연습 데이터 베이스 생성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966433" y="6167229"/>
            <a:ext cx="3211135" cy="390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3-9] Workbench SQL </a:t>
            </a:r>
            <a:r>
              <a:rPr lang="ko-KR" altLang="en-US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개발 화면</a:t>
            </a:r>
            <a:endParaRPr lang="ko-KR" altLang="en-US" sz="1400" kern="0" spc="0" dirty="0">
              <a:solidFill>
                <a:srgbClr val="000000"/>
              </a:solidFill>
              <a:effectLst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41" y="1790700"/>
            <a:ext cx="6322518" cy="4343888"/>
          </a:xfrm>
          <a:prstGeom prst="rect">
            <a:avLst/>
          </a:prstGeom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MySQL Workbench </a:t>
            </a:r>
            <a:r>
              <a:rPr lang="ko-KR" altLang="en-US" sz="2000" dirty="0">
                <a:solidFill>
                  <a:schemeClr val="tx2"/>
                </a:solidFill>
              </a:rPr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100132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6076-3DE8-7D60-DBAF-E997EF57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CA460-A362-DB0E-39ED-A62E5338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연습 데이터 베이스 생성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82A49-1FEE-CCFD-D8AE-448ADB19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52736"/>
            <a:ext cx="7704856" cy="5544616"/>
          </a:xfrm>
          <a:prstGeom prst="rect">
            <a:avLst/>
          </a:prstGeom>
        </p:spPr>
        <p:txBody>
          <a:bodyPr/>
          <a:lstStyle/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SQL script </a:t>
            </a:r>
            <a:r>
              <a:rPr lang="ko-KR" altLang="en-US" sz="1200" b="0" dirty="0"/>
              <a:t>파일 다운 로드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ko-KR" altLang="en-US" sz="1200" b="0" dirty="0"/>
              <a:t>강의 자료 </a:t>
            </a:r>
            <a:r>
              <a:rPr lang="ko-KR" altLang="en-US" sz="1200" b="0"/>
              <a:t>링크에서 </a:t>
            </a:r>
            <a:r>
              <a:rPr lang="en-US" altLang="ko-KR" sz="1200" b="0"/>
              <a:t>practice2</a:t>
            </a:r>
            <a:r>
              <a:rPr lang="en-US" altLang="ko-KR" sz="1200" b="0" dirty="0" err="1"/>
              <a:t>.sql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다운로드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workbench </a:t>
            </a:r>
            <a:r>
              <a:rPr lang="ko-KR" altLang="en-US" sz="1200" b="0" dirty="0"/>
              <a:t>실행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Open SQL Script </a:t>
            </a:r>
            <a:r>
              <a:rPr lang="ko-KR" altLang="en-US" sz="1200" b="0" dirty="0"/>
              <a:t>메뉴 선택 </a:t>
            </a:r>
            <a:r>
              <a:rPr lang="en-US" altLang="ko-KR" sz="1200" b="0" dirty="0"/>
              <a:t>&gt; </a:t>
            </a:r>
            <a:r>
              <a:rPr lang="en-US" altLang="ko-KR" sz="1200" b="0" dirty="0" err="1"/>
              <a:t>practice2.sql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선택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script </a:t>
            </a:r>
            <a:r>
              <a:rPr lang="ko-KR" altLang="en-US" sz="1200" b="0" dirty="0"/>
              <a:t>실행 버튼 클릭</a:t>
            </a:r>
            <a:endParaRPr lang="en-US" altLang="ko-KR" sz="1200" b="0" dirty="0"/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848ED5-3F9A-8D0D-2C26-A0A78BB87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60" y="1718271"/>
            <a:ext cx="1628359" cy="18264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59F0A7-EE4E-EC34-4D97-D8AA0FBD2E31}"/>
              </a:ext>
            </a:extLst>
          </p:cNvPr>
          <p:cNvSpPr/>
          <p:nvPr/>
        </p:nvSpPr>
        <p:spPr>
          <a:xfrm>
            <a:off x="1995506" y="2239294"/>
            <a:ext cx="1728192" cy="144016"/>
          </a:xfrm>
          <a:prstGeom prst="rect">
            <a:avLst/>
          </a:prstGeom>
          <a:noFill/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B1309E-44BD-3F08-D507-1AFF30B6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869093"/>
            <a:ext cx="2725631" cy="13803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6E66C8F-F19B-4831-13BB-E9FBB0FDF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5509948"/>
            <a:ext cx="295316" cy="29531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6BC665-D50E-7742-4AFD-9DC5FC13F748}"/>
              </a:ext>
            </a:extLst>
          </p:cNvPr>
          <p:cNvSpPr/>
          <p:nvPr/>
        </p:nvSpPr>
        <p:spPr>
          <a:xfrm>
            <a:off x="1152760" y="4000699"/>
            <a:ext cx="200784" cy="201600"/>
          </a:xfrm>
          <a:prstGeom prst="rect">
            <a:avLst/>
          </a:prstGeom>
          <a:noFill/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연습 데이터 베이스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A32D1A-882D-C5E1-DCF8-1054015CB767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4400"/>
          <a:ext cx="3681440" cy="2933395"/>
        </p:xfrm>
        <a:graphic>
          <a:graphicData uri="http://schemas.openxmlformats.org/drawingml/2006/table">
            <a:tbl>
              <a:tblPr/>
              <a:tblGrid>
                <a:gridCol w="7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862482-CCFC-8DB4-7FF1-75935CBD9E98}"/>
              </a:ext>
            </a:extLst>
          </p:cNvPr>
          <p:cNvGraphicFramePr>
            <a:graphicFrameLocks noGrp="1"/>
          </p:cNvGraphicFramePr>
          <p:nvPr/>
        </p:nvGraphicFramePr>
        <p:xfrm>
          <a:off x="451474" y="4748614"/>
          <a:ext cx="3697510" cy="1578964"/>
        </p:xfrm>
        <a:graphic>
          <a:graphicData uri="http://schemas.openxmlformats.org/drawingml/2006/table">
            <a:tbl>
              <a:tblPr/>
              <a:tblGrid>
                <a:gridCol w="60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089D-4014-F02A-4C03-C6AF1041ECFD}"/>
              </a:ext>
            </a:extLst>
          </p:cNvPr>
          <p:cNvGraphicFramePr>
            <a:graphicFrameLocks noGrp="1"/>
          </p:cNvGraphicFramePr>
          <p:nvPr/>
        </p:nvGraphicFramePr>
        <p:xfrm>
          <a:off x="4562949" y="1134400"/>
          <a:ext cx="4104456" cy="2765875"/>
        </p:xfrm>
        <a:graphic>
          <a:graphicData uri="http://schemas.openxmlformats.org/drawingml/2006/table">
            <a:tbl>
              <a:tblPr/>
              <a:tblGrid>
                <a:gridCol w="68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EC2F12-800F-2955-BA88-A1FDD27803A8}"/>
              </a:ext>
            </a:extLst>
          </p:cNvPr>
          <p:cNvSpPr txBox="1"/>
          <p:nvPr/>
        </p:nvSpPr>
        <p:spPr>
          <a:xfrm>
            <a:off x="367928" y="4228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5AE42-9C32-28B6-FE41-BACB143F2DFD}"/>
              </a:ext>
            </a:extLst>
          </p:cNvPr>
          <p:cNvSpPr txBox="1"/>
          <p:nvPr/>
        </p:nvSpPr>
        <p:spPr>
          <a:xfrm>
            <a:off x="367928" y="647530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Customer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C6D51-D3E9-42D8-A22D-DA60FA768E62}"/>
              </a:ext>
            </a:extLst>
          </p:cNvPr>
          <p:cNvSpPr txBox="1"/>
          <p:nvPr/>
        </p:nvSpPr>
        <p:spPr>
          <a:xfrm>
            <a:off x="4562949" y="415723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2196658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구성요소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기본 문법</a:t>
            </a: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806" y="4067919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20280" y="1998365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SELECT   </a:t>
            </a:r>
            <a:r>
              <a:rPr lang="en-US" altLang="ko-KR" sz="1400" dirty="0" err="1">
                <a:solidFill>
                  <a:sysClr val="windowText" lastClr="000000"/>
                </a:solidFill>
                <a:latin typeface="+mn-ea"/>
                <a:ea typeface="+mn-ea"/>
              </a:rPr>
              <a:t>bookname</a:t>
            </a:r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, publisher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FROM    Book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WHERE   price &gt;= 10000;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5" y="218511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키워드</a:t>
            </a:r>
          </a:p>
        </p:txBody>
      </p:sp>
      <p:cxnSp>
        <p:nvCxnSpPr>
          <p:cNvPr id="11" name="직선 화살표 연결선 10"/>
          <p:cNvCxnSpPr>
            <a:stCxn id="7" idx="3"/>
          </p:cNvCxnSpPr>
          <p:nvPr/>
        </p:nvCxnSpPr>
        <p:spPr>
          <a:xfrm>
            <a:off x="1619673" y="2339008"/>
            <a:ext cx="936103" cy="987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3"/>
          </p:cNvCxnSpPr>
          <p:nvPr/>
        </p:nvCxnSpPr>
        <p:spPr>
          <a:xfrm flipV="1">
            <a:off x="1619673" y="2132856"/>
            <a:ext cx="936103" cy="2061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3"/>
          </p:cNvCxnSpPr>
          <p:nvPr/>
        </p:nvCxnSpPr>
        <p:spPr>
          <a:xfrm>
            <a:off x="1619673" y="2339008"/>
            <a:ext cx="936103" cy="2979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995936" y="2348880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5400000" flipH="1" flipV="1">
            <a:off x="3671900" y="188082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779912" y="1772816"/>
            <a:ext cx="2088232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rot="5400000" flipH="1" flipV="1">
            <a:off x="4569110" y="1880034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rot="5400000" flipH="1" flipV="1">
            <a:off x="3887129" y="281613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995936" y="2924944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0152" y="162346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속성</a:t>
            </a:r>
            <a:r>
              <a:rPr lang="en-US" altLang="ko-KR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이름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0152" y="2204169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테이블 이름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0152" y="277070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검색 조건</a:t>
            </a:r>
          </a:p>
        </p:txBody>
      </p:sp>
    </p:spTree>
    <p:extLst>
      <p:ext uri="{BB962C8B-B14F-4D97-AF65-F5344CB8AC3E}">
        <p14:creationId xmlns:p14="http://schemas.microsoft.com/office/powerpoint/2010/main" val="177659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503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569293" y="1844824"/>
            <a:ext cx="7192934" cy="2144382"/>
            <a:chOff x="569293" y="1124744"/>
            <a:chExt cx="7192934" cy="2144382"/>
          </a:xfrm>
        </p:grpSpPr>
        <p:graphicFrame>
          <p:nvGraphicFramePr>
            <p:cNvPr id="24" name="내용 개체 틀 3"/>
            <p:cNvGraphicFramePr>
              <a:graphicFrameLocks/>
            </p:cNvGraphicFramePr>
            <p:nvPr/>
          </p:nvGraphicFramePr>
          <p:xfrm>
            <a:off x="569293" y="1124744"/>
            <a:ext cx="5298851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29885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3-1  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이름과 가격을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, price</a:t>
                        </a: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 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1298" y="1128936"/>
              <a:ext cx="1750929" cy="2140190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569293" y="4128368"/>
            <a:ext cx="7187945" cy="2090813"/>
            <a:chOff x="569293" y="4221088"/>
            <a:chExt cx="7187945" cy="2090813"/>
          </a:xfrm>
        </p:grpSpPr>
        <p:sp>
          <p:nvSpPr>
            <p:cNvPr id="23" name="TextBox 22"/>
            <p:cNvSpPr txBox="1"/>
            <p:nvPr/>
          </p:nvSpPr>
          <p:spPr>
            <a:xfrm>
              <a:off x="611560" y="4509552"/>
              <a:ext cx="2497383" cy="4572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SELECT	price, </a:t>
              </a:r>
              <a:r>
                <a:rPr lang="en-US" altLang="ko-KR" sz="1400" dirty="0" err="1">
                  <a:solidFill>
                    <a:schemeClr val="dk1"/>
                  </a:solidFill>
                  <a:ea typeface="맑은 고딕" panose="020B0503020000020004" pitchFamily="50" charset="-127"/>
                </a:rPr>
                <a:t>bookname</a:t>
              </a:r>
              <a:endParaRPr lang="en-US" altLang="ko-KR" sz="1400" dirty="0">
                <a:solidFill>
                  <a:schemeClr val="dk1"/>
                </a:solidFill>
                <a:ea typeface="맑은 고딕" panose="020B0503020000020004" pitchFamily="50" charset="-127"/>
              </a:endParaRPr>
            </a:p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FROM 	Book;</a:t>
              </a:r>
              <a:endPara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27" name="내용 개체 틀 3"/>
            <p:cNvGraphicFramePr>
              <a:graphicFrameLocks/>
            </p:cNvGraphicFramePr>
            <p:nvPr/>
          </p:nvGraphicFramePr>
          <p:xfrm>
            <a:off x="569293" y="4221088"/>
            <a:ext cx="5226843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22684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(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3-1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변형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)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가격과 이름을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price, 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endParaRPr lang="en-US" altLang="ko-KR" sz="1400" dirty="0">
                          <a:solidFill>
                            <a:schemeClr val="dk1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 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5774" y="4221089"/>
              <a:ext cx="1771464" cy="2090812"/>
            </a:xfrm>
            <a:prstGeom prst="rect">
              <a:avLst/>
            </a:prstGeom>
          </p:spPr>
        </p:pic>
      </p:grp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SELECT/FROM_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서점에 어떤 도서가 있는지 알고 싶다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2498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1DFD-33CB-AB36-EFE2-678AC7811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3803F3-0BDC-1F54-AA6B-89007C5A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F82BC08-5471-6A2C-022E-84358862B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주석</a:t>
            </a:r>
            <a:endParaRPr lang="en-US" altLang="ko-KR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266700" lvl="1" indent="0" latinLnBrk="0">
              <a:buNone/>
            </a:pPr>
            <a:endParaRPr lang="ko-KR" alt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74C03DA-909D-FBC9-11AC-19C63BF55566}"/>
              </a:ext>
            </a:extLst>
          </p:cNvPr>
          <p:cNvSpPr txBox="1">
            <a:spLocks/>
          </p:cNvSpPr>
          <p:nvPr/>
        </p:nvSpPr>
        <p:spPr bwMode="auto">
          <a:xfrm>
            <a:off x="755576" y="1628800"/>
            <a:ext cx="7344816" cy="475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ko-KR" altLang="en-US" dirty="0"/>
              <a:t>코드에 목적</a:t>
            </a:r>
            <a:r>
              <a:rPr kumimoji="0" lang="en-US" altLang="ko-KR" dirty="0"/>
              <a:t>, </a:t>
            </a:r>
            <a:r>
              <a:rPr kumimoji="0" lang="ko-KR" altLang="en-US" dirty="0"/>
              <a:t>동작 </a:t>
            </a:r>
            <a:r>
              <a:rPr kumimoji="0" lang="ko-KR" altLang="en-US" dirty="0" err="1"/>
              <a:t>방식등의</a:t>
            </a:r>
            <a:r>
              <a:rPr kumimoji="0" lang="ko-KR" altLang="en-US" dirty="0"/>
              <a:t> 설명을 추가해 가독성을 향상</a:t>
            </a:r>
            <a:endParaRPr kumimoji="0" lang="en-US" altLang="ko-KR" dirty="0"/>
          </a:p>
          <a:p>
            <a:pPr lvl="1"/>
            <a:r>
              <a:rPr kumimoji="0" lang="en-US" altLang="ko-KR" dirty="0"/>
              <a:t> </a:t>
            </a:r>
            <a:r>
              <a:rPr kumimoji="0" lang="ko-KR" altLang="en-US" sz="1400" dirty="0"/>
              <a:t>한 줄 주석</a:t>
            </a:r>
            <a:r>
              <a:rPr kumimoji="0" lang="en-US" altLang="ko-KR" sz="1400" dirty="0"/>
              <a:t>(#)</a:t>
            </a:r>
          </a:p>
          <a:p>
            <a:pPr lvl="1"/>
            <a:endParaRPr kumimoji="0" lang="en-US" altLang="ko-KR" sz="1400" dirty="0"/>
          </a:p>
          <a:p>
            <a:pPr marL="266700" lvl="1" indent="0">
              <a:buNone/>
            </a:pPr>
            <a:endParaRPr kumimoji="0" lang="en-US" altLang="ko-KR" sz="2000" dirty="0"/>
          </a:p>
          <a:p>
            <a:pPr lvl="1"/>
            <a:r>
              <a:rPr kumimoji="0" lang="ko-KR" altLang="en-US" sz="1400" dirty="0"/>
              <a:t>한 줄 주석</a:t>
            </a:r>
            <a:r>
              <a:rPr kumimoji="0" lang="en-US" altLang="ko-KR" sz="1400" dirty="0"/>
              <a:t>(--)</a:t>
            </a:r>
          </a:p>
          <a:p>
            <a:pPr lvl="2"/>
            <a:r>
              <a:rPr kumimoji="0" lang="en-US" altLang="ko-KR" sz="1400" dirty="0"/>
              <a:t>-- </a:t>
            </a:r>
            <a:r>
              <a:rPr kumimoji="0" lang="ko-KR" altLang="en-US" sz="1400" dirty="0"/>
              <a:t>다음에 공백</a:t>
            </a:r>
            <a:r>
              <a:rPr kumimoji="0" lang="en-US" altLang="ko-KR" sz="1400" dirty="0"/>
              <a:t>(</a:t>
            </a:r>
            <a:r>
              <a:rPr kumimoji="0" lang="ko-KR" altLang="en-US" sz="1400" dirty="0"/>
              <a:t>띄어쓰기</a:t>
            </a:r>
            <a:r>
              <a:rPr kumimoji="0" lang="en-US" altLang="ko-KR" sz="1400" dirty="0"/>
              <a:t>)</a:t>
            </a:r>
            <a:r>
              <a:rPr kumimoji="0" lang="ko-KR" altLang="en-US" sz="1400" dirty="0"/>
              <a:t>가 필요</a:t>
            </a:r>
            <a:endParaRPr kumimoji="0" lang="en-US" altLang="ko-KR" sz="1400" dirty="0"/>
          </a:p>
          <a:p>
            <a:pPr lvl="2"/>
            <a:endParaRPr kumimoji="0" lang="en-US" altLang="ko-KR" sz="1400" dirty="0"/>
          </a:p>
          <a:p>
            <a:pPr marL="447675" lvl="2" indent="0">
              <a:buNone/>
            </a:pPr>
            <a:endParaRPr kumimoji="0" lang="en-US" altLang="ko-KR" sz="2000" dirty="0"/>
          </a:p>
          <a:p>
            <a:pPr lvl="1"/>
            <a:r>
              <a:rPr kumimoji="0" lang="ko-KR" altLang="en-US" sz="1400" dirty="0"/>
              <a:t>여러 줄 주석</a:t>
            </a:r>
            <a:r>
              <a:rPr kumimoji="0" lang="en-US" altLang="ko-KR" sz="1400" dirty="0"/>
              <a:t>(/* … */)</a:t>
            </a:r>
          </a:p>
          <a:p>
            <a:pPr lvl="2">
              <a:lnSpc>
                <a:spcPct val="200000"/>
              </a:lnSpc>
            </a:pPr>
            <a:endParaRPr kumimoji="0"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7321E1-0590-8EAC-C948-4B194F5E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239483"/>
            <a:ext cx="2448272" cy="54144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5CDA9C-5B1D-97A6-745B-5DD78DDD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573016"/>
            <a:ext cx="2808312" cy="6066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A213F39-5B25-53F9-99A2-360476BB5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4676113"/>
            <a:ext cx="3528392" cy="15942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724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49053" y="2452483"/>
          <a:ext cx="7229376" cy="2028511"/>
        </p:xfrm>
        <a:graphic>
          <a:graphicData uri="http://schemas.openxmlformats.org/drawingml/2006/table">
            <a:tbl>
              <a:tblPr/>
              <a:tblGrid>
                <a:gridCol w="10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술어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=, &lt;&gt;, &lt;, &lt;=, &gt;, &gt;=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&lt;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BETWEEN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BETWEEN 10000 AND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IN, NOT 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IN (10000, 20000, 30000)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패턴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LIKE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IS NULL, IS NOT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IS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복합조건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AND, OR, NOT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(price &lt; 20000) AND 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84" y="213524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3-5 </a:t>
            </a:r>
            <a:r>
              <a:rPr lang="en-US" altLang="ko-KR" sz="1400" b="1" dirty="0">
                <a:ea typeface="맑은 고딕" panose="020B0503020000020004" pitchFamily="50" charset="-127"/>
              </a:rPr>
              <a:t>WHERE </a:t>
            </a:r>
            <a:r>
              <a:rPr lang="ko-KR" altLang="en-US" sz="1400" b="1" dirty="0">
                <a:ea typeface="맑은 고딕" panose="020B0503020000020004" pitchFamily="50" charset="-127"/>
              </a:rPr>
              <a:t>절에 조건으로 사용할 수 있는 술어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755576" y="1783755"/>
            <a:ext cx="8064896" cy="5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비교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  <a:buNone/>
            </a:pPr>
            <a:endParaRPr lang="en-US" altLang="ko-KR" dirty="0"/>
          </a:p>
          <a:p>
            <a:pPr>
              <a:lnSpc>
                <a:spcPct val="100000"/>
              </a:lnSpc>
              <a:buNone/>
            </a:pPr>
            <a:endParaRPr lang="en-US" altLang="ko-KR" dirty="0"/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929333" y="2420888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미만인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price &lt; 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3068960"/>
            <a:ext cx="3676433" cy="186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9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1500"/>
            <a:ext cx="8064896" cy="49558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범위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BETWEEN</a:t>
            </a:r>
            <a:r>
              <a:rPr lang="ko-KR" altLang="en-US" sz="1400" dirty="0"/>
              <a:t>은 논리 연산자인 </a:t>
            </a:r>
            <a:r>
              <a:rPr lang="en-US" altLang="ko-KR" sz="1400" dirty="0"/>
              <a:t>AND</a:t>
            </a:r>
            <a:r>
              <a:rPr lang="ko-KR" altLang="en-US" sz="1400" dirty="0"/>
              <a:t>를 사용할 수 있다</a:t>
            </a:r>
            <a:r>
              <a:rPr lang="en-US" altLang="ko-KR" sz="1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9293" y="2234565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이하인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price BETWEEN 10000 AND 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816624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FROM	Book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WHERE	price &gt;= 10000 AND price &lt;= 20000;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708921"/>
            <a:ext cx="3472094" cy="115212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5" y="4633737"/>
            <a:ext cx="3456384" cy="11538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31603"/>
            <a:ext cx="8064896" cy="45405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집합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ko-KR" altLang="en-US" sz="1400" dirty="0"/>
              <a:t>출판사가 ‘</a:t>
            </a:r>
            <a:r>
              <a:rPr lang="ko-KR" altLang="en-US" sz="1400" dirty="0" err="1"/>
              <a:t>굿스포츠</a:t>
            </a:r>
            <a:r>
              <a:rPr lang="ko-KR" altLang="en-US" sz="1400" dirty="0"/>
              <a:t>’ 혹은 ‘대한미디어’가 아닌 도서를 검색하시오</a:t>
            </a:r>
            <a:r>
              <a:rPr lang="en-US" altLang="ko-KR" sz="1400" dirty="0"/>
              <a:t>.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9292" y="2224668"/>
          <a:ext cx="82064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굿스포츠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publisher IN ('</a:t>
                      </a:r>
                      <a:r>
                        <a:rPr lang="ko-KR" altLang="en-US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굿스포츠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', 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806727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FROM	Book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WHERE	</a:t>
            </a:r>
            <a:r>
              <a:rPr lang="en-US" altLang="ko-KR" sz="1400" dirty="0">
                <a:ea typeface="맑은 고딕" panose="020B0503020000020004" pitchFamily="50" charset="-127"/>
              </a:rPr>
              <a:t>publisher NOT IN ('</a:t>
            </a:r>
            <a:r>
              <a:rPr lang="ko-KR" altLang="en-US" sz="1400" dirty="0" err="1">
                <a:ea typeface="맑은 고딕" panose="020B0503020000020004" pitchFamily="50" charset="-127"/>
              </a:rPr>
              <a:t>굿스포츠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>
                <a:ea typeface="맑은 고딕" panose="020B0503020000020004" pitchFamily="50" charset="-127"/>
              </a:rPr>
              <a:t>대한미디어</a:t>
            </a:r>
            <a:r>
              <a:rPr lang="en-US" altLang="ko-KR" sz="1400" dirty="0">
                <a:ea typeface="맑은 고딕" panose="020B0503020000020004" pitchFamily="50" charset="-127"/>
              </a:rPr>
              <a:t>');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708920"/>
            <a:ext cx="3240360" cy="13588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C6CDAA-696A-716D-C1C3-28895847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372" y="4796205"/>
            <a:ext cx="3054076" cy="130888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4303"/>
            <a:ext cx="8064896" cy="509706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패턴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8127" y="2237368"/>
          <a:ext cx="7387083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출간한 출판사를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publisher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축구의 역사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568127" y="4472280"/>
          <a:ext cx="7387083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도서이름에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포함된 출판사를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publisher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'%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2852936"/>
            <a:ext cx="1512168" cy="4431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37B2141-8FD5-95FF-69BA-AA55CC0B6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7" y="5085184"/>
            <a:ext cx="1855927" cy="864096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93701" y="1835021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왼쪽 두 번째 위치에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라는 문자열을 갖는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'_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582984" y="4410796"/>
          <a:ext cx="7229376" cy="1736916"/>
        </p:xfrm>
        <a:graphic>
          <a:graphicData uri="http://schemas.openxmlformats.org/drawingml/2006/table">
            <a:tbl>
              <a:tblPr/>
              <a:tblGrid>
                <a:gridCol w="10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와일드 문자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문자열을 연결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‘골프 ’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‘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바이블’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‘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골프 바이블’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이상의 문자열과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축구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%’ :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축구를 포함하는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 ]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[0-5]%’ : 0-5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 숫자로 시작하는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[^]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불일치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[^0-5]%’ : 0-5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 숫자로 시작하지 않는 문자열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특정 위치의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%’ :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두 번째 위치에 ‘구’가 들어가는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5644" y="407707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3-6 </a:t>
            </a:r>
            <a:r>
              <a:rPr lang="ko-KR" altLang="en-US" sz="1400" b="1" dirty="0">
                <a:ea typeface="맑은 고딕" panose="020B0503020000020004" pitchFamily="50" charset="-127"/>
              </a:rPr>
              <a:t>와일드 문자의 종류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143CBF-1751-7AA3-4D20-3725C60A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271" y="2631869"/>
            <a:ext cx="3276485" cy="1200151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9669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4303"/>
            <a:ext cx="8064896" cy="502505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복합조건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93329" y="2237368"/>
          <a:ext cx="79410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축구에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관한 도서 중 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'%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 AND price &gt;= 20000;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593329" y="4472280"/>
          <a:ext cx="79537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굿스포츠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publisher='</a:t>
                      </a:r>
                      <a:r>
                        <a:rPr lang="ko-KR" altLang="en-US" sz="1400" spc="-100" baseline="0" dirty="0" err="1">
                          <a:solidFill>
                            <a:schemeClr val="dk1"/>
                          </a:solidFill>
                          <a:latin typeface="+mn-ea"/>
                        </a:rPr>
                        <a:t>굿스포츠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'  OR  publisher='</a:t>
                      </a:r>
                      <a:r>
                        <a:rPr lang="ko-KR" altLang="en-US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</a:rPr>
                        <a:t>';</a:t>
                      </a:r>
                      <a:endParaRPr lang="en-US" altLang="ko-KR" sz="1400" spc="-100" baseline="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1" y="3645024"/>
            <a:ext cx="3204706" cy="57606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5085184"/>
            <a:ext cx="3386417" cy="14012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44824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이름순으로 검색하고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변경한 컬럼을 추가하세요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*, bookname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as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bname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ORDER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7FEEC9-DC8B-66C5-8A44-C5DD0F907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274" y="2465111"/>
            <a:ext cx="3456384" cy="1702313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723FBBD6-8317-FC4B-2EF0-DE1289CAB763}"/>
              </a:ext>
            </a:extLst>
          </p:cNvPr>
          <p:cNvGraphicFramePr>
            <a:graphicFrameLocks/>
          </p:cNvGraphicFramePr>
          <p:nvPr/>
        </p:nvGraphicFramePr>
        <p:xfrm>
          <a:off x="566473" y="4456777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컬럼은 첫번째로 배치하세요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bookname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as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bname, b.*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Book as b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C4F02C-8236-9B80-ED94-38AA779D7EB2}"/>
              </a:ext>
            </a:extLst>
          </p:cNvPr>
          <p:cNvSpPr txBox="1"/>
          <p:nvPr/>
        </p:nvSpPr>
        <p:spPr>
          <a:xfrm>
            <a:off x="539552" y="3355850"/>
            <a:ext cx="4176464" cy="3416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400" b="1">
                <a:latin typeface="+mj-lt"/>
              </a:rPr>
              <a:t>※ SELECT </a:t>
            </a:r>
            <a:r>
              <a:rPr lang="ko-KR" altLang="en-US" sz="1400" b="1">
                <a:latin typeface="+mj-lt"/>
              </a:rPr>
              <a:t>에서 </a:t>
            </a:r>
            <a:r>
              <a:rPr lang="en-US" altLang="ko-KR" sz="1400" b="1">
                <a:latin typeface="+mj-lt"/>
              </a:rPr>
              <a:t>* </a:t>
            </a:r>
            <a:r>
              <a:rPr lang="ko-KR" altLang="en-US" sz="1400" b="1">
                <a:latin typeface="+mj-lt"/>
              </a:rPr>
              <a:t>는 모든 컬럼을 의미합니다</a:t>
            </a:r>
            <a:r>
              <a:rPr lang="en-US" altLang="ko-KR" sz="1400" b="1">
                <a:latin typeface="+mj-lt"/>
              </a:rPr>
              <a:t>.</a:t>
            </a:r>
            <a:endParaRPr lang="ko-KR" alt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4" name="내용 개체 틀 3"/>
          <p:cNvGraphicFramePr>
            <a:graphicFrameLocks/>
          </p:cNvGraphicFramePr>
          <p:nvPr/>
        </p:nvGraphicFramePr>
        <p:xfrm>
          <a:off x="569293" y="1843876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가격순으로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같으면 이름순으로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price,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2420888"/>
            <a:ext cx="3622923" cy="24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21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16943"/>
          <a:ext cx="7272808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가격의 내림차순으로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만약 가격이 같다면 출판사의 오름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차순으로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검색한다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  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 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 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price DESC, publisher ASC;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645024"/>
            <a:ext cx="3662164" cy="25205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문제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39750" y="1085850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 고객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(customer)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전화번호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(phone)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phone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Customer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name = ___;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/>
        </p:nvGraphicFramePr>
        <p:xfrm>
          <a:off x="539374" y="2852936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피겨 교본의 출판사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(publisher)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publisher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= ___;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/>
        </p:nvGraphicFramePr>
        <p:xfrm>
          <a:off x="539374" y="4620022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(price)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price &gt;= 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문제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39750" y="1085850"/>
          <a:ext cx="8065252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이하인 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price BETWEEN ___ AND ___;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            -- price &gt;= 8000 AND price &lt;= 15,000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/>
        </p:nvGraphicFramePr>
        <p:xfrm>
          <a:off x="539374" y="2852936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이름에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포함된 도서를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like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____;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/>
        </p:nvGraphicFramePr>
        <p:xfrm>
          <a:off x="539374" y="4620022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이름에 왼쪽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위치에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라는 문자열을 같은 도서를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LIKE 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070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dirty="0"/>
          </a:p>
        </p:txBody>
      </p:sp>
      <p:sp>
        <p:nvSpPr>
          <p:cNvPr id="20" name="내용 개체 틀 2"/>
          <p:cNvSpPr>
            <a:spLocks noGrp="1"/>
          </p:cNvSpPr>
          <p:nvPr>
            <p:ph idx="1"/>
          </p:nvPr>
        </p:nvSpPr>
        <p:spPr>
          <a:xfrm>
            <a:off x="416744" y="1637308"/>
            <a:ext cx="8064896" cy="474402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 </a:t>
            </a:r>
            <a:r>
              <a:rPr lang="ko-KR" altLang="en-US" sz="1400" dirty="0"/>
              <a:t>의미 있는 열 이름을 출력하고 싶으면 속성이름의 별칭을 지칭하는 </a:t>
            </a:r>
            <a:r>
              <a:rPr lang="en-US" altLang="ko-KR" sz="1400" dirty="0"/>
              <a:t>AS </a:t>
            </a:r>
            <a:r>
              <a:rPr lang="ko-KR" altLang="en-US" sz="1400" dirty="0"/>
              <a:t>키워드를 사용하여 </a:t>
            </a:r>
            <a:endParaRPr lang="en-US" altLang="ko-KR" sz="1400" dirty="0"/>
          </a:p>
          <a:p>
            <a:pPr>
              <a:buNone/>
            </a:pPr>
            <a:r>
              <a:rPr lang="ko-KR" altLang="en-US" sz="1400" dirty="0"/>
              <a:t>    열 이름을 </a:t>
            </a:r>
            <a:r>
              <a:rPr lang="ko-KR" altLang="en-US" sz="1400"/>
              <a:t>부여한다</a:t>
            </a:r>
            <a:r>
              <a:rPr lang="en-US" altLang="ko-KR" sz="1400"/>
              <a:t>. </a:t>
            </a:r>
            <a:r>
              <a:rPr lang="ko-KR" altLang="en-US" sz="1400"/>
              <a:t>테이블 이름을 줄이기 위해서도 사용할 수 있다</a:t>
            </a:r>
            <a:r>
              <a:rPr lang="en-US" altLang="ko-KR" sz="1400"/>
              <a:t>.</a:t>
            </a:r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90501" y="1820565"/>
          <a:ext cx="745909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76784" y="4452392"/>
            <a:ext cx="3435176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SELECT	SUM(</a:t>
            </a:r>
            <a:r>
              <a:rPr lang="en-US" altLang="ko-KR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saleprice</a:t>
            </a:r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) AS </a:t>
            </a:r>
            <a:r>
              <a:rPr lang="ko-KR" altLang="en-US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총매출</a:t>
            </a:r>
            <a:endParaRPr lang="en-US" altLang="ko-KR" sz="1400" dirty="0">
              <a:solidFill>
                <a:schemeClr val="dk1"/>
              </a:solidFill>
              <a:latin typeface="+mn-ea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FROM	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348880"/>
            <a:ext cx="1239287" cy="5815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4439952"/>
            <a:ext cx="671512" cy="633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3A250A-A6AA-0BA2-6E6B-3BA5CC94F7C4}"/>
              </a:ext>
            </a:extLst>
          </p:cNvPr>
          <p:cNvSpPr txBox="1"/>
          <p:nvPr/>
        </p:nvSpPr>
        <p:spPr>
          <a:xfrm>
            <a:off x="776784" y="5416860"/>
            <a:ext cx="3435176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SELECT	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SUM(O.saleprice</a:t>
            </a:r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) AS </a:t>
            </a:r>
            <a:r>
              <a:rPr lang="ko-KR" altLang="en-US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총매출</a:t>
            </a:r>
            <a:endParaRPr lang="en-US" altLang="ko-KR" sz="1400" dirty="0">
              <a:solidFill>
                <a:schemeClr val="dk1"/>
              </a:solidFill>
              <a:latin typeface="+mn-ea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FROM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	Orders AS</a:t>
            </a:r>
            <a:r>
              <a:rPr lang="ko-KR" altLang="en-US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O;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7A580F-F7CB-7F6C-C167-4CB3C985A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5405634"/>
            <a:ext cx="671512" cy="6334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82960" y="1837452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 고객이 주문한 도서의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AS </a:t>
                      </a:r>
                      <a:r>
                        <a:rPr lang="ko-KR" altLang="en-US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총매출</a:t>
                      </a:r>
                      <a:endParaRPr lang="ko-KR" altLang="en-US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=2;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/>
        </p:nvGraphicFramePr>
        <p:xfrm>
          <a:off x="572269" y="3834100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판매액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평균값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최저가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최고가를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Total,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AVG(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Average,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MIN(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Minimum,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MAX(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Maximum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64" y="2276872"/>
            <a:ext cx="1067941" cy="61654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65104"/>
            <a:ext cx="3470523" cy="5711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77652" y="1832824"/>
          <a:ext cx="745909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마당서점의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 판매 건수를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COUNT(*)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77652" y="4110764"/>
          <a:ext cx="7373392" cy="1736916"/>
        </p:xfrm>
        <a:graphic>
          <a:graphicData uri="http://schemas.openxmlformats.org/drawingml/2006/table">
            <a:tbl>
              <a:tblPr/>
              <a:tblGrid>
                <a:gridCol w="1069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2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0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집계 함수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COUNT({[[ALL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| *})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COUNT(*)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MAX(price)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9919" y="377704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3-7 </a:t>
            </a:r>
            <a:r>
              <a:rPr lang="ko-KR" altLang="en-US" sz="1400" b="1" dirty="0">
                <a:ea typeface="맑은 고딕" panose="020B0503020000020004" pitchFamily="50" charset="-127"/>
              </a:rPr>
              <a:t>집계 함수의 종류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348880"/>
            <a:ext cx="1267606" cy="5958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86309" y="18402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수량과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COUNT(*)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도서수량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총액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      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GROUP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77503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3-18 </a:t>
            </a:r>
            <a:r>
              <a:rPr lang="en-US" altLang="ko-KR" sz="1400" b="1" dirty="0">
                <a:ea typeface="맑은 고딕" panose="020B0503020000020004" pitchFamily="50" charset="-127"/>
              </a:rPr>
              <a:t>GROUP BY </a:t>
            </a:r>
            <a:r>
              <a:rPr lang="ko-KR" altLang="en-US" sz="1400" b="1" dirty="0">
                <a:ea typeface="맑은 고딕" panose="020B0503020000020004" pitchFamily="50" charset="-127"/>
              </a:rPr>
              <a:t>절의 수행</a:t>
            </a:r>
          </a:p>
        </p:txBody>
      </p:sp>
      <p:pic>
        <p:nvPicPr>
          <p:cNvPr id="20481" name="_x977191624" descr="EMB000024782fa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92" y="3797131"/>
            <a:ext cx="5816263" cy="201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GROUP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2420888"/>
            <a:ext cx="2376588" cy="11521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77652" y="1833176"/>
          <a:ext cx="7459091" cy="196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도서를 구매한 고객에 대하여 고객별 주문 도서의 총 수량을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 권 이상 구매한 고객만 구한다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COUNT(*)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도서수량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  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   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&gt;= 8000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GROUP BY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HAVING   	   count(*) &gt;= 2;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GROUP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2564904"/>
            <a:ext cx="2080444" cy="92394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47430" y="1844824"/>
          <a:ext cx="7425183" cy="4264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col1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기준으로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GROUP BY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했을 때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col3, col4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모든 집계함수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(COUNT, MIN, Max, SUM, AVG)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값을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SELECT	   col1,  count(col3), count(col4),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min(col3), min(col4), 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max(col3), min(col4),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sum(col3), sum(col4),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avg(col3), avg(col4)</a:t>
                      </a:r>
                    </a:p>
                    <a:p>
                      <a:endParaRPr lang="ko-KR" altLang="en-US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FROM	   </a:t>
                      </a:r>
                      <a:r>
                        <a:rPr lang="en-US" altLang="ko-KR" sz="1600" dirty="0" err="1">
                          <a:solidFill>
                            <a:schemeClr val="dk1"/>
                          </a:solidFill>
                          <a:latin typeface="+mn-ea"/>
                        </a:rPr>
                        <a:t>exaggfn</a:t>
                      </a:r>
                      <a:endParaRPr lang="en-US" altLang="ko-KR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endParaRPr lang="en-US" altLang="ko-KR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GROUP BY   col1</a:t>
                      </a:r>
                    </a:p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73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45237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GROUP BY </a:t>
            </a:r>
            <a:r>
              <a:rPr kumimoji="0" lang="ko-KR" altLang="en-US" sz="2000" dirty="0">
                <a:solidFill>
                  <a:schemeClr val="tx2"/>
                </a:solidFill>
              </a:rPr>
              <a:t>집계 대상에 </a:t>
            </a:r>
            <a:r>
              <a:rPr kumimoji="0" lang="en-US" altLang="ko-KR" sz="2000" dirty="0">
                <a:solidFill>
                  <a:schemeClr val="tx2"/>
                </a:solidFill>
              </a:rPr>
              <a:t>NULL</a:t>
            </a:r>
            <a:r>
              <a:rPr kumimoji="0" lang="ko-KR" altLang="en-US" sz="2000" dirty="0">
                <a:solidFill>
                  <a:schemeClr val="tx2"/>
                </a:solidFill>
              </a:rPr>
              <a:t>이 있을 때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387A98-90E2-E129-CD39-D318A491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773" y="2564904"/>
            <a:ext cx="3105583" cy="21910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F3E11C-23A7-12FE-3899-927E755A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5476040"/>
            <a:ext cx="7488832" cy="429446"/>
          </a:xfrm>
          <a:prstGeom prst="rect">
            <a:avLst/>
          </a:prstGeom>
        </p:spPr>
      </p:pic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76F6C0CD-C455-A52F-91F1-98F4F9C411CC}"/>
              </a:ext>
            </a:extLst>
          </p:cNvPr>
          <p:cNvSpPr/>
          <p:nvPr/>
        </p:nvSpPr>
        <p:spPr>
          <a:xfrm>
            <a:off x="3563888" y="4755960"/>
            <a:ext cx="2376263" cy="564356"/>
          </a:xfrm>
          <a:prstGeom prst="wedgeRectCallout">
            <a:avLst>
              <a:gd name="adj1" fmla="val -23299"/>
              <a:gd name="adj2" fmla="val 92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(4 + 1 + 2 + 3) / 4 = 2.5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5198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67544" y="1610446"/>
          <a:ext cx="8352928" cy="4585208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주의사항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투플을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그룹으로 묶은 후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절에는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에서 사용한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집계함수만 나올 수 있음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맞는 예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SUM(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틀린 예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SUM(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/* SELECT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 올 수 없다 *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절과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절이 같이 포함된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문은 검색조건이 모호해질 수 있음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절은 ① 반드시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절과 같이 작성해야 하고 ②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절보다 뒤에 나와야 함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그리고 ③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에는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SUM, AVG, MAX, MIN, COUNT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와 같은 집계함수가 와야 함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맞는 예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COUNT(*) AS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도서수량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8000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 BY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       COUNT(*)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2;</a:t>
                      </a:r>
                    </a:p>
                    <a:p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틀린 예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COUNT(*) AS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도서수량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 Orders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       COUNT(*)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2 /*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순서가 틀렸다 *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8000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7544" y="126876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3-8 </a:t>
            </a:r>
            <a:r>
              <a:rPr lang="en-US" altLang="ko-KR" sz="1400" b="1" dirty="0">
                <a:ea typeface="맑은 고딕" panose="020B0503020000020004" pitchFamily="50" charset="-127"/>
              </a:rPr>
              <a:t>GROUP BY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>
                <a:ea typeface="맑은 고딕" panose="020B0503020000020004" pitchFamily="50" charset="-127"/>
              </a:rPr>
              <a:t>HAVING </a:t>
            </a:r>
            <a:r>
              <a:rPr lang="ko-KR" altLang="en-US" sz="1400" b="1" dirty="0">
                <a:ea typeface="맑은 고딕" panose="020B0503020000020004" pitchFamily="50" charset="-127"/>
              </a:rPr>
              <a:t>절의 문법과 주의사항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A32D1A-882D-C5E1-DCF8-1054015CB767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4400"/>
          <a:ext cx="3681440" cy="2933395"/>
        </p:xfrm>
        <a:graphic>
          <a:graphicData uri="http://schemas.openxmlformats.org/drawingml/2006/table">
            <a:tbl>
              <a:tblPr/>
              <a:tblGrid>
                <a:gridCol w="7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862482-CCFC-8DB4-7FF1-75935CBD9E98}"/>
              </a:ext>
            </a:extLst>
          </p:cNvPr>
          <p:cNvGraphicFramePr>
            <a:graphicFrameLocks noGrp="1"/>
          </p:cNvGraphicFramePr>
          <p:nvPr/>
        </p:nvGraphicFramePr>
        <p:xfrm>
          <a:off x="451474" y="4748614"/>
          <a:ext cx="3697510" cy="1578964"/>
        </p:xfrm>
        <a:graphic>
          <a:graphicData uri="http://schemas.openxmlformats.org/drawingml/2006/table">
            <a:tbl>
              <a:tblPr/>
              <a:tblGrid>
                <a:gridCol w="60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089D-4014-F02A-4C03-C6AF1041ECFD}"/>
              </a:ext>
            </a:extLst>
          </p:cNvPr>
          <p:cNvGraphicFramePr>
            <a:graphicFrameLocks noGrp="1"/>
          </p:cNvGraphicFramePr>
          <p:nvPr/>
        </p:nvGraphicFramePr>
        <p:xfrm>
          <a:off x="4562949" y="1134400"/>
          <a:ext cx="4104456" cy="2765875"/>
        </p:xfrm>
        <a:graphic>
          <a:graphicData uri="http://schemas.openxmlformats.org/drawingml/2006/table">
            <a:tbl>
              <a:tblPr/>
              <a:tblGrid>
                <a:gridCol w="68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EC2F12-800F-2955-BA88-A1FDD27803A8}"/>
              </a:ext>
            </a:extLst>
          </p:cNvPr>
          <p:cNvSpPr txBox="1"/>
          <p:nvPr/>
        </p:nvSpPr>
        <p:spPr>
          <a:xfrm>
            <a:off x="367928" y="4228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5AE42-9C32-28B6-FE41-BACB143F2DFD}"/>
              </a:ext>
            </a:extLst>
          </p:cNvPr>
          <p:cNvSpPr txBox="1"/>
          <p:nvPr/>
        </p:nvSpPr>
        <p:spPr>
          <a:xfrm>
            <a:off x="367928" y="647530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Customer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C6D51-D3E9-42D8-A22D-DA60FA768E62}"/>
              </a:ext>
            </a:extLst>
          </p:cNvPr>
          <p:cNvSpPr txBox="1"/>
          <p:nvPr/>
        </p:nvSpPr>
        <p:spPr>
          <a:xfrm>
            <a:off x="4562949" y="415723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1480262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36E1F-0356-2068-8213-35C54705047B}"/>
              </a:ext>
            </a:extLst>
          </p:cNvPr>
          <p:cNvSpPr txBox="1"/>
          <p:nvPr/>
        </p:nvSpPr>
        <p:spPr>
          <a:xfrm>
            <a:off x="2529804" y="4944194"/>
            <a:ext cx="3698379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ea typeface="맑은 고딕" panose="020B0503020000020004" pitchFamily="50" charset="-127"/>
              </a:rPr>
              <a:t>마당서점의 데이터 테이블 관계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FD2BE8-D815-E766-27DB-F2A559A0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844824"/>
            <a:ext cx="4274989" cy="30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55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309720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Customer,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4480" y="638132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3-16 </a:t>
            </a:r>
            <a:r>
              <a:rPr lang="en-US" altLang="ko-KR" sz="1400" b="1" dirty="0">
                <a:ea typeface="맑은 고딕" panose="020B0503020000020004" pitchFamily="50" charset="-127"/>
              </a:rPr>
              <a:t>Customer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테이블의 합체 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20000"/>
              </a:lnSpc>
            </a:pPr>
            <a:r>
              <a:rPr lang="en-US" altLang="ko-KR" dirty="0"/>
              <a:t>Customer </a:t>
            </a:r>
            <a:r>
              <a:rPr lang="ko-KR" altLang="en-US" dirty="0"/>
              <a:t>테이블을 </a:t>
            </a:r>
            <a:r>
              <a:rPr lang="en-US" altLang="ko-KR" dirty="0"/>
              <a:t>Orders </a:t>
            </a:r>
            <a:r>
              <a:rPr lang="ko-KR" altLang="en-US" dirty="0"/>
              <a:t>테이블과 조건 없이 연결해보자</a:t>
            </a:r>
            <a:r>
              <a:rPr lang="en-US" altLang="ko-KR" dirty="0"/>
              <a:t>. 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Customer</a:t>
            </a:r>
            <a:r>
              <a:rPr lang="ko-KR" altLang="en-US" dirty="0"/>
              <a:t>와 </a:t>
            </a:r>
            <a:r>
              <a:rPr lang="en-US" altLang="ko-KR" dirty="0"/>
              <a:t>Orders </a:t>
            </a:r>
            <a:r>
              <a:rPr lang="ko-KR" altLang="en-US" dirty="0"/>
              <a:t>테이블의 합체 결과 </a:t>
            </a:r>
            <a:r>
              <a:rPr lang="ko-KR" altLang="en-US" dirty="0" err="1"/>
              <a:t>투플의</a:t>
            </a:r>
            <a:r>
              <a:rPr lang="ko-KR" altLang="en-US" dirty="0"/>
              <a:t> 개수는 고객이 다섯 명이고  </a:t>
            </a:r>
            <a:endParaRPr lang="en-US" altLang="ko-KR" dirty="0"/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주문이 열 개이므로 </a:t>
            </a:r>
            <a:r>
              <a:rPr lang="en-US" altLang="ko-KR" dirty="0"/>
              <a:t>5×10 </a:t>
            </a:r>
            <a:r>
              <a:rPr lang="ko-KR" altLang="en-US" dirty="0"/>
              <a:t>해서 </a:t>
            </a:r>
            <a:r>
              <a:rPr lang="en-US" altLang="ko-KR" dirty="0"/>
              <a:t>50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132856"/>
            <a:ext cx="5121209" cy="414305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44824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모두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84984"/>
            <a:ext cx="7424911" cy="25434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39819"/>
          <a:ext cx="7579791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고객번호 순으로 정렬하여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</a:t>
                      </a:r>
                      <a:r>
                        <a:rPr lang="en-US" altLang="ko-KR" sz="1400" err="1">
                          <a:solidFill>
                            <a:schemeClr val="dk1"/>
                          </a:solidFill>
                        </a:rPr>
                        <a:t>custid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 = Orders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73016"/>
            <a:ext cx="7344816" cy="258731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275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이름과 고객이 주문한 도서의 판매가격을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345234"/>
            <a:ext cx="1349973" cy="237991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39436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모든 도서의 총 판매액을 구하고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정렬하시오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GROUP BY	Customer.name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Customer.name;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348880"/>
            <a:ext cx="181394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438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07244" y="621826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3-20 </a:t>
            </a:r>
            <a:r>
              <a:rPr lang="ko-KR" altLang="en-US" sz="1400" b="1" dirty="0">
                <a:ea typeface="맑은 고딕" panose="020B0503020000020004" pitchFamily="50" charset="-127"/>
              </a:rPr>
              <a:t>마당서점 데이터 간의 연결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45" y="1792833"/>
            <a:ext cx="5704655" cy="4337542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4482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이름과 고객이 주문한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4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2420888"/>
            <a:ext cx="1942902" cy="226332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44000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28" y="3510468"/>
            <a:ext cx="1534096" cy="4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04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683073"/>
            <a:ext cx="8064896" cy="11877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외부조인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5337" y="2276138"/>
          <a:ext cx="7579071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구매하지 않은 고객을 포함하여 고객의 이름과 고객이 주문한 도서의 판매가격을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LEFT OUTER JOIN Orders </a:t>
                      </a: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        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3072705"/>
            <a:ext cx="1458107" cy="273255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2984" y="2276872"/>
          <a:ext cx="7949456" cy="3456384"/>
        </p:xfrm>
        <a:graphic>
          <a:graphicData uri="http://schemas.openxmlformats.org/drawingml/2006/table">
            <a:tbl>
              <a:tblPr/>
              <a:tblGrid>
                <a:gridCol w="110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111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명령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74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 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 AND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문에서는 주로 동등조인을 사용함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 가지 문법 중 하나를 사용할 수 있음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1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INNER JOIN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08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외부조인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{LEFT |RIGHT |FULL [OUTER]} JOIN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외부조인은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조인 종류를 </a:t>
                      </a:r>
                      <a:b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적고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이용하여 조인조건을 명시함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1560" y="19168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3-9 </a:t>
            </a:r>
            <a:r>
              <a:rPr lang="ko-KR" altLang="en-US" sz="1400" b="1" dirty="0">
                <a:ea typeface="맑은 고딕" panose="020B0503020000020004" pitchFamily="50" charset="-127"/>
              </a:rPr>
              <a:t>조인 문법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8158</TotalTime>
  <Words>2665</Words>
  <Application>Microsoft Office PowerPoint</Application>
  <PresentationFormat>화면 슬라이드 쇼(4:3)</PresentationFormat>
  <Paragraphs>846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41</vt:i4>
      </vt:variant>
    </vt:vector>
  </HeadingPairs>
  <TitlesOfParts>
    <vt:vector size="47" baseType="lpstr">
      <vt:lpstr>HY엽서L</vt:lpstr>
      <vt:lpstr>맑은 고딕</vt:lpstr>
      <vt:lpstr>Arial</vt:lpstr>
      <vt:lpstr>Wingdings</vt:lpstr>
      <vt:lpstr>Office 테마</vt:lpstr>
      <vt:lpstr>2_Office 테마</vt:lpstr>
      <vt:lpstr>  SQL 기초</vt:lpstr>
      <vt:lpstr>실습 자료</vt:lpstr>
      <vt:lpstr>MySQL 연습 데이터 베이스 생성</vt:lpstr>
      <vt:lpstr>MySQL 연습 데이터 베이스 생성</vt:lpstr>
      <vt:lpstr>MySQL 연습 데이터 베이스 생성</vt:lpstr>
      <vt:lpstr>MySQL 연습 데이터 베이스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SQL 문제</vt:lpstr>
      <vt:lpstr>SQL 문제</vt:lpstr>
      <vt:lpstr>집계 함수와 GROUP BY </vt:lpstr>
      <vt:lpstr>집계 함수와 GROUP BY </vt:lpstr>
      <vt:lpstr>집계 함수와 GROUP BY </vt:lpstr>
      <vt:lpstr>집계 함수와 GROUP BY </vt:lpstr>
      <vt:lpstr>집계 함수와 GROUP BY </vt:lpstr>
      <vt:lpstr>집계 함수와 GROUP BY </vt:lpstr>
      <vt:lpstr>집계 함수와 GROUP BY </vt:lpstr>
      <vt:lpstr>마당서점의 데이터</vt:lpstr>
      <vt:lpstr>마당서점의 데이터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609</cp:revision>
  <cp:lastPrinted>2023-02-19T06:43:06Z</cp:lastPrinted>
  <dcterms:created xsi:type="dcterms:W3CDTF">2012-07-11T10:23:22Z</dcterms:created>
  <dcterms:modified xsi:type="dcterms:W3CDTF">2026-03-07T14:37:56Z</dcterms:modified>
</cp:coreProperties>
</file>
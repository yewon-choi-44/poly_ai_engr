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456" r:id="rId2"/>
    <p:sldId id="548" r:id="rId3"/>
    <p:sldId id="563" r:id="rId4"/>
    <p:sldId id="585" r:id="rId5"/>
    <p:sldId id="586" r:id="rId6"/>
    <p:sldId id="571" r:id="rId7"/>
    <p:sldId id="574" r:id="rId8"/>
    <p:sldId id="576" r:id="rId9"/>
    <p:sldId id="577" r:id="rId10"/>
    <p:sldId id="582" r:id="rId11"/>
    <p:sldId id="572" r:id="rId12"/>
    <p:sldId id="583" r:id="rId13"/>
    <p:sldId id="567" r:id="rId14"/>
    <p:sldId id="584" r:id="rId15"/>
    <p:sldId id="578" r:id="rId16"/>
    <p:sldId id="575" r:id="rId17"/>
    <p:sldId id="579" r:id="rId18"/>
    <p:sldId id="569" r:id="rId19"/>
    <p:sldId id="580" r:id="rId20"/>
    <p:sldId id="581" r:id="rId21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" initials="j" lastIdx="1" clrIdx="0">
    <p:extLst>
      <p:ext uri="{19B8F6BF-5375-455C-9EA6-DF929625EA0E}">
        <p15:presenceInfo xmlns:p15="http://schemas.microsoft.com/office/powerpoint/2012/main" userId="ju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50ABCC"/>
    <a:srgbClr val="CDF1FF"/>
    <a:srgbClr val="97E1FF"/>
    <a:srgbClr val="00A4E6"/>
    <a:srgbClr val="5BD0FF"/>
    <a:srgbClr val="29C2FF"/>
    <a:srgbClr val="11BBFF"/>
    <a:srgbClr val="21C0FF"/>
    <a:srgbClr val="AB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1" autoAdjust="0"/>
    <p:restoredTop sz="98898" autoAdjust="0"/>
  </p:normalViewPr>
  <p:slideViewPr>
    <p:cSldViewPr>
      <p:cViewPr varScale="1">
        <p:scale>
          <a:sx n="110" d="100"/>
          <a:sy n="110" d="100"/>
        </p:scale>
        <p:origin x="72" y="644"/>
      </p:cViewPr>
      <p:guideLst>
        <p:guide orient="horz" pos="119"/>
        <p:guide pos="1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그룹 18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20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MySQL</a:t>
              </a:r>
              <a:r>
                <a:rPr kumimoji="0" lang="ko-KR" altLang="en-US" sz="1400" b="1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배우는 데이터베이스 개론과 실습</a:t>
              </a:r>
              <a:endParaRPr kumimoji="0"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TextBox 20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" name="TextBox 21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4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618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5796136" y="93663"/>
            <a:ext cx="3189600" cy="523220"/>
            <a:chOff x="6752029" y="188640"/>
            <a:chExt cx="3190880" cy="521913"/>
          </a:xfrm>
        </p:grpSpPr>
        <p:sp>
          <p:nvSpPr>
            <p:cNvPr id="4" name="직사각형 3"/>
            <p:cNvSpPr/>
            <p:nvPr/>
          </p:nvSpPr>
          <p:spPr>
            <a:xfrm>
              <a:off x="7184250" y="188640"/>
              <a:ext cx="2758659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2800" b="1" kern="1200" spc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DB </a:t>
              </a:r>
              <a:r>
                <a:rPr kumimoji="1" lang="ko-KR" altLang="en-US" sz="2800" b="1" kern="1200" spc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프로그래밍</a:t>
              </a:r>
              <a:endParaRPr kumimoji="1" lang="ko-KR" altLang="en-US" sz="2800" b="1" kern="1200" spc="-30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>
                <a:solidFill>
                  <a:srgbClr val="344F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9066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9625" indent="-180975">
              <a:spcAft>
                <a:spcPts val="300"/>
              </a:spcAft>
              <a:buSzPct val="96000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646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56810" y="3573016"/>
            <a:ext cx="6143382" cy="1902073"/>
          </a:xfrm>
        </p:spPr>
        <p:txBody>
          <a:bodyPr/>
          <a:lstStyle>
            <a:lvl1pPr algn="l">
              <a:defRPr sz="4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감사합니다</a:t>
            </a:r>
          </a:p>
        </p:txBody>
      </p:sp>
      <p:sp>
        <p:nvSpPr>
          <p:cNvPr id="7" name="TextBox 9"/>
          <p:cNvSpPr txBox="1"/>
          <p:nvPr userDrawn="1"/>
        </p:nvSpPr>
        <p:spPr>
          <a:xfrm>
            <a:off x="107504" y="5596657"/>
            <a:ext cx="512563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800">
                <a:latin typeface="맑은 고딕" panose="020B0503020000020004" pitchFamily="50" charset="-127"/>
                <a:ea typeface="맑은 고딕" panose="020B0503020000020004" pitchFamily="50" charset="-127"/>
              </a:rPr>
              <a:t>SQL</a:t>
            </a:r>
            <a:r>
              <a:rPr kumimoji="0" lang="en-US" altLang="ko-KR" sz="1800" baseline="0">
                <a:latin typeface="맑은 고딕" panose="020B0503020000020004" pitchFamily="50" charset="-127"/>
                <a:ea typeface="맑은 고딕" panose="020B0503020000020004" pitchFamily="50" charset="-127"/>
              </a:rPr>
              <a:t> Server</a:t>
            </a:r>
            <a:r>
              <a:rPr kumimoji="0" lang="ko-KR" altLang="en-US" sz="1800" baseline="0">
                <a:latin typeface="맑은 고딕" panose="020B0503020000020004" pitchFamily="50" charset="-127"/>
                <a:ea typeface="맑은 고딕" panose="020B0503020000020004" pitchFamily="50" charset="-127"/>
              </a:rPr>
              <a:t>로 배우는 데이터베이스 개론과 실습</a:t>
            </a:r>
            <a:endParaRPr kumimoji="0" lang="ko-KR" altLang="en-US"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0" y="0"/>
            <a:ext cx="6372200" cy="6858000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42967"/>
            <a:ext cx="2771800" cy="5622321"/>
          </a:xfrm>
          <a:prstGeom prst="rect">
            <a:avLst/>
          </a:prstGeom>
        </p:spPr>
      </p:pic>
      <p:sp>
        <p:nvSpPr>
          <p:cNvPr id="15" name="직사각형 10"/>
          <p:cNvSpPr/>
          <p:nvPr userDrawn="1"/>
        </p:nvSpPr>
        <p:spPr>
          <a:xfrm>
            <a:off x="-131819" y="5596657"/>
            <a:ext cx="10729913" cy="698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30805" y="6269130"/>
            <a:ext cx="372890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1" baseline="0">
                <a:latin typeface="맑은 고딕" panose="020B0503020000020004" pitchFamily="50" charset="-127"/>
                <a:ea typeface="맑은 고딕" panose="020B0503020000020004" pitchFamily="50" charset="-127"/>
              </a:rPr>
              <a:t>MySQL</a:t>
            </a:r>
            <a:r>
              <a:rPr kumimoji="0" lang="ko-KR" altLang="en-US" sz="1400" b="1" baseline="0">
                <a:latin typeface="맑은 고딕" panose="020B0503020000020004" pitchFamily="50" charset="-127"/>
                <a:ea typeface="맑은 고딕" panose="020B0503020000020004" pitchFamily="50" charset="-127"/>
              </a:rPr>
              <a:t>로 배우는 데이터베이스 개론과 실습</a:t>
            </a:r>
            <a:endParaRPr kumimoji="0"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저작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634256" y="1375873"/>
            <a:ext cx="7186612" cy="64633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8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rPr>
              <a:t>MySQL</a:t>
            </a:r>
            <a:r>
              <a:rPr kumimoji="0" lang="ko-KR" altLang="en-US" sz="1800" baseline="0">
                <a:latin typeface="HY견고딕" pitchFamily="18" charset="-127"/>
                <a:ea typeface="HY견고딕" pitchFamily="18" charset="-127"/>
              </a:rPr>
              <a:t>로 배우는 </a:t>
            </a:r>
            <a:endParaRPr kumimoji="0" lang="en-US" altLang="ko-KR" sz="1800" baseline="0">
              <a:latin typeface="HY견고딕" pitchFamily="18" charset="-127"/>
              <a:ea typeface="HY견고딕" pitchFamily="18" charset="-127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800" baseline="0">
                <a:latin typeface="HY견고딕" pitchFamily="18" charset="-127"/>
                <a:ea typeface="HY견고딕" pitchFamily="18" charset="-127"/>
              </a:rPr>
              <a:t>데이터베이스 개론과 실습 </a:t>
            </a:r>
            <a:endParaRPr kumimoji="0" lang="de-DE" altLang="ko-KR" sz="1800"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926277"/>
            <a:ext cx="1216025" cy="32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7"/>
          <p:cNvSpPr txBox="1"/>
          <p:nvPr userDrawn="1"/>
        </p:nvSpPr>
        <p:spPr>
          <a:xfrm>
            <a:off x="634256" y="2276872"/>
            <a:ext cx="7991475" cy="9848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0" lang="ko-KR" altLang="en-US" sz="1400" b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강의교안 이용 안내</a:t>
            </a:r>
            <a:r>
              <a:rPr kumimoji="0" lang="en-US" altLang="ko-KR" sz="1400" b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본 강의교안의 저작권은 </a:t>
            </a:r>
            <a:r>
              <a:rPr kumimoji="0" lang="ko-KR" altLang="en-US" sz="100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한빛아카데미</a:t>
            </a:r>
            <a:r>
              <a:rPr kumimoji="0"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㈜에 있습니다</a:t>
            </a:r>
            <a:r>
              <a:rPr kumimoji="0"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kumimoji="0" lang="ko-KR" altLang="en-US" sz="1000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0" lang="en-US" altLang="ko-KR" sz="1000">
              <a:solidFill>
                <a:srgbClr val="22222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000" u="sng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자료를 무단으로 전제하거나 배포할 경우 저작권법 </a:t>
            </a:r>
            <a:r>
              <a:rPr kumimoji="0" lang="en-US" altLang="ko-KR" sz="1000" u="sng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136</a:t>
            </a:r>
            <a:r>
              <a:rPr kumimoji="0" lang="ko-KR" altLang="en-US" sz="1000" u="sng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조에 의거하여 처벌을 받을 수 있습니다</a:t>
            </a:r>
            <a:r>
              <a:rPr kumimoji="0" lang="en-US" altLang="ko-KR" sz="1000" u="sng">
                <a:solidFill>
                  <a:srgbClr val="22222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084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084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9625" indent="-180975">
              <a:spcAft>
                <a:spcPts val="300"/>
              </a:spcAft>
              <a:buSzPct val="96000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990600" indent="-180975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8132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9625" indent="-180975">
              <a:spcAft>
                <a:spcPts val="300"/>
              </a:spcAft>
              <a:buSzPct val="96000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990600" indent="-180975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6251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3924944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itchFamily="2" charset="2"/>
              <a:buChar char="n"/>
              <a:defRPr sz="16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9625" indent="-180975">
              <a:spcAft>
                <a:spcPts val="300"/>
              </a:spcAft>
              <a:buSzPct val="96000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990600" indent="-180975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5" name="내용 개체 틀 2"/>
          <p:cNvSpPr>
            <a:spLocks noGrp="1"/>
          </p:cNvSpPr>
          <p:nvPr>
            <p:ph idx="10"/>
          </p:nvPr>
        </p:nvSpPr>
        <p:spPr>
          <a:xfrm>
            <a:off x="4644008" y="1085503"/>
            <a:ext cx="3924944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itchFamily="2" charset="2"/>
              <a:buChar char="n"/>
              <a:defRPr sz="16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9625" indent="-180975">
              <a:spcAft>
                <a:spcPts val="300"/>
              </a:spcAft>
              <a:buSzPct val="96000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990600" indent="-180975"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19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실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825" y="188913"/>
            <a:ext cx="7560840" cy="548680"/>
          </a:xfrm>
        </p:spPr>
        <p:txBody>
          <a:bodyPr/>
          <a:lstStyle>
            <a:lvl1pPr algn="l"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0825" y="980728"/>
            <a:ext cx="8641655" cy="547260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47675" indent="-180975">
              <a:spcAft>
                <a:spcPts val="400"/>
              </a:spcAft>
              <a:buClr>
                <a:schemeClr val="accent5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accent5">
                  <a:lumMod val="50000"/>
                </a:schemeClr>
              </a:buClr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305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실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0825" y="188913"/>
            <a:ext cx="7560840" cy="548680"/>
          </a:xfrm>
        </p:spPr>
        <p:txBody>
          <a:bodyPr/>
          <a:lstStyle>
            <a:lvl1pPr algn="l">
              <a:defRPr sz="2400" b="1" baseline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연습문제 풀이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755576" y="980728"/>
            <a:ext cx="4032448" cy="547260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n-US" altLang="ko-KR" sz="1800" b="0" i="0" u="none" strike="noStrike" baseline="0" smtClean="0">
                <a:ea typeface="맑은 고딕" panose="020B0503020000020004" pitchFamily="50" charset="-127"/>
              </a:defRPr>
            </a:lvl1pPr>
            <a:lvl2pPr marL="447675" indent="-180975">
              <a:spcAft>
                <a:spcPts val="400"/>
              </a:spcAft>
              <a:buClr>
                <a:schemeClr val="accent5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accent5">
                  <a:lumMod val="50000"/>
                </a:schemeClr>
              </a:buClr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r>
              <a:rPr lang="ko-KR" altLang="en-US" sz="900" b="0" i="0" u="none" strike="noStrike" baseline="0" dirty="0">
                <a:latin typeface="YDVYMjOStd14"/>
              </a:rPr>
              <a:t>다음 내장 함수의 결과를 적으시오</a:t>
            </a:r>
            <a:r>
              <a:rPr lang="en-US" altLang="ko-KR" sz="900" b="0" i="0" u="none" strike="noStrike" baseline="0" dirty="0">
                <a:latin typeface="YDVYMjOStd14"/>
              </a:rPr>
              <a:t>.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ABS</a:t>
            </a:r>
            <a:r>
              <a:rPr lang="en-US" altLang="ko-KR" sz="900" b="0" i="0" u="none" strike="noStrike" baseline="0" dirty="0">
                <a:latin typeface="YDVYMjOStd12"/>
              </a:rPr>
              <a:t>(-</a:t>
            </a:r>
            <a:r>
              <a:rPr lang="en-US" altLang="ko-KR" sz="1000" b="0" i="0" u="none" strike="noStrike" baseline="0" dirty="0">
                <a:latin typeface="ITCGaramondStd-Lt"/>
              </a:rPr>
              <a:t>3</a:t>
            </a:r>
            <a:r>
              <a:rPr lang="en-US" altLang="ko-KR" sz="900" b="0" i="0" u="none" strike="noStrike" baseline="0" dirty="0">
                <a:latin typeface="YDVYMjOStd12"/>
              </a:rPr>
              <a:t>.</a:t>
            </a:r>
            <a:r>
              <a:rPr lang="en-US" altLang="ko-KR" sz="1000" b="0" i="0" u="none" strike="noStrike" baseline="0" dirty="0">
                <a:latin typeface="ITCGaramondStd-Lt"/>
              </a:rPr>
              <a:t>4</a:t>
            </a:r>
            <a:r>
              <a:rPr lang="en-US" altLang="ko-KR" sz="900" b="0" i="0" u="none" strike="noStrike" baseline="0" dirty="0">
                <a:latin typeface="YDVYMjOStd12"/>
              </a:rPr>
              <a:t>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CEILING</a:t>
            </a:r>
            <a:r>
              <a:rPr lang="en-US" altLang="ko-KR" sz="900" b="0" i="0" u="none" strike="noStrike" baseline="0" dirty="0">
                <a:latin typeface="YDVYMjOStd12"/>
              </a:rPr>
              <a:t>(</a:t>
            </a:r>
            <a:r>
              <a:rPr lang="en-US" altLang="ko-KR" sz="1000" b="0" i="0" u="none" strike="noStrike" baseline="0" dirty="0">
                <a:latin typeface="ITCGaramondStd-Lt"/>
              </a:rPr>
              <a:t>3</a:t>
            </a:r>
            <a:r>
              <a:rPr lang="en-US" altLang="ko-KR" sz="900" b="0" i="0" u="none" strike="noStrike" baseline="0" dirty="0">
                <a:latin typeface="YDVYMjOStd12"/>
              </a:rPr>
              <a:t>.</a:t>
            </a:r>
            <a:r>
              <a:rPr lang="en-US" altLang="ko-KR" sz="1000" b="0" i="0" u="none" strike="noStrike" baseline="0" dirty="0">
                <a:latin typeface="ITCGaramondStd-Lt"/>
              </a:rPr>
              <a:t>4</a:t>
            </a:r>
            <a:r>
              <a:rPr lang="en-US" altLang="ko-KR" sz="900" b="0" i="0" u="none" strike="noStrike" baseline="0" dirty="0">
                <a:latin typeface="YDVYMjOStd12"/>
              </a:rPr>
              <a:t>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FLOOR</a:t>
            </a:r>
            <a:r>
              <a:rPr lang="en-US" altLang="ko-KR" sz="900" b="0" i="0" u="none" strike="noStrike" baseline="0" dirty="0">
                <a:latin typeface="YDVYMjOStd12"/>
              </a:rPr>
              <a:t>(</a:t>
            </a:r>
            <a:r>
              <a:rPr lang="en-US" altLang="ko-KR" sz="1000" b="0" i="0" u="none" strike="noStrike" baseline="0" dirty="0">
                <a:latin typeface="ITCGaramondStd-Lt"/>
              </a:rPr>
              <a:t>3</a:t>
            </a:r>
            <a:r>
              <a:rPr lang="en-US" altLang="ko-KR" sz="900" b="0" i="0" u="none" strike="noStrike" baseline="0" dirty="0">
                <a:latin typeface="YDVYMjOStd12"/>
              </a:rPr>
              <a:t>.</a:t>
            </a:r>
            <a:r>
              <a:rPr lang="en-US" altLang="ko-KR" sz="1000" b="0" i="0" u="none" strike="noStrike" baseline="0" dirty="0">
                <a:latin typeface="ITCGaramondStd-Lt"/>
              </a:rPr>
              <a:t>4</a:t>
            </a:r>
            <a:r>
              <a:rPr lang="en-US" altLang="ko-KR" sz="900" b="0" i="0" u="none" strike="noStrike" baseline="0" dirty="0">
                <a:latin typeface="YDVYMjOStd12"/>
              </a:rPr>
              <a:t>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ROUND</a:t>
            </a:r>
            <a:r>
              <a:rPr lang="en-US" altLang="ko-KR" sz="900" b="0" i="0" u="none" strike="noStrike" baseline="0" dirty="0">
                <a:latin typeface="YDVYMjOStd12"/>
              </a:rPr>
              <a:t>(</a:t>
            </a:r>
            <a:r>
              <a:rPr lang="en-US" altLang="ko-KR" sz="1000" b="0" i="0" u="none" strike="noStrike" baseline="0" dirty="0">
                <a:latin typeface="ITCGaramondStd-Lt"/>
              </a:rPr>
              <a:t>3</a:t>
            </a:r>
            <a:r>
              <a:rPr lang="en-US" altLang="ko-KR" sz="900" b="0" i="0" u="none" strike="noStrike" baseline="0" dirty="0">
                <a:latin typeface="YDVYMjOStd12"/>
              </a:rPr>
              <a:t>.</a:t>
            </a:r>
            <a:r>
              <a:rPr lang="en-US" altLang="ko-KR" sz="1000" b="0" i="0" u="none" strike="noStrike" baseline="0" dirty="0">
                <a:latin typeface="ITCGaramondStd-Lt"/>
              </a:rPr>
              <a:t>4</a:t>
            </a:r>
            <a:r>
              <a:rPr lang="en-US" altLang="ko-KR" sz="900" b="0" i="0" u="none" strike="noStrike" baseline="0" dirty="0">
                <a:latin typeface="YDVYMjOStd12"/>
              </a:rPr>
              <a:t>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LOG</a:t>
            </a:r>
            <a:r>
              <a:rPr lang="en-US" altLang="ko-KR" sz="900" b="0" i="0" u="none" strike="noStrike" baseline="0" dirty="0">
                <a:latin typeface="YDVYMjOStd12"/>
              </a:rPr>
              <a:t>(</a:t>
            </a:r>
            <a:r>
              <a:rPr lang="en-US" altLang="ko-KR" sz="1000" b="0" i="0" u="none" strike="noStrike" baseline="0" dirty="0">
                <a:latin typeface="ITCGaramondStd-Lt"/>
              </a:rPr>
              <a:t>100</a:t>
            </a:r>
            <a:r>
              <a:rPr lang="en-US" altLang="ko-KR" sz="900" b="0" i="0" u="none" strike="noStrike" baseline="0" dirty="0">
                <a:latin typeface="YDVYMjOStd12"/>
              </a:rPr>
              <a:t>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POWER</a:t>
            </a:r>
            <a:r>
              <a:rPr lang="en-US" altLang="ko-KR" sz="900" b="0" i="0" u="none" strike="noStrike" baseline="0" dirty="0">
                <a:latin typeface="YDVYMjOStd12"/>
              </a:rPr>
              <a:t>(</a:t>
            </a:r>
            <a:r>
              <a:rPr lang="en-US" altLang="ko-KR" sz="1000" b="0" i="0" u="none" strike="noStrike" baseline="0" dirty="0">
                <a:latin typeface="ITCGaramondStd-Lt"/>
              </a:rPr>
              <a:t>4</a:t>
            </a:r>
            <a:r>
              <a:rPr lang="en-US" altLang="ko-KR" sz="900" b="0" i="0" u="none" strike="noStrike" baseline="0" dirty="0">
                <a:latin typeface="YDVYMjOStd12"/>
              </a:rPr>
              <a:t>.</a:t>
            </a:r>
            <a:r>
              <a:rPr lang="en-US" altLang="ko-KR" sz="1000" b="0" i="0" u="none" strike="noStrike" baseline="0" dirty="0">
                <a:latin typeface="ITCGaramondStd-Lt"/>
              </a:rPr>
              <a:t>0</a:t>
            </a:r>
            <a:r>
              <a:rPr lang="en-US" altLang="ko-KR" sz="900" b="0" i="0" u="none" strike="noStrike" baseline="0" dirty="0">
                <a:latin typeface="YDVYMjOStd12"/>
              </a:rPr>
              <a:t>, </a:t>
            </a:r>
            <a:r>
              <a:rPr lang="en-US" altLang="ko-KR" sz="1000" b="0" i="0" u="none" strike="noStrike" baseline="0" dirty="0">
                <a:latin typeface="ITCGaramondStd-Lt"/>
              </a:rPr>
              <a:t>2</a:t>
            </a:r>
            <a:r>
              <a:rPr lang="en-US" altLang="ko-KR" sz="900" b="0" i="0" u="none" strike="noStrike" baseline="0" dirty="0">
                <a:latin typeface="YDVYMjOStd12"/>
              </a:rPr>
              <a:t>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SQRT</a:t>
            </a:r>
            <a:r>
              <a:rPr lang="en-US" altLang="ko-KR" sz="900" b="0" i="0" u="none" strike="noStrike" baseline="0" dirty="0">
                <a:latin typeface="YDVYMjOStd12"/>
              </a:rPr>
              <a:t>(</a:t>
            </a:r>
            <a:r>
              <a:rPr lang="en-US" altLang="ko-KR" sz="1000" b="0" i="0" u="none" strike="noStrike" baseline="0" dirty="0">
                <a:latin typeface="ITCGaramondStd-Lt"/>
              </a:rPr>
              <a:t>4</a:t>
            </a:r>
            <a:r>
              <a:rPr lang="en-US" altLang="ko-KR" sz="900" b="0" i="0" u="none" strike="noStrike" baseline="0" dirty="0">
                <a:latin typeface="YDVYMjOStd12"/>
              </a:rPr>
              <a:t>.</a:t>
            </a:r>
            <a:r>
              <a:rPr lang="en-US" altLang="ko-KR" sz="1000" b="0" i="0" u="none" strike="noStrike" baseline="0" dirty="0">
                <a:latin typeface="ITCGaramondStd-Lt"/>
              </a:rPr>
              <a:t>0</a:t>
            </a:r>
            <a:r>
              <a:rPr lang="en-US" altLang="ko-KR" sz="900" b="0" i="0" u="none" strike="noStrike" baseline="0" dirty="0">
                <a:latin typeface="YDVYMjOStd12"/>
              </a:rPr>
              <a:t>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SIN</a:t>
            </a:r>
            <a:r>
              <a:rPr lang="en-US" altLang="ko-KR" sz="900" b="0" i="0" u="none" strike="noStrike" baseline="0" dirty="0">
                <a:latin typeface="YDVYMjOStd12"/>
              </a:rPr>
              <a:t>(</a:t>
            </a:r>
            <a:r>
              <a:rPr lang="en-US" altLang="ko-KR" sz="1000" b="0" i="0" u="none" strike="noStrike" baseline="0" dirty="0">
                <a:latin typeface="ITCGaramondStd-Lt"/>
              </a:rPr>
              <a:t>4</a:t>
            </a:r>
            <a:r>
              <a:rPr lang="en-US" altLang="ko-KR" sz="900" b="0" i="0" u="none" strike="noStrike" baseline="0" dirty="0">
                <a:latin typeface="YDVYMjOStd12"/>
              </a:rPr>
              <a:t>.</a:t>
            </a:r>
            <a:r>
              <a:rPr lang="en-US" altLang="ko-KR" sz="1000" b="0" i="0" u="none" strike="noStrike" baseline="0" dirty="0">
                <a:latin typeface="ITCGaramondStd-Lt"/>
              </a:rPr>
              <a:t>0</a:t>
            </a:r>
            <a:r>
              <a:rPr lang="en-US" altLang="ko-KR" sz="900" b="0" i="0" u="none" strike="noStrike" baseline="0" dirty="0">
                <a:latin typeface="YDVYMjOStd12"/>
              </a:rPr>
              <a:t>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LEFT</a:t>
            </a:r>
            <a:r>
              <a:rPr lang="en-US" altLang="ko-KR" sz="900" b="0" i="0" u="none" strike="noStrike" baseline="0" dirty="0">
                <a:latin typeface="YDVYMjOStd12"/>
              </a:rPr>
              <a:t>(‘</a:t>
            </a:r>
            <a:r>
              <a:rPr lang="en-US" altLang="ko-KR" sz="1000" b="0" i="0" u="none" strike="noStrike" baseline="0" dirty="0">
                <a:latin typeface="ITCGaramondStd-Lt"/>
              </a:rPr>
              <a:t>Happy</a:t>
            </a:r>
            <a:r>
              <a:rPr lang="en-US" altLang="ko-KR" sz="900" b="0" i="0" u="none" strike="noStrike" baseline="0" dirty="0">
                <a:latin typeface="YDVYMjOStd12"/>
              </a:rPr>
              <a:t>’, </a:t>
            </a:r>
            <a:r>
              <a:rPr lang="en-US" altLang="ko-KR" sz="1000" b="0" i="0" u="none" strike="noStrike" baseline="0" dirty="0">
                <a:latin typeface="ITCGaramondStd-Lt"/>
              </a:rPr>
              <a:t>4</a:t>
            </a:r>
            <a:r>
              <a:rPr lang="en-US" altLang="ko-KR" sz="900" b="0" i="0" u="none" strike="noStrike" baseline="0" dirty="0">
                <a:latin typeface="YDVYMjOStd12"/>
              </a:rPr>
              <a:t>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CHAR</a:t>
            </a:r>
            <a:r>
              <a:rPr lang="en-US" altLang="ko-KR" sz="900" b="0" i="0" u="none" strike="noStrike" baseline="0" dirty="0">
                <a:latin typeface="YDVYMjOStd12"/>
              </a:rPr>
              <a:t>(</a:t>
            </a:r>
            <a:r>
              <a:rPr lang="en-US" altLang="ko-KR" sz="1000" b="0" i="0" u="none" strike="noStrike" baseline="0" dirty="0">
                <a:latin typeface="ITCGaramondStd-Lt"/>
              </a:rPr>
              <a:t>65</a:t>
            </a:r>
            <a:r>
              <a:rPr lang="en-US" altLang="ko-KR" sz="900" b="0" i="0" u="none" strike="noStrike" baseline="0" dirty="0">
                <a:latin typeface="YDVYMjOStd12"/>
              </a:rPr>
              <a:t>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NCHAR</a:t>
            </a:r>
            <a:r>
              <a:rPr lang="en-US" altLang="ko-KR" sz="900" b="0" i="0" u="none" strike="noStrike" baseline="0" dirty="0">
                <a:latin typeface="YDVYMjOStd12"/>
              </a:rPr>
              <a:t>(</a:t>
            </a:r>
            <a:r>
              <a:rPr lang="en-US" altLang="ko-KR" sz="1000" b="0" i="0" u="none" strike="noStrike" baseline="0" dirty="0">
                <a:latin typeface="ITCGaramondStd-Lt"/>
              </a:rPr>
              <a:t>65</a:t>
            </a:r>
            <a:r>
              <a:rPr lang="en-US" altLang="ko-KR" sz="900" b="0" i="0" u="none" strike="noStrike" baseline="0" dirty="0">
                <a:latin typeface="YDVYMjOStd12"/>
              </a:rPr>
              <a:t>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ASCII</a:t>
            </a:r>
            <a:r>
              <a:rPr lang="en-US" altLang="ko-KR" sz="900" b="0" i="0" u="none" strike="noStrike" baseline="0" dirty="0">
                <a:latin typeface="YDVYMjOStd12"/>
              </a:rPr>
              <a:t>(‘</a:t>
            </a:r>
            <a:r>
              <a:rPr lang="en-US" altLang="ko-KR" sz="1000" b="0" i="0" u="none" strike="noStrike" baseline="0" dirty="0">
                <a:latin typeface="ITCGaramondStd-Lt"/>
              </a:rPr>
              <a:t>Happy</a:t>
            </a:r>
            <a:r>
              <a:rPr lang="en-US" altLang="ko-KR" sz="900" b="0" i="0" u="none" strike="noStrike" baseline="0" dirty="0">
                <a:latin typeface="YDVYMjOStd12"/>
              </a:rPr>
              <a:t>’)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UNICODE</a:t>
            </a:r>
            <a:r>
              <a:rPr lang="en-US" altLang="ko-KR" sz="900" b="0" i="0" u="none" strike="noStrike" baseline="0" dirty="0">
                <a:latin typeface="YDVYMjOStd12"/>
              </a:rPr>
              <a:t>(‘</a:t>
            </a:r>
            <a:r>
              <a:rPr lang="en-US" altLang="ko-KR" sz="1000" b="0" i="0" u="none" strike="noStrike" baseline="0" dirty="0">
                <a:latin typeface="ITCGaramondStd-Lt"/>
              </a:rPr>
              <a:t>Happy</a:t>
            </a:r>
            <a:r>
              <a:rPr lang="en-US" altLang="ko-KR" sz="900" b="0" i="0" u="none" strike="noStrike" baseline="0" dirty="0">
                <a:latin typeface="YDVYMjOStd12"/>
              </a:rPr>
              <a:t>’)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SYSDATETIME</a:t>
            </a:r>
            <a:r>
              <a:rPr lang="en-US" altLang="ko-KR" sz="900" b="0" i="0" u="none" strike="noStrike" baseline="0" dirty="0">
                <a:latin typeface="YDVYMjOStd12"/>
              </a:rPr>
              <a:t>( 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GETDATE</a:t>
            </a:r>
            <a:r>
              <a:rPr lang="en-US" altLang="ko-KR" sz="900" b="0" i="0" u="none" strike="noStrike" baseline="0" dirty="0">
                <a:latin typeface="YDVYMjOStd12"/>
              </a:rPr>
              <a:t>( 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DAY</a:t>
            </a:r>
            <a:r>
              <a:rPr lang="en-US" altLang="ko-KR" sz="900" b="0" i="0" u="none" strike="noStrike" baseline="0" dirty="0">
                <a:latin typeface="YDVYMjOStd12"/>
              </a:rPr>
              <a:t>(‘</a:t>
            </a:r>
            <a:r>
              <a:rPr lang="en-US" altLang="ko-KR" sz="1000" b="0" i="0" u="none" strike="noStrike" baseline="0" dirty="0">
                <a:latin typeface="ITCGaramondStd-Lt"/>
              </a:rPr>
              <a:t>2013</a:t>
            </a:r>
            <a:r>
              <a:rPr lang="en-US" altLang="ko-KR" sz="900" b="0" i="0" u="none" strike="noStrike" baseline="0" dirty="0">
                <a:latin typeface="YDVYMjOStd12"/>
              </a:rPr>
              <a:t>-</a:t>
            </a:r>
            <a:r>
              <a:rPr lang="en-US" altLang="ko-KR" sz="1000" b="0" i="0" u="none" strike="noStrike" baseline="0" dirty="0">
                <a:latin typeface="ITCGaramondStd-Lt"/>
              </a:rPr>
              <a:t>09</a:t>
            </a:r>
            <a:r>
              <a:rPr lang="en-US" altLang="ko-KR" sz="900" b="0" i="0" u="none" strike="noStrike" baseline="0" dirty="0">
                <a:latin typeface="YDVYMjOStd12"/>
              </a:rPr>
              <a:t>-</a:t>
            </a:r>
            <a:r>
              <a:rPr lang="en-US" altLang="ko-KR" sz="1000" b="0" i="0" u="none" strike="noStrike" baseline="0" dirty="0">
                <a:latin typeface="ITCGaramondStd-Lt"/>
              </a:rPr>
              <a:t>02</a:t>
            </a:r>
            <a:r>
              <a:rPr lang="en-US" altLang="ko-KR" sz="900" b="0" i="0" u="none" strike="noStrike" baseline="0" dirty="0">
                <a:latin typeface="YDVYMjOStd12"/>
              </a:rPr>
              <a:t>’)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MONTH</a:t>
            </a:r>
            <a:r>
              <a:rPr lang="en-US" altLang="ko-KR" sz="900" b="0" i="0" u="none" strike="noStrike" baseline="0" dirty="0">
                <a:latin typeface="YDVYMjOStd12"/>
              </a:rPr>
              <a:t>(‘</a:t>
            </a:r>
            <a:r>
              <a:rPr lang="en-US" altLang="ko-KR" sz="1000" b="0" i="0" u="none" strike="noStrike" baseline="0" dirty="0">
                <a:latin typeface="ITCGaramondStd-Lt"/>
              </a:rPr>
              <a:t>2013</a:t>
            </a:r>
            <a:r>
              <a:rPr lang="en-US" altLang="ko-KR" sz="900" b="0" i="0" u="none" strike="noStrike" baseline="0" dirty="0">
                <a:latin typeface="YDVYMjOStd12"/>
              </a:rPr>
              <a:t>-</a:t>
            </a:r>
            <a:r>
              <a:rPr lang="en-US" altLang="ko-KR" sz="1000" b="0" i="0" u="none" strike="noStrike" baseline="0" dirty="0">
                <a:latin typeface="ITCGaramondStd-Lt"/>
              </a:rPr>
              <a:t>09</a:t>
            </a:r>
            <a:r>
              <a:rPr lang="en-US" altLang="ko-KR" sz="900" b="0" i="0" u="none" strike="noStrike" baseline="0" dirty="0">
                <a:latin typeface="YDVYMjOStd12"/>
              </a:rPr>
              <a:t>-</a:t>
            </a:r>
            <a:r>
              <a:rPr lang="en-US" altLang="ko-KR" sz="1000" b="0" i="0" u="none" strike="noStrike" baseline="0" dirty="0">
                <a:latin typeface="ITCGaramondStd-Lt"/>
              </a:rPr>
              <a:t>02</a:t>
            </a:r>
            <a:r>
              <a:rPr lang="en-US" altLang="ko-KR" sz="900" b="0" i="0" u="none" strike="noStrike" baseline="0" dirty="0">
                <a:latin typeface="YDVYMjOStd12"/>
              </a:rPr>
              <a:t>’)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YEAR</a:t>
            </a:r>
            <a:r>
              <a:rPr lang="en-US" altLang="ko-KR" sz="900" b="0" i="0" u="none" strike="noStrike" baseline="0" dirty="0">
                <a:latin typeface="YDVYMjOStd12"/>
              </a:rPr>
              <a:t>(‘</a:t>
            </a:r>
            <a:r>
              <a:rPr lang="en-US" altLang="ko-KR" sz="1000" b="0" i="0" u="none" strike="noStrike" baseline="0" dirty="0">
                <a:latin typeface="ITCGaramondStd-Lt"/>
              </a:rPr>
              <a:t>2013</a:t>
            </a:r>
            <a:r>
              <a:rPr lang="en-US" altLang="ko-KR" sz="900" b="0" i="0" u="none" strike="noStrike" baseline="0" dirty="0">
                <a:latin typeface="YDVYMjOStd12"/>
              </a:rPr>
              <a:t>-</a:t>
            </a:r>
            <a:r>
              <a:rPr lang="en-US" altLang="ko-KR" sz="1000" b="0" i="0" u="none" strike="noStrike" baseline="0" dirty="0">
                <a:latin typeface="ITCGaramondStd-Lt"/>
              </a:rPr>
              <a:t>09</a:t>
            </a:r>
            <a:r>
              <a:rPr lang="en-US" altLang="ko-KR" sz="900" b="0" i="0" u="none" strike="noStrike" baseline="0" dirty="0">
                <a:latin typeface="YDVYMjOStd12"/>
              </a:rPr>
              <a:t>-</a:t>
            </a:r>
            <a:r>
              <a:rPr lang="en-US" altLang="ko-KR" sz="1000" b="0" i="0" u="none" strike="noStrike" baseline="0" dirty="0">
                <a:latin typeface="ITCGaramondStd-Lt"/>
              </a:rPr>
              <a:t>02</a:t>
            </a:r>
            <a:r>
              <a:rPr lang="en-US" altLang="ko-KR" sz="900" b="0" i="0" u="none" strike="noStrike" baseline="0" dirty="0">
                <a:latin typeface="YDVYMjOStd12"/>
              </a:rPr>
              <a:t>’)</a:t>
            </a:r>
          </a:p>
        </p:txBody>
      </p:sp>
      <p:sp>
        <p:nvSpPr>
          <p:cNvPr id="14" name="내용 개체 틀 2"/>
          <p:cNvSpPr>
            <a:spLocks noGrp="1"/>
          </p:cNvSpPr>
          <p:nvPr>
            <p:ph idx="10" hasCustomPrompt="1"/>
          </p:nvPr>
        </p:nvSpPr>
        <p:spPr>
          <a:xfrm>
            <a:off x="4788024" y="980621"/>
            <a:ext cx="4032448" cy="547260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n-US" altLang="ko-KR" sz="900" b="0" i="0" u="none" strike="noStrike" baseline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47675" indent="-180975">
              <a:spcAft>
                <a:spcPts val="400"/>
              </a:spcAft>
              <a:buClr>
                <a:schemeClr val="accent5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accent5">
                  <a:lumMod val="50000"/>
                </a:schemeClr>
              </a:buClr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r>
              <a:rPr lang="en-US" altLang="ko-KR" sz="1000" b="0" i="0" u="none" strike="noStrike" baseline="0" dirty="0">
                <a:latin typeface="ITCGaramondStd-Lt"/>
              </a:rPr>
              <a:t>UPPER</a:t>
            </a:r>
            <a:r>
              <a:rPr lang="en-US" altLang="ko-KR" sz="900" b="0" i="0" u="none" strike="noStrike" baseline="0" dirty="0">
                <a:latin typeface="YDVYMjOStd12"/>
              </a:rPr>
              <a:t>(‘</a:t>
            </a:r>
            <a:r>
              <a:rPr lang="en-US" altLang="ko-KR" sz="1000" b="0" i="0" u="none" strike="noStrike" baseline="0" dirty="0">
                <a:latin typeface="ITCGaramondStd-Lt"/>
              </a:rPr>
              <a:t>Happy</a:t>
            </a:r>
            <a:r>
              <a:rPr lang="en-US" altLang="ko-KR" sz="900" b="0" i="0" u="none" strike="noStrike" baseline="0" dirty="0">
                <a:latin typeface="YDVYMjOStd12"/>
              </a:rPr>
              <a:t>’)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LTRIM</a:t>
            </a:r>
            <a:r>
              <a:rPr lang="en-US" altLang="ko-KR" sz="900" b="0" i="0" u="none" strike="noStrike" baseline="0" dirty="0">
                <a:latin typeface="YDVYMjOStd12"/>
              </a:rPr>
              <a:t>(‘ </a:t>
            </a:r>
            <a:r>
              <a:rPr lang="en-US" altLang="ko-KR" sz="1000" b="0" i="0" u="none" strike="noStrike" baseline="0" dirty="0">
                <a:latin typeface="ITCGaramondStd-Lt"/>
              </a:rPr>
              <a:t>Happy </a:t>
            </a:r>
            <a:r>
              <a:rPr lang="en-US" altLang="ko-KR" sz="900" b="0" i="0" u="none" strike="noStrike" baseline="0" dirty="0">
                <a:latin typeface="YDVYMjOStd12"/>
              </a:rPr>
              <a:t>’)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RTRIM</a:t>
            </a:r>
            <a:r>
              <a:rPr lang="en-US" altLang="ko-KR" sz="900" b="0" i="0" u="none" strike="noStrike" baseline="0" dirty="0">
                <a:latin typeface="YDVYMjOStd12"/>
              </a:rPr>
              <a:t>(‘ </a:t>
            </a:r>
            <a:r>
              <a:rPr lang="en-US" altLang="ko-KR" sz="1000" b="0" i="0" u="none" strike="noStrike" baseline="0" dirty="0">
                <a:latin typeface="ITCGaramondStd-Lt"/>
              </a:rPr>
              <a:t>Happy </a:t>
            </a:r>
            <a:r>
              <a:rPr lang="en-US" altLang="ko-KR" sz="900" b="0" i="0" u="none" strike="noStrike" baseline="0" dirty="0">
                <a:latin typeface="YDVYMjOStd12"/>
              </a:rPr>
              <a:t>’)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RIGHT</a:t>
            </a:r>
            <a:r>
              <a:rPr lang="en-US" altLang="ko-KR" sz="900" b="0" i="0" u="none" strike="noStrike" baseline="0" dirty="0">
                <a:latin typeface="YDVYMjOStd12"/>
              </a:rPr>
              <a:t>(‘</a:t>
            </a:r>
            <a:r>
              <a:rPr lang="en-US" altLang="ko-KR" sz="1000" b="0" i="0" u="none" strike="noStrike" baseline="0" dirty="0">
                <a:latin typeface="ITCGaramondStd-Lt"/>
              </a:rPr>
              <a:t>Happy</a:t>
            </a:r>
            <a:r>
              <a:rPr lang="en-US" altLang="ko-KR" sz="900" b="0" i="0" u="none" strike="noStrike" baseline="0" dirty="0">
                <a:latin typeface="YDVYMjOStd12"/>
              </a:rPr>
              <a:t>’, </a:t>
            </a:r>
            <a:r>
              <a:rPr lang="en-US" altLang="ko-KR" sz="1000" b="0" i="0" u="none" strike="noStrike" baseline="0" dirty="0">
                <a:latin typeface="ITCGaramondStd-Lt"/>
              </a:rPr>
              <a:t>4</a:t>
            </a:r>
            <a:r>
              <a:rPr lang="en-US" altLang="ko-KR" sz="900" b="0" i="0" u="none" strike="noStrike" baseline="0" dirty="0">
                <a:latin typeface="YDVYMjOStd12"/>
              </a:rPr>
              <a:t>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LEN</a:t>
            </a:r>
            <a:r>
              <a:rPr lang="en-US" altLang="ko-KR" sz="900" b="0" i="0" u="none" strike="noStrike" baseline="0" dirty="0">
                <a:latin typeface="YDVYMjOStd12"/>
              </a:rPr>
              <a:t>(‘</a:t>
            </a:r>
            <a:r>
              <a:rPr lang="en-US" altLang="ko-KR" sz="1000" b="0" i="0" u="none" strike="noStrike" baseline="0" dirty="0">
                <a:latin typeface="ITCGaramondStd-Lt"/>
              </a:rPr>
              <a:t>Happy</a:t>
            </a:r>
            <a:r>
              <a:rPr lang="en-US" altLang="ko-KR" sz="900" b="0" i="0" u="none" strike="noStrike" baseline="0" dirty="0">
                <a:latin typeface="YDVYMjOStd12"/>
              </a:rPr>
              <a:t>’)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LOWER</a:t>
            </a:r>
            <a:r>
              <a:rPr lang="en-US" altLang="ko-KR" sz="900" b="0" i="0" u="none" strike="noStrike" baseline="0" dirty="0">
                <a:latin typeface="YDVYMjOStd12"/>
              </a:rPr>
              <a:t>(‘</a:t>
            </a:r>
            <a:r>
              <a:rPr lang="en-US" altLang="ko-KR" sz="1000" b="0" i="0" u="none" strike="noStrike" baseline="0" dirty="0">
                <a:latin typeface="ITCGaramondStd-Lt"/>
              </a:rPr>
              <a:t>Happy</a:t>
            </a:r>
            <a:r>
              <a:rPr lang="en-US" altLang="ko-KR" sz="900" b="0" i="0" u="none" strike="noStrike" baseline="0" dirty="0">
                <a:latin typeface="YDVYMjOStd12"/>
              </a:rPr>
              <a:t>’)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REPLICATE</a:t>
            </a:r>
            <a:r>
              <a:rPr lang="en-US" altLang="ko-KR" sz="900" b="0" i="0" u="none" strike="noStrike" baseline="0" dirty="0">
                <a:latin typeface="YDVYMjOStd12"/>
              </a:rPr>
              <a:t>(‘</a:t>
            </a:r>
            <a:r>
              <a:rPr lang="en-US" altLang="ko-KR" sz="1000" b="0" i="0" u="none" strike="noStrike" baseline="0" dirty="0">
                <a:latin typeface="ITCGaramondStd-Lt"/>
              </a:rPr>
              <a:t>Happy</a:t>
            </a:r>
            <a:r>
              <a:rPr lang="en-US" altLang="ko-KR" sz="900" b="0" i="0" u="none" strike="noStrike" baseline="0" dirty="0">
                <a:latin typeface="YDVYMjOStd12"/>
              </a:rPr>
              <a:t>’, </a:t>
            </a:r>
            <a:r>
              <a:rPr lang="en-US" altLang="ko-KR" sz="1000" b="0" i="0" u="none" strike="noStrike" baseline="0" dirty="0">
                <a:latin typeface="ITCGaramondStd-Lt"/>
              </a:rPr>
              <a:t>3</a:t>
            </a:r>
            <a:r>
              <a:rPr lang="en-US" altLang="ko-KR" sz="900" b="0" i="0" u="none" strike="noStrike" baseline="0" dirty="0">
                <a:latin typeface="YDVYMjOStd12"/>
              </a:rPr>
              <a:t>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REVERSE</a:t>
            </a:r>
            <a:r>
              <a:rPr lang="en-US" altLang="ko-KR" sz="900" b="0" i="0" u="none" strike="noStrike" baseline="0" dirty="0">
                <a:latin typeface="YDVYMjOStd12"/>
              </a:rPr>
              <a:t>(‘</a:t>
            </a:r>
            <a:r>
              <a:rPr lang="en-US" altLang="ko-KR" sz="1000" b="0" i="0" u="none" strike="noStrike" baseline="0" dirty="0">
                <a:latin typeface="ITCGaramondStd-Lt"/>
              </a:rPr>
              <a:t>Happy Day</a:t>
            </a:r>
            <a:r>
              <a:rPr lang="en-US" altLang="ko-KR" sz="900" b="0" i="0" u="none" strike="noStrike" baseline="0" dirty="0">
                <a:latin typeface="YDVYMjOStd12"/>
              </a:rPr>
              <a:t>’)</a:t>
            </a:r>
          </a:p>
          <a:p>
            <a:r>
              <a:rPr lang="en-US" altLang="ko-KR" sz="900" b="0" i="0" u="none" strike="noStrike" baseline="0" dirty="0">
                <a:latin typeface="YDVYMjOStd12"/>
              </a:rPr>
              <a:t>‘</a:t>
            </a:r>
            <a:r>
              <a:rPr lang="en-US" altLang="ko-KR" sz="1000" b="0" i="0" u="none" strike="noStrike" baseline="0" dirty="0">
                <a:latin typeface="ITCGaramondStd-Lt"/>
              </a:rPr>
              <a:t>1</a:t>
            </a:r>
            <a:r>
              <a:rPr lang="en-US" altLang="ko-KR" sz="900" b="0" i="0" u="none" strike="noStrike" baseline="0" dirty="0">
                <a:latin typeface="YDVYMjOStd12"/>
              </a:rPr>
              <a:t>’+</a:t>
            </a:r>
            <a:r>
              <a:rPr lang="en-US" altLang="ko-KR" sz="1000" b="0" i="0" u="none" strike="noStrike" baseline="0" dirty="0">
                <a:latin typeface="ITCGaramondStd-Lt"/>
              </a:rPr>
              <a:t>SPACE</a:t>
            </a:r>
            <a:r>
              <a:rPr lang="en-US" altLang="ko-KR" sz="900" b="0" i="0" u="none" strike="noStrike" baseline="0" dirty="0">
                <a:latin typeface="YDVYMjOStd12"/>
              </a:rPr>
              <a:t>(</a:t>
            </a:r>
            <a:r>
              <a:rPr lang="en-US" altLang="ko-KR" sz="1000" b="0" i="0" u="none" strike="noStrike" baseline="0" dirty="0">
                <a:latin typeface="ITCGaramondStd-Lt"/>
              </a:rPr>
              <a:t>5</a:t>
            </a:r>
            <a:r>
              <a:rPr lang="en-US" altLang="ko-KR" sz="900" b="0" i="0" u="none" strike="noStrike" baseline="0" dirty="0">
                <a:latin typeface="YDVYMjOStd12"/>
              </a:rPr>
              <a:t>)+‘</a:t>
            </a:r>
            <a:r>
              <a:rPr lang="en-US" altLang="ko-KR" sz="1000" b="0" i="0" u="none" strike="noStrike" baseline="0" dirty="0">
                <a:latin typeface="ITCGaramondStd-Lt"/>
              </a:rPr>
              <a:t>2</a:t>
            </a:r>
            <a:r>
              <a:rPr lang="en-US" altLang="ko-KR" sz="900" b="0" i="0" u="none" strike="noStrike" baseline="0" dirty="0">
                <a:latin typeface="YDVYMjOStd12"/>
              </a:rPr>
              <a:t>’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PATINDEX</a:t>
            </a:r>
            <a:r>
              <a:rPr lang="en-US" altLang="ko-KR" sz="900" b="0" i="0" u="none" strike="noStrike" baseline="0" dirty="0">
                <a:latin typeface="YDVYMjOStd12"/>
              </a:rPr>
              <a:t>(‘%</a:t>
            </a:r>
            <a:r>
              <a:rPr lang="en-US" altLang="ko-KR" sz="1000" b="0" i="0" u="none" strike="noStrike" baseline="0" dirty="0" err="1">
                <a:latin typeface="ITCGaramondStd-Lt"/>
              </a:rPr>
              <a:t>py</a:t>
            </a:r>
            <a:r>
              <a:rPr lang="en-US" altLang="ko-KR" sz="900" b="0" i="0" u="none" strike="noStrike" baseline="0" dirty="0">
                <a:latin typeface="YDVYMjOStd12"/>
              </a:rPr>
              <a:t>%’, ‘</a:t>
            </a:r>
            <a:r>
              <a:rPr lang="en-US" altLang="ko-KR" sz="1000" b="0" i="0" u="none" strike="noStrike" baseline="0" dirty="0">
                <a:latin typeface="ITCGaramondStd-Lt"/>
              </a:rPr>
              <a:t>Happy Day</a:t>
            </a:r>
            <a:r>
              <a:rPr lang="en-US" altLang="ko-KR" sz="900" b="0" i="0" u="none" strike="noStrike" baseline="0" dirty="0">
                <a:latin typeface="YDVYMjOStd12"/>
              </a:rPr>
              <a:t>’)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REPLACE</a:t>
            </a:r>
            <a:r>
              <a:rPr lang="en-US" altLang="ko-KR" sz="900" b="0" i="0" u="none" strike="noStrike" baseline="0" dirty="0">
                <a:latin typeface="YDVYMjOStd12"/>
              </a:rPr>
              <a:t>(‘</a:t>
            </a:r>
            <a:r>
              <a:rPr lang="en-US" altLang="ko-KR" sz="1000" b="0" i="0" u="none" strike="noStrike" baseline="0" dirty="0">
                <a:latin typeface="ITCGaramondStd-Lt"/>
              </a:rPr>
              <a:t>Happy Day</a:t>
            </a:r>
            <a:r>
              <a:rPr lang="en-US" altLang="ko-KR" sz="900" b="0" i="0" u="none" strike="noStrike" baseline="0" dirty="0">
                <a:latin typeface="YDVYMjOStd12"/>
              </a:rPr>
              <a:t>’, ‘</a:t>
            </a:r>
            <a:r>
              <a:rPr lang="en-US" altLang="ko-KR" sz="1000" b="0" i="0" u="none" strike="noStrike" baseline="0" dirty="0">
                <a:latin typeface="ITCGaramondStd-Lt"/>
              </a:rPr>
              <a:t>Day</a:t>
            </a:r>
            <a:r>
              <a:rPr lang="en-US" altLang="ko-KR" sz="900" b="0" i="0" u="none" strike="noStrike" baseline="0" dirty="0">
                <a:latin typeface="YDVYMjOStd12"/>
              </a:rPr>
              <a:t>’, ‘</a:t>
            </a:r>
            <a:r>
              <a:rPr lang="en-US" altLang="ko-KR" sz="1000" b="0" i="0" u="none" strike="noStrike" baseline="0" dirty="0">
                <a:latin typeface="ITCGaramondStd-Lt"/>
              </a:rPr>
              <a:t>Boy</a:t>
            </a:r>
            <a:r>
              <a:rPr lang="en-US" altLang="ko-KR" sz="900" b="0" i="0" u="none" strike="noStrike" baseline="0" dirty="0">
                <a:latin typeface="YDVYMjOStd12"/>
              </a:rPr>
              <a:t>’)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SUBSTRING</a:t>
            </a:r>
            <a:r>
              <a:rPr lang="en-US" altLang="ko-KR" sz="900" b="0" i="0" u="none" strike="noStrike" baseline="0" dirty="0">
                <a:latin typeface="YDVYMjOStd12"/>
              </a:rPr>
              <a:t>(‘</a:t>
            </a:r>
            <a:r>
              <a:rPr lang="en-US" altLang="ko-KR" sz="1000" b="0" i="0" u="none" strike="noStrike" baseline="0" dirty="0">
                <a:latin typeface="ITCGaramondStd-Lt"/>
              </a:rPr>
              <a:t>Happy Day</a:t>
            </a:r>
            <a:r>
              <a:rPr lang="en-US" altLang="ko-KR" sz="900" b="0" i="0" u="none" strike="noStrike" baseline="0" dirty="0">
                <a:latin typeface="YDVYMjOStd12"/>
              </a:rPr>
              <a:t>’, </a:t>
            </a:r>
            <a:r>
              <a:rPr lang="en-US" altLang="ko-KR" sz="1000" b="0" i="0" u="none" strike="noStrike" baseline="0" dirty="0">
                <a:latin typeface="ITCGaramondStd-Lt"/>
              </a:rPr>
              <a:t>3</a:t>
            </a:r>
            <a:r>
              <a:rPr lang="en-US" altLang="ko-KR" sz="900" b="0" i="0" u="none" strike="noStrike" baseline="0" dirty="0">
                <a:latin typeface="YDVYMjOStd12"/>
              </a:rPr>
              <a:t>, </a:t>
            </a:r>
            <a:r>
              <a:rPr lang="en-US" altLang="ko-KR" sz="1000" b="0" i="0" u="none" strike="noStrike" baseline="0" dirty="0">
                <a:latin typeface="ITCGaramondStd-Lt"/>
              </a:rPr>
              <a:t>5</a:t>
            </a:r>
            <a:r>
              <a:rPr lang="en-US" altLang="ko-KR" sz="900" b="0" i="0" u="none" strike="noStrike" baseline="0" dirty="0">
                <a:latin typeface="YDVYMjOStd12"/>
              </a:rPr>
              <a:t>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CHARINDEX</a:t>
            </a:r>
            <a:r>
              <a:rPr lang="en-US" altLang="ko-KR" sz="900" b="0" i="0" u="none" strike="noStrike" baseline="0" dirty="0">
                <a:latin typeface="YDVYMjOStd12"/>
              </a:rPr>
              <a:t>(‘</a:t>
            </a:r>
            <a:r>
              <a:rPr lang="en-US" altLang="ko-KR" sz="1000" b="0" i="0" u="none" strike="noStrike" baseline="0" dirty="0">
                <a:latin typeface="ITCGaramondStd-Lt"/>
              </a:rPr>
              <a:t>Happy Day</a:t>
            </a:r>
            <a:r>
              <a:rPr lang="en-US" altLang="ko-KR" sz="900" b="0" i="0" u="none" strike="noStrike" baseline="0" dirty="0">
                <a:latin typeface="YDVYMjOStd12"/>
              </a:rPr>
              <a:t>’, ‘</a:t>
            </a:r>
            <a:r>
              <a:rPr lang="en-US" altLang="ko-KR" sz="1000" b="0" i="0" u="none" strike="noStrike" baseline="0" dirty="0">
                <a:latin typeface="ITCGaramondStd-Lt"/>
              </a:rPr>
              <a:t>Day</a:t>
            </a:r>
            <a:r>
              <a:rPr lang="en-US" altLang="ko-KR" sz="900" b="0" i="0" u="none" strike="noStrike" baseline="0" dirty="0">
                <a:latin typeface="YDVYMjOStd12"/>
              </a:rPr>
              <a:t>’)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DATENAME</a:t>
            </a:r>
            <a:r>
              <a:rPr lang="en-US" altLang="ko-KR" sz="900" b="0" i="0" u="none" strike="noStrike" baseline="0" dirty="0">
                <a:latin typeface="YDVYMjOStd12"/>
              </a:rPr>
              <a:t>(</a:t>
            </a:r>
            <a:r>
              <a:rPr lang="en-US" altLang="ko-KR" sz="1000" b="0" i="0" u="none" strike="noStrike" baseline="0" dirty="0">
                <a:latin typeface="ITCGaramondStd-Lt"/>
              </a:rPr>
              <a:t>MONTH</a:t>
            </a:r>
            <a:r>
              <a:rPr lang="en-US" altLang="ko-KR" sz="900" b="0" i="0" u="none" strike="noStrike" baseline="0" dirty="0">
                <a:latin typeface="YDVYMjOStd12"/>
              </a:rPr>
              <a:t>, ‘</a:t>
            </a:r>
            <a:r>
              <a:rPr lang="en-US" altLang="ko-KR" sz="1000" b="0" i="0" u="none" strike="noStrike" baseline="0" dirty="0">
                <a:latin typeface="ITCGaramondStd-Lt"/>
              </a:rPr>
              <a:t>2013</a:t>
            </a:r>
            <a:r>
              <a:rPr lang="en-US" altLang="ko-KR" sz="900" b="0" i="0" u="none" strike="noStrike" baseline="0" dirty="0">
                <a:latin typeface="YDVYMjOStd12"/>
              </a:rPr>
              <a:t>-</a:t>
            </a:r>
            <a:r>
              <a:rPr lang="en-US" altLang="ko-KR" sz="1000" b="0" i="0" u="none" strike="noStrike" baseline="0" dirty="0">
                <a:latin typeface="ITCGaramondStd-Lt"/>
              </a:rPr>
              <a:t>09</a:t>
            </a:r>
            <a:r>
              <a:rPr lang="en-US" altLang="ko-KR" sz="900" b="0" i="0" u="none" strike="noStrike" baseline="0" dirty="0">
                <a:latin typeface="YDVYMjOStd12"/>
              </a:rPr>
              <a:t>-</a:t>
            </a:r>
            <a:r>
              <a:rPr lang="en-US" altLang="ko-KR" sz="1000" b="0" i="0" u="none" strike="noStrike" baseline="0" dirty="0">
                <a:latin typeface="ITCGaramondStd-Lt"/>
              </a:rPr>
              <a:t>02</a:t>
            </a:r>
            <a:r>
              <a:rPr lang="en-US" altLang="ko-KR" sz="900" b="0" i="0" u="none" strike="noStrike" baseline="0" dirty="0">
                <a:latin typeface="YDVYMjOStd12"/>
              </a:rPr>
              <a:t>’)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DATEPART</a:t>
            </a:r>
            <a:r>
              <a:rPr lang="en-US" altLang="ko-KR" sz="900" b="0" i="0" u="none" strike="noStrike" baseline="0" dirty="0">
                <a:latin typeface="YDVYMjOStd12"/>
              </a:rPr>
              <a:t>(</a:t>
            </a:r>
            <a:r>
              <a:rPr lang="en-US" altLang="ko-KR" sz="1000" b="0" i="0" u="none" strike="noStrike" baseline="0" dirty="0">
                <a:latin typeface="ITCGaramondStd-Lt"/>
              </a:rPr>
              <a:t>MONTH</a:t>
            </a:r>
            <a:r>
              <a:rPr lang="en-US" altLang="ko-KR" sz="900" b="0" i="0" u="none" strike="noStrike" baseline="0" dirty="0">
                <a:latin typeface="YDVYMjOStd12"/>
              </a:rPr>
              <a:t>, ‘</a:t>
            </a:r>
            <a:r>
              <a:rPr lang="en-US" altLang="ko-KR" sz="1000" b="0" i="0" u="none" strike="noStrike" baseline="0" dirty="0">
                <a:latin typeface="ITCGaramondStd-Lt"/>
              </a:rPr>
              <a:t>2013</a:t>
            </a:r>
            <a:r>
              <a:rPr lang="en-US" altLang="ko-KR" sz="900" b="0" i="0" u="none" strike="noStrike" baseline="0" dirty="0">
                <a:latin typeface="YDVYMjOStd12"/>
              </a:rPr>
              <a:t>-</a:t>
            </a:r>
            <a:r>
              <a:rPr lang="en-US" altLang="ko-KR" sz="1000" b="0" i="0" u="none" strike="noStrike" baseline="0" dirty="0">
                <a:latin typeface="ITCGaramondStd-Lt"/>
              </a:rPr>
              <a:t>09</a:t>
            </a:r>
            <a:r>
              <a:rPr lang="en-US" altLang="ko-KR" sz="900" b="0" i="0" u="none" strike="noStrike" baseline="0" dirty="0">
                <a:latin typeface="YDVYMjOStd12"/>
              </a:rPr>
              <a:t>-</a:t>
            </a:r>
            <a:r>
              <a:rPr lang="en-US" altLang="ko-KR" sz="1000" b="0" i="0" u="none" strike="noStrike" baseline="0" dirty="0">
                <a:latin typeface="ITCGaramondStd-Lt"/>
              </a:rPr>
              <a:t>02</a:t>
            </a:r>
            <a:r>
              <a:rPr lang="en-US" altLang="ko-KR" sz="900" b="0" i="0" u="none" strike="noStrike" baseline="0" dirty="0">
                <a:latin typeface="YDVYMjOStd12"/>
              </a:rPr>
              <a:t>’)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DATEDIFF</a:t>
            </a:r>
            <a:r>
              <a:rPr lang="en-US" altLang="ko-KR" sz="900" b="0" i="0" u="none" strike="noStrike" baseline="0" dirty="0">
                <a:latin typeface="YDVYMjOStd12"/>
              </a:rPr>
              <a:t>(</a:t>
            </a:r>
            <a:r>
              <a:rPr lang="en-US" altLang="ko-KR" sz="1000" b="0" i="0" u="none" strike="noStrike" baseline="0" dirty="0">
                <a:latin typeface="ITCGaramondStd-Lt"/>
              </a:rPr>
              <a:t>MONTH</a:t>
            </a:r>
            <a:r>
              <a:rPr lang="en-US" altLang="ko-KR" sz="900" b="0" i="0" u="none" strike="noStrike" baseline="0" dirty="0">
                <a:latin typeface="YDVYMjOStd12"/>
              </a:rPr>
              <a:t>, ‘</a:t>
            </a:r>
            <a:r>
              <a:rPr lang="en-US" altLang="ko-KR" sz="1000" b="0" i="0" u="none" strike="noStrike" baseline="0" dirty="0">
                <a:latin typeface="ITCGaramondStd-Lt"/>
              </a:rPr>
              <a:t>2014</a:t>
            </a:r>
            <a:r>
              <a:rPr lang="en-US" altLang="ko-KR" sz="900" b="0" i="0" u="none" strike="noStrike" baseline="0" dirty="0">
                <a:latin typeface="YDVYMjOStd12"/>
              </a:rPr>
              <a:t>-</a:t>
            </a:r>
            <a:r>
              <a:rPr lang="en-US" altLang="ko-KR" sz="1000" b="0" i="0" u="none" strike="noStrike" baseline="0" dirty="0">
                <a:latin typeface="ITCGaramondStd-Lt"/>
              </a:rPr>
              <a:t>03</a:t>
            </a:r>
            <a:r>
              <a:rPr lang="en-US" altLang="ko-KR" sz="900" b="0" i="0" u="none" strike="noStrike" baseline="0" dirty="0">
                <a:latin typeface="YDVYMjOStd12"/>
              </a:rPr>
              <a:t>-</a:t>
            </a:r>
            <a:r>
              <a:rPr lang="en-US" altLang="ko-KR" sz="1000" b="0" i="0" u="none" strike="noStrike" baseline="0" dirty="0">
                <a:latin typeface="ITCGaramondStd-Lt"/>
              </a:rPr>
              <a:t>01</a:t>
            </a:r>
            <a:r>
              <a:rPr lang="en-US" altLang="ko-KR" sz="900" b="0" i="0" u="none" strike="noStrike" baseline="0" dirty="0">
                <a:latin typeface="YDVYMjOStd12"/>
              </a:rPr>
              <a:t>’, ‘</a:t>
            </a:r>
            <a:r>
              <a:rPr lang="en-US" altLang="ko-KR" sz="1000" b="0" i="0" u="none" strike="noStrike" baseline="0" dirty="0">
                <a:latin typeface="ITCGaramondStd-Lt"/>
              </a:rPr>
              <a:t>2014</a:t>
            </a:r>
            <a:r>
              <a:rPr lang="en-US" altLang="ko-KR" sz="900" b="0" i="0" u="none" strike="noStrike" baseline="0" dirty="0">
                <a:latin typeface="YDVYMjOStd12"/>
              </a:rPr>
              <a:t>-</a:t>
            </a:r>
            <a:r>
              <a:rPr lang="en-US" altLang="ko-KR" sz="1000" b="0" i="0" u="none" strike="noStrike" baseline="0" dirty="0">
                <a:latin typeface="ITCGaramondStd-Lt"/>
              </a:rPr>
              <a:t>09</a:t>
            </a:r>
            <a:r>
              <a:rPr lang="en-US" altLang="ko-KR" sz="900" b="0" i="0" u="none" strike="noStrike" baseline="0" dirty="0">
                <a:latin typeface="YDVYMjOStd12"/>
              </a:rPr>
              <a:t>-</a:t>
            </a:r>
            <a:r>
              <a:rPr lang="en-US" altLang="ko-KR" sz="1000" b="0" i="0" u="none" strike="noStrike" baseline="0" dirty="0">
                <a:latin typeface="ITCGaramondStd-Lt"/>
              </a:rPr>
              <a:t>01</a:t>
            </a:r>
            <a:r>
              <a:rPr lang="en-US" altLang="ko-KR" sz="900" b="0" i="0" u="none" strike="noStrike" baseline="0" dirty="0">
                <a:latin typeface="YDVYMjOStd12"/>
              </a:rPr>
              <a:t>’)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DATEADD</a:t>
            </a:r>
            <a:r>
              <a:rPr lang="en-US" altLang="ko-KR" sz="900" b="0" i="0" u="none" strike="noStrike" baseline="0" dirty="0">
                <a:latin typeface="YDVYMjOStd12"/>
              </a:rPr>
              <a:t>(</a:t>
            </a:r>
            <a:r>
              <a:rPr lang="en-US" altLang="ko-KR" sz="1000" b="0" i="0" u="none" strike="noStrike" baseline="0" dirty="0">
                <a:latin typeface="ITCGaramondStd-Lt"/>
              </a:rPr>
              <a:t>DAY</a:t>
            </a:r>
            <a:r>
              <a:rPr lang="en-US" altLang="ko-KR" sz="900" b="0" i="0" u="none" strike="noStrike" baseline="0" dirty="0">
                <a:latin typeface="YDVYMjOStd12"/>
              </a:rPr>
              <a:t>, </a:t>
            </a:r>
            <a:r>
              <a:rPr lang="en-US" altLang="ko-KR" sz="1000" b="0" i="0" u="none" strike="noStrike" baseline="0" dirty="0">
                <a:latin typeface="ITCGaramondStd-Lt"/>
              </a:rPr>
              <a:t>5</a:t>
            </a:r>
            <a:r>
              <a:rPr lang="en-US" altLang="ko-KR" sz="900" b="0" i="0" u="none" strike="noStrike" baseline="0" dirty="0">
                <a:latin typeface="YDVYMjOStd12"/>
              </a:rPr>
              <a:t>, ‘</a:t>
            </a:r>
            <a:r>
              <a:rPr lang="en-US" altLang="ko-KR" sz="1000" b="0" i="0" u="none" strike="noStrike" baseline="0" dirty="0">
                <a:latin typeface="ITCGaramondStd-Lt"/>
              </a:rPr>
              <a:t>20140901</a:t>
            </a:r>
            <a:r>
              <a:rPr lang="en-US" altLang="ko-KR" sz="900" b="0" i="0" u="none" strike="noStrike" baseline="0" dirty="0">
                <a:latin typeface="YDVYMjOStd12"/>
              </a:rPr>
              <a:t>’)</a:t>
            </a:r>
          </a:p>
          <a:p>
            <a:r>
              <a:rPr lang="en-US" altLang="ko-KR" sz="1000" b="0" i="0" u="none" strike="noStrike" baseline="0" dirty="0">
                <a:latin typeface="ITCGaramondStd-Lt"/>
              </a:rPr>
              <a:t>ISDATE</a:t>
            </a:r>
            <a:r>
              <a:rPr lang="en-US" altLang="ko-KR" sz="900" b="0" i="0" u="none" strike="noStrike" baseline="0" dirty="0">
                <a:latin typeface="YDVYMjOStd12"/>
              </a:rPr>
              <a:t>(‘</a:t>
            </a:r>
            <a:r>
              <a:rPr lang="en-US" altLang="ko-KR" sz="1000" b="0" i="0" u="none" strike="noStrike" baseline="0" dirty="0">
                <a:latin typeface="ITCGaramondStd-Lt"/>
              </a:rPr>
              <a:t>2013</a:t>
            </a:r>
            <a:r>
              <a:rPr lang="en-US" altLang="ko-KR" sz="900" b="0" i="0" u="none" strike="noStrike" baseline="0" dirty="0">
                <a:latin typeface="YDVYMjOStd12"/>
              </a:rPr>
              <a:t>-</a:t>
            </a:r>
            <a:r>
              <a:rPr lang="en-US" altLang="ko-KR" sz="1000" b="0" i="0" u="none" strike="noStrike" baseline="0" dirty="0">
                <a:latin typeface="ITCGaramondStd-Lt"/>
              </a:rPr>
              <a:t>02</a:t>
            </a:r>
            <a:r>
              <a:rPr lang="en-US" altLang="ko-KR" sz="900" b="0" i="0" u="none" strike="noStrike" baseline="0" dirty="0">
                <a:latin typeface="YDVYMjOStd12"/>
              </a:rPr>
              <a:t>-</a:t>
            </a:r>
            <a:r>
              <a:rPr lang="en-US" altLang="ko-KR" sz="1000" b="0" i="0" u="none" strike="noStrike" baseline="0" dirty="0">
                <a:latin typeface="ITCGaramondStd-Lt"/>
              </a:rPr>
              <a:t>30</a:t>
            </a:r>
            <a:r>
              <a:rPr lang="en-US" altLang="ko-KR" sz="900" b="0" i="0" u="none" strike="noStrike" baseline="0" dirty="0">
                <a:latin typeface="YDVYMjOStd12"/>
              </a:rPr>
              <a:t>’)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797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실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0825" y="188913"/>
            <a:ext cx="7560840" cy="548680"/>
          </a:xfrm>
        </p:spPr>
        <p:txBody>
          <a:bodyPr/>
          <a:lstStyle>
            <a:lvl1pPr algn="l">
              <a:defRPr sz="2400" b="1" baseline="0">
                <a:solidFill>
                  <a:srgbClr val="0000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연습문제 풀이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55576" y="980728"/>
            <a:ext cx="8136904" cy="547260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47675" indent="-180975">
              <a:spcAft>
                <a:spcPts val="400"/>
              </a:spcAft>
              <a:buClr>
                <a:schemeClr val="accent5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accent5">
                  <a:lumMod val="50000"/>
                </a:schemeClr>
              </a:buClr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941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6"/>
          <p:cNvSpPr/>
          <p:nvPr userDrawn="1"/>
        </p:nvSpPr>
        <p:spPr>
          <a:xfrm>
            <a:off x="0" y="0"/>
            <a:ext cx="6372200" cy="6858000"/>
          </a:xfrm>
          <a:prstGeom prst="rect">
            <a:avLst/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56810" y="3573016"/>
            <a:ext cx="6143382" cy="1902073"/>
          </a:xfrm>
        </p:spPr>
        <p:txBody>
          <a:bodyPr/>
          <a:lstStyle>
            <a:lvl1pPr algn="l">
              <a:defRPr sz="4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감사합니다</a:t>
            </a:r>
          </a:p>
        </p:txBody>
      </p:sp>
      <p:sp>
        <p:nvSpPr>
          <p:cNvPr id="7" name="TextBox 9"/>
          <p:cNvSpPr txBox="1"/>
          <p:nvPr userDrawn="1"/>
        </p:nvSpPr>
        <p:spPr>
          <a:xfrm>
            <a:off x="130805" y="6269130"/>
            <a:ext cx="372890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1" baseline="0">
                <a:latin typeface="맑은 고딕" panose="020B0503020000020004" pitchFamily="50" charset="-127"/>
                <a:ea typeface="맑은 고딕" panose="020B0503020000020004" pitchFamily="50" charset="-127"/>
              </a:rPr>
              <a:t>MySQL</a:t>
            </a:r>
            <a:r>
              <a:rPr kumimoji="0" lang="ko-KR" altLang="en-US" sz="1400" b="1" baseline="0">
                <a:latin typeface="맑은 고딕" panose="020B0503020000020004" pitchFamily="50" charset="-127"/>
                <a:ea typeface="맑은 고딕" panose="020B0503020000020004" pitchFamily="50" charset="-127"/>
              </a:rPr>
              <a:t>로 배우는 데이터베이스 개론과 실습</a:t>
            </a:r>
            <a:endParaRPr kumimoji="0" lang="ko-KR" altLang="en-US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42967"/>
            <a:ext cx="2771800" cy="562232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97" b="39011"/>
          <a:stretch/>
        </p:blipFill>
        <p:spPr>
          <a:xfrm>
            <a:off x="6444208" y="5693066"/>
            <a:ext cx="2699792" cy="1152128"/>
          </a:xfrm>
          <a:prstGeom prst="rect">
            <a:avLst/>
          </a:prstGeom>
        </p:spPr>
      </p:pic>
      <p:sp>
        <p:nvSpPr>
          <p:cNvPr id="17" name="직사각형 10"/>
          <p:cNvSpPr/>
          <p:nvPr userDrawn="1"/>
        </p:nvSpPr>
        <p:spPr>
          <a:xfrm flipV="1">
            <a:off x="0" y="5599536"/>
            <a:ext cx="9036496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97645" y="5990292"/>
            <a:ext cx="25199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20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59645" y="5990292"/>
            <a:ext cx="25199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20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538980" y="5990292"/>
            <a:ext cx="25199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000" b="1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20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9591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56AD473-A018-4694-8168-B805147938ED}" type="datetimeFigureOut">
              <a:rPr lang="ko-KR" altLang="en-US" smtClean="0"/>
              <a:pPr/>
              <a:t>2026-04-29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2B69A13-D0CD-4A16-9DAE-BC7906E2B5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21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2026-04-29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2" r:id="rId2"/>
    <p:sldLayoutId id="2147483693" r:id="rId3"/>
    <p:sldLayoutId id="2147483694" r:id="rId4"/>
    <p:sldLayoutId id="2147483677" r:id="rId5"/>
    <p:sldLayoutId id="2147483678" r:id="rId6"/>
    <p:sldLayoutId id="2147483679" r:id="rId7"/>
    <p:sldLayoutId id="2147483680" r:id="rId8"/>
    <p:sldLayoutId id="2147483686" r:id="rId9"/>
    <p:sldLayoutId id="2147483683" r:id="rId10"/>
    <p:sldLayoutId id="2147483685" r:id="rId11"/>
    <p:sldLayoutId id="2147483687" r:id="rId12"/>
    <p:sldLayoutId id="2147483688" r:id="rId13"/>
    <p:sldLayoutId id="2147483689" r:id="rId14"/>
    <p:sldLayoutId id="2147483690" r:id="rId15"/>
    <p:sldLayoutId id="2147483691" r:id="rId16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18"/>
        </a:buBlip>
        <a:defRPr sz="32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 bwMode="auto">
          <a:xfrm>
            <a:off x="156810" y="3501008"/>
            <a:ext cx="5855350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br>
              <a:rPr kumimoji="0" lang="en-US" altLang="ko-KR" sz="4000" b="1">
                <a:solidFill>
                  <a:srgbClr val="21596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br>
              <a:rPr kumimoji="0" lang="en-US" altLang="ko-KR" sz="80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ko-KR" altLang="en-US" sz="4600" b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데이터베이스실습</a:t>
            </a:r>
            <a:endParaRPr kumimoji="0" lang="en-US" altLang="ko-KR" sz="4600" b="1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7588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1192F4F-56EE-6517-75F7-864E3F2272C9}"/>
              </a:ext>
            </a:extLst>
          </p:cNvPr>
          <p:cNvSpPr/>
          <p:nvPr/>
        </p:nvSpPr>
        <p:spPr>
          <a:xfrm>
            <a:off x="611560" y="1871768"/>
            <a:ext cx="2820003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프로그램</a:t>
            </a: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 </a:t>
            </a: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1320687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59D5B-7367-2C0D-0C00-6633CAF94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077444-1E1F-528C-F351-86EEA2920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주문 삭제 기능을 추가하자</a:t>
            </a:r>
            <a:r>
              <a:rPr lang="en-US" altLang="ko-KR"/>
              <a:t>.(orderlist_ver4.php)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967B08-76EA-1D8F-DF74-F3BA27540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45" y="1858821"/>
            <a:ext cx="4071004" cy="288032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7A7AB99-69A9-B187-4EBC-0244C2B63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458" y="1835381"/>
            <a:ext cx="2696343" cy="315577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D8DFE0E-7D18-9D4F-1F07-A4DA6CBA1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856" y="4581128"/>
            <a:ext cx="2694925" cy="1748673"/>
          </a:xfrm>
          <a:prstGeom prst="rect">
            <a:avLst/>
          </a:prstGeom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7630042-5A45-F98A-B444-9967851A1BAB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769402" y="2613759"/>
            <a:ext cx="893056" cy="799510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4AF9AB9-9852-5E17-D024-6B1E604A4C51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5970781" y="4581128"/>
            <a:ext cx="1697563" cy="874337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9D3F68F-98D2-BCFE-28A6-36AEF1B4DCAE}"/>
              </a:ext>
            </a:extLst>
          </p:cNvPr>
          <p:cNvCxnSpPr>
            <a:cxnSpLocks/>
            <a:endCxn id="5" idx="2"/>
          </p:cNvCxnSpPr>
          <p:nvPr/>
        </p:nvCxnSpPr>
        <p:spPr>
          <a:xfrm flipH="1" flipV="1">
            <a:off x="2796447" y="4739141"/>
            <a:ext cx="623425" cy="1188137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0250600-93BE-549A-9D35-DD5F889B7D40}"/>
              </a:ext>
            </a:extLst>
          </p:cNvPr>
          <p:cNvSpPr txBox="1"/>
          <p:nvPr/>
        </p:nvSpPr>
        <p:spPr>
          <a:xfrm>
            <a:off x="760945" y="1547349"/>
            <a:ext cx="1800200" cy="2880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orderlist4.php</a:t>
            </a:r>
            <a:endParaRPr lang="ko-KR" altLang="en-US" sz="14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470337-E32F-7E55-6079-C2335FB6A9DA}"/>
              </a:ext>
            </a:extLst>
          </p:cNvPr>
          <p:cNvSpPr txBox="1"/>
          <p:nvPr/>
        </p:nvSpPr>
        <p:spPr>
          <a:xfrm>
            <a:off x="5662458" y="1552409"/>
            <a:ext cx="1800200" cy="2880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deleteorder.php</a:t>
            </a:r>
            <a:endParaRPr lang="ko-KR" altLang="en-US" sz="14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D385DF-9F70-6F94-C7E5-7B031B39FDD0}"/>
              </a:ext>
            </a:extLst>
          </p:cNvPr>
          <p:cNvSpPr txBox="1"/>
          <p:nvPr/>
        </p:nvSpPr>
        <p:spPr>
          <a:xfrm>
            <a:off x="3275856" y="4293096"/>
            <a:ext cx="2317727" cy="2880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action_deleteorder.php</a:t>
            </a:r>
            <a:endParaRPr lang="ko-KR" altLang="en-US" sz="1400" b="1"/>
          </a:p>
        </p:txBody>
      </p:sp>
    </p:spTree>
    <p:extLst>
      <p:ext uri="{BB962C8B-B14F-4D97-AF65-F5344CB8AC3E}">
        <p14:creationId xmlns:p14="http://schemas.microsoft.com/office/powerpoint/2010/main" val="3197881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59D5B-7367-2C0D-0C00-6633CAF94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077444-1E1F-528C-F351-86EEA2920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삭제 버튼 추가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250600-93BE-549A-9D35-DD5F889B7D40}"/>
              </a:ext>
            </a:extLst>
          </p:cNvPr>
          <p:cNvSpPr txBox="1"/>
          <p:nvPr/>
        </p:nvSpPr>
        <p:spPr>
          <a:xfrm>
            <a:off x="566851" y="1509911"/>
            <a:ext cx="1800200" cy="2880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orderlist4.php</a:t>
            </a:r>
            <a:endParaRPr lang="ko-KR" altLang="en-US" sz="1400" b="1"/>
          </a:p>
        </p:txBody>
      </p:sp>
      <p:pic>
        <p:nvPicPr>
          <p:cNvPr id="13" name="내용 개체 틀 3">
            <a:extLst>
              <a:ext uri="{FF2B5EF4-FFF2-40B4-BE49-F238E27FC236}">
                <a16:creationId xmlns:a16="http://schemas.microsoft.com/office/drawing/2014/main" id="{FE479AC5-AD07-2AD3-3BE2-1A4FD7848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66851" y="1844824"/>
            <a:ext cx="4320480" cy="3056829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직사각형 3"/>
          <p:cNvSpPr/>
          <p:nvPr/>
        </p:nvSpPr>
        <p:spPr>
          <a:xfrm>
            <a:off x="4427984" y="2132856"/>
            <a:ext cx="486646" cy="276879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F29C085-5992-066E-DD6B-629E526A4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5082091"/>
            <a:ext cx="6258798" cy="129558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7" name="내용 개체 틀 3">
            <a:extLst>
              <a:ext uri="{FF2B5EF4-FFF2-40B4-BE49-F238E27FC236}">
                <a16:creationId xmlns:a16="http://schemas.microsoft.com/office/drawing/2014/main" id="{1586DBF0-7D57-BEC3-BA47-8405899BE7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3776027"/>
              </p:ext>
            </p:extLst>
          </p:nvPr>
        </p:nvGraphicFramePr>
        <p:xfrm>
          <a:off x="5148064" y="2024561"/>
          <a:ext cx="3744416" cy="1626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83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힌트</a:t>
                      </a: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956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endParaRPr lang="en-US" altLang="ko-KR" sz="1400" b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</a:rPr>
                        <a:t>1. </a:t>
                      </a:r>
                      <a:r>
                        <a:rPr lang="ko-KR" altLang="en-US" sz="1400" b="0">
                          <a:solidFill>
                            <a:sysClr val="windowText" lastClr="000000"/>
                          </a:solidFill>
                        </a:rPr>
                        <a:t>테이블에 삭제 버튼 칸 추가</a:t>
                      </a:r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</a:rPr>
                        <a:t>(td)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 b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ysClr val="windowText" lastClr="000000"/>
                          </a:solidFill>
                        </a:rPr>
                        <a:t>2. </a:t>
                      </a:r>
                      <a:r>
                        <a:rPr lang="ko-KR" altLang="en-US" sz="1400" b="0">
                          <a:solidFill>
                            <a:sysClr val="windowText" lastClr="000000"/>
                          </a:solidFill>
                        </a:rPr>
                        <a:t>삭제 버튼을 </a:t>
                      </a:r>
                      <a:r>
                        <a:rPr lang="en-US" altLang="ko-KR" sz="1400" b="1">
                          <a:solidFill>
                            <a:sysClr val="windowText" lastClr="000000"/>
                          </a:solidFill>
                        </a:rPr>
                        <a:t>deleterorder.php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로 링크시키는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태그 만들기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8408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6DC9AA-8C58-493D-26F4-9F2D5CC54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284AE1-F818-1A8D-D163-FF426D4F4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deleteorder.php </a:t>
            </a:r>
            <a:r>
              <a:rPr lang="ko-KR" altLang="en-US"/>
              <a:t>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003BDD-BC0B-9A48-6B6A-7C21739E6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700808"/>
            <a:ext cx="2696343" cy="315577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04C14A2E-EF86-D999-FCF9-179EC33FC6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9774950"/>
              </p:ext>
            </p:extLst>
          </p:nvPr>
        </p:nvGraphicFramePr>
        <p:xfrm>
          <a:off x="3528388" y="1721686"/>
          <a:ext cx="5220076" cy="2302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0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힌트</a:t>
                      </a: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2570">
                <a:tc>
                  <a:txBody>
                    <a:bodyPr/>
                    <a:lstStyle/>
                    <a:p>
                      <a:pPr marL="342900" indent="-342900" latinLnBrk="1">
                        <a:buAutoNum type="arabicPeriod"/>
                      </a:pPr>
                      <a:r>
                        <a:rPr lang="en-US" altLang="ko-KR" sz="1400" b="1">
                          <a:solidFill>
                            <a:sysClr val="windowText" lastClr="000000"/>
                          </a:solidFill>
                        </a:rPr>
                        <a:t>deleteorder.php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파일 생성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삭제할 주문의 정보를 표시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삭제 버튼을 누르면 </a:t>
                      </a:r>
                      <a:r>
                        <a:rPr lang="en-US" altLang="ko-KR" sz="1400" b="1">
                          <a:solidFill>
                            <a:sysClr val="windowText" lastClr="000000"/>
                          </a:solidFill>
                        </a:rPr>
                        <a:t>action_deleteorder.php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로 링크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9409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6DC9AA-8C58-493D-26F4-9F2D5CC54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284AE1-F818-1A8D-D163-FF426D4F4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action_deleteorder.php </a:t>
            </a:r>
            <a:r>
              <a:rPr lang="ko-KR" altLang="en-US"/>
              <a:t>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003BDD-BC0B-9A48-6B6A-7C21739E6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700808"/>
            <a:ext cx="2696343" cy="315577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04C14A2E-EF86-D999-FCF9-179EC33FC6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6103949"/>
              </p:ext>
            </p:extLst>
          </p:nvPr>
        </p:nvGraphicFramePr>
        <p:xfrm>
          <a:off x="3528388" y="3645024"/>
          <a:ext cx="5220076" cy="2089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0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힌트</a:t>
                      </a: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2570">
                <a:tc>
                  <a:txBody>
                    <a:bodyPr/>
                    <a:lstStyle/>
                    <a:p>
                      <a:pPr marL="342900" indent="-342900" latinLnBrk="1">
                        <a:buAutoNum type="arabicPeriod"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postorder.php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를 복사해서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action_deleteorder.php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생성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$sql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를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delete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쿼리로 변경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DELETE FROM ~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메시지 내용 및 뒤로 가기 버튼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url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변경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0FE52825-457F-E501-21FF-B1209DD04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1700808"/>
            <a:ext cx="2694925" cy="174867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959F134-7DD2-F301-23BD-823F30AAD786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203848" y="2575145"/>
            <a:ext cx="1080120" cy="1861967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449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1192F4F-56EE-6517-75F7-864E3F2272C9}"/>
              </a:ext>
            </a:extLst>
          </p:cNvPr>
          <p:cNvSpPr/>
          <p:nvPr/>
        </p:nvSpPr>
        <p:spPr>
          <a:xfrm>
            <a:off x="611560" y="1871768"/>
            <a:ext cx="4402167" cy="6678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프로그램</a:t>
            </a: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 </a:t>
            </a: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실습 문제 </a:t>
            </a: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#1</a:t>
            </a:r>
            <a:endParaRPr lang="ko-KR" altLang="en-US" sz="3400" b="1" spc="-150">
              <a:solidFill>
                <a:schemeClr val="accent4">
                  <a:lumMod val="50000"/>
                </a:schemeClr>
              </a:solidFill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78197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새로운 도서 목록 페이지를 생성해보자</a:t>
            </a:r>
            <a:r>
              <a:rPr lang="en-US" altLang="ko-KR"/>
              <a:t>.(booklist3.php)</a:t>
            </a:r>
          </a:p>
          <a:p>
            <a:r>
              <a:rPr lang="en-US" altLang="ko-KR"/>
              <a:t>orderlist4.php</a:t>
            </a:r>
            <a:r>
              <a:rPr lang="ko-KR" altLang="en-US"/>
              <a:t>와 </a:t>
            </a:r>
            <a:r>
              <a:rPr lang="en-US" altLang="ko-KR"/>
              <a:t>insertbook.php</a:t>
            </a:r>
            <a:r>
              <a:rPr lang="ko-KR" altLang="en-US"/>
              <a:t>를 참조해서 작성하시오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113" y="1988840"/>
            <a:ext cx="3526897" cy="462990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9677AC1-C23A-60DD-9AB3-F281FF860DE7}"/>
              </a:ext>
            </a:extLst>
          </p:cNvPr>
          <p:cNvSpPr txBox="1"/>
          <p:nvPr/>
        </p:nvSpPr>
        <p:spPr>
          <a:xfrm>
            <a:off x="4776873" y="2006040"/>
            <a:ext cx="1721497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600" b="1"/>
              <a:t>booklist3.php</a:t>
            </a:r>
          </a:p>
        </p:txBody>
      </p:sp>
    </p:spTree>
    <p:extLst>
      <p:ext uri="{BB962C8B-B14F-4D97-AF65-F5344CB8AC3E}">
        <p14:creationId xmlns:p14="http://schemas.microsoft.com/office/powerpoint/2010/main" val="28564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2364117"/>
            <a:ext cx="3334215" cy="302937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도서 등록 기능을 추가하자</a:t>
            </a:r>
            <a:r>
              <a:rPr lang="en-US" altLang="ko-KR"/>
              <a:t>(insertbook.php, action_insertbook.php)</a:t>
            </a: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091F93-46DE-E278-77E3-801115DFC0B0}"/>
              </a:ext>
            </a:extLst>
          </p:cNvPr>
          <p:cNvSpPr txBox="1"/>
          <p:nvPr/>
        </p:nvSpPr>
        <p:spPr>
          <a:xfrm>
            <a:off x="5058959" y="2028886"/>
            <a:ext cx="1656704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insertbook.php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83" y="1854935"/>
            <a:ext cx="3526897" cy="462990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9677AC1-C23A-60DD-9AB3-F281FF860DE7}"/>
              </a:ext>
            </a:extLst>
          </p:cNvPr>
          <p:cNvSpPr txBox="1"/>
          <p:nvPr/>
        </p:nvSpPr>
        <p:spPr>
          <a:xfrm>
            <a:off x="858681" y="1478064"/>
            <a:ext cx="1577481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booklist3.php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</p:cNvCxnSpPr>
          <p:nvPr/>
        </p:nvCxnSpPr>
        <p:spPr>
          <a:xfrm flipV="1">
            <a:off x="1835696" y="4054102"/>
            <a:ext cx="3600400" cy="2183210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050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00" y="1982140"/>
            <a:ext cx="3334215" cy="302937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도서 등록 기능을 추가하자</a:t>
            </a:r>
            <a:r>
              <a:rPr lang="en-US" altLang="ko-KR"/>
              <a:t>(insertbook.php, action_insertbook.php)</a:t>
            </a: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091F93-46DE-E278-77E3-801115DFC0B0}"/>
              </a:ext>
            </a:extLst>
          </p:cNvPr>
          <p:cNvSpPr txBox="1"/>
          <p:nvPr/>
        </p:nvSpPr>
        <p:spPr>
          <a:xfrm>
            <a:off x="610694" y="1648167"/>
            <a:ext cx="1656704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insertbook.php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621" y="2420888"/>
            <a:ext cx="4486175" cy="13945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091F93-46DE-E278-77E3-801115DFC0B0}"/>
              </a:ext>
            </a:extLst>
          </p:cNvPr>
          <p:cNvSpPr txBox="1"/>
          <p:nvPr/>
        </p:nvSpPr>
        <p:spPr>
          <a:xfrm>
            <a:off x="4215620" y="2085975"/>
            <a:ext cx="2228587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action_insertbook.php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779912" y="3118178"/>
            <a:ext cx="435709" cy="1318934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844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85" y="1806268"/>
            <a:ext cx="3526897" cy="462990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85503"/>
            <a:ext cx="8424936" cy="5472608"/>
          </a:xfrm>
        </p:spPr>
        <p:txBody>
          <a:bodyPr/>
          <a:lstStyle/>
          <a:p>
            <a:r>
              <a:rPr lang="ko-KR" altLang="en-US"/>
              <a:t>도서 재고 수정 기능을 추가하자</a:t>
            </a:r>
            <a:r>
              <a:rPr lang="en-US" altLang="ko-KR"/>
              <a:t>(updatebook.php,action_updatebook.php)</a:t>
            </a:r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DF57F8C-CAC9-C9AD-89FD-75D4C6F7C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2258365"/>
            <a:ext cx="3353268" cy="35342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419872" y="4025499"/>
            <a:ext cx="1512168" cy="0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9677AC1-C23A-60DD-9AB3-F281FF860DE7}"/>
              </a:ext>
            </a:extLst>
          </p:cNvPr>
          <p:cNvSpPr txBox="1"/>
          <p:nvPr/>
        </p:nvSpPr>
        <p:spPr>
          <a:xfrm>
            <a:off x="646585" y="1472295"/>
            <a:ext cx="1433465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booklist3.php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091F93-46DE-E278-77E3-801115DFC0B0}"/>
              </a:ext>
            </a:extLst>
          </p:cNvPr>
          <p:cNvSpPr txBox="1"/>
          <p:nvPr/>
        </p:nvSpPr>
        <p:spPr>
          <a:xfrm>
            <a:off x="4852662" y="1923452"/>
            <a:ext cx="1656704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updatebook.php</a:t>
            </a:r>
          </a:p>
        </p:txBody>
      </p:sp>
    </p:spTree>
    <p:extLst>
      <p:ext uri="{BB962C8B-B14F-4D97-AF65-F5344CB8AC3E}">
        <p14:creationId xmlns:p14="http://schemas.microsoft.com/office/powerpoint/2010/main" val="954662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72" y="2564904"/>
            <a:ext cx="3810532" cy="215295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85503"/>
            <a:ext cx="8424936" cy="5472608"/>
          </a:xfrm>
        </p:spPr>
        <p:txBody>
          <a:bodyPr/>
          <a:lstStyle/>
          <a:p>
            <a:r>
              <a:rPr lang="ko-KR" altLang="en-US"/>
              <a:t>도서 재고 수정 기능을 추가하자</a:t>
            </a:r>
            <a:r>
              <a:rPr lang="en-US" altLang="ko-KR"/>
              <a:t>(updatebook.php,action_updatebook.php)</a:t>
            </a:r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DF57F8C-CAC9-C9AD-89FD-75D4C6F7C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054673"/>
            <a:ext cx="3353268" cy="35342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921562" y="3641379"/>
            <a:ext cx="844810" cy="1394415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B091F93-46DE-E278-77E3-801115DFC0B0}"/>
              </a:ext>
            </a:extLst>
          </p:cNvPr>
          <p:cNvSpPr txBox="1"/>
          <p:nvPr/>
        </p:nvSpPr>
        <p:spPr>
          <a:xfrm>
            <a:off x="755576" y="1719760"/>
            <a:ext cx="1656704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updatebook.php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091F93-46DE-E278-77E3-801115DFC0B0}"/>
              </a:ext>
            </a:extLst>
          </p:cNvPr>
          <p:cNvSpPr txBox="1"/>
          <p:nvPr/>
        </p:nvSpPr>
        <p:spPr>
          <a:xfrm>
            <a:off x="4728662" y="2215680"/>
            <a:ext cx="2363617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action_updatebook.php</a:t>
            </a:r>
          </a:p>
        </p:txBody>
      </p:sp>
    </p:spTree>
    <p:extLst>
      <p:ext uri="{BB962C8B-B14F-4D97-AF65-F5344CB8AC3E}">
        <p14:creationId xmlns:p14="http://schemas.microsoft.com/office/powerpoint/2010/main" val="1278875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1" y="1763377"/>
            <a:ext cx="3526897" cy="462990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도서 삭제 기능을 추가하자</a:t>
            </a:r>
            <a:r>
              <a:rPr lang="en-US" altLang="ko-KR"/>
              <a:t>(deletebook.php,action_deletebook.php)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F977B6-EAE2-4BB1-75B5-36FEBB45E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610" y="2348881"/>
            <a:ext cx="3160269" cy="33123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035234" y="3933056"/>
            <a:ext cx="1227376" cy="72009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8DCCCE4-A654-849C-ABDF-58B588FF7231}"/>
              </a:ext>
            </a:extLst>
          </p:cNvPr>
          <p:cNvSpPr txBox="1"/>
          <p:nvPr/>
        </p:nvSpPr>
        <p:spPr>
          <a:xfrm>
            <a:off x="586261" y="1429404"/>
            <a:ext cx="1433465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booklist3.php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2C8E81-4A48-286B-D52D-33CE81BB067A}"/>
              </a:ext>
            </a:extLst>
          </p:cNvPr>
          <p:cNvSpPr txBox="1"/>
          <p:nvPr/>
        </p:nvSpPr>
        <p:spPr>
          <a:xfrm>
            <a:off x="5262610" y="2014908"/>
            <a:ext cx="1656704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deletebook.php</a:t>
            </a:r>
          </a:p>
        </p:txBody>
      </p:sp>
    </p:spTree>
    <p:extLst>
      <p:ext uri="{BB962C8B-B14F-4D97-AF65-F5344CB8AC3E}">
        <p14:creationId xmlns:p14="http://schemas.microsoft.com/office/powerpoint/2010/main" val="3956056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도서 삭제 기능을 추가하자</a:t>
            </a:r>
            <a:r>
              <a:rPr lang="en-US" altLang="ko-KR"/>
              <a:t>(deletebook.php,action_deletebook.php)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F977B6-EAE2-4BB1-75B5-36FEBB45E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51" y="2207939"/>
            <a:ext cx="3160269" cy="33123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3650097" y="3828077"/>
            <a:ext cx="1497967" cy="1114580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C2C8E81-4A48-286B-D52D-33CE81BB067A}"/>
              </a:ext>
            </a:extLst>
          </p:cNvPr>
          <p:cNvSpPr txBox="1"/>
          <p:nvPr/>
        </p:nvSpPr>
        <p:spPr>
          <a:xfrm>
            <a:off x="683568" y="1873966"/>
            <a:ext cx="1656704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deletebook.php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2713496"/>
            <a:ext cx="3191320" cy="222916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2C8E81-4A48-286B-D52D-33CE81BB067A}"/>
              </a:ext>
            </a:extLst>
          </p:cNvPr>
          <p:cNvSpPr txBox="1"/>
          <p:nvPr/>
        </p:nvSpPr>
        <p:spPr>
          <a:xfrm>
            <a:off x="5159028" y="2379523"/>
            <a:ext cx="2221284" cy="3339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US" altLang="ko-KR" sz="1400" b="1"/>
              <a:t>action_deletebook.php</a:t>
            </a:r>
          </a:p>
        </p:txBody>
      </p:sp>
    </p:spTree>
    <p:extLst>
      <p:ext uri="{BB962C8B-B14F-4D97-AF65-F5344CB8AC3E}">
        <p14:creationId xmlns:p14="http://schemas.microsoft.com/office/powerpoint/2010/main" val="3904047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</a:t>
            </a:r>
            <a:r>
              <a:rPr lang="en-US" altLang="ko-KR"/>
              <a:t>#1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도서 등록을 수행하는 </a:t>
            </a:r>
            <a:r>
              <a:rPr lang="en-US" altLang="ko-KR"/>
              <a:t>action_insertbook.php </a:t>
            </a:r>
            <a:r>
              <a:rPr lang="ko-KR" altLang="en-US"/>
              <a:t>생성</a:t>
            </a:r>
            <a:endParaRPr lang="en-US" altLang="ko-KR"/>
          </a:p>
          <a:p>
            <a:pPr lvl="1"/>
            <a:r>
              <a:rPr lang="en-US" altLang="ko-KR" sz="1400"/>
              <a:t>DB</a:t>
            </a:r>
            <a:r>
              <a:rPr lang="ko-KR" altLang="en-US" sz="1400"/>
              <a:t>와 연동되어서 수행되도록 </a:t>
            </a:r>
            <a:r>
              <a:rPr lang="en-US" altLang="ko-KR" sz="1400"/>
              <a:t>INSERT </a:t>
            </a:r>
            <a:r>
              <a:rPr lang="ko-KR" altLang="en-US" sz="1400"/>
              <a:t>쿼리 생성하기</a:t>
            </a:r>
            <a:endParaRPr lang="en-US" altLang="ko-KR" sz="1400"/>
          </a:p>
          <a:p>
            <a:pPr lvl="1"/>
            <a:r>
              <a:rPr lang="ko-KR" altLang="en-US" sz="1400"/>
              <a:t>테이블 이름은 </a:t>
            </a:r>
            <a:r>
              <a:rPr lang="en-US" altLang="ko-KR" sz="1400"/>
              <a:t>Book </a:t>
            </a:r>
            <a:r>
              <a:rPr lang="ko-KR" altLang="en-US" sz="1400"/>
              <a:t>이고 </a:t>
            </a:r>
            <a:r>
              <a:rPr lang="en-US" altLang="ko-KR" sz="1400"/>
              <a:t>id(primarykey) </a:t>
            </a:r>
            <a:r>
              <a:rPr lang="ko-KR" altLang="en-US" sz="1400"/>
              <a:t>는 </a:t>
            </a:r>
            <a:r>
              <a:rPr lang="en-US" altLang="ko-KR" sz="1400"/>
              <a:t>bookid </a:t>
            </a:r>
            <a:r>
              <a:rPr lang="ko-KR" altLang="en-US" sz="1400"/>
              <a:t>이다</a:t>
            </a:r>
            <a:r>
              <a:rPr lang="en-US" altLang="ko-KR" sz="1400"/>
              <a:t>.</a:t>
            </a:r>
          </a:p>
          <a:p>
            <a:endParaRPr lang="en-US" altLang="ko-KR"/>
          </a:p>
          <a:p>
            <a:r>
              <a:rPr lang="ko-KR" altLang="en-US"/>
              <a:t>도서 수정을 수행하는 </a:t>
            </a:r>
            <a:r>
              <a:rPr lang="en-US" altLang="ko-KR"/>
              <a:t>action_updatebook.php </a:t>
            </a:r>
            <a:r>
              <a:rPr lang="ko-KR" altLang="en-US"/>
              <a:t>생성</a:t>
            </a:r>
            <a:endParaRPr lang="en-US" altLang="ko-KR"/>
          </a:p>
          <a:p>
            <a:pPr lvl="1"/>
            <a:r>
              <a:rPr lang="en-US" altLang="ko-KR" sz="1400"/>
              <a:t>DB</a:t>
            </a:r>
            <a:r>
              <a:rPr lang="ko-KR" altLang="en-US" sz="1400"/>
              <a:t>와 연동되어서 수행되도록 </a:t>
            </a:r>
            <a:r>
              <a:rPr lang="en-US" altLang="ko-KR" sz="1400"/>
              <a:t>UPDATE </a:t>
            </a:r>
            <a:r>
              <a:rPr lang="ko-KR" altLang="en-US" sz="1400"/>
              <a:t>쿼리 생성하기</a:t>
            </a:r>
            <a:endParaRPr lang="en-US" altLang="ko-KR" sz="1400"/>
          </a:p>
          <a:p>
            <a:pPr lvl="1"/>
            <a:r>
              <a:rPr lang="ko-KR" altLang="en-US" sz="1400"/>
              <a:t>재고값만 수정하도록 한다</a:t>
            </a:r>
            <a:endParaRPr lang="en-US" altLang="ko-KR" sz="1400"/>
          </a:p>
          <a:p>
            <a:endParaRPr lang="en-US" altLang="ko-KR"/>
          </a:p>
          <a:p>
            <a:r>
              <a:rPr lang="ko-KR" altLang="en-US"/>
              <a:t>도서 삭제를 수행하는 </a:t>
            </a:r>
            <a:r>
              <a:rPr lang="en-US" altLang="ko-KR"/>
              <a:t>action_deletebook.php </a:t>
            </a:r>
            <a:r>
              <a:rPr lang="ko-KR" altLang="en-US"/>
              <a:t>생성</a:t>
            </a:r>
            <a:endParaRPr lang="en-US" altLang="ko-KR"/>
          </a:p>
          <a:p>
            <a:pPr lvl="1"/>
            <a:r>
              <a:rPr lang="en-US" altLang="ko-KR"/>
              <a:t>DB</a:t>
            </a:r>
            <a:r>
              <a:rPr lang="ko-KR" altLang="en-US"/>
              <a:t>와 연동되어서 수행되도록 </a:t>
            </a:r>
            <a:r>
              <a:rPr lang="en-US" altLang="ko-KR"/>
              <a:t>DELETE </a:t>
            </a:r>
            <a:r>
              <a:rPr lang="ko-KR" altLang="en-US"/>
              <a:t>쿼리 생성하기</a:t>
            </a:r>
            <a:endParaRPr lang="en-US" altLang="ko-KR"/>
          </a:p>
          <a:p>
            <a:pPr lvl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476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1192F4F-56EE-6517-75F7-864E3F2272C9}"/>
              </a:ext>
            </a:extLst>
          </p:cNvPr>
          <p:cNvSpPr/>
          <p:nvPr/>
        </p:nvSpPr>
        <p:spPr>
          <a:xfrm>
            <a:off x="611560" y="1871768"/>
            <a:ext cx="4402167" cy="6678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프로그램</a:t>
            </a: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 </a:t>
            </a: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실습 문제 </a:t>
            </a: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#2</a:t>
            </a:r>
            <a:endParaRPr lang="ko-KR" altLang="en-US" sz="3400" b="1" spc="-150">
              <a:solidFill>
                <a:schemeClr val="accent4">
                  <a:lumMod val="50000"/>
                </a:schemeClr>
              </a:solidFill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55221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#2</a:t>
            </a:r>
            <a:endParaRPr lang="ko-KR" altLang="en-US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새로운 회원 목록 페이지를 생성하자</a:t>
            </a:r>
            <a:r>
              <a:rPr lang="en-US" altLang="ko-KR"/>
              <a:t>(customerlist3.php)</a:t>
            </a:r>
          </a:p>
          <a:p>
            <a:r>
              <a:rPr lang="en-US" altLang="ko-KR"/>
              <a:t>booklist3.php </a:t>
            </a:r>
            <a:r>
              <a:rPr lang="ko-KR" altLang="en-US"/>
              <a:t>참조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06" y="1916832"/>
            <a:ext cx="6001588" cy="4020111"/>
          </a:xfrm>
          <a:prstGeom prst="rect">
            <a:avLst/>
          </a:prstGeom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8645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43" y="2098410"/>
            <a:ext cx="4656978" cy="311943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회원 등록 기능을 추가하자</a:t>
            </a:r>
            <a:r>
              <a:rPr lang="en-US" altLang="ko-KR"/>
              <a:t>(insertcustomer.php, action_insertcustomer.php)</a:t>
            </a:r>
          </a:p>
          <a:p>
            <a:r>
              <a:rPr lang="en-US" altLang="ko-KR"/>
              <a:t>insertbook.php </a:t>
            </a:r>
            <a:r>
              <a:rPr lang="ko-KR" altLang="en-US"/>
              <a:t>참조</a:t>
            </a:r>
            <a:endParaRPr lang="en-US" altLang="ko-KR"/>
          </a:p>
          <a:p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1691680" y="3552684"/>
            <a:ext cx="3888432" cy="1460492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2204864"/>
            <a:ext cx="2664296" cy="269564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0462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43" y="2098410"/>
            <a:ext cx="4656978" cy="311943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288" y="2087382"/>
            <a:ext cx="2826160" cy="295232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회원 수정 기능을 추가하자</a:t>
            </a:r>
            <a:r>
              <a:rPr lang="en-US" altLang="ko-KR"/>
              <a:t>(updatecustomer.php, action_updatecustomer.php)</a:t>
            </a:r>
          </a:p>
          <a:p>
            <a:r>
              <a:rPr lang="en-US" altLang="ko-KR"/>
              <a:t>updatebook.php </a:t>
            </a:r>
            <a:r>
              <a:rPr lang="ko-KR" altLang="en-US"/>
              <a:t>참조</a:t>
            </a:r>
            <a:endParaRPr lang="en-US" altLang="ko-KR"/>
          </a:p>
          <a:p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403648" y="3429000"/>
            <a:ext cx="4374640" cy="134546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490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43" y="2098410"/>
            <a:ext cx="4656978" cy="311943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4A835A-87A3-C872-619B-9521BAC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프로그램 실습 문제 </a:t>
            </a:r>
            <a:r>
              <a:rPr lang="en-US" altLang="ko-KR"/>
              <a:t>#2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40BEC-5C50-9D76-B093-BCA234FCB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회원 삭제 기능을 추가하자</a:t>
            </a:r>
            <a:r>
              <a:rPr lang="en-US" altLang="ko-KR"/>
              <a:t>(deletecustomer.php, action_deletecustomer.php)</a:t>
            </a:r>
          </a:p>
          <a:p>
            <a:r>
              <a:rPr lang="en-US" altLang="ko-KR"/>
              <a:t>deletebook.php </a:t>
            </a:r>
            <a:r>
              <a:rPr lang="ko-KR" altLang="en-US"/>
              <a:t>참조</a:t>
            </a:r>
            <a:endParaRPr lang="en-US" altLang="ko-KR"/>
          </a:p>
          <a:p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7441BA-55F9-125F-8A34-56036E1324A2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5148064" y="3658128"/>
            <a:ext cx="442354" cy="58904"/>
          </a:xfrm>
          <a:prstGeom prst="line">
            <a:avLst/>
          </a:prstGeom>
          <a:ln w="46990">
            <a:headEnd type="oval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418" y="1995783"/>
            <a:ext cx="3191320" cy="332468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1956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8195</TotalTime>
  <Words>484</Words>
  <Application>Microsoft Office PowerPoint</Application>
  <PresentationFormat>화면 슬라이드 쇼(4:3)</PresentationFormat>
  <Paragraphs>87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8" baseType="lpstr">
      <vt:lpstr>HY견고딕</vt:lpstr>
      <vt:lpstr>ITCGaramondStd-Lt</vt:lpstr>
      <vt:lpstr>YDVYMjOStd12</vt:lpstr>
      <vt:lpstr>YDVYMjOStd14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프로그램 실습</vt:lpstr>
      <vt:lpstr>프로그램 실습</vt:lpstr>
      <vt:lpstr>프로그램 실습</vt:lpstr>
      <vt:lpstr>프로그램 실습</vt:lpstr>
      <vt:lpstr>PowerPoint 프레젠테이션</vt:lpstr>
      <vt:lpstr>프로그램 실습 문제 #1</vt:lpstr>
      <vt:lpstr>프로그램 실습 문제 #1</vt:lpstr>
      <vt:lpstr>프로그램 실습 문제 #1</vt:lpstr>
      <vt:lpstr>프로그램 실습 문제 #1</vt:lpstr>
      <vt:lpstr>프로그램 실습 문제 #1</vt:lpstr>
      <vt:lpstr>프로그램 실습 문제 #1</vt:lpstr>
      <vt:lpstr>프로그램 실습 문제 #1</vt:lpstr>
      <vt:lpstr>프로그램 실습 #1</vt:lpstr>
      <vt:lpstr>PowerPoint 프레젠테이션</vt:lpstr>
      <vt:lpstr>프로그램 실습 문제 #2</vt:lpstr>
      <vt:lpstr>프로그램 실습 문제 #2</vt:lpstr>
      <vt:lpstr>프로그램 실습 문제 #2</vt:lpstr>
      <vt:lpstr>프로그램 실습 문제 #2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825</cp:revision>
  <dcterms:created xsi:type="dcterms:W3CDTF">2012-07-11T10:23:22Z</dcterms:created>
  <dcterms:modified xsi:type="dcterms:W3CDTF">2026-04-29T06:00:55Z</dcterms:modified>
</cp:coreProperties>
</file>
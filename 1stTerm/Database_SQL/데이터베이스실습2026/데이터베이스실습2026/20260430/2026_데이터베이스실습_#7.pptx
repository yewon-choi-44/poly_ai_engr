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9"/>
  </p:notesMasterIdLst>
  <p:handoutMasterIdLst>
    <p:handoutMasterId r:id="rId50"/>
  </p:handoutMasterIdLst>
  <p:sldIdLst>
    <p:sldId id="256" r:id="rId3"/>
    <p:sldId id="524" r:id="rId4"/>
    <p:sldId id="525" r:id="rId5"/>
    <p:sldId id="480" r:id="rId6"/>
    <p:sldId id="481" r:id="rId7"/>
    <p:sldId id="482" r:id="rId8"/>
    <p:sldId id="465" r:id="rId9"/>
    <p:sldId id="526" r:id="rId10"/>
    <p:sldId id="528" r:id="rId11"/>
    <p:sldId id="529" r:id="rId12"/>
    <p:sldId id="530" r:id="rId13"/>
    <p:sldId id="532" r:id="rId14"/>
    <p:sldId id="533" r:id="rId15"/>
    <p:sldId id="534" r:id="rId16"/>
    <p:sldId id="592" r:id="rId17"/>
    <p:sldId id="593" r:id="rId18"/>
    <p:sldId id="535" r:id="rId19"/>
    <p:sldId id="594" r:id="rId20"/>
    <p:sldId id="596" r:id="rId21"/>
    <p:sldId id="597" r:id="rId22"/>
    <p:sldId id="540" r:id="rId23"/>
    <p:sldId id="541" r:id="rId24"/>
    <p:sldId id="542" r:id="rId25"/>
    <p:sldId id="543" r:id="rId26"/>
    <p:sldId id="544" r:id="rId27"/>
    <p:sldId id="545" r:id="rId28"/>
    <p:sldId id="546" r:id="rId29"/>
    <p:sldId id="547" r:id="rId30"/>
    <p:sldId id="556" r:id="rId31"/>
    <p:sldId id="560" r:id="rId32"/>
    <p:sldId id="565" r:id="rId33"/>
    <p:sldId id="587" r:id="rId34"/>
    <p:sldId id="588" r:id="rId35"/>
    <p:sldId id="589" r:id="rId36"/>
    <p:sldId id="548" r:id="rId37"/>
    <p:sldId id="590" r:id="rId38"/>
    <p:sldId id="537" r:id="rId39"/>
    <p:sldId id="598" r:id="rId40"/>
    <p:sldId id="558" r:id="rId41"/>
    <p:sldId id="600" r:id="rId42"/>
    <p:sldId id="601" r:id="rId43"/>
    <p:sldId id="602" r:id="rId44"/>
    <p:sldId id="561" r:id="rId45"/>
    <p:sldId id="566" r:id="rId46"/>
    <p:sldId id="562" r:id="rId47"/>
    <p:sldId id="559" r:id="rId48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103" d="100"/>
          <a:sy n="103" d="100"/>
        </p:scale>
        <p:origin x="984" y="10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2026-04-30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2026-04-30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://remotehost/phpblock.php" TargetMode="Externa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/>
            </a: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1560" y="1871768"/>
            <a:ext cx="6522940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프로그래밍의 개념</a:t>
            </a:r>
          </a:p>
        </p:txBody>
      </p:sp>
    </p:spTree>
    <p:extLst>
      <p:ext uri="{BB962C8B-B14F-4D97-AF65-F5344CB8AC3E}">
        <p14:creationId xmlns:p14="http://schemas.microsoft.com/office/powerpoint/2010/main" val="221431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프로그래밍의 개념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496944" cy="54726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프로그래밍이란</a:t>
            </a:r>
            <a:r>
              <a:rPr lang="en-US" altLang="ko-KR" sz="2000" dirty="0">
                <a:solidFill>
                  <a:schemeClr val="tx2"/>
                </a:solidFill>
              </a:rPr>
              <a:t>?</a:t>
            </a:r>
          </a:p>
          <a:p>
            <a:pPr lvl="1"/>
            <a:r>
              <a:rPr lang="ko-KR" altLang="en-US" sz="1400" dirty="0"/>
              <a:t>프로그램을 설계하고 소스코드를 작성하여 디버깅하는 과정</a:t>
            </a:r>
            <a:endParaRPr lang="en-US" altLang="ko-KR" sz="1400" dirty="0"/>
          </a:p>
          <a:p>
            <a:pPr lvl="1"/>
            <a:endParaRPr lang="en-US" altLang="ko-KR" dirty="0"/>
          </a:p>
          <a:p>
            <a:pPr latinLnBrk="0"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데이터베이스 프로그래밍이란</a:t>
            </a:r>
            <a:r>
              <a:rPr lang="en-US" altLang="ko-KR" sz="2000" dirty="0">
                <a:solidFill>
                  <a:schemeClr val="tx2"/>
                </a:solidFill>
              </a:rPr>
              <a:t>?</a:t>
            </a:r>
          </a:p>
          <a:p>
            <a:pPr lvl="1"/>
            <a:r>
              <a:rPr lang="en-US" altLang="ko-KR" sz="1400" dirty="0"/>
              <a:t>DBMS</a:t>
            </a:r>
            <a:r>
              <a:rPr lang="ko-KR" altLang="en-US" sz="1400" dirty="0"/>
              <a:t>에 데이터를 정의하고 저장된 데이터를 읽어와 데이터를 변경하는 프로그램을 작성하는 과정</a:t>
            </a:r>
            <a:endParaRPr lang="en-US" altLang="ko-KR" sz="1400" dirty="0"/>
          </a:p>
          <a:p>
            <a:pPr lvl="1"/>
            <a:r>
              <a:rPr lang="ko-KR" altLang="en-US" sz="1400" dirty="0"/>
              <a:t>일반 프로그래밍과는 데이터베이스 언어인 </a:t>
            </a:r>
            <a:r>
              <a:rPr lang="en-US" altLang="ko-KR" sz="1400" dirty="0"/>
              <a:t>SQL</a:t>
            </a:r>
            <a:r>
              <a:rPr lang="ko-KR" altLang="en-US" sz="1400" dirty="0"/>
              <a:t>을 포함한다는 점이 다름</a:t>
            </a:r>
            <a:endParaRPr lang="en-US" altLang="ko-KR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1043608" y="638132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5-1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 프로그래밍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573016"/>
            <a:ext cx="6540823" cy="273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7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프로그래밍의 개념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데이터베이스 프로그래밍 방법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algn="just"/>
            <a:endParaRPr lang="en-US" altLang="ko-KR" sz="800" dirty="0"/>
          </a:p>
          <a:p>
            <a:pPr algn="just">
              <a:buNone/>
            </a:pPr>
            <a:r>
              <a:rPr lang="en-US" altLang="ko-KR" sz="1400" dirty="0">
                <a:sym typeface="Wingdings"/>
              </a:rPr>
              <a:t>	</a:t>
            </a:r>
            <a:r>
              <a:rPr lang="en-US" altLang="ko-KR" sz="1400" b="0" dirty="0">
                <a:sym typeface="Wingdings"/>
              </a:rPr>
              <a:t> </a:t>
            </a:r>
            <a:r>
              <a:rPr lang="en-US" altLang="ko-KR" sz="1400" dirty="0"/>
              <a:t>SQL </a:t>
            </a:r>
            <a:r>
              <a:rPr lang="ko-KR" altLang="en-US" sz="1400" dirty="0"/>
              <a:t>전용 언어를 사용하는 방법</a:t>
            </a:r>
            <a:endParaRPr lang="en-US" altLang="ko-KR" sz="1400" dirty="0"/>
          </a:p>
          <a:p>
            <a:pPr marL="628650" indent="-628650" algn="just">
              <a:buNone/>
            </a:pPr>
            <a:r>
              <a:rPr lang="en-US" altLang="ko-KR" sz="1400" dirty="0"/>
              <a:t>         </a:t>
            </a:r>
            <a:r>
              <a:rPr lang="en-US" altLang="ko-KR" sz="1200" b="0" dirty="0"/>
              <a:t>SQL </a:t>
            </a:r>
            <a:r>
              <a:rPr lang="ko-KR" altLang="en-US" sz="1200" b="0" dirty="0"/>
              <a:t>자체의 기능을 확장하여 변수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제어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입출력 등의 기능을 추가한 새로운 언어를 사용하는 방법</a:t>
            </a:r>
            <a:r>
              <a:rPr lang="en-US" altLang="ko-KR" sz="1200" b="0" dirty="0"/>
              <a:t>. </a:t>
            </a:r>
          </a:p>
          <a:p>
            <a:pPr marL="628650" indent="-628650" algn="just">
              <a:buNone/>
            </a:pPr>
            <a:r>
              <a:rPr lang="en-US" altLang="ko-KR" sz="1200" b="0" dirty="0"/>
              <a:t>          </a:t>
            </a:r>
            <a:r>
              <a:rPr lang="ko-KR" altLang="en-US" sz="1200" b="0" dirty="0" err="1"/>
              <a:t>오라클은은</a:t>
            </a:r>
            <a:r>
              <a:rPr lang="ko-KR" altLang="en-US" sz="1200" b="0" dirty="0"/>
              <a:t> 저장 프로그램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언어를 사용하며</a:t>
            </a:r>
            <a:r>
              <a:rPr lang="en-US" altLang="ko-KR" sz="1200" b="0" dirty="0"/>
              <a:t>, SQL Server</a:t>
            </a:r>
            <a:r>
              <a:rPr lang="ko-KR" altLang="en-US" sz="1200" b="0" dirty="0"/>
              <a:t>는 </a:t>
            </a:r>
            <a:r>
              <a:rPr lang="en-US" altLang="ko-KR" sz="1200" b="0" dirty="0"/>
              <a:t>T-SQL</a:t>
            </a:r>
            <a:r>
              <a:rPr lang="ko-KR" altLang="en-US" sz="1200" b="0" dirty="0"/>
              <a:t>이라는 언어를 사용함</a:t>
            </a:r>
            <a:r>
              <a:rPr lang="en-US" altLang="ko-KR" sz="1200" b="0" dirty="0"/>
              <a:t>.</a:t>
            </a:r>
          </a:p>
          <a:p>
            <a:pPr marL="628650" indent="-628650" algn="just">
              <a:buNone/>
            </a:pPr>
            <a:endParaRPr lang="en-US" altLang="ko-KR" sz="800" b="0" dirty="0"/>
          </a:p>
          <a:p>
            <a:pPr algn="just">
              <a:buNone/>
            </a:pPr>
            <a:r>
              <a:rPr lang="en-US" altLang="ko-KR" sz="1400" dirty="0">
                <a:sym typeface="Wingdings"/>
              </a:rPr>
              <a:t>	</a:t>
            </a:r>
            <a:r>
              <a:rPr lang="ko-KR" altLang="en-US" sz="1400" dirty="0">
                <a:sym typeface="Wingdings"/>
              </a:rPr>
              <a:t> </a:t>
            </a:r>
            <a:r>
              <a:rPr lang="ko-KR" altLang="en-US" sz="1400" dirty="0"/>
              <a:t>일반 프로그래밍 언어에 </a:t>
            </a:r>
            <a:r>
              <a:rPr lang="en-US" altLang="ko-KR" sz="1400" dirty="0"/>
              <a:t>SQL</a:t>
            </a:r>
            <a:r>
              <a:rPr lang="ko-KR" altLang="en-US" sz="1400" dirty="0"/>
              <a:t>을 삽입하여 사용하는 방법</a:t>
            </a:r>
            <a:endParaRPr lang="en-US" altLang="ko-KR" sz="1400" dirty="0"/>
          </a:p>
          <a:p>
            <a:pPr marL="542925" indent="-542925" algn="just">
              <a:buNone/>
            </a:pPr>
            <a:r>
              <a:rPr lang="en-US" altLang="ko-KR" sz="1400" dirty="0"/>
              <a:t>	</a:t>
            </a:r>
            <a:r>
              <a:rPr lang="ko-KR" altLang="en-US" sz="1200" b="0" dirty="0"/>
              <a:t>자바</a:t>
            </a:r>
            <a:r>
              <a:rPr lang="en-US" altLang="ko-KR" sz="1200" b="0" dirty="0"/>
              <a:t>, C, C++ </a:t>
            </a:r>
            <a:r>
              <a:rPr lang="ko-KR" altLang="en-US" sz="1200" b="0" dirty="0"/>
              <a:t>등 일반 프로그래밍 언어에 </a:t>
            </a:r>
            <a:r>
              <a:rPr lang="en-US" altLang="ko-KR" sz="1200" b="0" dirty="0"/>
              <a:t>SQL </a:t>
            </a:r>
            <a:r>
              <a:rPr lang="ko-KR" altLang="en-US" sz="1200" b="0" dirty="0"/>
              <a:t>삽입하여 사용하는 방법</a:t>
            </a:r>
            <a:r>
              <a:rPr lang="en-US" altLang="ko-KR" sz="1200" b="0" dirty="0"/>
              <a:t>. </a:t>
            </a:r>
          </a:p>
          <a:p>
            <a:pPr marL="542925" indent="-542925" algn="just">
              <a:buNone/>
            </a:pPr>
            <a:r>
              <a:rPr lang="en-US" altLang="ko-KR" sz="1200" b="0" dirty="0"/>
              <a:t>          </a:t>
            </a:r>
            <a:r>
              <a:rPr lang="ko-KR" altLang="en-US" sz="1200" b="0" dirty="0"/>
              <a:t>일반 프로그래밍 언어로 작성된 응용 프로그램에서 데이터베이스에 저장된 데이터를 관리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검색함</a:t>
            </a:r>
            <a:r>
              <a:rPr lang="en-US" altLang="ko-KR" sz="1200" b="0" dirty="0"/>
              <a:t>.</a:t>
            </a:r>
          </a:p>
          <a:p>
            <a:pPr marL="542925" indent="-542925" algn="just">
              <a:buNone/>
            </a:pPr>
            <a:r>
              <a:rPr lang="en-US" altLang="ko-KR" sz="1200" b="0" dirty="0"/>
              <a:t>          </a:t>
            </a:r>
            <a:r>
              <a:rPr lang="ko-KR" altLang="en-US" sz="1200" b="0" dirty="0"/>
              <a:t>삽입된 </a:t>
            </a:r>
            <a:r>
              <a:rPr lang="en-US" altLang="ko-KR" sz="1200" b="0" dirty="0"/>
              <a:t>SQL</a:t>
            </a:r>
            <a:r>
              <a:rPr lang="ko-KR" altLang="en-US" sz="1200" b="0" dirty="0"/>
              <a:t>문은 </a:t>
            </a:r>
            <a:r>
              <a:rPr lang="en-US" altLang="ko-KR" sz="1200" b="0" dirty="0"/>
              <a:t>DBMS</a:t>
            </a:r>
            <a:r>
              <a:rPr lang="ko-KR" altLang="en-US" sz="1200" b="0" dirty="0"/>
              <a:t>의 컴파일러가 처리함</a:t>
            </a:r>
            <a:r>
              <a:rPr lang="en-US" altLang="ko-KR" sz="1200" b="0" dirty="0"/>
              <a:t>.</a:t>
            </a:r>
          </a:p>
          <a:p>
            <a:pPr marL="542925" indent="-542925" algn="just">
              <a:buNone/>
            </a:pPr>
            <a:endParaRPr lang="en-US" altLang="ko-KR" sz="800" b="0" dirty="0"/>
          </a:p>
          <a:p>
            <a:pPr algn="just">
              <a:buNone/>
            </a:pPr>
            <a:r>
              <a:rPr lang="en-US" altLang="ko-KR" sz="1400" dirty="0">
                <a:sym typeface="Wingdings"/>
              </a:rPr>
              <a:t>	</a:t>
            </a:r>
            <a:r>
              <a:rPr lang="ko-KR" altLang="en-US" sz="1400" dirty="0">
                <a:sym typeface="Wingdings"/>
              </a:rPr>
              <a:t> </a:t>
            </a:r>
            <a:r>
              <a:rPr lang="ko-KR" altLang="en-US" sz="1400" dirty="0"/>
              <a:t>웹 프로그래밍 언어에 </a:t>
            </a:r>
            <a:r>
              <a:rPr lang="en-US" altLang="ko-KR" sz="1400" dirty="0"/>
              <a:t>SQL</a:t>
            </a:r>
            <a:r>
              <a:rPr lang="ko-KR" altLang="en-US" sz="1400" dirty="0"/>
              <a:t>을 삽입하여 사용하는 방법</a:t>
            </a:r>
            <a:endParaRPr lang="en-US" altLang="ko-KR" sz="1400" dirty="0"/>
          </a:p>
          <a:p>
            <a:pPr marL="542925" indent="-542925" algn="just">
              <a:buNone/>
            </a:pPr>
            <a:r>
              <a:rPr lang="en-US" altLang="ko-KR" sz="1400" dirty="0"/>
              <a:t>	</a:t>
            </a:r>
            <a:r>
              <a:rPr lang="ko-KR" altLang="en-US" sz="1200" b="0" dirty="0"/>
              <a:t>호스트 언어가 </a:t>
            </a:r>
            <a:r>
              <a:rPr lang="en-US" altLang="ko-KR" sz="1200" b="0" dirty="0"/>
              <a:t>JSP, ASP, PHP </a:t>
            </a:r>
            <a:r>
              <a:rPr lang="ko-KR" altLang="en-US" sz="1200" b="0" dirty="0"/>
              <a:t>등 웹 스크립트 언어인 경우다</a:t>
            </a:r>
            <a:r>
              <a:rPr lang="en-US" altLang="ko-KR" sz="1200" b="0" dirty="0"/>
              <a:t>.</a:t>
            </a:r>
          </a:p>
          <a:p>
            <a:pPr algn="just">
              <a:buNone/>
            </a:pPr>
            <a:endParaRPr lang="en-US" altLang="ko-KR" sz="800" b="0" dirty="0"/>
          </a:p>
          <a:p>
            <a:pPr algn="just">
              <a:buNone/>
            </a:pPr>
            <a:r>
              <a:rPr lang="en-US" altLang="ko-KR" sz="1400" dirty="0">
                <a:sym typeface="Wingdings"/>
              </a:rPr>
              <a:t>	 </a:t>
            </a:r>
            <a:r>
              <a:rPr lang="en-US" altLang="ko-KR" sz="1400" dirty="0"/>
              <a:t>4GL(4th Generation Language)</a:t>
            </a:r>
          </a:p>
          <a:p>
            <a:pPr marL="542925" indent="-542925" algn="just">
              <a:buNone/>
            </a:pPr>
            <a:r>
              <a:rPr lang="en-US" altLang="ko-KR" sz="1400" dirty="0"/>
              <a:t>	</a:t>
            </a:r>
            <a:r>
              <a:rPr lang="ko-KR" altLang="en-US" sz="1200" b="0" dirty="0"/>
              <a:t>데이터베이스 관리 기능과 </a:t>
            </a:r>
            <a:r>
              <a:rPr lang="ko-KR" altLang="en-US" sz="1200" b="0" dirty="0" err="1"/>
              <a:t>비주얼</a:t>
            </a:r>
            <a:r>
              <a:rPr lang="ko-KR" altLang="en-US" sz="1200" b="0" dirty="0"/>
              <a:t> 프로그래밍 기능을 갖춘 ‘</a:t>
            </a:r>
            <a:r>
              <a:rPr lang="en-US" altLang="ko-KR" sz="1200" b="0" dirty="0"/>
              <a:t>GUI </a:t>
            </a:r>
            <a:r>
              <a:rPr lang="ko-KR" altLang="en-US" sz="1200" b="0" dirty="0"/>
              <a:t>기반 소프트웨어 개발 도구’를 사용하여 프로그래밍하는 방법</a:t>
            </a:r>
            <a:r>
              <a:rPr lang="en-US" altLang="ko-KR" sz="1200" b="0" dirty="0"/>
              <a:t>. Delphi, Power Builder, Visual Basic </a:t>
            </a:r>
            <a:r>
              <a:rPr lang="ko-KR" altLang="en-US" sz="1200" b="0" dirty="0"/>
              <a:t>등이 있음</a:t>
            </a:r>
            <a:r>
              <a:rPr lang="en-US" altLang="ko-KR" sz="12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302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프로그래밍의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6312" y="6388791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5-2 </a:t>
            </a:r>
            <a:r>
              <a:rPr lang="en-US" altLang="ko-KR" sz="1400" b="1" dirty="0">
                <a:ea typeface="맑은 고딕" panose="020B0503020000020004" pitchFamily="50" charset="-127"/>
              </a:rPr>
              <a:t>DBMS  </a:t>
            </a:r>
            <a:r>
              <a:rPr lang="ko-KR" altLang="en-US" sz="1400" b="1" dirty="0">
                <a:ea typeface="맑은 고딕" panose="020B0503020000020004" pitchFamily="50" charset="-127"/>
              </a:rPr>
              <a:t>플랫폼과 데이터베이스 프로그래밍의 유형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51543"/>
            <a:ext cx="7488832" cy="512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프로그래밍의 개념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39951" y="1700808"/>
          <a:ext cx="8064497" cy="3207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91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Access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SQL Server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Oracle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MySQL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DB2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SQLite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마이크로 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소프트사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마이크로 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소프트사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오라클사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오라클사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IBM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리처드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힙</a:t>
                      </a:r>
                      <a:endParaRPr lang="ko-KR" altLang="en-US" sz="1200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오픈소스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운영체제 기반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윈도우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윈도우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리눅스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윈도우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유닉스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리눅스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윈도우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유닉스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리눅스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유닉스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OS</a:t>
                      </a:r>
                    </a:p>
                    <a:p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안드로이드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iOS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개인용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윈도우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기반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기업용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대용량 데이터베이스를 위한 응용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소용량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데이터베이스를 위한 응용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대용량 데이터베이스를 위한 응용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전용</a:t>
                      </a:r>
                    </a:p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데이터베이스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141277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5-1 </a:t>
            </a:r>
            <a:r>
              <a:rPr lang="en-US" altLang="ko-KR" sz="1400" b="1" dirty="0">
                <a:ea typeface="맑은 고딕" panose="020B0503020000020004" pitchFamily="50" charset="-127"/>
              </a:rPr>
              <a:t>DBMS</a:t>
            </a:r>
            <a:r>
              <a:rPr lang="ko-KR" altLang="en-US" sz="1400" b="1" dirty="0">
                <a:ea typeface="맑은 고딕" panose="020B0503020000020004" pitchFamily="50" charset="-127"/>
              </a:rPr>
              <a:t>의 종류와 특징</a:t>
            </a:r>
          </a:p>
        </p:txBody>
      </p:sp>
    </p:spTree>
    <p:extLst>
      <p:ext uri="{BB962C8B-B14F-4D97-AF65-F5344CB8AC3E}">
        <p14:creationId xmlns:p14="http://schemas.microsoft.com/office/powerpoint/2010/main" val="426269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6657592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연동 웹 프로그래밍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계정 생성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프로그램 실습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398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>
                <a:solidFill>
                  <a:schemeClr val="accent4">
                    <a:lumMod val="50000"/>
                  </a:schemeClr>
                </a:solidFill>
              </a:rPr>
              <a:t>데이터베이스 연동 웹 프로그래밍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ko-KR" altLang="en-US" dirty="0"/>
              <a:t>계정 생성</a:t>
            </a:r>
            <a:endParaRPr lang="en-US" altLang="ko-KR" dirty="0"/>
          </a:p>
          <a:p>
            <a:pPr lvl="1"/>
            <a:r>
              <a:rPr lang="en-US" altLang="ko-KR" sz="1400" b="1" dirty="0"/>
              <a:t>CREATE USER </a:t>
            </a:r>
            <a:r>
              <a:rPr lang="en-US" altLang="ko-KR" sz="1400" b="1" dirty="0" err="1"/>
              <a:t>madang@localhost</a:t>
            </a:r>
            <a:r>
              <a:rPr lang="en-US" altLang="ko-KR" sz="1400" b="1" dirty="0"/>
              <a:t> identified by ‘</a:t>
            </a:r>
            <a:r>
              <a:rPr lang="en-US" altLang="ko-KR" sz="1400" b="1" dirty="0" err="1"/>
              <a:t>madang</a:t>
            </a:r>
            <a:r>
              <a:rPr lang="en-US" altLang="ko-KR" sz="1400" b="1" dirty="0"/>
              <a:t>’;</a:t>
            </a:r>
          </a:p>
          <a:p>
            <a:pPr lvl="1"/>
            <a:endParaRPr lang="en-US" altLang="ko-KR" sz="1400" b="1" dirty="0"/>
          </a:p>
          <a:p>
            <a:r>
              <a:rPr lang="ko-KR" altLang="en-US" dirty="0"/>
              <a:t>계정 변경</a:t>
            </a:r>
            <a:endParaRPr lang="en-US" altLang="ko-KR" dirty="0"/>
          </a:p>
          <a:p>
            <a:pPr lvl="1"/>
            <a:r>
              <a:rPr lang="en-US" altLang="ko-KR" sz="1400" b="1" dirty="0"/>
              <a:t>ALTER USER </a:t>
            </a:r>
            <a:r>
              <a:rPr lang="en-US" altLang="ko-KR" sz="1400" b="1" dirty="0" err="1"/>
              <a:t>madang@localhost</a:t>
            </a:r>
            <a:r>
              <a:rPr lang="en-US" altLang="ko-KR" sz="1400" b="1" dirty="0"/>
              <a:t> identified by ‘</a:t>
            </a:r>
            <a:r>
              <a:rPr lang="en-US" altLang="ko-KR" sz="1400" b="1" dirty="0" err="1"/>
              <a:t>qw12</a:t>
            </a:r>
            <a:r>
              <a:rPr lang="en-US" altLang="ko-KR" sz="1400" b="1" dirty="0"/>
              <a:t>’;</a:t>
            </a:r>
          </a:p>
          <a:p>
            <a:pPr marL="266700" lvl="1" indent="0">
              <a:buNone/>
            </a:pPr>
            <a:endParaRPr lang="en-US" altLang="ko-KR" sz="1400" b="1" dirty="0"/>
          </a:p>
          <a:p>
            <a:r>
              <a:rPr lang="ko-KR" altLang="en-US" dirty="0"/>
              <a:t>계정 삭제</a:t>
            </a:r>
            <a:endParaRPr lang="en-US" altLang="ko-KR" dirty="0"/>
          </a:p>
          <a:p>
            <a:pPr lvl="1"/>
            <a:r>
              <a:rPr lang="en-US" altLang="ko-KR" sz="1400" b="1" dirty="0"/>
              <a:t>DROP USER </a:t>
            </a:r>
            <a:r>
              <a:rPr lang="en-US" altLang="ko-KR" sz="1400" b="1" dirty="0" err="1"/>
              <a:t>madang@localhost</a:t>
            </a:r>
            <a:endParaRPr lang="en-US" altLang="ko-KR" sz="1400" b="1" dirty="0"/>
          </a:p>
          <a:p>
            <a:pPr marL="266700" lvl="1" indent="0">
              <a:buNone/>
            </a:pPr>
            <a:endParaRPr lang="en-US" altLang="ko-KR" sz="1400" b="1" dirty="0"/>
          </a:p>
          <a:p>
            <a:r>
              <a:rPr lang="ko-KR" altLang="en-US" dirty="0"/>
              <a:t>계정에 </a:t>
            </a:r>
            <a:r>
              <a:rPr lang="en-US" altLang="ko-KR" dirty="0"/>
              <a:t>DB </a:t>
            </a:r>
            <a:r>
              <a:rPr lang="ko-KR" altLang="en-US" dirty="0"/>
              <a:t>사용 권한 부여</a:t>
            </a:r>
            <a:endParaRPr lang="en-US" altLang="ko-KR" dirty="0"/>
          </a:p>
          <a:p>
            <a:pPr lvl="1"/>
            <a:r>
              <a:rPr lang="en-US" altLang="ko-KR" sz="1400" b="1" dirty="0"/>
              <a:t>GRANT ALL PRIVILEGES ON bookstore.* TO </a:t>
            </a:r>
            <a:r>
              <a:rPr lang="en-US" altLang="ko-KR" sz="1400" b="1" dirty="0" err="1"/>
              <a:t>madang@localhost</a:t>
            </a:r>
            <a:r>
              <a:rPr lang="en-US" altLang="ko-KR" sz="1400" b="1" dirty="0"/>
              <a:t>;</a:t>
            </a:r>
          </a:p>
          <a:p>
            <a:pPr lvl="1"/>
            <a:r>
              <a:rPr lang="en-US" altLang="ko-KR" sz="1400" b="1" dirty="0"/>
              <a:t>Commit; flush PRIVILEGES;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계정 생성 확인</a:t>
            </a:r>
            <a:endParaRPr lang="en-US" altLang="ko-KR" dirty="0"/>
          </a:p>
          <a:p>
            <a:pPr lvl="1"/>
            <a:r>
              <a:rPr lang="en-US" altLang="ko-KR" sz="1400" b="1" dirty="0"/>
              <a:t>USE </a:t>
            </a:r>
            <a:r>
              <a:rPr lang="en-US" altLang="ko-KR" sz="1400" b="1" dirty="0" err="1"/>
              <a:t>mysql</a:t>
            </a:r>
            <a:r>
              <a:rPr lang="en-US" altLang="ko-KR" sz="1400" b="1" dirty="0"/>
              <a:t>;</a:t>
            </a:r>
          </a:p>
          <a:p>
            <a:pPr lvl="1"/>
            <a:r>
              <a:rPr lang="en-US" altLang="ko-KR" sz="1400" b="1" dirty="0"/>
              <a:t>SELECT * FROM user;</a:t>
            </a:r>
          </a:p>
          <a:p>
            <a:pPr marL="2667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40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소스코드 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PHP </a:t>
            </a:r>
            <a:r>
              <a:rPr lang="ko-KR" altLang="en-US" dirty="0"/>
              <a:t>프로그램은 </a:t>
            </a:r>
            <a:r>
              <a:rPr lang="en-US" altLang="ko-KR" dirty="0"/>
              <a:t>HTML </a:t>
            </a:r>
            <a:r>
              <a:rPr lang="ko-KR" altLang="en-US" dirty="0"/>
              <a:t>태그에 </a:t>
            </a:r>
            <a:r>
              <a:rPr lang="en-US" altLang="ko-KR" dirty="0"/>
              <a:t>PHP </a:t>
            </a:r>
            <a:r>
              <a:rPr lang="ko-KR" altLang="en-US" dirty="0"/>
              <a:t>스크립트를 끼워 넣어 작성하는데</a:t>
            </a:r>
            <a:r>
              <a:rPr lang="en-US" altLang="ko-KR" dirty="0"/>
              <a:t>,                           PHP </a:t>
            </a:r>
            <a:r>
              <a:rPr lang="ko-KR" altLang="en-US" dirty="0"/>
              <a:t>스크립트 부분은 </a:t>
            </a:r>
            <a:r>
              <a:rPr lang="en-US" altLang="ko-KR" dirty="0"/>
              <a:t>&lt;?PHP ... ?&gt;</a:t>
            </a:r>
            <a:r>
              <a:rPr lang="ko-KR" altLang="en-US" dirty="0"/>
              <a:t>에 넣어서 실행시킴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934304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5-20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400" b="1" dirty="0" err="1">
                <a:ea typeface="맑은 고딕" panose="020B0503020000020004" pitchFamily="50" charset="-127"/>
              </a:rPr>
              <a:t>booklist.php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 err="1">
                <a:ea typeface="맑은 고딕" panose="020B0503020000020004" pitchFamily="50" charset="-127"/>
              </a:rPr>
              <a:t>bookview.php</a:t>
            </a:r>
            <a:r>
              <a:rPr lang="ko-KR" altLang="en-US" sz="1400" b="1" dirty="0">
                <a:ea typeface="맑은 고딕" panose="020B0503020000020004" pitchFamily="50" charset="-127"/>
              </a:rPr>
              <a:t>의 호출 관계와 웹에서 실행된 화면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88840"/>
            <a:ext cx="7344816" cy="403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8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프로그램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280" y="443786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5-21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 연동 </a:t>
            </a:r>
            <a:r>
              <a:rPr lang="en-US" altLang="ko-KR" sz="1400" b="1" dirty="0">
                <a:ea typeface="맑은 고딕" panose="020B0503020000020004" pitchFamily="50" charset="-127"/>
              </a:rPr>
              <a:t>PHP</a:t>
            </a:r>
            <a:r>
              <a:rPr lang="ko-KR" altLang="en-US" sz="1400" b="1" dirty="0">
                <a:ea typeface="맑은 고딕" panose="020B0503020000020004" pitchFamily="50" charset="-127"/>
              </a:rPr>
              <a:t> 프로그램의 실행 흐름도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00808"/>
            <a:ext cx="8341735" cy="265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1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F497D"/>
                </a:solidFill>
              </a:rPr>
              <a:t>[1</a:t>
            </a:r>
            <a:r>
              <a:rPr lang="ko-KR" altLang="en-US" dirty="0">
                <a:solidFill>
                  <a:srgbClr val="1F497D"/>
                </a:solidFill>
              </a:rPr>
              <a:t>단계</a:t>
            </a:r>
            <a:r>
              <a:rPr lang="en-US" altLang="ko-KR" dirty="0">
                <a:solidFill>
                  <a:srgbClr val="1F497D"/>
                </a:solidFill>
              </a:rPr>
              <a:t>] DBMS </a:t>
            </a:r>
            <a:r>
              <a:rPr lang="ko-KR" altLang="en-US" dirty="0">
                <a:solidFill>
                  <a:srgbClr val="1F497D"/>
                </a:solidFill>
              </a:rPr>
              <a:t>설치 및 환경설정</a:t>
            </a:r>
            <a:endParaRPr lang="en-US" altLang="ko-KR" dirty="0">
              <a:solidFill>
                <a:srgbClr val="1F497D"/>
              </a:solidFill>
            </a:endParaRPr>
          </a:p>
          <a:p>
            <a:r>
              <a:rPr lang="en-US" altLang="ko-KR" dirty="0">
                <a:solidFill>
                  <a:srgbClr val="1F497D"/>
                </a:solidFill>
              </a:rPr>
              <a:t>[2</a:t>
            </a:r>
            <a:r>
              <a:rPr lang="ko-KR" altLang="en-US" dirty="0">
                <a:solidFill>
                  <a:srgbClr val="1F497D"/>
                </a:solidFill>
              </a:rPr>
              <a:t>단계</a:t>
            </a:r>
            <a:r>
              <a:rPr lang="en-US" altLang="ko-KR" dirty="0">
                <a:solidFill>
                  <a:srgbClr val="1F497D"/>
                </a:solidFill>
              </a:rPr>
              <a:t>] </a:t>
            </a:r>
            <a:r>
              <a:rPr lang="ko-KR" altLang="en-US" dirty="0">
                <a:solidFill>
                  <a:srgbClr val="1F497D"/>
                </a:solidFill>
              </a:rPr>
              <a:t>데이터베이스 준비</a:t>
            </a:r>
            <a:endParaRPr lang="en-US" altLang="ko-KR" dirty="0">
              <a:solidFill>
                <a:srgbClr val="1F497D"/>
              </a:solidFill>
            </a:endParaRPr>
          </a:p>
          <a:p>
            <a:r>
              <a:rPr lang="en-US" altLang="ko-KR" dirty="0">
                <a:solidFill>
                  <a:srgbClr val="1F497D"/>
                </a:solidFill>
              </a:rPr>
              <a:t>[3</a:t>
            </a:r>
            <a:r>
              <a:rPr lang="ko-KR" altLang="en-US" dirty="0">
                <a:solidFill>
                  <a:srgbClr val="1F497D"/>
                </a:solidFill>
              </a:rPr>
              <a:t>단계</a:t>
            </a:r>
            <a:r>
              <a:rPr lang="en-US" altLang="ko-KR" dirty="0">
                <a:solidFill>
                  <a:srgbClr val="1F497D"/>
                </a:solidFill>
              </a:rPr>
              <a:t>] PHP </a:t>
            </a:r>
            <a:r>
              <a:rPr lang="ko-KR" altLang="en-US" dirty="0">
                <a:solidFill>
                  <a:srgbClr val="1F497D"/>
                </a:solidFill>
              </a:rPr>
              <a:t>실행</a:t>
            </a:r>
            <a:endParaRPr lang="en-US" altLang="ko-KR" dirty="0">
              <a:solidFill>
                <a:srgbClr val="1F497D"/>
              </a:solidFill>
            </a:endParaRPr>
          </a:p>
          <a:p>
            <a:endParaRPr lang="en-US" altLang="ko-KR" sz="500" b="0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sz="1400" dirty="0"/>
              <a:t>➊</a:t>
            </a:r>
            <a:r>
              <a:rPr lang="ko-KR" altLang="en-US" dirty="0"/>
              <a:t> </a:t>
            </a:r>
            <a:r>
              <a:rPr lang="en-US" altLang="ko-KR" dirty="0"/>
              <a:t>Apache, PHP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en-US" altLang="ko-KR" dirty="0" err="1"/>
              <a:t>XAMPP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r>
              <a:rPr lang="en-US" altLang="ko-KR" dirty="0"/>
              <a:t>(https://</a:t>
            </a:r>
            <a:r>
              <a:rPr lang="en-US" altLang="ko-KR" dirty="0" err="1"/>
              <a:t>www.apachefriends.org</a:t>
            </a:r>
            <a:r>
              <a:rPr lang="en-US" altLang="ko-KR" dirty="0"/>
              <a:t>/)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ko-KR" altLang="en-US" sz="1400" dirty="0"/>
              <a:t>➋</a:t>
            </a:r>
            <a:r>
              <a:rPr lang="ko-KR" altLang="en-US" dirty="0"/>
              <a:t> </a:t>
            </a:r>
            <a:r>
              <a:rPr lang="en-US" altLang="ko-KR" dirty="0"/>
              <a:t>PHP </a:t>
            </a:r>
            <a:r>
              <a:rPr lang="ko-KR" altLang="en-US" dirty="0"/>
              <a:t>프로그램 준비</a:t>
            </a:r>
            <a:r>
              <a:rPr lang="en-US" altLang="ko-KR" dirty="0"/>
              <a:t>(</a:t>
            </a:r>
            <a:r>
              <a:rPr lang="en-US" altLang="ko-KR" dirty="0" err="1"/>
              <a:t>booklist.php</a:t>
            </a:r>
            <a:r>
              <a:rPr lang="en-US" altLang="ko-KR" dirty="0"/>
              <a:t>, </a:t>
            </a:r>
            <a:r>
              <a:rPr lang="en-US" altLang="ko-KR" dirty="0" err="1"/>
              <a:t>bookview.php</a:t>
            </a:r>
            <a:r>
              <a:rPr lang="en-US" altLang="ko-KR" dirty="0"/>
              <a:t>)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ko-KR" altLang="en-US" sz="1400" dirty="0"/>
              <a:t>➌</a:t>
            </a:r>
            <a:r>
              <a:rPr lang="ko-KR" altLang="en-US" dirty="0"/>
              <a:t> 실행</a:t>
            </a:r>
            <a:endParaRPr lang="en-US" altLang="ko-KR" sz="1400" b="0" dirty="0"/>
          </a:p>
          <a:p>
            <a:pPr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931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742A8EB-BFFE-A7A6-62CF-93CE5DD9B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XAMPP </a:t>
            </a:r>
            <a:r>
              <a:rPr lang="ko-KR" altLang="en-US"/>
              <a:t>설치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8779C7-5159-A61B-9FB8-DC0D76B3B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5651763" cy="472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5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53" y="1196752"/>
            <a:ext cx="6401693" cy="4201111"/>
          </a:xfrm>
          <a:prstGeom prst="rect">
            <a:avLst/>
          </a:prstGeom>
        </p:spPr>
      </p:pic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75856" y="2744780"/>
            <a:ext cx="5410955" cy="5525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195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c:\xampp\htdocs </a:t>
            </a:r>
            <a:r>
              <a:rPr lang="ko-KR" altLang="en-US" dirty="0"/>
              <a:t>폴더에 </a:t>
            </a:r>
            <a:r>
              <a:rPr lang="en-US" altLang="ko-KR" dirty="0" err="1"/>
              <a:t>mdtest.php</a:t>
            </a:r>
            <a:r>
              <a:rPr lang="en-US" altLang="ko-KR" dirty="0"/>
              <a:t> </a:t>
            </a:r>
            <a:r>
              <a:rPr lang="ko-KR" altLang="en-US" dirty="0"/>
              <a:t>파일 복사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http://localhost/</a:t>
            </a:r>
            <a:r>
              <a:rPr lang="en-US" altLang="ko-KR" dirty="0"/>
              <a:t>mdtest.php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B22FDD-516A-96B8-AB35-41BD3AD9C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060848"/>
            <a:ext cx="6073829" cy="4368315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803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mysqli_connect </a:t>
            </a:r>
            <a:r>
              <a:rPr lang="ko-KR" altLang="en-US"/>
              <a:t>함수의 인자에 </a:t>
            </a:r>
            <a:r>
              <a:rPr lang="en-US" altLang="ko-KR"/>
              <a:t>IP, </a:t>
            </a:r>
            <a:r>
              <a:rPr lang="ko-KR" altLang="en-US"/>
              <a:t>계정</a:t>
            </a:r>
            <a:r>
              <a:rPr lang="en-US" altLang="ko-KR"/>
              <a:t>, </a:t>
            </a:r>
            <a:r>
              <a:rPr lang="ko-KR" altLang="en-US"/>
              <a:t>비밀번호</a:t>
            </a:r>
            <a:r>
              <a:rPr lang="en-US" altLang="ko-KR"/>
              <a:t>, DB </a:t>
            </a:r>
            <a:r>
              <a:rPr lang="ko-KR" altLang="en-US"/>
              <a:t>이름을 입력해서 연결한다</a:t>
            </a:r>
            <a:r>
              <a:rPr lang="en-US" altLang="ko-KR"/>
              <a:t>.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8F4A6C-097A-889B-13E1-4EAB3F75869A}"/>
              </a:ext>
            </a:extLst>
          </p:cNvPr>
          <p:cNvGrpSpPr/>
          <p:nvPr/>
        </p:nvGrpSpPr>
        <p:grpSpPr>
          <a:xfrm>
            <a:off x="899592" y="1556792"/>
            <a:ext cx="7056784" cy="4968552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5CC2450-2778-149C-C0A7-607E46B9834A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2A302-64A6-3B53-A06B-699773934C7E}"/>
                </a:ext>
              </a:extLst>
            </p:cNvPr>
            <p:cNvSpPr txBox="1"/>
            <p:nvPr/>
          </p:nvSpPr>
          <p:spPr>
            <a:xfrm>
              <a:off x="952058" y="1960536"/>
              <a:ext cx="3854831" cy="215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C:\xampp\htdocs\mdtest.php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AB12764-ACC1-7019-5151-76013DC3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50" y="1988840"/>
            <a:ext cx="6762243" cy="444640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A21D250-328D-A8AC-0349-1C56FBB40C6B}"/>
              </a:ext>
            </a:extLst>
          </p:cNvPr>
          <p:cNvSpPr/>
          <p:nvPr/>
        </p:nvSpPr>
        <p:spPr>
          <a:xfrm>
            <a:off x="827584" y="2783467"/>
            <a:ext cx="7200800" cy="285493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22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mysqli_query </a:t>
            </a:r>
            <a:r>
              <a:rPr lang="ko-KR" altLang="en-US"/>
              <a:t>함수에 직접 </a:t>
            </a:r>
            <a:r>
              <a:rPr lang="en-US" altLang="ko-KR"/>
              <a:t>SQL</a:t>
            </a:r>
            <a:r>
              <a:rPr lang="ko-KR" altLang="en-US"/>
              <a:t>를 입력해서 </a:t>
            </a:r>
            <a:r>
              <a:rPr lang="en-US" altLang="ko-KR"/>
              <a:t>DB</a:t>
            </a:r>
            <a:r>
              <a:rPr lang="ko-KR" altLang="en-US"/>
              <a:t>의 데이터를 가져온다</a:t>
            </a:r>
            <a:r>
              <a:rPr lang="en-US" altLang="ko-KR"/>
              <a:t>.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8F4A6C-097A-889B-13E1-4EAB3F75869A}"/>
              </a:ext>
            </a:extLst>
          </p:cNvPr>
          <p:cNvGrpSpPr/>
          <p:nvPr/>
        </p:nvGrpSpPr>
        <p:grpSpPr>
          <a:xfrm>
            <a:off x="899592" y="1556792"/>
            <a:ext cx="7056784" cy="4968552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5CC2450-2778-149C-C0A7-607E46B9834A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2A302-64A6-3B53-A06B-699773934C7E}"/>
                </a:ext>
              </a:extLst>
            </p:cNvPr>
            <p:cNvSpPr txBox="1"/>
            <p:nvPr/>
          </p:nvSpPr>
          <p:spPr>
            <a:xfrm>
              <a:off x="952058" y="1960536"/>
              <a:ext cx="3854831" cy="215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C:\xampp\htdocs\mdtest.php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AB12764-ACC1-7019-5151-76013DC3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50" y="1988840"/>
            <a:ext cx="6762243" cy="444640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A21D250-328D-A8AC-0349-1C56FBB40C6B}"/>
              </a:ext>
            </a:extLst>
          </p:cNvPr>
          <p:cNvSpPr/>
          <p:nvPr/>
        </p:nvSpPr>
        <p:spPr>
          <a:xfrm>
            <a:off x="827584" y="2783467"/>
            <a:ext cx="7200800" cy="285493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7ABC6B-8A3A-4C67-9FC9-1E6CCD67770A}"/>
              </a:ext>
            </a:extLst>
          </p:cNvPr>
          <p:cNvSpPr/>
          <p:nvPr/>
        </p:nvSpPr>
        <p:spPr>
          <a:xfrm>
            <a:off x="813665" y="5119690"/>
            <a:ext cx="7200800" cy="285493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66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c:\xampp\htdocs </a:t>
            </a:r>
            <a:r>
              <a:rPr lang="ko-KR" altLang="en-US" dirty="0"/>
              <a:t>폴더에 </a:t>
            </a:r>
            <a:r>
              <a:rPr lang="en-US" altLang="ko-KR" dirty="0" err="1"/>
              <a:t>booklist.php</a:t>
            </a:r>
            <a:r>
              <a:rPr lang="en-US" altLang="ko-KR" dirty="0"/>
              <a:t>, </a:t>
            </a:r>
            <a:r>
              <a:rPr lang="en-US" altLang="ko-KR" dirty="0" err="1"/>
              <a:t>bookview.php</a:t>
            </a:r>
            <a:r>
              <a:rPr lang="en-US" altLang="ko-KR" dirty="0"/>
              <a:t>, book.css </a:t>
            </a:r>
            <a:r>
              <a:rPr lang="ko-KR" altLang="en-US" dirty="0"/>
              <a:t>파일 복사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http://localhost/</a:t>
            </a:r>
            <a:r>
              <a:rPr lang="en-US" altLang="ko-KR" dirty="0"/>
              <a:t>booklist.php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11597D-359D-2129-2322-8F4DD125E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988840"/>
            <a:ext cx="5256584" cy="4274454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08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책 목록에서 책 하나를 선택하자</a:t>
            </a:r>
            <a:r>
              <a:rPr lang="en-US" altLang="ko-KR"/>
              <a:t>.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http://localhost</a:t>
            </a:r>
            <a:r>
              <a:rPr lang="en-US" altLang="ko-KR">
                <a:hlinkClick r:id="rId2"/>
              </a:rPr>
              <a:t>/</a:t>
            </a:r>
            <a:r>
              <a:rPr lang="en-US" altLang="ko-KR"/>
              <a:t>bookview.php?id=2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C5ECCB-C8A1-7F07-5A7B-D9FB73989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995105"/>
            <a:ext cx="5609816" cy="456168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484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5923" y="980728"/>
            <a:ext cx="8064896" cy="5472608"/>
          </a:xfrm>
        </p:spPr>
        <p:txBody>
          <a:bodyPr/>
          <a:lstStyle/>
          <a:p>
            <a:r>
              <a:rPr lang="en-US" altLang="ko-KR"/>
              <a:t>mysqli_query </a:t>
            </a:r>
            <a:r>
              <a:rPr lang="ko-KR" altLang="en-US"/>
              <a:t>함수에 </a:t>
            </a:r>
            <a:r>
              <a:rPr lang="en-US" altLang="ko-KR"/>
              <a:t>SELECT </a:t>
            </a:r>
            <a:r>
              <a:rPr lang="ko-KR" altLang="en-US"/>
              <a:t>쿼리를 사용해서 전체 책 목록을 가져와서 보여줌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8F4A6C-097A-889B-13E1-4EAB3F75869A}"/>
              </a:ext>
            </a:extLst>
          </p:cNvPr>
          <p:cNvGrpSpPr/>
          <p:nvPr/>
        </p:nvGrpSpPr>
        <p:grpSpPr>
          <a:xfrm>
            <a:off x="973098" y="1484784"/>
            <a:ext cx="7487334" cy="5040560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5CC2450-2778-149C-C0A7-607E46B9834A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2A302-64A6-3B53-A06B-699773934C7E}"/>
                </a:ext>
              </a:extLst>
            </p:cNvPr>
            <p:cNvSpPr txBox="1"/>
            <p:nvPr/>
          </p:nvSpPr>
          <p:spPr>
            <a:xfrm>
              <a:off x="952058" y="1960536"/>
              <a:ext cx="3854831" cy="12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C:\xampp\htdocs\booklist.php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A82BCFE-1C3D-ED2D-9393-AD1F769D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4" y="1792562"/>
            <a:ext cx="7415325" cy="44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7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en-US" altLang="ko-KR"/>
              <a:t>GET </a:t>
            </a:r>
            <a:r>
              <a:rPr lang="ko-KR" altLang="en-US"/>
              <a:t>인자로 넘겨받은 </a:t>
            </a:r>
            <a:r>
              <a:rPr lang="en-US" altLang="ko-KR"/>
              <a:t>id </a:t>
            </a:r>
            <a:r>
              <a:rPr lang="ko-KR" altLang="en-US"/>
              <a:t>를 이용해서 도서 하나를 가져오는 쿼리를 생성한다</a:t>
            </a:r>
            <a:r>
              <a:rPr lang="en-US" altLang="ko-KR"/>
              <a:t>.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8F4A6C-097A-889B-13E1-4EAB3F75869A}"/>
              </a:ext>
            </a:extLst>
          </p:cNvPr>
          <p:cNvGrpSpPr/>
          <p:nvPr/>
        </p:nvGrpSpPr>
        <p:grpSpPr>
          <a:xfrm>
            <a:off x="971600" y="1409674"/>
            <a:ext cx="7344816" cy="5187677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5CC2450-2778-149C-C0A7-607E46B9834A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2A302-64A6-3B53-A06B-699773934C7E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19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C:\xampp\htdocs\bookview.php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6602B071-2886-30ED-2543-2A7D568D3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17451"/>
            <a:ext cx="5990296" cy="477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2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3B6533E-74C7-8A63-905B-265C9CDCE738}"/>
              </a:ext>
            </a:extLst>
          </p:cNvPr>
          <p:cNvSpPr/>
          <p:nvPr/>
        </p:nvSpPr>
        <p:spPr>
          <a:xfrm>
            <a:off x="611560" y="1871768"/>
            <a:ext cx="1965603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PHP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기본</a:t>
            </a:r>
          </a:p>
        </p:txBody>
      </p:sp>
    </p:spTree>
    <p:extLst>
      <p:ext uri="{BB962C8B-B14F-4D97-AF65-F5344CB8AC3E}">
        <p14:creationId xmlns:p14="http://schemas.microsoft.com/office/powerpoint/2010/main" val="81036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63C05-75CA-FB5B-E406-A0BB48C7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4EA5F8-7227-121F-ACF4-BA1F265F4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의 기본 구조와 주석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FF32BBE-A45E-9A0D-5D55-FCAFC9886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25" y="1556792"/>
            <a:ext cx="7715616" cy="1757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BE364370-E7E4-4CFD-9963-359559749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25" y="3454368"/>
            <a:ext cx="7777162" cy="2897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29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79BFC-3F7A-086A-374B-4E128ACA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D2988-BAD9-D96A-6A81-77A6CE9F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변수</a:t>
            </a:r>
            <a:endParaRPr lang="en-US" altLang="ko-KR"/>
          </a:p>
          <a:p>
            <a:pPr lvl="1"/>
            <a:r>
              <a:rPr lang="ko-KR" altLang="en-US" sz="1400"/>
              <a:t>무엇을 담는 그릇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왼쪽의 변수</a:t>
            </a:r>
            <a:r>
              <a:rPr lang="en-US" altLang="ko-KR" sz="1400"/>
              <a:t>(</a:t>
            </a:r>
            <a:r>
              <a:rPr lang="ko-KR" altLang="en-US" sz="1400"/>
              <a:t>그릇</a:t>
            </a:r>
            <a:r>
              <a:rPr lang="en-US" altLang="ko-KR" sz="1400"/>
              <a:t>)</a:t>
            </a:r>
            <a:r>
              <a:rPr lang="ko-KR" altLang="en-US" sz="1400"/>
              <a:t>에 오른쪽 값이 들어가는 것으로 이행</a:t>
            </a:r>
            <a:endParaRPr lang="en-US" altLang="ko-KR" sz="1400"/>
          </a:p>
          <a:p>
            <a:pPr lvl="2"/>
            <a:r>
              <a:rPr lang="en-US" altLang="ko-KR" sz="1400"/>
              <a:t>$a = 100;</a:t>
            </a:r>
          </a:p>
          <a:p>
            <a:pPr lvl="2"/>
            <a:endParaRPr lang="en-US" altLang="ko-KR" sz="1400"/>
          </a:p>
          <a:p>
            <a:pPr lvl="1"/>
            <a:r>
              <a:rPr lang="en-US" altLang="ko-KR" sz="1400"/>
              <a:t>PHP</a:t>
            </a:r>
            <a:r>
              <a:rPr lang="ko-KR" altLang="en-US" sz="1400"/>
              <a:t>도 행의 끝에는 세미콜론</a:t>
            </a:r>
            <a:r>
              <a:rPr lang="en-US" altLang="ko-KR" sz="1400"/>
              <a:t>(;)</a:t>
            </a:r>
            <a:r>
              <a:rPr lang="ko-KR" altLang="en-US" sz="1400"/>
              <a:t>을 붙인다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PHP</a:t>
            </a:r>
            <a:r>
              <a:rPr lang="ko-KR" altLang="en-US" sz="1400"/>
              <a:t>는 변수 이름 앞에 </a:t>
            </a:r>
            <a:r>
              <a:rPr lang="en-US" altLang="ko-KR" sz="1400"/>
              <a:t>$</a:t>
            </a:r>
            <a:r>
              <a:rPr lang="ko-KR" altLang="en-US" sz="1400"/>
              <a:t>를 붙여 사용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 err="1"/>
              <a:t>변수을</a:t>
            </a:r>
            <a:r>
              <a:rPr lang="ko-KR" altLang="en-US" sz="1400"/>
              <a:t> 출력하려면 </a:t>
            </a:r>
            <a:r>
              <a:rPr lang="en-US" altLang="ko-KR" sz="1400"/>
              <a:t>echo</a:t>
            </a:r>
            <a:r>
              <a:rPr lang="ko-KR" altLang="en-US" sz="1400"/>
              <a:t>문을 사용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변수 이름 규칙</a:t>
            </a:r>
            <a:endParaRPr lang="en-US" altLang="ko-KR" sz="1400"/>
          </a:p>
          <a:p>
            <a:pPr lvl="2"/>
            <a:r>
              <a:rPr lang="ko-KR" altLang="en-US" sz="1400"/>
              <a:t>제일 앞에 </a:t>
            </a:r>
            <a:r>
              <a:rPr lang="en-US" altLang="ko-KR" sz="1400"/>
              <a:t>$</a:t>
            </a:r>
            <a:r>
              <a:rPr lang="ko-KR" altLang="en-US" sz="1400"/>
              <a:t>가 붙어야 한다</a:t>
            </a:r>
            <a:r>
              <a:rPr lang="en-US" altLang="ko-KR" sz="1400"/>
              <a:t>.</a:t>
            </a:r>
          </a:p>
          <a:p>
            <a:pPr lvl="2"/>
            <a:r>
              <a:rPr lang="ko-KR" altLang="en-US" sz="1400"/>
              <a:t>대소문자 구별함</a:t>
            </a:r>
            <a:endParaRPr lang="en-US" altLang="ko-KR" sz="1400"/>
          </a:p>
          <a:p>
            <a:pPr lvl="3"/>
            <a:r>
              <a:rPr lang="en-US" altLang="ko-KR" sz="1400"/>
              <a:t>$</a:t>
            </a:r>
            <a:r>
              <a:rPr lang="en-US" altLang="ko-KR" sz="1400" err="1"/>
              <a:t>abc</a:t>
            </a:r>
            <a:r>
              <a:rPr lang="ko-KR" altLang="en-US" sz="1400"/>
              <a:t>와 </a:t>
            </a:r>
            <a:r>
              <a:rPr lang="en-US" altLang="ko-KR" sz="1400"/>
              <a:t>$ABC</a:t>
            </a:r>
            <a:r>
              <a:rPr lang="ko-KR" altLang="en-US" sz="1400"/>
              <a:t>는 다른 변수</a:t>
            </a:r>
            <a:endParaRPr lang="en-US" altLang="ko-KR" sz="1400"/>
          </a:p>
          <a:p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DFAA9C8-FA63-680A-82AC-6E31AB712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564904"/>
            <a:ext cx="3833708" cy="3089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061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A2FBE-F8B4-DA58-DA42-24427F47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E8E5EF-8E8B-0BD0-D515-1F845E1C9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문자열</a:t>
            </a:r>
            <a:endParaRPr lang="en-US" altLang="ko-KR"/>
          </a:p>
          <a:p>
            <a:pPr lvl="1"/>
            <a:r>
              <a:rPr lang="ko-KR" altLang="en-US"/>
              <a:t>큰 따옴표</a:t>
            </a:r>
            <a:r>
              <a:rPr lang="en-US" altLang="ko-KR"/>
              <a:t>(“) </a:t>
            </a:r>
            <a:r>
              <a:rPr lang="ko-KR" altLang="en-US"/>
              <a:t>또는 작은 따옴표</a:t>
            </a:r>
            <a:r>
              <a:rPr lang="en-US" altLang="ko-KR"/>
              <a:t>(‘)</a:t>
            </a:r>
            <a:r>
              <a:rPr lang="ko-KR" altLang="en-US"/>
              <a:t>로 묶음</a:t>
            </a:r>
            <a:endParaRPr lang="en-US" altLang="ko-KR"/>
          </a:p>
          <a:p>
            <a:pPr lvl="1"/>
            <a:r>
              <a:rPr lang="en-US" altLang="ko-KR"/>
              <a:t>SQL</a:t>
            </a:r>
            <a:r>
              <a:rPr lang="ko-KR" altLang="en-US"/>
              <a:t>문을 문자열로 지정하기 위해서 구문을 큰 따옴표로 묶음</a:t>
            </a:r>
            <a:endParaRPr lang="en-US" altLang="ko-KR"/>
          </a:p>
          <a:p>
            <a:pPr lvl="2"/>
            <a:r>
              <a:rPr lang="en-US" altLang="ko-KR"/>
              <a:t>SQL</a:t>
            </a:r>
            <a:r>
              <a:rPr lang="ko-KR" altLang="en-US"/>
              <a:t>내부에 작은 따옴표를 사용하기 때문에</a:t>
            </a:r>
            <a:endParaRPr lang="en-US" altLang="ko-KR"/>
          </a:p>
          <a:p>
            <a:pPr lvl="1"/>
            <a:r>
              <a:rPr lang="ko-KR" altLang="en-US"/>
              <a:t>화면에 출력은 </a:t>
            </a:r>
            <a:r>
              <a:rPr lang="en-US" altLang="ko-KR"/>
              <a:t>echo</a:t>
            </a:r>
            <a:r>
              <a:rPr lang="ko-KR" altLang="en-US"/>
              <a:t>를 사용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27D239B-7F32-9523-5507-60D0FA8A0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68960"/>
            <a:ext cx="7459462" cy="2207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C:\Users\USER\Desktop\이것이mysql이다\이미지모음\10-14장,부록 그림(2019.09.30)\12장그림\12-17a.bmp">
            <a:extLst>
              <a:ext uri="{FF2B5EF4-FFF2-40B4-BE49-F238E27FC236}">
                <a16:creationId xmlns:a16="http://schemas.microsoft.com/office/drawing/2014/main" id="{286192EA-0379-87A7-BFBE-672CDB609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794155"/>
            <a:ext cx="6364683" cy="176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06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3D122-81F3-1024-9ED3-96C27560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112346-B453-A278-51AB-273C0359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조건문과 </a:t>
            </a:r>
            <a:r>
              <a:rPr lang="ko-KR" altLang="en-US" err="1"/>
              <a:t>반복문</a:t>
            </a:r>
            <a:endParaRPr lang="en-US" altLang="ko-KR"/>
          </a:p>
          <a:p>
            <a:pPr lvl="1"/>
            <a:r>
              <a:rPr lang="en-US" altLang="ko-KR" sz="1400"/>
              <a:t>if()</a:t>
            </a:r>
            <a:r>
              <a:rPr lang="ko-KR" altLang="en-US" sz="1400"/>
              <a:t> 함수</a:t>
            </a:r>
            <a:endParaRPr lang="en-US" altLang="ko-KR" sz="1400"/>
          </a:p>
          <a:p>
            <a:pPr lvl="1"/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BF5ECE-CAEA-48DD-CE12-5FFA2FE54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50" y="1916832"/>
            <a:ext cx="6846642" cy="431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686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B756F-74EA-49F4-A6C2-82D205E8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712A2-7D97-CDD3-A23C-6BA8AE979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조건문과 </a:t>
            </a:r>
            <a:r>
              <a:rPr lang="ko-KR" altLang="en-US" err="1"/>
              <a:t>반복문</a:t>
            </a:r>
            <a:endParaRPr lang="en-US" altLang="ko-KR"/>
          </a:p>
          <a:p>
            <a:pPr lvl="1"/>
            <a:r>
              <a:rPr lang="en-US" altLang="ko-KR" sz="1400"/>
              <a:t>for() </a:t>
            </a:r>
            <a:r>
              <a:rPr lang="ko-KR" altLang="en-US" sz="1400"/>
              <a:t>함수</a:t>
            </a:r>
            <a:endParaRPr lang="en-US" altLang="ko-KR" sz="1400"/>
          </a:p>
          <a:p>
            <a:pPr lvl="1"/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F491A33-C110-054F-E120-05CA5CAA2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55" y="1916832"/>
            <a:ext cx="7346690" cy="214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 descr="C:\Users\USER\Desktop\이것이mysql이다\이미지모음\10-14장,부록 그림(2019.09.30)\12장그림\12-21.bmp">
            <a:extLst>
              <a:ext uri="{FF2B5EF4-FFF2-40B4-BE49-F238E27FC236}">
                <a16:creationId xmlns:a16="http://schemas.microsoft.com/office/drawing/2014/main" id="{687CD61A-54E1-7032-F051-E49B53E4B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54" y="4257921"/>
            <a:ext cx="7130393" cy="152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46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9B24A-BC3E-53F5-D08C-715D5D4B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EFD079-34C7-9158-5EA7-16D1EE72F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관련 내장 함수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D00FF1F-0A57-F2A4-611C-C30E2EB2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99157"/>
            <a:ext cx="7920880" cy="3659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562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21BC4-EEDA-3333-F31E-D1199861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HTML</a:t>
            </a:r>
            <a:r>
              <a:rPr lang="ko-KR" altLang="en-US"/>
              <a:t>과 </a:t>
            </a:r>
            <a:r>
              <a:rPr lang="en-US" altLang="ko-KR"/>
              <a:t>PHP </a:t>
            </a:r>
            <a:r>
              <a:rPr lang="ko-KR" altLang="en-US"/>
              <a:t>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45C10-0DF1-2ECE-246A-AEEB92948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일반 사용자는 </a:t>
            </a:r>
            <a:r>
              <a:rPr lang="en-US" altLang="ko-KR"/>
              <a:t>SQL</a:t>
            </a:r>
            <a:r>
              <a:rPr lang="ko-KR" altLang="en-US"/>
              <a:t>를 다룰 필요가 없음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365FD7C-218C-219A-2EF5-F99B90B07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8" y="2564904"/>
            <a:ext cx="7935697" cy="2794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136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3C859-1BA1-A40A-9B43-B098F2D0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101F7C-1290-753E-E02A-215A1F8F8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HTML TABLE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3D68A1-839F-E8BB-2925-0348AD0BB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56792"/>
            <a:ext cx="3240360" cy="36271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357EF2-9B4F-01FD-AE68-BBC13FB29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1988840"/>
            <a:ext cx="1743318" cy="1733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97A743-DD51-78DA-118D-D9D980A778D8}"/>
              </a:ext>
            </a:extLst>
          </p:cNvPr>
          <p:cNvSpPr txBox="1"/>
          <p:nvPr/>
        </p:nvSpPr>
        <p:spPr>
          <a:xfrm>
            <a:off x="5508104" y="1556792"/>
            <a:ext cx="174331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err="1"/>
              <a:t>table.php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149140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AEAAE-D39C-DE59-6B9D-B334F0818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7CDEC-A152-4BC1-A593-E24AE4A95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95170"/>
            <a:ext cx="8064896" cy="5472608"/>
          </a:xfrm>
        </p:spPr>
        <p:txBody>
          <a:bodyPr/>
          <a:lstStyle/>
          <a:p>
            <a:r>
              <a:rPr lang="en-US" altLang="ko-KR"/>
              <a:t>&lt;form action=“</a:t>
            </a:r>
            <a:r>
              <a:rPr lang="en-US" altLang="ko-KR" err="1"/>
              <a:t>form.php</a:t>
            </a:r>
            <a:r>
              <a:rPr lang="en-US" altLang="ko-KR"/>
              <a:t>” method=“POST”&gt;&lt;/form&gt;</a:t>
            </a:r>
          </a:p>
          <a:p>
            <a:pPr lvl="1"/>
            <a:r>
              <a:rPr lang="en-US" altLang="ko-KR"/>
              <a:t>form </a:t>
            </a:r>
            <a:r>
              <a:rPr lang="ko-KR" altLang="en-US"/>
              <a:t>데이터를 </a:t>
            </a:r>
            <a:r>
              <a:rPr lang="en-US" altLang="ko-KR"/>
              <a:t>action</a:t>
            </a:r>
            <a:r>
              <a:rPr lang="ko-KR" altLang="en-US"/>
              <a:t>에 지정된 </a:t>
            </a:r>
            <a:r>
              <a:rPr lang="en-US" altLang="ko-KR" err="1"/>
              <a:t>url</a:t>
            </a:r>
            <a:r>
              <a:rPr lang="ko-KR" altLang="en-US"/>
              <a:t>로 전달한다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&lt;input type=“text”&gt;</a:t>
            </a:r>
          </a:p>
          <a:p>
            <a:pPr lvl="1"/>
            <a:r>
              <a:rPr lang="en-US" altLang="ko-KR"/>
              <a:t>text: </a:t>
            </a:r>
            <a:r>
              <a:rPr lang="ko-KR" altLang="en-US"/>
              <a:t>글자 </a:t>
            </a:r>
            <a:r>
              <a:rPr lang="ko-KR" altLang="en-US" err="1"/>
              <a:t>입력창</a:t>
            </a:r>
            <a:endParaRPr lang="en-US" altLang="ko-KR"/>
          </a:p>
          <a:p>
            <a:pPr lvl="1"/>
            <a:r>
              <a:rPr lang="en-US" altLang="ko-KR"/>
              <a:t>submit: action </a:t>
            </a:r>
            <a:r>
              <a:rPr lang="en-US" altLang="ko-KR" err="1"/>
              <a:t>url</a:t>
            </a:r>
            <a:r>
              <a:rPr lang="ko-KR" altLang="en-US"/>
              <a:t>에 폼데이터를 전달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&lt;input type=“hidden” name=“name” value=“value”&gt;</a:t>
            </a:r>
          </a:p>
          <a:p>
            <a:pPr lvl="1"/>
            <a:r>
              <a:rPr lang="ko-KR" altLang="en-US"/>
              <a:t>브라우저에 보이지 않는 숨겨진 </a:t>
            </a:r>
            <a:r>
              <a:rPr lang="en-US" altLang="ko-KR"/>
              <a:t>input </a:t>
            </a:r>
            <a:r>
              <a:rPr lang="ko-KR" altLang="en-US"/>
              <a:t>값을 전달할 수 있다</a:t>
            </a:r>
            <a:r>
              <a:rPr lang="en-US" altLang="ko-KR"/>
              <a:t>.</a:t>
            </a:r>
          </a:p>
          <a:p>
            <a:pPr marL="266700" lvl="1" indent="0">
              <a:buNone/>
            </a:pPr>
            <a:endParaRPr lang="en-US" altLang="ko-KR"/>
          </a:p>
          <a:p>
            <a:r>
              <a:rPr lang="en-US" altLang="ko-KR"/>
              <a:t>&lt;input type=“text” value=“text” </a:t>
            </a:r>
            <a:r>
              <a:rPr lang="en-US" altLang="ko-KR" err="1"/>
              <a:t>readonly</a:t>
            </a:r>
            <a:r>
              <a:rPr lang="en-US" altLang="ko-KR"/>
              <a:t>&gt;</a:t>
            </a:r>
          </a:p>
          <a:p>
            <a:pPr lvl="1"/>
            <a:r>
              <a:rPr lang="en-US" altLang="ko-KR" err="1"/>
              <a:t>readonly</a:t>
            </a:r>
            <a:r>
              <a:rPr lang="en-US" altLang="ko-KR"/>
              <a:t> </a:t>
            </a:r>
            <a:r>
              <a:rPr lang="ko-KR" altLang="en-US"/>
              <a:t>옵션은 </a:t>
            </a:r>
            <a:r>
              <a:rPr lang="en-US" altLang="ko-KR"/>
              <a:t>input</a:t>
            </a:r>
            <a:r>
              <a:rPr lang="ko-KR" altLang="en-US"/>
              <a:t>값을 수정할 수 없도록 막는 기능</a:t>
            </a:r>
            <a:r>
              <a:rPr lang="en-US" altLang="ko-KR"/>
              <a:t>: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CB8F41-175D-4387-68A2-07DA67E6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772816"/>
            <a:ext cx="3384376" cy="22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3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코드 블록에 </a:t>
            </a:r>
            <a:r>
              <a:rPr lang="en-US" altLang="ko-KR"/>
              <a:t>HTML </a:t>
            </a:r>
            <a:r>
              <a:rPr lang="ko-KR" altLang="en-US" err="1"/>
              <a:t>문서을</a:t>
            </a:r>
            <a:r>
              <a:rPr lang="ko-KR" altLang="en-US"/>
              <a:t> 생성하는 여러가지 코딩 스타일</a:t>
            </a:r>
            <a:r>
              <a:rPr lang="en-US" altLang="ko-KR"/>
              <a:t>(</a:t>
            </a:r>
            <a:r>
              <a:rPr lang="en-US" altLang="ko-KR" err="1"/>
              <a:t>phpblock.php</a:t>
            </a:r>
            <a:r>
              <a:rPr lang="en-US" altLang="ko-KR"/>
              <a:t>)</a:t>
            </a:r>
          </a:p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C900E97-ACE3-C4AE-958F-13A55280D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15" y="3688289"/>
            <a:ext cx="4439270" cy="1314633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9CCC645-458F-3316-D28E-7AE8F2F4A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4592123"/>
            <a:ext cx="4191585" cy="1829055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0085552-BE53-24CE-2D06-52A15B018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523296"/>
            <a:ext cx="4439270" cy="1209105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4D71F7-1A4E-5055-562F-7FA0917F4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779" y="2502299"/>
            <a:ext cx="4885613" cy="1241950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graphicFrame>
        <p:nvGraphicFramePr>
          <p:cNvPr id="16" name="내용 개체 틀 3">
            <a:extLst>
              <a:ext uri="{FF2B5EF4-FFF2-40B4-BE49-F238E27FC236}">
                <a16:creationId xmlns:a16="http://schemas.microsoft.com/office/drawing/2014/main" id="{0265EB68-1379-4127-8C78-8882AEE59BDC}"/>
              </a:ext>
            </a:extLst>
          </p:cNvPr>
          <p:cNvGraphicFramePr>
            <a:graphicFrameLocks/>
          </p:cNvGraphicFramePr>
          <p:nvPr/>
        </p:nvGraphicFramePr>
        <p:xfrm>
          <a:off x="5042920" y="1523297"/>
          <a:ext cx="327349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344"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생성하려는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 tag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&lt;div&gt;HTML TEXT 1 &lt;/div&gt;</a:t>
                      </a:r>
                    </a:p>
                    <a:p>
                      <a:pPr latinLnBrk="1"/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&lt;div&gt;HTML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TEXT 2 &lt;/div&gt;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74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크롬 브라우저로 웹 사이트 디버깅</a:t>
            </a:r>
            <a:endParaRPr lang="en-US" altLang="ko-KR"/>
          </a:p>
          <a:p>
            <a:r>
              <a:rPr lang="ko-KR" altLang="en-US"/>
              <a:t>개발자 도구 또는 단축키 </a:t>
            </a:r>
            <a:r>
              <a:rPr lang="en-US" altLang="ko-KR"/>
              <a:t>(CTRL + SHIFT + I)</a:t>
            </a:r>
          </a:p>
          <a:p>
            <a:r>
              <a:rPr lang="ko-KR" altLang="en-US"/>
              <a:t>웹사이트가 렌더링 될때 다운로드 한 파일과 </a:t>
            </a:r>
            <a:r>
              <a:rPr lang="en-US" altLang="ko-KR"/>
              <a:t>HTML DOM </a:t>
            </a:r>
            <a:r>
              <a:rPr lang="ko-KR" altLang="en-US"/>
              <a:t>구조를 볼 수 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420888"/>
            <a:ext cx="5539077" cy="33843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534" y="3023233"/>
            <a:ext cx="3773914" cy="259228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5136634" y="5361786"/>
            <a:ext cx="1800200" cy="2423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0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와 </a:t>
            </a:r>
            <a:r>
              <a:rPr lang="en-US" altLang="ko-KR"/>
              <a:t> Apache</a:t>
            </a:r>
            <a:r>
              <a:rPr lang="ko-KR" altLang="en-US"/>
              <a:t>의 동작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CCC645-458F-3316-D28E-7AE8F2F4A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552" y="3868992"/>
            <a:ext cx="2904080" cy="1267234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871" y="3734676"/>
            <a:ext cx="2849496" cy="15865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26" name="Picture 2" descr="Apache HTTP server logo (2019-present).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029" y="2566101"/>
            <a:ext cx="2227858" cy="84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HP-logo.sv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072" y="2567683"/>
            <a:ext cx="1790139" cy="96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oogle Chrome icon (February 2022).sv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61" y="2590722"/>
            <a:ext cx="910286" cy="91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직선 화살표 연결선 8"/>
          <p:cNvCxnSpPr/>
          <p:nvPr/>
        </p:nvCxnSpPr>
        <p:spPr>
          <a:xfrm>
            <a:off x="1763688" y="2780928"/>
            <a:ext cx="11520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1763688" y="3212976"/>
            <a:ext cx="1152000" cy="0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264" y="2101292"/>
            <a:ext cx="2962688" cy="4001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20" name="직선 화살표 연결선 19"/>
          <p:cNvCxnSpPr/>
          <p:nvPr/>
        </p:nvCxnSpPr>
        <p:spPr>
          <a:xfrm>
            <a:off x="5616012" y="2780928"/>
            <a:ext cx="11520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5616012" y="3212976"/>
            <a:ext cx="1152000" cy="0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92080" y="2188893"/>
            <a:ext cx="3312368" cy="3125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600" b="1">
                <a:latin typeface="맑은 고딕" panose="020B0503020000020004" pitchFamily="34" charset="-127"/>
                <a:ea typeface="맑은 고딕" panose="020B0503020000020004" pitchFamily="34" charset="-127"/>
              </a:rPr>
              <a:t>htdocs/phpblock.php </a:t>
            </a:r>
            <a:r>
              <a:rPr lang="ko-KR" altLang="en-US" sz="1600" b="1">
                <a:latin typeface="맑은 고딕" panose="020B0503020000020004" pitchFamily="34" charset="-127"/>
                <a:ea typeface="맑은 고딕" panose="020B0503020000020004" pitchFamily="34" charset="-127"/>
              </a:rPr>
              <a:t>코드 수행</a:t>
            </a:r>
            <a:endParaRPr lang="ko-KR" altLang="en-US" sz="16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4" name="오른쪽 화살표 13"/>
          <p:cNvSpPr/>
          <p:nvPr/>
        </p:nvSpPr>
        <p:spPr>
          <a:xfrm rot="10800000">
            <a:off x="5588803" y="4294393"/>
            <a:ext cx="432048" cy="36004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549" y="3614899"/>
            <a:ext cx="1952898" cy="28293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5" name="오른쪽 화살표 24"/>
          <p:cNvSpPr/>
          <p:nvPr/>
        </p:nvSpPr>
        <p:spPr>
          <a:xfrm rot="10800000">
            <a:off x="2395063" y="4273477"/>
            <a:ext cx="432048" cy="36004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36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크롬 개발자 도구를 이용해서 네트워크에 전달 되는 내용을 확인 해보자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>
                <a:hlinkClick r:id="rId2"/>
              </a:rPr>
              <a:t>http://remotehost/phpblock.php</a:t>
            </a:r>
            <a:endParaRPr lang="en-US" altLang="ko-KR"/>
          </a:p>
          <a:p>
            <a:pPr lvl="1"/>
            <a:r>
              <a:rPr lang="ko-KR" altLang="en-US" sz="1400"/>
              <a:t>내 컴퓨터가 아닌 원격의 웹서버에서 실행 중인 웹 페이지가 로드되는지 확인 해보자</a:t>
            </a:r>
            <a:r>
              <a:rPr lang="en-US" altLang="ko-KR" sz="1400"/>
              <a:t>.</a:t>
            </a:r>
          </a:p>
          <a:p>
            <a:pPr lvl="1"/>
            <a:r>
              <a:rPr lang="ko-KR" altLang="en-US" sz="1400"/>
              <a:t>변경내용이 적용되는 것을 확인 해 볼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628800"/>
            <a:ext cx="4629796" cy="1390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6772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2820003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32068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주문목록 페이지 만들기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9239A-1156-2E40-E642-4AB960C23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924689"/>
            <a:ext cx="4518502" cy="31683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8BE77E1-51A4-32BA-08F3-B9D72DC7B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557" y="1924689"/>
            <a:ext cx="3342891" cy="30963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A274F7-51C2-FE28-6BF5-DED53BAA5367}"/>
              </a:ext>
            </a:extLst>
          </p:cNvPr>
          <p:cNvSpPr txBox="1"/>
          <p:nvPr/>
        </p:nvSpPr>
        <p:spPr>
          <a:xfrm>
            <a:off x="467544" y="1515193"/>
            <a:ext cx="1483270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orderlist.</a:t>
            </a:r>
            <a:r>
              <a:rPr lang="en-US" altLang="ko-KR" sz="1400" b="1" err="1"/>
              <a:t>php</a:t>
            </a:r>
            <a:endParaRPr lang="ko-KR" altLang="en-US" sz="14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274F7-51C2-FE28-6BF5-DED53BAA5367}"/>
              </a:ext>
            </a:extLst>
          </p:cNvPr>
          <p:cNvSpPr txBox="1"/>
          <p:nvPr/>
        </p:nvSpPr>
        <p:spPr>
          <a:xfrm>
            <a:off x="5246151" y="1515193"/>
            <a:ext cx="1483270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customerview.php</a:t>
            </a:r>
            <a:endParaRPr lang="ko-KR" altLang="en-US" sz="1400" b="1"/>
          </a:p>
        </p:txBody>
      </p:sp>
      <p:sp>
        <p:nvSpPr>
          <p:cNvPr id="7" name="직사각형 6"/>
          <p:cNvSpPr/>
          <p:nvPr/>
        </p:nvSpPr>
        <p:spPr>
          <a:xfrm>
            <a:off x="539552" y="2276872"/>
            <a:ext cx="576064" cy="2744161"/>
          </a:xfrm>
          <a:prstGeom prst="rect">
            <a:avLst/>
          </a:prstGeom>
          <a:noFill/>
          <a:ln w="222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DF181AD-1675-8B09-6807-E822E3851E02}"/>
              </a:ext>
            </a:extLst>
          </p:cNvPr>
          <p:cNvSpPr/>
          <p:nvPr/>
        </p:nvSpPr>
        <p:spPr>
          <a:xfrm>
            <a:off x="4799290" y="3216904"/>
            <a:ext cx="576064" cy="43204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48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ko-KR" altLang="en-US"/>
              <a:t>주문목록 페이지 만들기</a:t>
            </a:r>
            <a:endParaRPr lang="en-US" altLang="ko-KR"/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890117" y="1345441"/>
            <a:ext cx="7344816" cy="5187677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19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C:\xampp\htdoc\orderlist.php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D222C4C9-6B7C-871A-4C2E-2093951ED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40" y="1606172"/>
            <a:ext cx="6614688" cy="485049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D6EAB9-056A-60A6-339F-DE6C86064CC7}"/>
              </a:ext>
            </a:extLst>
          </p:cNvPr>
          <p:cNvSpPr/>
          <p:nvPr/>
        </p:nvSpPr>
        <p:spPr>
          <a:xfrm>
            <a:off x="827584" y="3731779"/>
            <a:ext cx="7488832" cy="201277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38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ko-KR" altLang="en-US"/>
              <a:t>고객상세 페이지 만들기</a:t>
            </a:r>
            <a:endParaRPr lang="en-US" altLang="ko-KR"/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890116" y="1345441"/>
            <a:ext cx="7354291" cy="5251911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19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C:\xampp\htdoc\customerview.php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D643AD4F-588E-64ED-5C3A-6EED2B8F0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49" y="1621570"/>
            <a:ext cx="6353559" cy="494116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D6EAB9-056A-60A6-339F-DE6C86064CC7}"/>
              </a:ext>
            </a:extLst>
          </p:cNvPr>
          <p:cNvSpPr/>
          <p:nvPr/>
        </p:nvSpPr>
        <p:spPr>
          <a:xfrm>
            <a:off x="822845" y="2492896"/>
            <a:ext cx="7488832" cy="360040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97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E572B-3A3D-88E4-03D0-04FF0493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6BF9C7-A2EF-DD72-218F-AAD5D8441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주</a:t>
            </a:r>
            <a:r>
              <a:rPr lang="ko-KR" altLang="en-US" dirty="0" err="1"/>
              <a:t>문</a:t>
            </a:r>
            <a:r>
              <a:rPr lang="ko-KR" altLang="en-US" dirty="0" err="1" smtClean="0"/>
              <a:t>목록</a:t>
            </a:r>
            <a:r>
              <a:rPr lang="ko-KR" altLang="en-US" dirty="0" smtClean="0"/>
              <a:t> </a:t>
            </a:r>
            <a:r>
              <a:rPr lang="ko-KR" altLang="en-US" dirty="0"/>
              <a:t>페이지에 판매액을 누르면 수정할 수 있는 기능 추가하기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5CD25F-723A-C477-E99F-27B22B229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16" y="1791867"/>
            <a:ext cx="3838124" cy="29800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18EFFD-15FD-8464-5885-FEFE2A084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984" y="1628799"/>
            <a:ext cx="2963963" cy="310385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4B13575-BA8E-1528-6A95-35EC7F975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34" y="4845991"/>
            <a:ext cx="4353533" cy="19052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55576" y="1407047"/>
            <a:ext cx="1483270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orderlist_ver2.</a:t>
            </a:r>
            <a:r>
              <a:rPr lang="en-US" altLang="ko-KR" sz="1400" b="1" err="1"/>
              <a:t>php</a:t>
            </a:r>
            <a:endParaRPr lang="ko-KR" altLang="en-US" sz="1400" b="1"/>
          </a:p>
        </p:txBody>
      </p:sp>
      <p:sp>
        <p:nvSpPr>
          <p:cNvPr id="20" name="TextBox 19"/>
          <p:cNvSpPr txBox="1"/>
          <p:nvPr/>
        </p:nvSpPr>
        <p:spPr>
          <a:xfrm>
            <a:off x="6134147" y="1952668"/>
            <a:ext cx="1483270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updateorder.php</a:t>
            </a:r>
            <a:endParaRPr lang="ko-KR" altLang="en-US" sz="1400" b="1"/>
          </a:p>
        </p:txBody>
      </p:sp>
      <p:sp>
        <p:nvSpPr>
          <p:cNvPr id="21" name="TextBox 20"/>
          <p:cNvSpPr txBox="1"/>
          <p:nvPr/>
        </p:nvSpPr>
        <p:spPr>
          <a:xfrm>
            <a:off x="5378769" y="6072660"/>
            <a:ext cx="2205195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action_updateorder.php</a:t>
            </a:r>
            <a:endParaRPr lang="ko-KR" altLang="en-US" sz="1400" b="1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8695980D-E20A-DA6D-CCC2-E90B75C855B9}"/>
              </a:ext>
            </a:extLst>
          </p:cNvPr>
          <p:cNvSpPr/>
          <p:nvPr/>
        </p:nvSpPr>
        <p:spPr>
          <a:xfrm>
            <a:off x="4283968" y="2636912"/>
            <a:ext cx="576064" cy="43204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4D1ADF3-E66B-3E90-9F3A-C139979BB4FC}"/>
              </a:ext>
            </a:extLst>
          </p:cNvPr>
          <p:cNvSpPr/>
          <p:nvPr/>
        </p:nvSpPr>
        <p:spPr>
          <a:xfrm rot="5400000">
            <a:off x="6979570" y="4723091"/>
            <a:ext cx="576064" cy="43204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E9C60B1-E65E-5D09-28A9-6CC38C1E8CBC}"/>
              </a:ext>
            </a:extLst>
          </p:cNvPr>
          <p:cNvSpPr/>
          <p:nvPr/>
        </p:nvSpPr>
        <p:spPr>
          <a:xfrm rot="16200000">
            <a:off x="3507533" y="4732654"/>
            <a:ext cx="576064" cy="43204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72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ko-KR" altLang="en-US" sz="1400"/>
              <a:t>주문 목록의 판매액 필드를 클릭하면 </a:t>
            </a:r>
            <a:r>
              <a:rPr lang="en-US" altLang="ko-KR" sz="1400"/>
              <a:t>updateorder.php </a:t>
            </a:r>
            <a:r>
              <a:rPr lang="ko-KR" altLang="en-US" sz="1400"/>
              <a:t>로 이동하도록 링크 생성</a:t>
            </a:r>
            <a:endParaRPr lang="en-US" altLang="ko-KR" sz="1400"/>
          </a:p>
          <a:p>
            <a:r>
              <a:rPr lang="en-US" altLang="ko-KR" sz="1400"/>
              <a:t>updateorder.php</a:t>
            </a:r>
            <a:r>
              <a:rPr lang="ko-KR" altLang="en-US" sz="1400"/>
              <a:t> </a:t>
            </a:r>
            <a:r>
              <a:rPr lang="en-US" altLang="ko-KR" sz="1400"/>
              <a:t>URL</a:t>
            </a:r>
            <a:r>
              <a:rPr lang="ko-KR" altLang="en-US" sz="1400"/>
              <a:t>에 </a:t>
            </a:r>
            <a:r>
              <a:rPr lang="en-US" altLang="ko-KR" sz="1400"/>
              <a:t>GET </a:t>
            </a:r>
            <a:r>
              <a:rPr lang="ko-KR" altLang="en-US" sz="1400"/>
              <a:t>파라미터로 </a:t>
            </a:r>
            <a:r>
              <a:rPr lang="en-US" altLang="ko-KR" sz="1400"/>
              <a:t>orderid</a:t>
            </a:r>
            <a:r>
              <a:rPr lang="ko-KR" altLang="en-US" sz="1400"/>
              <a:t>를 전달</a:t>
            </a:r>
            <a:endParaRPr lang="en-US" altLang="ko-KR" sz="1400"/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891352" y="1622897"/>
            <a:ext cx="7354291" cy="4693990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19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C:\xampp\htdoc\orderlist_ver2.php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2C38808D-3AC7-609E-9F20-515B3A2B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57" y="1916831"/>
            <a:ext cx="7265029" cy="410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en-US" altLang="ko-KR" sz="1400"/>
              <a:t>GET</a:t>
            </a:r>
            <a:r>
              <a:rPr lang="ko-KR" altLang="en-US" sz="1400"/>
              <a:t> 파라미터의 </a:t>
            </a:r>
            <a:r>
              <a:rPr lang="en-US" altLang="ko-KR" sz="1400"/>
              <a:t>id </a:t>
            </a:r>
            <a:r>
              <a:rPr lang="ko-KR" altLang="en-US" sz="1400"/>
              <a:t>는 </a:t>
            </a:r>
            <a:r>
              <a:rPr lang="en-US" altLang="ko-KR" sz="1400"/>
              <a:t>orderid </a:t>
            </a:r>
            <a:r>
              <a:rPr lang="ko-KR" altLang="en-US" sz="1400"/>
              <a:t>이다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orderid </a:t>
            </a:r>
            <a:r>
              <a:rPr lang="ko-KR" altLang="en-US" sz="1400"/>
              <a:t>를 이용해서 선택된 주문의 </a:t>
            </a:r>
            <a:r>
              <a:rPr lang="en-US" altLang="ko-KR" sz="1400"/>
              <a:t>record</a:t>
            </a:r>
            <a:r>
              <a:rPr lang="ko-KR" altLang="en-US" sz="1400"/>
              <a:t>를 가져오도록 한다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saleprice </a:t>
            </a:r>
            <a:r>
              <a:rPr lang="ko-KR" altLang="en-US" sz="1400"/>
              <a:t>값이 수정되면 </a:t>
            </a:r>
            <a:r>
              <a:rPr lang="en-US" altLang="ko-KR" sz="1400"/>
              <a:t>form </a:t>
            </a:r>
            <a:r>
              <a:rPr lang="ko-KR" altLang="en-US" sz="1400"/>
              <a:t>의 </a:t>
            </a:r>
            <a:r>
              <a:rPr lang="en-US" altLang="ko-KR" sz="1400"/>
              <a:t>action</a:t>
            </a:r>
            <a:r>
              <a:rPr lang="ko-KR" altLang="en-US" sz="1400"/>
              <a:t>를 </a:t>
            </a:r>
            <a:r>
              <a:rPr lang="en-US" altLang="ko-KR" sz="1400"/>
              <a:t>action_updateorder.php </a:t>
            </a:r>
            <a:r>
              <a:rPr lang="ko-KR" altLang="en-US" sz="1400"/>
              <a:t>로 지정해서 해당 파일에서 처리하도록 한다</a:t>
            </a:r>
            <a:r>
              <a:rPr lang="en-US" altLang="ko-KR" sz="1400"/>
              <a:t>.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869160" y="2245696"/>
            <a:ext cx="7354291" cy="4398391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3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C:\xampp\htdoc\updateorder.php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24787E94-B1CD-8857-2A28-ECBD152FB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86" y="2564904"/>
            <a:ext cx="7274837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22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en-US" altLang="ko-KR" sz="1400"/>
              <a:t>POST</a:t>
            </a:r>
            <a:r>
              <a:rPr lang="ko-KR" altLang="en-US" sz="1400"/>
              <a:t> 파라미터에서 </a:t>
            </a:r>
            <a:r>
              <a:rPr lang="en-US" altLang="ko-KR" sz="1400"/>
              <a:t>orderid </a:t>
            </a:r>
            <a:r>
              <a:rPr lang="ko-KR" altLang="en-US" sz="1400"/>
              <a:t>와 </a:t>
            </a:r>
            <a:r>
              <a:rPr lang="en-US" altLang="ko-KR" sz="1400"/>
              <a:t>saleprice </a:t>
            </a:r>
            <a:r>
              <a:rPr lang="ko-KR" altLang="en-US" sz="1400"/>
              <a:t>를 얻어서 주문액을 업데이트하는 쿼리를 생성해서 실행한다</a:t>
            </a:r>
            <a:r>
              <a:rPr lang="en-US" altLang="ko-KR" sz="1400"/>
              <a:t>.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960980" y="1707971"/>
            <a:ext cx="7354291" cy="4398391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40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C:\xampp\htdoc\action_updateorder.php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0D0D19B-CC4D-9B30-DF8D-BE269929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015748"/>
            <a:ext cx="5976664" cy="406146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8C98B7-98CD-ABBC-EEF4-7D2A7C97EC6F}"/>
              </a:ext>
            </a:extLst>
          </p:cNvPr>
          <p:cNvSpPr/>
          <p:nvPr/>
        </p:nvSpPr>
        <p:spPr>
          <a:xfrm>
            <a:off x="845564" y="3429000"/>
            <a:ext cx="7488832" cy="201277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0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879E3-9EC1-96A4-4A76-7A8C2517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A3DB7BA-21F5-2AB9-69D4-598416BB8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980728"/>
            <a:ext cx="7244232" cy="2808312"/>
          </a:xfr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AAD5E39-CED6-6B8D-CEB6-AFEA2716B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3082859"/>
            <a:ext cx="5256584" cy="361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434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24DB0-B72D-AADD-6BA6-D07B7B25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F16BAA6-BA66-3AEC-A3D1-A57C132554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796275"/>
              </p:ext>
            </p:extLst>
          </p:nvPr>
        </p:nvGraphicFramePr>
        <p:xfrm>
          <a:off x="395536" y="1037601"/>
          <a:ext cx="7704856" cy="32766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04856">
                  <a:extLst>
                    <a:ext uri="{9D8B030D-6E8A-4147-A177-3AD203B41FA5}">
                      <a16:colId xmlns:a16="http://schemas.microsoft.com/office/drawing/2014/main" val="637360609"/>
                    </a:ext>
                  </a:extLst>
                </a:gridCol>
              </a:tblGrid>
              <a:tr h="3255495">
                <a:tc>
                  <a:txBody>
                    <a:bodyPr/>
                    <a:lstStyle/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&lt;?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php</a:t>
                      </a:r>
                      <a:endParaRPr lang="en-US" altLang="ko-KR" sz="1100" b="1" kern="12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echo '&lt;table class="styled-table" style="width: 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700px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.'&lt;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주문도서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정가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판매액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주문일자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.'&lt;/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tbody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&gt;';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while($row = 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mysqli_fetch_array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($result)) {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echo ('&lt;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tr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class="active-row"&gt;&lt;td&gt;&lt;b&gt;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&lt;a 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href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="customerview.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php?id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='.$row['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custid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'].'"&gt;'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.$row['name'].'&lt;/a&gt;&lt;/b&gt;&lt;/td&gt;'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.'&lt;td&gt;'.$row['address'].'&lt;/td&gt;'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.'&lt;td&gt;'.$row['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bookname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'].'&lt;/td&gt;'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.'&lt;td&gt;'.$row['price'].'&lt;/td&gt;'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.'&lt;td&gt;&lt;b&gt;&lt;a 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href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="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updateorder.php?id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='.$row['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orderid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'].'"&gt;'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saleprice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.'&lt;/a&gt;&lt;/b&gt;&lt;/td&gt;'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.'&lt;td&gt;'.$row['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orderdate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'].'&lt;/td&gt;&lt;/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tr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&gt;');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}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echo '&lt;/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tbody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&gt;&lt;/table&gt;&lt;p&gt;’;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56828"/>
                  </a:ext>
                </a:extLst>
              </a:tr>
            </a:tbl>
          </a:graphicData>
        </a:graphic>
      </p:graphicFrame>
      <p:sp>
        <p:nvSpPr>
          <p:cNvPr id="3" name="생각 풍선: 구름 모양 2">
            <a:extLst>
              <a:ext uri="{FF2B5EF4-FFF2-40B4-BE49-F238E27FC236}">
                <a16:creationId xmlns:a16="http://schemas.microsoft.com/office/drawing/2014/main" id="{5270CC8F-492E-A6AB-1874-0753850662BA}"/>
              </a:ext>
            </a:extLst>
          </p:cNvPr>
          <p:cNvSpPr/>
          <p:nvPr/>
        </p:nvSpPr>
        <p:spPr>
          <a:xfrm>
            <a:off x="5508104" y="1988840"/>
            <a:ext cx="2951932" cy="1584169"/>
          </a:xfrm>
          <a:prstGeom prst="cloudCallout">
            <a:avLst>
              <a:gd name="adj1" fmla="val -50170"/>
              <a:gd name="adj2" fmla="val 5837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HTML</a:t>
            </a:r>
            <a:r>
              <a:rPr lang="ko-KR" altLang="en-US" sz="1400"/>
              <a:t>이 </a:t>
            </a:r>
            <a:r>
              <a:rPr lang="en-US" altLang="ko-KR" sz="1400"/>
              <a:t>PHP </a:t>
            </a:r>
            <a:r>
              <a:rPr lang="ko-KR" altLang="en-US" sz="1400"/>
              <a:t>코드 블록 내부에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2733829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24DB0-B72D-AADD-6BA6-D07B7B25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F16BAA6-BA66-3AEC-A3D1-A57C132554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002202"/>
              </p:ext>
            </p:extLst>
          </p:nvPr>
        </p:nvGraphicFramePr>
        <p:xfrm>
          <a:off x="395536" y="1037601"/>
          <a:ext cx="8064500" cy="5623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064500">
                  <a:extLst>
                    <a:ext uri="{9D8B030D-6E8A-4147-A177-3AD203B41FA5}">
                      <a16:colId xmlns:a16="http://schemas.microsoft.com/office/drawing/2014/main" val="637360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&lt;table class="styled-table" style="width: 700px;"&gt;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thead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주문도서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정가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판매액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주문일자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thead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tbody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while($row=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mysqli_fetch_array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($result)) {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  &lt;tr class="active-row"&gt;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    &lt;b&gt;&lt;a href="customerview.php?id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&lt;?=$row['custid']?&gt;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&lt;?=$row['name']?&gt;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&lt;/a&gt;&lt;/b&gt;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&lt;?=$row['address']?&gt;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&lt;?=$row['bookname']?&gt;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&lt;?=$row['price']?&gt;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    &lt;!--&lt;a href="updateorder.php?id=1"&gt; --&gt;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    &lt;b&gt;&lt;a href="updateorder.php?id=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&lt;?=$row['orderid']?&gt;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        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&lt;?=$row['saleprice']?&gt;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    &lt;/a&gt;&lt;/b&gt;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 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 &lt;td&gt;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&lt;?=$row['orderdate']?&gt;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  &lt;/tr&gt;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tbody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&lt;/table&gt;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56828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35AFAF8-EC3E-B8B7-FE89-6C361E735C2D}"/>
              </a:ext>
            </a:extLst>
          </p:cNvPr>
          <p:cNvCxnSpPr>
            <a:cxnSpLocks/>
          </p:cNvCxnSpPr>
          <p:nvPr/>
        </p:nvCxnSpPr>
        <p:spPr>
          <a:xfrm flipV="1">
            <a:off x="3489240" y="2996952"/>
            <a:ext cx="4251112" cy="18662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FBA6AAF-F962-553F-0187-42540A411699}"/>
              </a:ext>
            </a:extLst>
          </p:cNvPr>
          <p:cNvCxnSpPr>
            <a:cxnSpLocks/>
          </p:cNvCxnSpPr>
          <p:nvPr/>
        </p:nvCxnSpPr>
        <p:spPr>
          <a:xfrm>
            <a:off x="7740352" y="2996952"/>
            <a:ext cx="0" cy="3042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6E7B90A-A0AE-1CB3-0C5F-473942875C24}"/>
              </a:ext>
            </a:extLst>
          </p:cNvPr>
          <p:cNvCxnSpPr>
            <a:cxnSpLocks/>
          </p:cNvCxnSpPr>
          <p:nvPr/>
        </p:nvCxnSpPr>
        <p:spPr>
          <a:xfrm>
            <a:off x="774238" y="6039950"/>
            <a:ext cx="6966114" cy="0"/>
          </a:xfrm>
          <a:prstGeom prst="line">
            <a:avLst/>
          </a:prstGeom>
          <a:ln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생각 풍선: 구름 모양 17">
            <a:extLst>
              <a:ext uri="{FF2B5EF4-FFF2-40B4-BE49-F238E27FC236}">
                <a16:creationId xmlns:a16="http://schemas.microsoft.com/office/drawing/2014/main" id="{35FDBA22-0027-1AE1-93F4-723AB235D049}"/>
              </a:ext>
            </a:extLst>
          </p:cNvPr>
          <p:cNvSpPr/>
          <p:nvPr/>
        </p:nvSpPr>
        <p:spPr>
          <a:xfrm>
            <a:off x="5076056" y="3933061"/>
            <a:ext cx="2448272" cy="1584169"/>
          </a:xfrm>
          <a:prstGeom prst="cloudCallout">
            <a:avLst>
              <a:gd name="adj1" fmla="val -62498"/>
              <a:gd name="adj2" fmla="val 4720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php</a:t>
            </a:r>
            <a:r>
              <a:rPr lang="ko-KR" altLang="en-US" sz="1400"/>
              <a:t> 블록이 분리되어 있어도 동작한다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539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7411E-DCBA-C9F4-936F-561E6DE1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F8123-160C-5E8D-4AEA-ECAE3B584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orderlist_ver2.</a:t>
            </a:r>
            <a:r>
              <a:rPr lang="en-US" altLang="ko-KR" err="1"/>
              <a:t>php</a:t>
            </a:r>
            <a:r>
              <a:rPr lang="ko-KR" altLang="en-US"/>
              <a:t>를 참조해서 </a:t>
            </a:r>
            <a:r>
              <a:rPr lang="ko-KR" altLang="en-US" err="1"/>
              <a:t>주문목록</a:t>
            </a:r>
            <a:r>
              <a:rPr lang="ko-KR" altLang="en-US"/>
              <a:t> 페이지 </a:t>
            </a:r>
            <a:r>
              <a:rPr lang="en-US" altLang="ko-KR"/>
              <a:t>orderlist_ver3.</a:t>
            </a:r>
            <a:r>
              <a:rPr lang="en-US" altLang="ko-KR" err="1"/>
              <a:t>php</a:t>
            </a:r>
            <a:r>
              <a:rPr lang="en-US" altLang="ko-KR"/>
              <a:t> </a:t>
            </a:r>
            <a:r>
              <a:rPr lang="ko-KR" altLang="en-US"/>
              <a:t>생성</a:t>
            </a:r>
            <a:endParaRPr lang="en-US" altLang="ko-KR"/>
          </a:p>
          <a:p>
            <a:r>
              <a:rPr lang="en-US" altLang="ko-KR"/>
              <a:t>orderlist_ver3.</a:t>
            </a:r>
            <a:r>
              <a:rPr lang="en-US" altLang="ko-KR" err="1"/>
              <a:t>php</a:t>
            </a:r>
            <a:r>
              <a:rPr lang="ko-KR" altLang="en-US"/>
              <a:t>의 코딩 스타일을 </a:t>
            </a:r>
            <a:r>
              <a:rPr lang="en-US" altLang="ko-KR" err="1"/>
              <a:t>php</a:t>
            </a:r>
            <a:r>
              <a:rPr lang="en-US" altLang="ko-KR"/>
              <a:t> </a:t>
            </a:r>
            <a:r>
              <a:rPr lang="ko-KR" altLang="en-US"/>
              <a:t>블록과 </a:t>
            </a:r>
            <a:r>
              <a:rPr lang="en-US" altLang="ko-KR"/>
              <a:t>html</a:t>
            </a:r>
            <a:r>
              <a:rPr lang="ko-KR" altLang="en-US"/>
              <a:t>이 분리된 형태로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1C33290-3E01-C2BE-2CD2-4D087589BA01}"/>
              </a:ext>
            </a:extLst>
          </p:cNvPr>
          <p:cNvGrpSpPr/>
          <p:nvPr/>
        </p:nvGrpSpPr>
        <p:grpSpPr>
          <a:xfrm>
            <a:off x="894854" y="1916831"/>
            <a:ext cx="7354291" cy="4641279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14FABDF5-DEEC-DF23-A53A-CCB62FCE434D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51273B-4877-975F-F2FF-5954EC777585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40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C:\xampp\htdoc\orderlist_ver3.php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F595FB2-9ED2-2CE1-4583-397C127F0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34274"/>
            <a:ext cx="6053410" cy="420818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3EF6E1-3F27-4308-4FF8-AD31BFCB4F07}"/>
              </a:ext>
            </a:extLst>
          </p:cNvPr>
          <p:cNvSpPr/>
          <p:nvPr/>
        </p:nvSpPr>
        <p:spPr>
          <a:xfrm>
            <a:off x="827584" y="4509121"/>
            <a:ext cx="7488832" cy="432048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23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8782</TotalTime>
  <Words>942</Words>
  <Application>Microsoft Office PowerPoint</Application>
  <PresentationFormat>화면 슬라이드 쇼(4:3)</PresentationFormat>
  <Paragraphs>301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굴림</vt:lpstr>
      <vt:lpstr>맑은 고딕</vt:lpstr>
      <vt:lpstr>Arial</vt:lpstr>
      <vt:lpstr>Tahoma</vt:lpstr>
      <vt:lpstr>Wingdings</vt:lpstr>
      <vt:lpstr>Office 테마</vt:lpstr>
      <vt:lpstr>2_Office 테마</vt:lpstr>
      <vt:lpstr>PowerPoint 프레젠테이션</vt:lpstr>
      <vt:lpstr>PowerPoint 프레젠테이션</vt:lpstr>
      <vt:lpstr>데이터베이스 프로그래밍의 개념</vt:lpstr>
      <vt:lpstr>데이터베이스 프로그래밍의 개념</vt:lpstr>
      <vt:lpstr>데이터베이스 프로그래밍의 개념</vt:lpstr>
      <vt:lpstr>데이터베이스 프로그래밍의 개념</vt:lpstr>
      <vt:lpstr>PowerPoint 프레젠테이션</vt:lpstr>
      <vt:lpstr>데이터베이스 연동 웹 프로그래밍</vt:lpstr>
      <vt:lpstr>1. 소스코드 설명</vt:lpstr>
      <vt:lpstr>2. 프로그램 실습</vt:lpstr>
      <vt:lpstr>2. 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PowerPoint 프레젠테이션</vt:lpstr>
      <vt:lpstr>PHP 기본</vt:lpstr>
      <vt:lpstr>PHP 기본</vt:lpstr>
      <vt:lpstr>PHP 기본</vt:lpstr>
      <vt:lpstr>PHP 기본</vt:lpstr>
      <vt:lpstr>PHP 기본</vt:lpstr>
      <vt:lpstr>PHP 기본</vt:lpstr>
      <vt:lpstr>HTML과 PHP 관계</vt:lpstr>
      <vt:lpstr>PHP 기본</vt:lpstr>
      <vt:lpstr>PHP 기본</vt:lpstr>
      <vt:lpstr>PHP 기본</vt:lpstr>
      <vt:lpstr>PHP 기본</vt:lpstr>
      <vt:lpstr>PHP 기본</vt:lpstr>
      <vt:lpstr>PHP 기본</vt:lpstr>
      <vt:lpstr>PowerPoint 프레젠테이션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627</cp:revision>
  <cp:lastPrinted>2023-02-19T06:43:06Z</cp:lastPrinted>
  <dcterms:created xsi:type="dcterms:W3CDTF">2012-07-11T10:23:22Z</dcterms:created>
  <dcterms:modified xsi:type="dcterms:W3CDTF">2026-04-30T03:14:30Z</dcterms:modified>
</cp:coreProperties>
</file>
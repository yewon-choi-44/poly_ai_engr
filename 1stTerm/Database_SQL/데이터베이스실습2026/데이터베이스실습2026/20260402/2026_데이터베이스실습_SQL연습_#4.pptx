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36"/>
  </p:notesMasterIdLst>
  <p:handoutMasterIdLst>
    <p:handoutMasterId r:id="rId37"/>
  </p:handoutMasterIdLst>
  <p:sldIdLst>
    <p:sldId id="465" r:id="rId3"/>
    <p:sldId id="516" r:id="rId4"/>
    <p:sldId id="524" r:id="rId5"/>
    <p:sldId id="537" r:id="rId6"/>
    <p:sldId id="440" r:id="rId7"/>
    <p:sldId id="441" r:id="rId8"/>
    <p:sldId id="442" r:id="rId9"/>
    <p:sldId id="443" r:id="rId10"/>
    <p:sldId id="444" r:id="rId11"/>
    <p:sldId id="445" r:id="rId12"/>
    <p:sldId id="525" r:id="rId13"/>
    <p:sldId id="447" r:id="rId14"/>
    <p:sldId id="448" r:id="rId15"/>
    <p:sldId id="464" r:id="rId16"/>
    <p:sldId id="526" r:id="rId17"/>
    <p:sldId id="449" r:id="rId18"/>
    <p:sldId id="450" r:id="rId19"/>
    <p:sldId id="451" r:id="rId20"/>
    <p:sldId id="452" r:id="rId21"/>
    <p:sldId id="453" r:id="rId22"/>
    <p:sldId id="536" r:id="rId23"/>
    <p:sldId id="439" r:id="rId24"/>
    <p:sldId id="527" r:id="rId25"/>
    <p:sldId id="483" r:id="rId26"/>
    <p:sldId id="485" r:id="rId27"/>
    <p:sldId id="481" r:id="rId28"/>
    <p:sldId id="482" r:id="rId29"/>
    <p:sldId id="487" r:id="rId30"/>
    <p:sldId id="528" r:id="rId31"/>
    <p:sldId id="529" r:id="rId32"/>
    <p:sldId id="530" r:id="rId33"/>
    <p:sldId id="531" r:id="rId34"/>
    <p:sldId id="532" r:id="rId35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90" d="100"/>
          <a:sy n="90" d="100"/>
        </p:scale>
        <p:origin x="2310" y="78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2026-04-09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r>
              <a:rPr lang="en-US" altLang="ko-KR" sz="4000" b="1" dirty="0">
                <a:solidFill>
                  <a:srgbClr val="215968"/>
                </a:solidFill>
              </a:rPr>
              <a:t/>
            </a:r>
            <a:br>
              <a:rPr lang="en-US" altLang="ko-KR" sz="4000" b="1" dirty="0">
                <a:solidFill>
                  <a:srgbClr val="215968"/>
                </a:solidFill>
              </a:rPr>
            </a:br>
            <a:r>
              <a:rPr lang="en-US" altLang="ko-KR" sz="800"/>
              <a:t/>
            </a: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#4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practice3.sql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3908442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 </a:t>
            </a:r>
            <a:r>
              <a:rPr lang="ko-KR" altLang="en-US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정의어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(</a:t>
            </a:r>
            <a:r>
              <a:rPr lang="en-US" altLang="ko-KR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DDL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)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CREATE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ALTER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DROP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64218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34B8-52D2-314D-96D0-6D414C3C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D8497-E9F1-C501-CE78-9097C5BD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데이터베이스 생성</a:t>
            </a:r>
            <a:endParaRPr lang="ko-KR" altLang="en-US" dirty="0"/>
          </a:p>
        </p:txBody>
      </p:sp>
      <p:graphicFrame>
        <p:nvGraphicFramePr>
          <p:cNvPr id="10" name="내용 개체 틀 3">
            <a:extLst>
              <a:ext uri="{FF2B5EF4-FFF2-40B4-BE49-F238E27FC236}">
                <a16:creationId xmlns:a16="http://schemas.microsoft.com/office/drawing/2014/main" id="{0CF82279-8C2E-6D4F-E270-3F2797C56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16739"/>
              </p:ext>
            </p:extLst>
          </p:nvPr>
        </p:nvGraphicFramePr>
        <p:xfrm>
          <a:off x="611560" y="119675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생성하기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.(CREATE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CREATE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practice3 CHARSET UTF8MB4;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내용 개체 틀 3">
            <a:extLst>
              <a:ext uri="{FF2B5EF4-FFF2-40B4-BE49-F238E27FC236}">
                <a16:creationId xmlns:a16="http://schemas.microsoft.com/office/drawing/2014/main" id="{6BEECD04-2E2D-1A02-7FDF-8198C1D16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5565717"/>
              </p:ext>
            </p:extLst>
          </p:nvPr>
        </p:nvGraphicFramePr>
        <p:xfrm>
          <a:off x="611560" y="227687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삭제하기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.(DROP DATABASE)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DROP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practice3;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>
            <a:extLst>
              <a:ext uri="{FF2B5EF4-FFF2-40B4-BE49-F238E27FC236}">
                <a16:creationId xmlns:a16="http://schemas.microsoft.com/office/drawing/2014/main" id="{08356FE7-4142-2528-9FE8-ED77F615C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4331369"/>
              </p:ext>
            </p:extLst>
          </p:nvPr>
        </p:nvGraphicFramePr>
        <p:xfrm>
          <a:off x="610833" y="3275722"/>
          <a:ext cx="8065252" cy="78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목록 보기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SHOW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DATABASES;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내용 개체 틀 3">
            <a:extLst>
              <a:ext uri="{FF2B5EF4-FFF2-40B4-BE49-F238E27FC236}">
                <a16:creationId xmlns:a16="http://schemas.microsoft.com/office/drawing/2014/main" id="{068E49AE-60B2-6C75-DB58-83CB0F987D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0711678"/>
              </p:ext>
            </p:extLst>
          </p:nvPr>
        </p:nvGraphicFramePr>
        <p:xfrm>
          <a:off x="610833" y="4224710"/>
          <a:ext cx="8065252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practice3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선택하기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USE practice3;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실습시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practice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데이터 베이스에서 쿼리를 수행하자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74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54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테이블 구성</a:t>
            </a:r>
            <a:r>
              <a:rPr lang="en-US" altLang="ko-KR" dirty="0"/>
              <a:t>, </a:t>
            </a:r>
            <a:r>
              <a:rPr lang="ko-KR" altLang="en-US" dirty="0"/>
              <a:t>속성과 속성에 관한 제약 정의</a:t>
            </a:r>
            <a:r>
              <a:rPr lang="en-US" altLang="ko-KR" dirty="0"/>
              <a:t>, </a:t>
            </a:r>
            <a:r>
              <a:rPr lang="ko-KR" altLang="en-US" dirty="0" err="1"/>
              <a:t>기본키</a:t>
            </a:r>
            <a:r>
              <a:rPr lang="ko-KR" altLang="en-US" dirty="0"/>
              <a:t> 및 </a:t>
            </a:r>
            <a:r>
              <a:rPr lang="ko-KR" altLang="en-US" dirty="0" err="1"/>
              <a:t>외래키를</a:t>
            </a:r>
            <a:r>
              <a:rPr lang="ko-KR" altLang="en-US" dirty="0"/>
              <a:t> 정의하는 명령</a:t>
            </a:r>
            <a:endParaRPr lang="en-US" altLang="ko-KR" dirty="0"/>
          </a:p>
          <a:p>
            <a:r>
              <a:rPr lang="en-US" altLang="ko-KR" dirty="0"/>
              <a:t>PRIMARY KEY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기본키를</a:t>
            </a:r>
            <a:r>
              <a:rPr lang="ko-KR" altLang="en-US" dirty="0"/>
              <a:t> 정할 때 사용</a:t>
            </a:r>
            <a:endParaRPr lang="en-US" altLang="ko-KR" dirty="0"/>
          </a:p>
          <a:p>
            <a:r>
              <a:rPr lang="en-US" altLang="ko-KR" dirty="0"/>
              <a:t>FOREIGN KEY : </a:t>
            </a:r>
            <a:r>
              <a:rPr lang="ko-KR" altLang="en-US" dirty="0" err="1"/>
              <a:t>외래키를</a:t>
            </a:r>
            <a:r>
              <a:rPr lang="ko-KR" altLang="en-US" dirty="0"/>
              <a:t> 지정할 때 사용</a:t>
            </a:r>
            <a:endParaRPr lang="en-US" altLang="ko-KR" dirty="0"/>
          </a:p>
          <a:p>
            <a:r>
              <a:rPr lang="en-US" altLang="ko-KR" dirty="0"/>
              <a:t>ON UPDATE</a:t>
            </a:r>
            <a:r>
              <a:rPr lang="ko-KR" altLang="en-US" dirty="0"/>
              <a:t>와 </a:t>
            </a:r>
            <a:r>
              <a:rPr lang="en-US" altLang="ko-KR" dirty="0"/>
              <a:t>ON DELETE : </a:t>
            </a:r>
            <a:r>
              <a:rPr lang="ko-KR" altLang="en-US" dirty="0" err="1"/>
              <a:t>외래키</a:t>
            </a:r>
            <a:r>
              <a:rPr lang="ko-KR" altLang="en-US" dirty="0"/>
              <a:t> 속성의 수정과 </a:t>
            </a:r>
            <a:r>
              <a:rPr lang="ko-KR" altLang="en-US" dirty="0" err="1"/>
              <a:t>투플</a:t>
            </a:r>
            <a:r>
              <a:rPr lang="ko-KR" altLang="en-US" dirty="0"/>
              <a:t> 삭제 시 동작을 나타냄</a:t>
            </a:r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CREATE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84" y="3284984"/>
            <a:ext cx="6756176" cy="26642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CREATE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( {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[NOT NULL | UNIQUE | DEFAULT </a:t>
            </a:r>
            <a:r>
              <a:rPr lang="ko-KR" altLang="en-US" sz="1200" dirty="0">
                <a:latin typeface="+mn-ea"/>
                <a:ea typeface="+mn-ea"/>
              </a:rPr>
              <a:t>기본값</a:t>
            </a:r>
            <a:r>
              <a:rPr lang="en-US" altLang="ko-KR" sz="1200" dirty="0">
                <a:latin typeface="+mn-ea"/>
                <a:ea typeface="+mn-ea"/>
              </a:rPr>
              <a:t> | CHECK </a:t>
            </a:r>
            <a:r>
              <a:rPr lang="ko-KR" altLang="en-US" sz="1200" dirty="0">
                <a:latin typeface="+mn-ea"/>
                <a:ea typeface="+mn-ea"/>
              </a:rPr>
              <a:t>체크조건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[PRIMARY KEY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{[FOREIGN KEY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REFERENCES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	 [ON DELETE [CASCADE┃SET NULL]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)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64043" y="980728"/>
          <a:ext cx="7652617" cy="4872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911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다음과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같은 속성을 가진 </a:t>
                      </a: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NewBook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테이블을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생성하시오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정수형은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INTEGER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사용하며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문자형은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가변형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문자타입인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VARCHAR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사용한다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)-INTEGER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)-VARCHAR(20)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publisher(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)-VARCHAR(20)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price(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)-INTEGER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2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CREATE TABLE	</a:t>
                      </a:r>
                      <a:r>
                        <a:rPr lang="en-US" altLang="ko-KR" sz="1400" b="0" dirty="0" err="1"/>
                        <a:t>NewBook</a:t>
                      </a:r>
                      <a:r>
                        <a:rPr lang="en-US" altLang="ko-KR" sz="1400" b="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</a:t>
                      </a:r>
                      <a:r>
                        <a:rPr lang="en-US" altLang="ko-KR" sz="1400" b="0" dirty="0" err="1"/>
                        <a:t>bookid</a:t>
                      </a:r>
                      <a:r>
                        <a:rPr lang="en-US" altLang="ko-KR" sz="1400" b="0" dirty="0"/>
                        <a:t>		INTEGER,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</a:t>
                      </a:r>
                      <a:r>
                        <a:rPr lang="en-US" altLang="ko-KR" sz="1400" b="0" dirty="0" err="1"/>
                        <a:t>bookname</a:t>
                      </a:r>
                      <a:r>
                        <a:rPr lang="en-US" altLang="ko-KR" sz="1400" b="0" dirty="0"/>
                        <a:t>	VARCHAR(20),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publisher		VARCHAR(20),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price		INTEGER);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233">
                <a:tc>
                  <a:txBody>
                    <a:bodyPr/>
                    <a:lstStyle/>
                    <a:p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899592" y="4998849"/>
            <a:ext cx="51125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CREATE TABLE </a:t>
            </a:r>
            <a:r>
              <a:rPr lang="en-US" altLang="ko-KR" sz="12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2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dirty="0">
                <a:ea typeface="맑은 고딕" panose="020B0503020000020004" pitchFamily="50" charset="-127"/>
              </a:rPr>
              <a:t> 	  INTEGER,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200" dirty="0">
                <a:ea typeface="맑은 고딕" panose="020B0503020000020004" pitchFamily="50" charset="-127"/>
              </a:rPr>
              <a:t>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publisher 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price 	  INTEGER,  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ea typeface="맑은 고딕" panose="020B0503020000020004" pitchFamily="50" charset="-127"/>
              </a:rPr>
              <a:t> PRIMARY KEY (</a:t>
            </a:r>
            <a:r>
              <a:rPr lang="en-US" altLang="ko-KR" sz="1200" b="1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b="1" dirty="0">
                <a:ea typeface="맑은 고딕" panose="020B0503020000020004" pitchFamily="50" charset="-127"/>
              </a:rPr>
              <a:t>));</a:t>
            </a:r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20149" y="552422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ea typeface="맑은 고딕" panose="020B0503020000020004" pitchFamily="50" charset="-127"/>
              </a:rPr>
              <a:t>=</a:t>
            </a:r>
            <a:endParaRPr lang="ko-KR" altLang="en-US" b="1" dirty="0"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519599" y="5091182"/>
            <a:ext cx="33843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CREATE TABLE </a:t>
            </a:r>
            <a:r>
              <a:rPr lang="en-US" altLang="ko-KR" sz="12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2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dirty="0">
                <a:ea typeface="맑은 고딕" panose="020B0503020000020004" pitchFamily="50" charset="-127"/>
              </a:rPr>
              <a:t> 	 INTEGER 	</a:t>
            </a:r>
            <a:r>
              <a:rPr lang="en-US" altLang="ko-KR" sz="1200" b="1" dirty="0">
                <a:ea typeface="맑은 고딕" panose="020B0503020000020004" pitchFamily="50" charset="-127"/>
              </a:rPr>
              <a:t>PRIMARY KEY,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200" dirty="0">
                <a:ea typeface="맑은 고딕" panose="020B0503020000020004" pitchFamily="50" charset="-127"/>
              </a:rPr>
              <a:t>  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publisher 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price 	  INTEGER);</a:t>
            </a:r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6734" y="4633982"/>
            <a:ext cx="4752528" cy="457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※ </a:t>
            </a:r>
            <a:r>
              <a:rPr lang="ko-KR" altLang="en-US" sz="1400" b="1" dirty="0" err="1">
                <a:latin typeface="+mj-ea"/>
                <a:ea typeface="+mj-ea"/>
              </a:rPr>
              <a:t>기본키를</a:t>
            </a:r>
            <a:r>
              <a:rPr lang="ko-KR" altLang="en-US" sz="1400" b="1" dirty="0">
                <a:latin typeface="+mj-ea"/>
                <a:ea typeface="+mj-ea"/>
              </a:rPr>
              <a:t> 지정하고 싶다면 다음과 같이 생성한다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  <a:endParaRPr lang="ko-KR" altLang="en-US" sz="1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en-US" altLang="ko-KR" sz="1400" dirty="0" err="1"/>
              <a:t>bookid</a:t>
            </a:r>
            <a:r>
              <a:rPr lang="en-US" altLang="ko-KR" sz="1400" dirty="0"/>
              <a:t> </a:t>
            </a:r>
            <a:r>
              <a:rPr lang="ko-KR" altLang="en-US" sz="1400" dirty="0"/>
              <a:t>속성이 없어서 두 개의 속성 </a:t>
            </a:r>
            <a:r>
              <a:rPr lang="en-US" altLang="ko-KR" sz="1400" dirty="0" err="1"/>
              <a:t>bookname</a:t>
            </a:r>
            <a:r>
              <a:rPr lang="en-US" altLang="ko-KR" sz="1400" dirty="0"/>
              <a:t>, publisher</a:t>
            </a:r>
            <a:r>
              <a:rPr lang="ko-KR" altLang="en-US" sz="1400" dirty="0"/>
              <a:t>가 기본키가 된다면 괄호를 사용하여  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복합키를</a:t>
            </a:r>
            <a:r>
              <a:rPr lang="ko-KR" altLang="en-US" sz="1400" dirty="0"/>
              <a:t> 지정한다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※ </a:t>
            </a:r>
            <a:r>
              <a:rPr lang="en-US" altLang="ko-KR" sz="1400" dirty="0" err="1"/>
              <a:t>NewBook</a:t>
            </a:r>
            <a:r>
              <a:rPr lang="en-US" altLang="ko-KR" sz="1400" dirty="0"/>
              <a:t> </a:t>
            </a:r>
            <a:r>
              <a:rPr lang="ko-KR" altLang="en-US" sz="1400" dirty="0"/>
              <a:t>테이블의 </a:t>
            </a:r>
            <a:r>
              <a:rPr lang="en-US" altLang="ko-KR" sz="1400" dirty="0"/>
              <a:t>CREATE </a:t>
            </a:r>
            <a:r>
              <a:rPr lang="ko-KR" altLang="en-US" sz="1400" dirty="0"/>
              <a:t>문에 좀 더 복잡한 제약사항을 추가한다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771021" y="1882433"/>
            <a:ext cx="4572000" cy="1708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CREATE TABLE 	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	VARCHAR(20),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publisher		VARCHAR(20),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price 		INTEGER,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b="1" dirty="0">
                <a:ea typeface="맑은 고딕" panose="020B0503020000020004" pitchFamily="50" charset="-127"/>
              </a:rPr>
              <a:t>PRIMARY KEY</a:t>
            </a:r>
            <a:r>
              <a:rPr lang="en-US" altLang="ko-KR" sz="1400" dirty="0">
                <a:ea typeface="맑은 고딕" panose="020B0503020000020004" pitchFamily="50" charset="-127"/>
              </a:rPr>
              <a:t>	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1560" y="3789040"/>
            <a:ext cx="7488832" cy="648072"/>
          </a:xfrm>
          <a:prstGeom prst="roundRect">
            <a:avLst>
              <a:gd name="adj" fmla="val 931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100"/>
              </a:lnSpc>
            </a:pP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bookname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NULL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값을 가질 수 없고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publisher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는 같은 값이 있으면 안 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price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값이 입력되지 않을 경우 기본 값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10000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저장한다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 가격은 최소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1,000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 이상으로 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71021" y="4725144"/>
            <a:ext cx="6768752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CREATE TABLE 	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     	VARCHAR(20) 	</a:t>
            </a:r>
            <a:r>
              <a:rPr lang="en-US" altLang="ko-KR" sz="1400" b="1" dirty="0">
                <a:ea typeface="맑은 고딕" panose="020B0503020000020004" pitchFamily="50" charset="-127"/>
              </a:rPr>
              <a:t>NOT NULL,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publisher      	VARCHAR(20) 	</a:t>
            </a:r>
            <a:r>
              <a:rPr lang="en-US" altLang="ko-KR" sz="1400" b="1" dirty="0">
                <a:ea typeface="맑은 고딕" panose="020B0503020000020004" pitchFamily="50" charset="-127"/>
              </a:rPr>
              <a:t>UNIQUE,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price 	     	INTEGER 	</a:t>
            </a:r>
            <a:r>
              <a:rPr lang="en-US" altLang="ko-KR" sz="1400" b="1" dirty="0">
                <a:ea typeface="맑은 고딕" panose="020B0503020000020004" pitchFamily="50" charset="-127"/>
              </a:rPr>
              <a:t>DEFAULT 10000 </a:t>
            </a:r>
            <a:r>
              <a:rPr lang="en-US" altLang="ko-KR" sz="1400" dirty="0">
                <a:ea typeface="맑은 고딕" panose="020B0503020000020004" pitchFamily="50" charset="-127"/>
              </a:rPr>
              <a:t>CHECK(price &gt; 1000),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PRIMARY KEY 	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35807" y="1268760"/>
          <a:ext cx="7652617" cy="3741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속성을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name(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address(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phone(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전화번호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VARCHAR(30)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CREATE TABLE           </a:t>
                      </a:r>
                      <a:r>
                        <a:rPr lang="en-US" altLang="ko-KR" sz="1400" dirty="0" err="1"/>
                        <a:t>NewCustomer</a:t>
                      </a:r>
                      <a:r>
                        <a:rPr lang="en-US" altLang="ko-KR" sz="140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name 	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address 	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phone 	               VARCHAR(30) 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35807" y="1268760"/>
          <a:ext cx="7652617" cy="45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속성을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주문번호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NOT NULL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외래키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NewCustomer.custid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연쇄삭제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NOT NULL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판매가격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 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orderdate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판매일자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CREATE TABLE        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en-US" altLang="ko-KR" sz="140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orderid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 	NOT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bookid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 	NOT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saleprice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orderdate</a:t>
                      </a:r>
                      <a:r>
                        <a:rPr lang="en-US" altLang="ko-KR" sz="1400" dirty="0"/>
                        <a:t> 	DATE,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PRIMARY KEY (</a:t>
                      </a:r>
                      <a:r>
                        <a:rPr lang="en-US" altLang="ko-KR" sz="1400" dirty="0" err="1"/>
                        <a:t>orderid</a:t>
                      </a:r>
                      <a:r>
                        <a:rPr lang="en-US" altLang="ko-KR" sz="1400" dirty="0"/>
                        <a:t>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 FOREIGN KEY 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en-US" altLang="ko-KR" sz="1400" b="0" dirty="0" err="1"/>
                        <a:t>custid</a:t>
                      </a:r>
                      <a:r>
                        <a:rPr lang="en-US" altLang="ko-KR" sz="1400" b="0" dirty="0"/>
                        <a:t>) REFERENCES </a:t>
                      </a:r>
                      <a:r>
                        <a:rPr lang="en-US" altLang="ko-KR" sz="1400" b="0" dirty="0" err="1"/>
                        <a:t>NewCustomer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en-US" altLang="ko-KR" sz="1400" b="0" dirty="0" err="1"/>
                        <a:t>custid</a:t>
                      </a:r>
                      <a:r>
                        <a:rPr lang="en-US" altLang="ko-KR" sz="1400" b="0" dirty="0"/>
                        <a:t>) ON DELETE CASCADE );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7920880" cy="5472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 err="1"/>
              <a:t>외래키</a:t>
            </a:r>
            <a:r>
              <a:rPr lang="ko-KR" altLang="en-US" dirty="0"/>
              <a:t> 제약조건을 명시할 때는 반드시 참조되는 테이블</a:t>
            </a:r>
            <a:r>
              <a:rPr lang="en-US" altLang="ko-KR" dirty="0"/>
              <a:t>(</a:t>
            </a:r>
            <a:r>
              <a:rPr lang="ko-KR" altLang="en-US" dirty="0"/>
              <a:t>부모 </a:t>
            </a:r>
            <a:r>
              <a:rPr lang="ko-KR" altLang="en-US" dirty="0" err="1"/>
              <a:t>릴레이션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endParaRPr lang="en-US" altLang="ko-KR" dirty="0"/>
          </a:p>
          <a:p>
            <a:pPr marL="0" lv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존재해야 하며 참조되는 테이블의 </a:t>
            </a:r>
            <a:r>
              <a:rPr lang="ko-KR" altLang="en-US" dirty="0" err="1"/>
              <a:t>기본키여야</a:t>
            </a:r>
            <a:r>
              <a:rPr lang="ko-KR" altLang="en-US" dirty="0"/>
              <a:t> 함</a:t>
            </a:r>
            <a:endParaRPr lang="en-US" altLang="ko-KR" dirty="0"/>
          </a:p>
          <a:p>
            <a:pPr lvl="0"/>
            <a:r>
              <a:rPr lang="ko-KR" altLang="en-US" dirty="0" err="1"/>
              <a:t>외래키</a:t>
            </a:r>
            <a:r>
              <a:rPr lang="ko-KR" altLang="en-US" dirty="0"/>
              <a:t> 지정 시 </a:t>
            </a:r>
            <a:r>
              <a:rPr lang="en-US" altLang="ko-KR" dirty="0"/>
              <a:t>ON DELETE </a:t>
            </a:r>
            <a:r>
              <a:rPr lang="ko-KR" altLang="en-US" dirty="0"/>
              <a:t>또는 </a:t>
            </a:r>
            <a:r>
              <a:rPr lang="en-US" altLang="ko-KR" dirty="0"/>
              <a:t>ON UPDATE </a:t>
            </a:r>
            <a:r>
              <a:rPr lang="ko-KR" altLang="en-US" dirty="0"/>
              <a:t>옵션은 참조되는 테이블의 </a:t>
            </a:r>
            <a:r>
              <a:rPr lang="ko-KR" altLang="en-US" dirty="0" err="1"/>
              <a:t>튜플이</a:t>
            </a:r>
            <a:r>
              <a:rPr lang="ko-KR" altLang="en-US" dirty="0"/>
              <a:t> 삭제되거나 수정될 때 취할 수 있는 동작을 지정함</a:t>
            </a:r>
            <a:endParaRPr lang="en-US" altLang="ko-KR" dirty="0"/>
          </a:p>
          <a:p>
            <a:pPr lvl="0"/>
            <a:r>
              <a:rPr lang="en-US" altLang="ko-KR" dirty="0"/>
              <a:t>NO ACTION</a:t>
            </a:r>
            <a:r>
              <a:rPr lang="ko-KR" altLang="en-US" dirty="0"/>
              <a:t>은 어떠한 동작도 취하지 않음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8320" y="321297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3-10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 타입 종류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043608" y="3528396"/>
          <a:ext cx="6480720" cy="3140964"/>
        </p:xfrm>
        <a:graphic>
          <a:graphicData uri="http://schemas.openxmlformats.org/drawingml/2006/table">
            <a:tbl>
              <a:tblPr/>
              <a:tblGrid>
                <a:gridCol w="1329604">
                  <a:extLst>
                    <a:ext uri="{9D8B030D-6E8A-4147-A177-3AD203B41FA5}">
                      <a16:colId xmlns:a16="http://schemas.microsoft.com/office/drawing/2014/main" val="820631780"/>
                    </a:ext>
                  </a:extLst>
                </a:gridCol>
                <a:gridCol w="2990876">
                  <a:extLst>
                    <a:ext uri="{9D8B030D-6E8A-4147-A177-3AD203B41FA5}">
                      <a16:colId xmlns:a16="http://schemas.microsoft.com/office/drawing/2014/main" val="403824869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010231037"/>
                    </a:ext>
                  </a:extLst>
                </a:gridCol>
              </a:tblGrid>
              <a:tr h="2913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ANSI SQL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69252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바이트 정수형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INTEGER, 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SMALLINT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096199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DECIMAL(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전체자리수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소수점이하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가진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DECIMAL(p, s)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NUMERIC[(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p,s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)]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269886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문자형 고정길이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문자를 저장하고 남은 공간은 공백으로 채운다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CHARACTER(n)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818831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문자형 가변길이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CHARACTER VARYING(n)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 VARYING(n)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03938"/>
                  </a:ext>
                </a:extLst>
              </a:tr>
              <a:tr h="2913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시간을 저장한다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060557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908175" y="2718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ALTER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ALTER </a:t>
            </a:r>
            <a:r>
              <a:rPr lang="ko-KR" altLang="en-US" dirty="0"/>
              <a:t>문은 생성된 테이블의 속성과 속성에 관한 제약을 변경하며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 err="1"/>
              <a:t>기본키</a:t>
            </a:r>
            <a:r>
              <a:rPr lang="ko-KR" altLang="en-US" dirty="0"/>
              <a:t> 및 </a:t>
            </a:r>
            <a:r>
              <a:rPr lang="ko-KR" altLang="en-US" dirty="0" err="1"/>
              <a:t>외래키를</a:t>
            </a:r>
            <a:r>
              <a:rPr lang="ko-KR" altLang="en-US" dirty="0"/>
              <a:t> 변경함</a:t>
            </a:r>
            <a:endParaRPr lang="en-US" altLang="ko-KR" dirty="0"/>
          </a:p>
          <a:p>
            <a:r>
              <a:rPr lang="en-US" altLang="ko-KR" dirty="0"/>
              <a:t>ADD, DROP</a:t>
            </a:r>
            <a:r>
              <a:rPr lang="ko-KR" altLang="en-US" dirty="0"/>
              <a:t>은 속성을 추가하거나 제거할 때 사용함</a:t>
            </a:r>
            <a:endParaRPr lang="en-US" altLang="ko-KR" dirty="0"/>
          </a:p>
          <a:p>
            <a:r>
              <a:rPr lang="en-US" altLang="ko-KR" dirty="0"/>
              <a:t>MODIFY</a:t>
            </a:r>
            <a:r>
              <a:rPr lang="ko-KR" altLang="en-US" dirty="0"/>
              <a:t>는 속성의 기본값을 설정하거나 삭제할 때 사용함</a:t>
            </a:r>
            <a:endParaRPr lang="en-US" altLang="ko-KR" dirty="0"/>
          </a:p>
          <a:p>
            <a:r>
              <a:rPr lang="en-US" altLang="ko-KR" dirty="0"/>
              <a:t>ADD &lt;</a:t>
            </a:r>
            <a:r>
              <a:rPr lang="ko-KR" altLang="en-US" dirty="0"/>
              <a:t>제약이름</a:t>
            </a:r>
            <a:r>
              <a:rPr lang="en-US" altLang="ko-KR" dirty="0"/>
              <a:t>&gt;, DROP &lt;</a:t>
            </a:r>
            <a:r>
              <a:rPr lang="ko-KR" altLang="en-US" dirty="0"/>
              <a:t>제약이름</a:t>
            </a:r>
            <a:r>
              <a:rPr lang="en-US" altLang="ko-KR" dirty="0"/>
              <a:t>&gt;</a:t>
            </a:r>
            <a:r>
              <a:rPr lang="ko-KR" altLang="en-US" dirty="0"/>
              <a:t>은 제약사항을 추가하거나 삭제할 때 사용함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/>
              <a:t>ALTER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4176" y="3717032"/>
            <a:ext cx="4955976" cy="20162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ALTER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[ADD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[DROP COLUMN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[MODIFY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[MODIFY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[NULL┃NOT NULL]]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[ADD PRIMARY KEY(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[[ADD┃DROP] </a:t>
            </a:r>
            <a:r>
              <a:rPr lang="ko-KR" altLang="en-US" sz="1200" dirty="0">
                <a:latin typeface="+mn-ea"/>
                <a:ea typeface="+mn-ea"/>
              </a:rPr>
              <a:t>제약이름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ALTER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35807" y="126876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VARCHAR(13)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자료형을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추가하시오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ADD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 VARCHAR(13);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234888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속성의 데이터 타입을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형으로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MODIFY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 INTEGER;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35807" y="342900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DROP COLUMN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735807" y="448937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NOT NULL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제약조건을 적용하시오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MODIFY </a:t>
                      </a:r>
                      <a:r>
                        <a:rPr lang="en-US" altLang="ko-KR" sz="1400" dirty="0" err="1"/>
                        <a:t>bookid</a:t>
                      </a:r>
                      <a:r>
                        <a:rPr lang="en-US" altLang="ko-KR" sz="1400" dirty="0"/>
                        <a:t> INTEGER </a:t>
                      </a:r>
                      <a:r>
                        <a:rPr lang="en-US" altLang="ko-KR" sz="1400" b="1" dirty="0"/>
                        <a:t>NOT NULL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735807" y="556949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ADD PRIMARY KEY(</a:t>
                      </a:r>
                      <a:r>
                        <a:rPr lang="en-US" altLang="ko-KR" sz="1400" b="1" dirty="0" err="1"/>
                        <a:t>bookid</a:t>
                      </a:r>
                      <a:r>
                        <a:rPr lang="en-US" altLang="ko-KR" sz="1400" b="1" dirty="0"/>
                        <a:t>);</a:t>
                      </a:r>
                      <a:endParaRPr lang="ko-KR" altLang="en-US" sz="14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DROP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DROP </a:t>
            </a:r>
            <a:r>
              <a:rPr lang="ko-KR" altLang="en-US" dirty="0"/>
              <a:t>문은 테이블을 삭제하는 명령</a:t>
            </a:r>
            <a:endParaRPr lang="en-US" altLang="ko-KR" dirty="0"/>
          </a:p>
          <a:p>
            <a:r>
              <a:rPr lang="en-US" altLang="ko-KR" dirty="0"/>
              <a:t>DROP </a:t>
            </a:r>
            <a:r>
              <a:rPr lang="ko-KR" altLang="en-US" dirty="0"/>
              <a:t>문은 테이블의 구조와 데이터를 모두 삭제하므로 사용에 주의해야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(</a:t>
            </a:r>
            <a:r>
              <a:rPr lang="ko-KR" altLang="en-US" dirty="0"/>
              <a:t>데이터만 삭제하려면 </a:t>
            </a:r>
            <a:r>
              <a:rPr lang="en-US" altLang="ko-KR" dirty="0"/>
              <a:t>DELETE </a:t>
            </a:r>
            <a:r>
              <a:rPr lang="ko-KR" altLang="en-US" dirty="0"/>
              <a:t>문을 사용함</a:t>
            </a:r>
            <a:r>
              <a:rPr lang="en-US" altLang="ko-KR" dirty="0"/>
              <a:t>).</a:t>
            </a:r>
          </a:p>
          <a:p>
            <a:endParaRPr lang="en-US" altLang="ko-KR" sz="1000" dirty="0"/>
          </a:p>
          <a:p>
            <a:r>
              <a:rPr lang="en-US" altLang="ko-KR" dirty="0"/>
              <a:t>DROP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924944"/>
            <a:ext cx="4104456" cy="360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DROP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35807" y="3789040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DROP  TABLE  </a:t>
                      </a:r>
                      <a:r>
                        <a:rPr lang="en-US" altLang="ko-KR" sz="1400" b="0" dirty="0" err="1"/>
                        <a:t>NewBook</a:t>
                      </a:r>
                      <a:r>
                        <a:rPr lang="en-US" altLang="ko-KR" sz="1400" b="0" dirty="0"/>
                        <a:t>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내용 개체 틀 3"/>
          <p:cNvGraphicFramePr>
            <a:graphicFrameLocks/>
          </p:cNvGraphicFramePr>
          <p:nvPr/>
        </p:nvGraphicFramePr>
        <p:xfrm>
          <a:off x="755576" y="4921423"/>
          <a:ext cx="7652617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만약 삭제가 거절된다면 원인을 파악하고 관련된 테이블을 같이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테이블이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참조하고 있음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DROP TABLE  </a:t>
                      </a:r>
                      <a:r>
                        <a:rPr lang="en-US" altLang="ko-KR" sz="1400" dirty="0" err="1"/>
                        <a:t>NewCustomer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DROP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/>
              <a:t>DROP </a:t>
            </a:r>
            <a:r>
              <a:rPr lang="ko-KR" altLang="en-US"/>
              <a:t>문은 테이블을 삭제하는 명령</a:t>
            </a:r>
            <a:endParaRPr lang="en-US" altLang="ko-KR" sz="1000"/>
          </a:p>
          <a:p>
            <a:r>
              <a:rPr lang="en-US" altLang="ko-KR"/>
              <a:t>DROP</a:t>
            </a:r>
            <a:r>
              <a:rPr lang="ko-KR" altLang="en-US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92" y="1976737"/>
            <a:ext cx="4104456" cy="360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>
                <a:latin typeface="+mn-ea"/>
                <a:ea typeface="+mn-ea"/>
              </a:rPr>
              <a:t>DROP TABLE </a:t>
            </a:r>
            <a:r>
              <a:rPr lang="ko-KR" altLang="en-US" sz="1200" err="1">
                <a:latin typeface="+mn-ea"/>
                <a:ea typeface="+mn-ea"/>
              </a:rPr>
              <a:t>테이블이름</a:t>
            </a:r>
            <a:r>
              <a:rPr lang="ko-KR" altLang="en-US" sz="1200">
                <a:latin typeface="+mn-ea"/>
                <a:ea typeface="+mn-ea"/>
              </a:rPr>
              <a:t> </a:t>
            </a:r>
            <a:r>
              <a:rPr lang="en-US" altLang="ko-KR" sz="1200">
                <a:latin typeface="+mn-ea"/>
                <a:ea typeface="+mn-ea"/>
              </a:rPr>
              <a:t>[RESTRICT|CASCADE]</a:t>
            </a:r>
            <a:endParaRPr lang="ko-KR" altLang="en-US" sz="120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45691" y="2492896"/>
          <a:ext cx="765261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DROP TABLE </a:t>
                      </a:r>
                      <a:r>
                        <a:rPr lang="ko-KR" altLang="en-US" sz="140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테이블이름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/>
                        <a:t>참조하는 테이블을 연쇄 삭제한다</a:t>
                      </a:r>
                      <a:r>
                        <a:rPr lang="en-US" altLang="ko-KR" sz="1400" b="0"/>
                        <a:t>.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MySQL</a:t>
                      </a:r>
                      <a:r>
                        <a:rPr lang="ko-KR" altLang="en-US" sz="1400" b="0"/>
                        <a:t>에서는 지원하지 않는다</a:t>
                      </a:r>
                      <a:r>
                        <a:rPr lang="en-US" altLang="ko-KR" sz="1400" b="0"/>
                        <a:t>.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https://dev.mysql.com/doc/refman/8.0/en/drop-table.html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968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05801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09" y="3919278"/>
            <a:ext cx="7641499" cy="771633"/>
          </a:xfrm>
          <a:prstGeom prst="rect">
            <a:avLst/>
          </a:prstGeom>
        </p:spPr>
      </p:pic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45691" y="4823480"/>
          <a:ext cx="7704855" cy="1734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161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DROP TABLE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테이블이름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CONSTRAINT -&gt;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latin typeface="+mj-lt"/>
                        </a:rPr>
                        <a:t>참조하는 테이블을</a:t>
                      </a:r>
                      <a:r>
                        <a:rPr lang="ko-KR" altLang="en-US" sz="1400" b="0" baseline="0">
                          <a:latin typeface="+mj-lt"/>
                        </a:rPr>
                        <a:t> 삭제하지 않고 참조 테이블의 제약 조건만 삭제한다</a:t>
                      </a:r>
                      <a:r>
                        <a:rPr lang="en-US" altLang="ko-KR" sz="1400" b="0" baseline="0">
                          <a:latin typeface="+mj-lt"/>
                        </a:rPr>
                        <a:t>.</a:t>
                      </a:r>
                      <a:endParaRPr lang="ko-KR" altLang="en-US" sz="1400" b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4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+mj-lt"/>
                        </a:rPr>
                        <a:t>원래 제약조건이 걸려서 있으면 테이블이 삭제되지 않는다</a:t>
                      </a:r>
                      <a:r>
                        <a:rPr lang="en-US" altLang="ko-KR" sz="1400" b="0" dirty="0">
                          <a:latin typeface="+mj-lt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j-lt"/>
                        </a:rPr>
                        <a:t>drop table customer; -&gt; orders </a:t>
                      </a:r>
                      <a:r>
                        <a:rPr lang="ko-KR" altLang="en-US" sz="1400" b="0" dirty="0">
                          <a:latin typeface="+mj-lt"/>
                        </a:rPr>
                        <a:t>테이블에서 참조하고 있기 때문에 실행되지 않는다</a:t>
                      </a:r>
                      <a:r>
                        <a:rPr lang="en-US" altLang="ko-KR" sz="1400" b="0" dirty="0">
                          <a:latin typeface="+mj-lt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err="1">
                          <a:latin typeface="+mj-lt"/>
                        </a:rPr>
                        <a:t>Ordres</a:t>
                      </a:r>
                      <a:r>
                        <a:rPr lang="ko-KR" altLang="en-US" sz="1400" b="0" dirty="0">
                          <a:latin typeface="+mj-lt"/>
                        </a:rPr>
                        <a:t>를 먼저 삭제하거나 </a:t>
                      </a:r>
                      <a:r>
                        <a:rPr lang="en-US" altLang="ko-KR" sz="1400" b="0" dirty="0" err="1">
                          <a:latin typeface="+mj-lt"/>
                        </a:rPr>
                        <a:t>SET_FOREIGN_KEY_CHECKS</a:t>
                      </a:r>
                      <a:r>
                        <a:rPr lang="en-US" altLang="ko-KR" sz="1400" b="0" dirty="0">
                          <a:latin typeface="+mj-lt"/>
                        </a:rPr>
                        <a:t>=0;</a:t>
                      </a:r>
                      <a:r>
                        <a:rPr lang="en-US" altLang="ko-KR" sz="1400" b="0" baseline="0" dirty="0">
                          <a:latin typeface="+mj-lt"/>
                        </a:rPr>
                        <a:t> </a:t>
                      </a:r>
                      <a:r>
                        <a:rPr lang="ko-KR" altLang="en-US" sz="1400" b="0" baseline="0" dirty="0">
                          <a:latin typeface="+mj-lt"/>
                        </a:rPr>
                        <a:t>설정을 하고 지운다</a:t>
                      </a:r>
                      <a:r>
                        <a:rPr lang="en-US" altLang="ko-KR" sz="1400" b="0" baseline="0" dirty="0">
                          <a:latin typeface="+mj-lt"/>
                        </a:rPr>
                        <a:t>.</a:t>
                      </a:r>
                      <a:endParaRPr lang="ko-KR" altLang="en-US" sz="14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0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76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7436651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데이터 </a:t>
            </a:r>
            <a:r>
              <a:rPr lang="ko-KR" altLang="en-US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조작어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(</a:t>
            </a:r>
            <a:r>
              <a:rPr lang="en-US" altLang="ko-KR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DML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)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–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삽입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수정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INSERT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UPDATE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DELETE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896855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INSERT </a:t>
            </a:r>
            <a:r>
              <a:rPr lang="ko-KR" altLang="en-US" dirty="0"/>
              <a:t>문은 테이블에 새로운 </a:t>
            </a:r>
            <a:r>
              <a:rPr lang="ko-KR" altLang="en-US" dirty="0" err="1"/>
              <a:t>투플을</a:t>
            </a:r>
            <a:r>
              <a:rPr lang="ko-KR" altLang="en-US" dirty="0"/>
              <a:t> 삽입하는 명령임</a:t>
            </a:r>
            <a:r>
              <a:rPr lang="en-US" altLang="ko-KR" dirty="0"/>
              <a:t>.</a:t>
            </a:r>
          </a:p>
          <a:p>
            <a:endParaRPr lang="en-US" altLang="ko-KR" sz="1000" dirty="0"/>
          </a:p>
          <a:p>
            <a:r>
              <a:rPr lang="en-US" altLang="ko-KR" dirty="0"/>
              <a:t>INSERT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204864"/>
            <a:ext cx="5400600" cy="576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INSERT  INTO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[(</a:t>
            </a:r>
            <a:r>
              <a:rPr lang="ko-KR" altLang="en-US" sz="1200" dirty="0">
                <a:latin typeface="+mn-ea"/>
                <a:ea typeface="+mn-ea"/>
              </a:rPr>
              <a:t>속성리스트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542925" indent="-54292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 VALUES (</a:t>
            </a:r>
            <a:r>
              <a:rPr lang="ko-KR" altLang="en-US" sz="1200" dirty="0" err="1">
                <a:latin typeface="+mn-ea"/>
                <a:ea typeface="+mn-ea"/>
              </a:rPr>
              <a:t>값리스트</a:t>
            </a:r>
            <a:r>
              <a:rPr lang="en-US" altLang="ko-KR" sz="1200" dirty="0">
                <a:latin typeface="+mn-ea"/>
                <a:ea typeface="+mn-ea"/>
              </a:rPr>
              <a:t>);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611560" y="3212976"/>
          <a:ext cx="8064896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90,000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원이다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611560" y="4014241"/>
            <a:ext cx="64714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INSERT  INTO </a:t>
            </a:r>
            <a:r>
              <a:rPr lang="en-US" altLang="ko-KR" sz="1400" dirty="0">
                <a:ea typeface="맑은 고딕" panose="020B0503020000020004" pitchFamily="50" charset="-127"/>
              </a:rPr>
              <a:t>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publisher, price)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</a:t>
            </a:r>
            <a:r>
              <a:rPr lang="en-US" altLang="ko-KR" sz="1400" b="1" dirty="0">
                <a:ea typeface="맑은 고딕" panose="020B0503020000020004" pitchFamily="50" charset="-127"/>
              </a:rPr>
              <a:t>VALUES</a:t>
            </a:r>
            <a:r>
              <a:rPr lang="en-US" altLang="ko-KR" sz="1400" dirty="0">
                <a:ea typeface="맑은 고딕" panose="020B0503020000020004" pitchFamily="50" charset="-127"/>
              </a:rPr>
              <a:t> (11, '</a:t>
            </a:r>
            <a:r>
              <a:rPr lang="ko-KR" altLang="en-US" sz="1400" dirty="0">
                <a:ea typeface="맑은 고딕" panose="020B0503020000020004" pitchFamily="50" charset="-127"/>
              </a:rPr>
              <a:t>스포츠 의학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 err="1">
                <a:ea typeface="맑은 고딕" panose="020B0503020000020004" pitchFamily="50" charset="-127"/>
              </a:rPr>
              <a:t>한솔의학서적</a:t>
            </a:r>
            <a:r>
              <a:rPr lang="en-US" altLang="ko-KR" sz="1400" dirty="0">
                <a:ea typeface="맑은 고딕" panose="020B0503020000020004" pitchFamily="50" charset="-127"/>
              </a:rPr>
              <a:t>', 90000);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4005064"/>
            <a:ext cx="3337744" cy="2513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807815" y="1412776"/>
          <a:ext cx="7652617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미정이다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27584" y="2177777"/>
            <a:ext cx="51125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INSERT   INTO 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VALUES (14, '</a:t>
            </a:r>
            <a:r>
              <a:rPr lang="ko-KR" altLang="en-US" sz="1400" dirty="0">
                <a:ea typeface="맑은 고딕" panose="020B0503020000020004" pitchFamily="50" charset="-127"/>
              </a:rPr>
              <a:t>스포츠 의학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 err="1">
                <a:ea typeface="맑은 고딕" panose="020B0503020000020004" pitchFamily="50" charset="-127"/>
              </a:rPr>
              <a:t>한솔의학서적</a:t>
            </a:r>
            <a:r>
              <a:rPr lang="en-US" altLang="ko-KR" sz="1400" dirty="0">
                <a:ea typeface="맑은 고딕" panose="020B0503020000020004" pitchFamily="50" charset="-127"/>
              </a:rPr>
              <a:t>');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204864"/>
            <a:ext cx="3117735" cy="29169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대량 삽입</a:t>
            </a:r>
            <a:r>
              <a:rPr lang="en-US" altLang="ko-KR" dirty="0"/>
              <a:t>(bulk insert)</a:t>
            </a:r>
            <a:r>
              <a:rPr lang="ko-KR" altLang="en-US" dirty="0"/>
              <a:t>이란 한꺼번에 여러 개의 </a:t>
            </a:r>
            <a:r>
              <a:rPr lang="ko-KR" altLang="en-US" dirty="0" err="1"/>
              <a:t>투플을</a:t>
            </a:r>
            <a:r>
              <a:rPr lang="ko-KR" altLang="en-US" dirty="0"/>
              <a:t> 삽입하는 방법임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1844824"/>
          <a:ext cx="7796633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수입도서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모두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(</a:t>
                      </a:r>
                      <a:r>
                        <a:rPr lang="en-US" altLang="ko-KR" sz="14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테이블은 스크립트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테이블과 같이 이미 만들어져 있음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60487" y="2761422"/>
            <a:ext cx="51125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INSERT   INTO 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price, publisher)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price, publisher</a:t>
            </a:r>
          </a:p>
          <a:p>
            <a:pPr indent="714375"/>
            <a:r>
              <a:rPr lang="en-US" altLang="ko-KR" sz="1400" dirty="0">
                <a:ea typeface="맑은 고딕" panose="020B0503020000020004" pitchFamily="50" charset="-127"/>
              </a:rPr>
              <a:t>FROM  </a:t>
            </a:r>
            <a:r>
              <a:rPr lang="en-US" altLang="ko-KR" sz="1400" dirty="0" err="1">
                <a:ea typeface="맑은 고딕" panose="020B0503020000020004" pitchFamily="50" charset="-127"/>
              </a:rPr>
              <a:t>Imported_book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564904"/>
            <a:ext cx="2814637" cy="29860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UPDATE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UPDATE </a:t>
            </a:r>
            <a:r>
              <a:rPr lang="ko-KR" altLang="en-US" dirty="0"/>
              <a:t>문은 특정 속성 값을 수정하는 명령이다</a:t>
            </a:r>
            <a:r>
              <a:rPr lang="en-US" altLang="ko-KR" dirty="0"/>
              <a:t>.</a:t>
            </a:r>
          </a:p>
          <a:p>
            <a:endParaRPr lang="en-US" altLang="ko-KR" sz="1000" dirty="0"/>
          </a:p>
          <a:p>
            <a:r>
              <a:rPr lang="en-US" altLang="ko-KR" dirty="0"/>
              <a:t>UPDATE </a:t>
            </a:r>
            <a:r>
              <a:rPr lang="ko-KR" altLang="en-US" dirty="0"/>
              <a:t>문의 기본 문법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62919" y="2204864"/>
            <a:ext cx="6129361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UPDATE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809625" indent="-80962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SET   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1=</a:t>
            </a:r>
            <a:r>
              <a:rPr lang="ko-KR" altLang="en-US" sz="1200" dirty="0">
                <a:latin typeface="+mn-ea"/>
                <a:ea typeface="+mn-ea"/>
              </a:rPr>
              <a:t>값</a:t>
            </a:r>
            <a:r>
              <a:rPr lang="en-US" altLang="ko-KR" sz="1200" dirty="0">
                <a:latin typeface="+mn-ea"/>
                <a:ea typeface="+mn-ea"/>
              </a:rPr>
              <a:t>1[,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2=</a:t>
            </a:r>
            <a:r>
              <a:rPr lang="ko-KR" altLang="en-US" sz="1200" dirty="0">
                <a:latin typeface="+mn-ea"/>
                <a:ea typeface="+mn-ea"/>
              </a:rPr>
              <a:t>값</a:t>
            </a:r>
            <a:r>
              <a:rPr lang="en-US" altLang="ko-KR" sz="1200" dirty="0">
                <a:latin typeface="+mn-ea"/>
                <a:ea typeface="+mn-ea"/>
              </a:rPr>
              <a:t>2, ...]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[WHERE &lt;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&gt;];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46895" y="3772816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Customer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고객번호가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고객의 주소를 ‘대한민국 부산’으로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35807" y="4617167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SET SQL_SAFE_UPDATES=0; /* Safe Updates </a:t>
            </a:r>
            <a:r>
              <a:rPr lang="ko-KR" altLang="en-US" sz="1400" dirty="0">
                <a:ea typeface="맑은 고딕" panose="020B0503020000020004" pitchFamily="50" charset="-127"/>
              </a:rPr>
              <a:t>옵션 미 해제 시 실행 *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	address='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 부산</a:t>
            </a:r>
            <a:r>
              <a:rPr lang="en-US" altLang="ko-KR" sz="1400" dirty="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=5;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5085184"/>
            <a:ext cx="3059237" cy="1168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UPDATE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746895" y="1340768"/>
          <a:ext cx="7796633" cy="9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‘스포츠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의학’의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출판사를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책의 출판사와 동일하게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735807" y="1983904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UPDATE Book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   publisher = (SELECT publisher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                  FROM   </a:t>
            </a:r>
            <a:r>
              <a:rPr lang="en-US" altLang="ko-KR" sz="1400" dirty="0" err="1">
                <a:ea typeface="맑은 고딕" panose="020B0503020000020004" pitchFamily="50" charset="-127"/>
              </a:rPr>
              <a:t>imported_book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                  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'21')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'14' 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2204864"/>
            <a:ext cx="2791858" cy="31508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UPDATE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/>
              <a:t>UPDATE </a:t>
            </a:r>
            <a:r>
              <a:rPr lang="ko-KR" altLang="en-US"/>
              <a:t>문은 특정 속성 값을 수정하는 명령이다</a:t>
            </a:r>
            <a:r>
              <a:rPr lang="en-US" altLang="ko-KR"/>
              <a:t>.</a:t>
            </a:r>
          </a:p>
          <a:p>
            <a:endParaRPr lang="en-US" altLang="ko-KR" sz="1000"/>
          </a:p>
          <a:p>
            <a:r>
              <a:rPr lang="en-US" altLang="ko-KR"/>
              <a:t>UPDATE </a:t>
            </a:r>
            <a:r>
              <a:rPr lang="ko-KR" altLang="en-US"/>
              <a:t>문의 기본 문법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62919" y="2204864"/>
            <a:ext cx="6129361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UPDATE </a:t>
            </a:r>
            <a:r>
              <a:rPr lang="ko-KR" altLang="en-US" sz="1200">
                <a:latin typeface="+mn-ea"/>
                <a:ea typeface="+mn-ea"/>
              </a:rPr>
              <a:t>테이블이름</a:t>
            </a:r>
          </a:p>
          <a:p>
            <a:pPr marL="809625" indent="-809625"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SET       </a:t>
            </a:r>
            <a:r>
              <a:rPr lang="ko-KR" altLang="en-US" sz="1200">
                <a:latin typeface="+mn-ea"/>
                <a:ea typeface="+mn-ea"/>
              </a:rPr>
              <a:t>속성이름</a:t>
            </a:r>
            <a:r>
              <a:rPr lang="en-US" altLang="ko-KR" sz="1200">
                <a:latin typeface="+mn-ea"/>
                <a:ea typeface="+mn-ea"/>
              </a:rPr>
              <a:t>1=</a:t>
            </a:r>
            <a:r>
              <a:rPr lang="ko-KR" altLang="en-US" sz="1200">
                <a:latin typeface="+mn-ea"/>
                <a:ea typeface="+mn-ea"/>
              </a:rPr>
              <a:t>값</a:t>
            </a:r>
            <a:r>
              <a:rPr lang="en-US" altLang="ko-KR" sz="1200">
                <a:latin typeface="+mn-ea"/>
                <a:ea typeface="+mn-ea"/>
              </a:rPr>
              <a:t>1[, </a:t>
            </a:r>
            <a:r>
              <a:rPr lang="ko-KR" altLang="en-US" sz="1200">
                <a:latin typeface="+mn-ea"/>
                <a:ea typeface="+mn-ea"/>
              </a:rPr>
              <a:t>속성이름</a:t>
            </a:r>
            <a:r>
              <a:rPr lang="en-US" altLang="ko-KR" sz="1200">
                <a:latin typeface="+mn-ea"/>
                <a:ea typeface="+mn-ea"/>
              </a:rPr>
              <a:t>2=</a:t>
            </a:r>
            <a:r>
              <a:rPr lang="ko-KR" altLang="en-US" sz="1200">
                <a:latin typeface="+mn-ea"/>
                <a:ea typeface="+mn-ea"/>
              </a:rPr>
              <a:t>값</a:t>
            </a:r>
            <a:r>
              <a:rPr lang="en-US" altLang="ko-KR" sz="1200">
                <a:latin typeface="+mn-ea"/>
                <a:ea typeface="+mn-ea"/>
              </a:rPr>
              <a:t>2, ...]</a:t>
            </a:r>
          </a:p>
          <a:p>
            <a:pPr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[WHERE &lt;</a:t>
            </a:r>
            <a:r>
              <a:rPr lang="ko-KR" altLang="en-US" sz="1200">
                <a:latin typeface="+mn-ea"/>
                <a:ea typeface="+mn-ea"/>
              </a:rPr>
              <a:t>검색조건</a:t>
            </a:r>
            <a:r>
              <a:rPr lang="en-US" altLang="ko-KR" sz="1200">
                <a:latin typeface="+mn-ea"/>
                <a:ea typeface="+mn-ea"/>
              </a:rPr>
              <a:t>&gt;];</a:t>
            </a:r>
            <a:endParaRPr lang="ko-KR" altLang="en-US" sz="120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62919" y="3237031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SET SQL_SAFE_UPDATES=0; /* Safe Updates </a:t>
            </a:r>
            <a:r>
              <a:rPr lang="ko-KR" altLang="en-US" sz="1400">
                <a:ea typeface="맑은 고딕" panose="020B0503020000020004" pitchFamily="50" charset="-127"/>
              </a:rPr>
              <a:t>옵션 미 해제 시 실행 *</a:t>
            </a:r>
            <a:r>
              <a:rPr lang="en-US" altLang="ko-KR" sz="1400">
                <a:ea typeface="맑은 고딕" panose="020B0503020000020004" pitchFamily="50" charset="-127"/>
              </a:rPr>
              <a:t>/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	address='</a:t>
            </a:r>
            <a:r>
              <a:rPr lang="ko-KR" altLang="en-US" sz="1400">
                <a:ea typeface="맑은 고딕" panose="020B0503020000020004" pitchFamily="50" charset="-127"/>
              </a:rPr>
              <a:t>대한민국 부산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=5;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912" y="3864584"/>
            <a:ext cx="3550327" cy="135590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962919" y="4420121"/>
            <a:ext cx="66559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-- </a:t>
            </a:r>
            <a:r>
              <a:rPr lang="ko-KR" altLang="en-US" sz="1400">
                <a:ea typeface="맑은 고딕" panose="020B0503020000020004" pitchFamily="50" charset="-127"/>
              </a:rPr>
              <a:t>실행 안되는 구문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SET SQL_SAFE_UPDATES=1; 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	address='</a:t>
            </a:r>
            <a:r>
              <a:rPr lang="ko-KR" altLang="en-US" sz="1400">
                <a:ea typeface="맑은 고딕" panose="020B0503020000020004" pitchFamily="50" charset="-127"/>
              </a:rPr>
              <a:t>대한민국 부산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address like ‘</a:t>
            </a:r>
            <a:r>
              <a:rPr lang="ko-KR" altLang="en-US" sz="1400">
                <a:ea typeface="맑은 고딕" panose="020B0503020000020004" pitchFamily="50" charset="-127"/>
              </a:rPr>
              <a:t>대한</a:t>
            </a:r>
            <a:r>
              <a:rPr lang="en-US" altLang="ko-KR" sz="1400">
                <a:ea typeface="맑은 고딕" panose="020B0503020000020004" pitchFamily="50" charset="-127"/>
              </a:rPr>
              <a:t>%’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     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          address=‘</a:t>
            </a:r>
            <a:r>
              <a:rPr lang="ko-KR" altLang="en-US" sz="1400">
                <a:ea typeface="맑은 고딕" panose="020B0503020000020004" pitchFamily="50" charset="-127"/>
              </a:rPr>
              <a:t>대한민국 대구</a:t>
            </a:r>
            <a:r>
              <a:rPr lang="en-US" altLang="ko-KR" sz="1400">
                <a:ea typeface="맑은 고딕" panose="020B0503020000020004" pitchFamily="50" charset="-127"/>
              </a:rPr>
              <a:t>＇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33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DELETE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DELETE </a:t>
            </a:r>
            <a:r>
              <a:rPr lang="ko-KR" altLang="en-US" dirty="0"/>
              <a:t>문은 테이블에 있는 기존 </a:t>
            </a:r>
            <a:r>
              <a:rPr lang="ko-KR" altLang="en-US" dirty="0" err="1"/>
              <a:t>투플을</a:t>
            </a:r>
            <a:r>
              <a:rPr lang="ko-KR" altLang="en-US" dirty="0"/>
              <a:t> 삭제하는 명령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/>
              <a:t>DELETE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204864"/>
            <a:ext cx="4698726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DELETE FROM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628650" indent="-628650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[WHERE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];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DELETE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37370" y="1396449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도서번호가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도서를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55576" y="1954579"/>
            <a:ext cx="6655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DELETE FROM Book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'11'; 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732475" y="4962341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3-50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고객을 삭제하시오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37370" y="5490264"/>
            <a:ext cx="6655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DELETE 	FROM 	Customer;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916832"/>
            <a:ext cx="2880320" cy="28511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6093297"/>
            <a:ext cx="7848872" cy="36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2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50217" y="1068409"/>
            <a:ext cx="8064896" cy="5472608"/>
          </a:xfrm>
        </p:spPr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Row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또는 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SET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en-US" altLang="ko-KR" sz="1400" baseline="0" dirty="0" err="1"/>
                        <a:t>foreign_key_checks</a:t>
                      </a:r>
                      <a:r>
                        <a:rPr lang="en-US" altLang="ko-KR" sz="1400" baseline="0" dirty="0"/>
                        <a:t>=0;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외래키</a:t>
                      </a:r>
                      <a:r>
                        <a:rPr lang="ko-KR" altLang="en-US" sz="1400" dirty="0"/>
                        <a:t> 제약을 강제적으로 확인하지 않도록 하고 삭제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9306914"/>
              </p:ext>
            </p:extLst>
          </p:nvPr>
        </p:nvGraphicFramePr>
        <p:xfrm>
          <a:off x="539551" y="2599229"/>
          <a:ext cx="7652617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Row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또는 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/>
                        <a:t>SHOW CREATE TABLE NewCustomer;</a:t>
                      </a:r>
                    </a:p>
                    <a:p>
                      <a:endParaRPr lang="en-US" altLang="ko-KR" sz="1400"/>
                    </a:p>
                    <a:p>
                      <a:r>
                        <a:rPr lang="ko-KR" altLang="en-US" sz="1400"/>
                        <a:t>제약조건 이름 확인</a:t>
                      </a:r>
                      <a:endParaRPr lang="en-US" altLang="ko-KR" sz="1400"/>
                    </a:p>
                    <a:p>
                      <a:endParaRPr lang="en-US" altLang="ko-KR" sz="1400"/>
                    </a:p>
                    <a:p>
                      <a:r>
                        <a:rPr lang="en-US" altLang="ko-KR" sz="1400"/>
                        <a:t>ALTER </a:t>
                      </a:r>
                      <a:r>
                        <a:rPr lang="en-US" altLang="ko-KR" sz="1400" dirty="0"/>
                        <a:t>TABLE DROP CONSTRAINT </a:t>
                      </a:r>
                      <a:r>
                        <a:rPr lang="en-US" altLang="ko-KR" sz="1400" dirty="0" err="1"/>
                        <a:t>neworders_ibfk_1</a:t>
                      </a:r>
                      <a:r>
                        <a:rPr lang="en-US" altLang="ko-KR" sz="1400" dirty="0"/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외래키</a:t>
                      </a:r>
                      <a:r>
                        <a:rPr lang="ko-KR" altLang="en-US" sz="1400" dirty="0"/>
                        <a:t> 제약을 삭제 후 시도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4435414"/>
              </p:ext>
            </p:extLst>
          </p:nvPr>
        </p:nvGraphicFramePr>
        <p:xfrm>
          <a:off x="611560" y="4864566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DROP</a:t>
                      </a:r>
                      <a:r>
                        <a:rPr lang="en-US" altLang="ko-KR" sz="1400" baseline="0" dirty="0"/>
                        <a:t> TABLE </a:t>
                      </a:r>
                      <a:r>
                        <a:rPr lang="en-US" altLang="ko-KR" sz="1400" baseline="0" dirty="0" err="1"/>
                        <a:t>NewOrders</a:t>
                      </a:r>
                      <a:r>
                        <a:rPr lang="en-US" altLang="ko-KR" sz="1400" baseline="0" dirty="0"/>
                        <a:t>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 err="1"/>
                        <a:t>NewOrders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테이블을 먼저 삭제한 후에 시도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2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52061" y="1098214"/>
          <a:ext cx="7652617" cy="115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데이터 베이스 보기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b="1"/>
                        <a:t>SHOW</a:t>
                      </a:r>
                      <a:r>
                        <a:rPr lang="en-US" altLang="ko-KR" sz="1400" b="1" baseline="0"/>
                        <a:t> databases</a:t>
                      </a:r>
                      <a:r>
                        <a:rPr lang="en-US" altLang="ko-KR" sz="1400" baseline="0"/>
                        <a:t>;</a:t>
                      </a:r>
                      <a:endParaRPr lang="en-US" altLang="ko-KR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2" y="1126092"/>
            <a:ext cx="1686160" cy="1752845"/>
          </a:xfrm>
          <a:prstGeom prst="rect">
            <a:avLst/>
          </a:prstGeom>
        </p:spPr>
      </p:pic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1250379"/>
              </p:ext>
            </p:extLst>
          </p:nvPr>
        </p:nvGraphicFramePr>
        <p:xfrm>
          <a:off x="552061" y="3152885"/>
          <a:ext cx="7652617" cy="1482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제약 조건 보기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b="1"/>
                        <a:t>USE</a:t>
                      </a:r>
                      <a:r>
                        <a:rPr lang="en-US" altLang="ko-KR" sz="1400" b="1" baseline="0"/>
                        <a:t> </a:t>
                      </a:r>
                      <a:r>
                        <a:rPr lang="en-US" altLang="ko-KR" sz="1400" b="1" baseline="0" err="1"/>
                        <a:t>information_schema</a:t>
                      </a:r>
                      <a:r>
                        <a:rPr lang="en-US" altLang="ko-KR" sz="1400" b="1" baseline="0"/>
                        <a:t>;</a:t>
                      </a:r>
                      <a:endParaRPr lang="en-US" altLang="ko-KR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/>
                        <a:t>SHOW</a:t>
                      </a:r>
                      <a:r>
                        <a:rPr lang="en-US" altLang="ko-KR" sz="1400" b="1" baseline="0"/>
                        <a:t> tables;</a:t>
                      </a:r>
                      <a:endParaRPr lang="ko-KR" altLang="en-US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SELECT * FROM </a:t>
                      </a:r>
                      <a:r>
                        <a:rPr lang="en-US" altLang="ko-KR" sz="1400" b="1" dirty="0" err="1"/>
                        <a:t>table_constraints</a:t>
                      </a:r>
                      <a:r>
                        <a:rPr lang="en-US" altLang="ko-KR" sz="1400" b="1" dirty="0"/>
                        <a:t> where </a:t>
                      </a:r>
                      <a:r>
                        <a:rPr lang="en-US" altLang="ko-KR" sz="1400" b="1" dirty="0" err="1" smtClean="0"/>
                        <a:t>table_name</a:t>
                      </a:r>
                      <a:r>
                        <a:rPr lang="en-US" altLang="ko-KR" sz="1400" b="1" dirty="0"/>
                        <a:t>=‘</a:t>
                      </a:r>
                      <a:r>
                        <a:rPr lang="en-US" altLang="ko-KR" sz="1400" b="1" dirty="0" err="1"/>
                        <a:t>neworders</a:t>
                      </a:r>
                      <a:r>
                        <a:rPr lang="en-US" altLang="ko-KR" sz="1400" b="1" dirty="0"/>
                        <a:t>’;</a:t>
                      </a:r>
                      <a:endParaRPr lang="ko-KR" altLang="en-US" sz="14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31086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3151812"/>
            <a:ext cx="2468452" cy="258144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72" y="4991473"/>
            <a:ext cx="5839640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DELETE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52061" y="1098214"/>
          <a:ext cx="7652617" cy="2604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생성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CREATE TABLE           </a:t>
                      </a:r>
                      <a:r>
                        <a:rPr lang="en-US" altLang="ko-KR" sz="1400" err="1"/>
                        <a:t>NewCustomer</a:t>
                      </a:r>
                      <a:r>
                        <a:rPr lang="en-US" altLang="ko-KR" sz="140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custid</a:t>
                      </a:r>
                      <a:r>
                        <a:rPr lang="en-US" altLang="ko-KR" sz="140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name 	               VARCHAR(40));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INSERT INTO</a:t>
                      </a: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VALUES(1, ‘</a:t>
                      </a:r>
                      <a:r>
                        <a:rPr lang="ko-KR" altLang="en-US" sz="1400" baseline="0"/>
                        <a:t>손흥민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VALUES(2, ‘</a:t>
                      </a:r>
                      <a:r>
                        <a:rPr lang="ko-KR" altLang="en-US" sz="1400" baseline="0"/>
                        <a:t>김철수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VALUES(3, ‘</a:t>
                      </a:r>
                      <a:r>
                        <a:rPr lang="ko-KR" altLang="en-US" sz="1400" baseline="0"/>
                        <a:t>박지성</a:t>
                      </a:r>
                      <a:r>
                        <a:rPr lang="en-US" altLang="ko-KR" sz="1400" baseline="0"/>
                        <a:t>’);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94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DELETE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613941"/>
              </p:ext>
            </p:extLst>
          </p:nvPr>
        </p:nvGraphicFramePr>
        <p:xfrm>
          <a:off x="539552" y="1094280"/>
          <a:ext cx="7652617" cy="3565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생성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CREATE TABLE           </a:t>
                      </a:r>
                      <a:r>
                        <a:rPr lang="en-US" altLang="ko-KR" sz="1400" err="1"/>
                        <a:t>NewOrders</a:t>
                      </a:r>
                      <a:r>
                        <a:rPr lang="en-US" altLang="ko-KR" sz="140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orderid</a:t>
                      </a:r>
                      <a:r>
                        <a:rPr lang="en-US" altLang="ko-KR" sz="140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custid</a:t>
                      </a:r>
                      <a:r>
                        <a:rPr lang="en-US" altLang="ko-KR" sz="1400"/>
                        <a:t> 	               INTEGER NOT</a:t>
                      </a:r>
                      <a:r>
                        <a:rPr lang="en-US" altLang="ko-KR" sz="1400" baseline="0"/>
                        <a:t>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bookname</a:t>
                      </a:r>
                      <a:r>
                        <a:rPr lang="en-US" altLang="ko-KR" sz="1400" baseline="0"/>
                        <a:t>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 FOREIGN KEY (</a:t>
                      </a:r>
                      <a:r>
                        <a:rPr lang="en-US" altLang="ko-KR" sz="1400" baseline="0" err="1"/>
                        <a:t>custid</a:t>
                      </a:r>
                      <a:r>
                        <a:rPr lang="en-US" altLang="ko-KR" sz="1400" baseline="0"/>
                        <a:t>) REFERENCES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(</a:t>
                      </a:r>
                      <a:r>
                        <a:rPr lang="en-US" altLang="ko-KR" sz="1400" baseline="0" err="1"/>
                        <a:t>custid</a:t>
                      </a:r>
                      <a:r>
                        <a:rPr lang="en-US" altLang="ko-KR" sz="1400" baseline="0"/>
                        <a:t>) ON DELETE CASCADE);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US" altLang="ko-KR" sz="140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INSERT INTO</a:t>
                      </a: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NewOrders</a:t>
                      </a:r>
                      <a:r>
                        <a:rPr lang="en-US" altLang="ko-KR" sz="1400" baseline="0"/>
                        <a:t> VALUES(1, 1, ‘</a:t>
                      </a:r>
                      <a:r>
                        <a:rPr lang="ko-KR" altLang="en-US" sz="1400" baseline="0"/>
                        <a:t>데이터베이스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NewOrders VALUES(2, 2, ‘</a:t>
                      </a:r>
                      <a:r>
                        <a:rPr lang="ko-KR" altLang="en-US" sz="1400" baseline="0" err="1"/>
                        <a:t>파이썬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NewOrders VALUES(3, 3, ‘</a:t>
                      </a:r>
                      <a:r>
                        <a:rPr lang="ko-KR" altLang="en-US" sz="1400" baseline="0"/>
                        <a:t>자바</a:t>
                      </a:r>
                      <a:r>
                        <a:rPr lang="en-US" altLang="ko-KR" sz="1400" baseline="0"/>
                        <a:t>’);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6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DELETE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삭제</a:t>
                      </a:r>
                      <a:endParaRPr lang="en-US" altLang="ko-KR" sz="14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baseline="0" dirty="0"/>
                        <a:t>DELETE FROM </a:t>
                      </a:r>
                      <a:r>
                        <a:rPr lang="en-US" altLang="ko-KR" sz="1400" baseline="0" dirty="0" err="1"/>
                        <a:t>NewCustomer</a:t>
                      </a:r>
                      <a:r>
                        <a:rPr lang="en-US" altLang="ko-KR" sz="1400" baseline="0" dirty="0"/>
                        <a:t> WHERE </a:t>
                      </a:r>
                      <a:r>
                        <a:rPr lang="en-US" altLang="ko-KR" sz="1400" baseline="0" dirty="0" err="1"/>
                        <a:t>custid</a:t>
                      </a:r>
                      <a:r>
                        <a:rPr lang="en-US" altLang="ko-KR" sz="1400" baseline="0" dirty="0"/>
                        <a:t>=1;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-&gt;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dirty="0"/>
                        <a:t>row </a:t>
                      </a:r>
                      <a:r>
                        <a:rPr lang="ko-KR" altLang="en-US" sz="1400" dirty="0"/>
                        <a:t>중에서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=1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인 것도 연쇄적으로 지워진다</a:t>
                      </a:r>
                      <a:r>
                        <a:rPr lang="en-US" altLang="ko-KR" sz="1400" baseline="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9746751"/>
              </p:ext>
            </p:extLst>
          </p:nvPr>
        </p:nvGraphicFramePr>
        <p:xfrm>
          <a:off x="539552" y="2531433"/>
          <a:ext cx="7652617" cy="741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FOREIGN KEY 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REFERENCES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ON DELETE CASCADE;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ON DELETE CASCADE </a:t>
                      </a:r>
                      <a:r>
                        <a:rPr lang="ko-KR" altLang="en-US" sz="1400"/>
                        <a:t>옵션에 의해서 자식테이블</a:t>
                      </a:r>
                      <a:r>
                        <a:rPr lang="en-US" altLang="ko-KR" sz="1400"/>
                        <a:t>(NewOrders)</a:t>
                      </a:r>
                      <a:r>
                        <a:rPr lang="ko-KR" altLang="en-US" sz="1400"/>
                        <a:t>의 </a:t>
                      </a:r>
                      <a:r>
                        <a:rPr lang="en-US" altLang="ko-KR" sz="1400"/>
                        <a:t>row</a:t>
                      </a:r>
                      <a:r>
                        <a:rPr lang="ko-KR" altLang="en-US" sz="1400"/>
                        <a:t>도 지워진다</a:t>
                      </a:r>
                      <a:r>
                        <a:rPr lang="en-US" altLang="ko-KR" sz="140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973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34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1986441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기타 구문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USE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SHOW DATABASES, TABLES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DESC TABLE, SHOW CREATE TABLE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LIMIT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kumimoji="0"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717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사용할 </a:t>
            </a:r>
            <a:r>
              <a:rPr lang="en-US" altLang="ko-KR" sz="1600" dirty="0"/>
              <a:t>DB</a:t>
            </a:r>
            <a:r>
              <a:rPr lang="ko-KR" altLang="en-US" sz="1600" dirty="0"/>
              <a:t>를 선택하는 구문</a:t>
            </a:r>
            <a:endParaRPr lang="en-US" altLang="ko-KR" sz="1600" dirty="0"/>
          </a:p>
          <a:p>
            <a:pPr lvl="1"/>
            <a:r>
              <a:rPr lang="en-US" altLang="ko-KR" sz="1600" b="1"/>
              <a:t>USE practice3;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5896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SHOW DATABASES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현재 서버에 어떤 </a:t>
            </a:r>
            <a:r>
              <a:rPr lang="en-US" altLang="ko-KR" sz="1600" dirty="0"/>
              <a:t>DB</a:t>
            </a:r>
            <a:r>
              <a:rPr lang="ko-KR" altLang="en-US" sz="1600" dirty="0"/>
              <a:t>가 있는지 보기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DATABASES;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SHOW TABLES</a:t>
            </a:r>
          </a:p>
          <a:p>
            <a:pPr lvl="1"/>
            <a:r>
              <a:rPr lang="ko-KR" altLang="en-US" sz="1600" dirty="0"/>
              <a:t>현재 </a:t>
            </a:r>
            <a:r>
              <a:rPr lang="en-US" altLang="ko-KR" sz="1600" dirty="0"/>
              <a:t>DB</a:t>
            </a:r>
            <a:r>
              <a:rPr lang="ko-KR" altLang="en-US" sz="1600" dirty="0"/>
              <a:t>에 어떤 테이블이 있는지 보기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TABLES;</a:t>
            </a:r>
          </a:p>
          <a:p>
            <a:pPr marL="266700" lvl="1" indent="0">
              <a:buNone/>
            </a:pPr>
            <a:endParaRPr lang="en-US" altLang="ko-KR" sz="1600" b="1" dirty="0"/>
          </a:p>
          <a:p>
            <a:r>
              <a:rPr lang="en-US" altLang="ko-KR" b="1" dirty="0"/>
              <a:t>Workbench</a:t>
            </a:r>
            <a:r>
              <a:rPr lang="ko-KR" altLang="en-US" b="1" dirty="0"/>
              <a:t>의 </a:t>
            </a:r>
            <a:r>
              <a:rPr lang="en-US" altLang="ko-KR" b="1" dirty="0"/>
              <a:t>Navigator</a:t>
            </a:r>
            <a:r>
              <a:rPr lang="ko-KR" altLang="en-US" b="1" dirty="0"/>
              <a:t>로 확인 가능하지만 리눅스에 명령에서 유용하다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33951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DESC TABLE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테이블의 스키마를 표시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DESC Book;</a:t>
            </a:r>
          </a:p>
          <a:p>
            <a:endParaRPr lang="en-US" altLang="ko-KR" dirty="0"/>
          </a:p>
          <a:p>
            <a:r>
              <a:rPr lang="en-US" altLang="ko-KR" dirty="0"/>
              <a:t>SHOW CREATE TABLE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테이블의 스키마와 제약사항 표시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CREATE TABLE Book;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72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07C4B-A374-452F-5E66-90EE8F82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A83DBB-555D-6D10-D22E-E5AD98F33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LIMIT - </a:t>
            </a:r>
            <a:r>
              <a:rPr lang="ko-KR" altLang="en-US" dirty="0"/>
              <a:t>출력할 </a:t>
            </a:r>
            <a:r>
              <a:rPr lang="en-US" altLang="ko-KR" dirty="0"/>
              <a:t>ROWS</a:t>
            </a:r>
            <a:r>
              <a:rPr lang="ko-KR" altLang="en-US" dirty="0"/>
              <a:t>의 개수를 제한할 때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/>
              <a:t>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/>
              <a:t>Book</a:t>
            </a:r>
            <a:r>
              <a:rPr lang="ko-KR" altLang="en-US" dirty="0"/>
              <a:t> </a:t>
            </a:r>
            <a:r>
              <a:rPr lang="en-US" altLang="ko-KR" dirty="0"/>
              <a:t>LIMIT 3;</a:t>
            </a:r>
          </a:p>
          <a:p>
            <a:pPr lvl="1"/>
            <a:r>
              <a:rPr lang="ko-KR" altLang="en-US" dirty="0"/>
              <a:t>결과 행 수를 </a:t>
            </a:r>
            <a:r>
              <a:rPr lang="en-US" altLang="ko-KR" dirty="0"/>
              <a:t>3</a:t>
            </a:r>
            <a:r>
              <a:rPr lang="ko-KR" altLang="en-US" dirty="0"/>
              <a:t>개로 제한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SELECT * FROM Book LIMIT 3 OFFSET 2;</a:t>
            </a:r>
          </a:p>
          <a:p>
            <a:pPr lvl="1"/>
            <a:r>
              <a:rPr lang="ko-KR" altLang="en-US" dirty="0"/>
              <a:t>전체 테이블에서 </a:t>
            </a:r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Row</a:t>
            </a:r>
            <a:r>
              <a:rPr lang="ko-KR" altLang="en-US" dirty="0"/>
              <a:t>부터 </a:t>
            </a:r>
            <a:r>
              <a:rPr lang="en-US" altLang="ko-KR" dirty="0"/>
              <a:t>3</a:t>
            </a:r>
            <a:r>
              <a:rPr lang="ko-KR" altLang="en-US" dirty="0"/>
              <a:t>개 행만 표시</a:t>
            </a:r>
            <a:endParaRPr lang="en-US" altLang="ko-KR" dirty="0"/>
          </a:p>
          <a:p>
            <a:pPr marL="266700" lvl="1" indent="0">
              <a:buNone/>
            </a:pPr>
            <a:endParaRPr lang="en-US" altLang="ko-KR" dirty="0"/>
          </a:p>
          <a:p>
            <a:r>
              <a:rPr lang="en-US" altLang="ko-KR" dirty="0"/>
              <a:t>SELECT * FROM Book LIMIT 2, 1;</a:t>
            </a:r>
          </a:p>
          <a:p>
            <a:pPr lvl="1"/>
            <a:r>
              <a:rPr lang="ko-KR" altLang="en-US" dirty="0"/>
              <a:t>전체 테이블에서 </a:t>
            </a:r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Row</a:t>
            </a:r>
            <a:r>
              <a:rPr lang="ko-KR" altLang="en-US" dirty="0"/>
              <a:t>부터 </a:t>
            </a:r>
            <a:r>
              <a:rPr lang="en-US" altLang="ko-KR" dirty="0"/>
              <a:t>1</a:t>
            </a:r>
            <a:r>
              <a:rPr lang="ko-KR" altLang="en-US" dirty="0"/>
              <a:t>개 행만 표시</a:t>
            </a:r>
          </a:p>
        </p:txBody>
      </p:sp>
    </p:spTree>
    <p:extLst>
      <p:ext uri="{BB962C8B-B14F-4D97-AF65-F5344CB8AC3E}">
        <p14:creationId xmlns:p14="http://schemas.microsoft.com/office/powerpoint/2010/main" val="389836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8585</TotalTime>
  <Words>1598</Words>
  <Application>Microsoft Office PowerPoint</Application>
  <PresentationFormat>화면 슬라이드 쇼(4:3)</PresentationFormat>
  <Paragraphs>382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굴림</vt:lpstr>
      <vt:lpstr>맑은 고딕</vt:lpstr>
      <vt:lpstr>Arial</vt:lpstr>
      <vt:lpstr>Tahoma</vt:lpstr>
      <vt:lpstr>Wingdings</vt:lpstr>
      <vt:lpstr>Office 테마</vt:lpstr>
      <vt:lpstr>2_Office 테마</vt:lpstr>
      <vt:lpstr>  #4</vt:lpstr>
      <vt:lpstr>실습 자료</vt:lpstr>
      <vt:lpstr>PowerPoint 프레젠테이션</vt:lpstr>
      <vt:lpstr>데이터베이스 생성</vt:lpstr>
      <vt:lpstr>1. CREATE 문</vt:lpstr>
      <vt:lpstr>1. CREATE 문</vt:lpstr>
      <vt:lpstr>1. CREATE 문</vt:lpstr>
      <vt:lpstr>1. CREATE 문</vt:lpstr>
      <vt:lpstr>1. CREATE 문</vt:lpstr>
      <vt:lpstr>1. CREATE 문</vt:lpstr>
      <vt:lpstr>2. ALTER 문</vt:lpstr>
      <vt:lpstr>2. ALTER 문</vt:lpstr>
      <vt:lpstr>3. DROP 문</vt:lpstr>
      <vt:lpstr>3. DROP 문</vt:lpstr>
      <vt:lpstr>PowerPoint 프레젠테이션</vt:lpstr>
      <vt:lpstr>1. INSERT 문</vt:lpstr>
      <vt:lpstr>1. INSERT 문</vt:lpstr>
      <vt:lpstr>1. INSERT 문</vt:lpstr>
      <vt:lpstr>2. UPDATE 문</vt:lpstr>
      <vt:lpstr>2. UPDATE 문</vt:lpstr>
      <vt:lpstr>2. UPDATE 문</vt:lpstr>
      <vt:lpstr>3. DELETE 문</vt:lpstr>
      <vt:lpstr>3. DELETE 문</vt:lpstr>
      <vt:lpstr>제약 조건 체크 해제</vt:lpstr>
      <vt:lpstr>제약 조건 체크 해제</vt:lpstr>
      <vt:lpstr>3. DELETE 문</vt:lpstr>
      <vt:lpstr>3. DELETE 문</vt:lpstr>
      <vt:lpstr>3. DELETE 문</vt:lpstr>
      <vt:lpstr>PowerPoint 프레젠테이션</vt:lpstr>
      <vt:lpstr>기타 구문</vt:lpstr>
      <vt:lpstr>기타 구문</vt:lpstr>
      <vt:lpstr>기타 구문</vt:lpstr>
      <vt:lpstr>기타 구문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620</cp:revision>
  <cp:lastPrinted>2023-02-19T06:43:06Z</cp:lastPrinted>
  <dcterms:created xsi:type="dcterms:W3CDTF">2012-07-11T10:23:22Z</dcterms:created>
  <dcterms:modified xsi:type="dcterms:W3CDTF">2026-04-09T03:35:08Z</dcterms:modified>
</cp:coreProperties>
</file>
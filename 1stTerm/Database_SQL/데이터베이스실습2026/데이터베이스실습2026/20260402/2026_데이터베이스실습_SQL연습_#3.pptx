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44"/>
  </p:notesMasterIdLst>
  <p:handoutMasterIdLst>
    <p:handoutMasterId r:id="rId45"/>
  </p:handoutMasterIdLst>
  <p:sldIdLst>
    <p:sldId id="465" r:id="rId3"/>
    <p:sldId id="516" r:id="rId4"/>
    <p:sldId id="542" r:id="rId5"/>
    <p:sldId id="509" r:id="rId6"/>
    <p:sldId id="510" r:id="rId7"/>
    <p:sldId id="422" r:id="rId8"/>
    <p:sldId id="423" r:id="rId9"/>
    <p:sldId id="496" r:id="rId10"/>
    <p:sldId id="424" r:id="rId11"/>
    <p:sldId id="425" r:id="rId12"/>
    <p:sldId id="511" r:id="rId13"/>
    <p:sldId id="538" r:id="rId14"/>
    <p:sldId id="539" r:id="rId15"/>
    <p:sldId id="474" r:id="rId16"/>
    <p:sldId id="540" r:id="rId17"/>
    <p:sldId id="488" r:id="rId18"/>
    <p:sldId id="489" r:id="rId19"/>
    <p:sldId id="490" r:id="rId20"/>
    <p:sldId id="495" r:id="rId21"/>
    <p:sldId id="541" r:id="rId22"/>
    <p:sldId id="491" r:id="rId23"/>
    <p:sldId id="492" r:id="rId24"/>
    <p:sldId id="498" r:id="rId25"/>
    <p:sldId id="497" r:id="rId26"/>
    <p:sldId id="543" r:id="rId27"/>
    <p:sldId id="428" r:id="rId28"/>
    <p:sldId id="513" r:id="rId29"/>
    <p:sldId id="535" r:id="rId30"/>
    <p:sldId id="430" r:id="rId31"/>
    <p:sldId id="431" r:id="rId32"/>
    <p:sldId id="432" r:id="rId33"/>
    <p:sldId id="433" r:id="rId34"/>
    <p:sldId id="434" r:id="rId35"/>
    <p:sldId id="494" r:id="rId36"/>
    <p:sldId id="493" r:id="rId37"/>
    <p:sldId id="537" r:id="rId38"/>
    <p:sldId id="436" r:id="rId39"/>
    <p:sldId id="534" r:id="rId40"/>
    <p:sldId id="484" r:id="rId41"/>
    <p:sldId id="437" r:id="rId42"/>
    <p:sldId id="438" r:id="rId43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32EEA-EC04-421A-90A3-B5595832F797}" v="8" dt="2024-03-11T12:40:14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46" autoAdjust="0"/>
    <p:restoredTop sz="99281" autoAdjust="0"/>
  </p:normalViewPr>
  <p:slideViewPr>
    <p:cSldViewPr>
      <p:cViewPr varScale="1">
        <p:scale>
          <a:sx n="118" d="100"/>
          <a:sy n="118" d="100"/>
        </p:scale>
        <p:origin x="88" y="572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52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6594236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02725084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5070117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639669927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0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0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0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0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0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0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0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0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0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0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0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0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0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0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0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0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0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0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0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0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0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0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0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0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0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0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0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0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0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0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0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61198807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16353001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353001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16353001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16353001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219665896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9665896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219665896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219665896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252498115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2498115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252498115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0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0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260952116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0952116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260952116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260952116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2125198982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25198982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2125198982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1480262368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80262368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1480262368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3405355212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405355212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3405355212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358934387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58934387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358934387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94504553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2670110645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2670110645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1844723029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844723029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1844723029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2026-03-25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데이터베이스 시스템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2026-03-25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2026-03-25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156810" y="3501008"/>
            <a:ext cx="6143382" cy="1902073"/>
          </a:xfrm>
        </p:spPr>
        <p:txBody>
          <a:bodyPr/>
          <a:lstStyle/>
          <a:p>
            <a:pPr algn="l"/>
            <a:br>
              <a:rPr lang="en-US" altLang="ko-KR" sz="4000" b="1" dirty="0">
                <a:solidFill>
                  <a:srgbClr val="215968"/>
                </a:solidFill>
              </a:rPr>
            </a:br>
            <a:br>
              <a:rPr lang="en-US" altLang="ko-KR" sz="800"/>
            </a:br>
            <a:r>
              <a:rPr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SQL</a:t>
            </a:r>
            <a:r>
              <a:rPr lang="ko-KR" altLang="en-US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 연습 </a:t>
            </a:r>
            <a:r>
              <a:rPr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#3</a:t>
            </a: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83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F2904-A219-4098-03C4-C41B6FBF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CD194-A045-34A5-15B7-B677A3FF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DC530D-73F9-DBD2-B306-311AF3325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/>
              <a:t>https://syntaxwiki.com:3026</a:t>
            </a:r>
          </a:p>
          <a:p>
            <a:pPr>
              <a:lnSpc>
                <a:spcPct val="200000"/>
              </a:lnSpc>
            </a:pPr>
            <a:r>
              <a:rPr lang="en-US" altLang="ko-KR"/>
              <a:t>practice2.sql</a:t>
            </a:r>
          </a:p>
          <a:p>
            <a:pPr>
              <a:lnSpc>
                <a:spcPct val="20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472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450F0-858E-E4F2-37FD-52914BEDF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7ECC5-9995-F076-E57B-D9813F22B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6A1EBB-95C9-BD02-0C96-017C5F577714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쿼리 실행 순서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FROM -&gt; WHERE -&gt; GROUP BY -&gt; HAVING -&gt; SELECT -&gt; ORDER BY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ASC: </a:t>
            </a:r>
            <a:r>
              <a:rPr lang="ko-KR" altLang="en-US" sz="1600" dirty="0">
                <a:solidFill>
                  <a:schemeClr val="tx2"/>
                </a:solidFill>
              </a:rPr>
              <a:t>오름차순</a:t>
            </a:r>
            <a:r>
              <a:rPr lang="en-US" altLang="ko-KR" sz="1600" dirty="0">
                <a:solidFill>
                  <a:schemeClr val="tx2"/>
                </a:solidFill>
              </a:rPr>
              <a:t>, DESC: </a:t>
            </a:r>
            <a:r>
              <a:rPr lang="ko-KR" altLang="en-US" sz="1600" dirty="0">
                <a:solidFill>
                  <a:schemeClr val="tx2"/>
                </a:solidFill>
              </a:rPr>
              <a:t>내림차순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DISTINCT: </a:t>
            </a:r>
            <a:r>
              <a:rPr lang="ko-KR" altLang="en-US" sz="1600" dirty="0">
                <a:solidFill>
                  <a:schemeClr val="tx2"/>
                </a:solidFill>
              </a:rPr>
              <a:t>중복 제거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A6901B-E16B-FB9B-74E8-6896C691882C}"/>
              </a:ext>
            </a:extLst>
          </p:cNvPr>
          <p:cNvSpPr txBox="1"/>
          <p:nvPr/>
        </p:nvSpPr>
        <p:spPr>
          <a:xfrm>
            <a:off x="899592" y="1628800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696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757D4-C712-E636-EE60-708F3BDC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마당서점의 데이터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9A32D1A-882D-C5E1-DCF8-1054015CB767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34400"/>
          <a:ext cx="3681440" cy="2933395"/>
        </p:xfrm>
        <a:graphic>
          <a:graphicData uri="http://schemas.openxmlformats.org/drawingml/2006/table">
            <a:tbl>
              <a:tblPr/>
              <a:tblGrid>
                <a:gridCol w="7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bookname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publisher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역사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축구아는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사람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나무수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이해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골프 바이블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35000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피겨 교본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역도 단계별기술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야구의 추억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야구를 부탁해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올림픽 이야기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삼성당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7500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Olympic Champions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Pearson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6862482-CCFC-8DB4-7FF1-75935CBD9E98}"/>
              </a:ext>
            </a:extLst>
          </p:cNvPr>
          <p:cNvGraphicFramePr>
            <a:graphicFrameLocks noGrp="1"/>
          </p:cNvGraphicFramePr>
          <p:nvPr/>
        </p:nvGraphicFramePr>
        <p:xfrm>
          <a:off x="451474" y="4748614"/>
          <a:ext cx="3697510" cy="1578964"/>
        </p:xfrm>
        <a:graphic>
          <a:graphicData uri="http://schemas.openxmlformats.org/drawingml/2006/table">
            <a:tbl>
              <a:tblPr/>
              <a:tblGrid>
                <a:gridCol w="601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name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address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phone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영국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맨체스타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000-5000-0001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서울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000-6000-0001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장미란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강원도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000-7000-0001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추신수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미국 클리블랜드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000-8000-0001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6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박세리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대전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34089D-4014-F02A-4C03-C6AF1041ECFD}"/>
              </a:ext>
            </a:extLst>
          </p:cNvPr>
          <p:cNvGraphicFramePr>
            <a:graphicFrameLocks noGrp="1"/>
          </p:cNvGraphicFramePr>
          <p:nvPr/>
        </p:nvGraphicFramePr>
        <p:xfrm>
          <a:off x="4562949" y="1134400"/>
          <a:ext cx="4104456" cy="2765875"/>
        </p:xfrm>
        <a:graphic>
          <a:graphicData uri="http://schemas.openxmlformats.org/drawingml/2006/table">
            <a:tbl>
              <a:tblPr/>
              <a:tblGrid>
                <a:gridCol w="68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1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saleprice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orderdate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1EC2F12-800F-2955-BA88-A1FDD27803A8}"/>
              </a:ext>
            </a:extLst>
          </p:cNvPr>
          <p:cNvSpPr txBox="1"/>
          <p:nvPr/>
        </p:nvSpPr>
        <p:spPr>
          <a:xfrm>
            <a:off x="367928" y="422832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Book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5AE42-9C32-28B6-FE41-BACB143F2DFD}"/>
              </a:ext>
            </a:extLst>
          </p:cNvPr>
          <p:cNvSpPr txBox="1"/>
          <p:nvPr/>
        </p:nvSpPr>
        <p:spPr>
          <a:xfrm>
            <a:off x="367928" y="647530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Customer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C6D51-D3E9-42D8-A22D-DA60FA768E62}"/>
              </a:ext>
            </a:extLst>
          </p:cNvPr>
          <p:cNvSpPr txBox="1"/>
          <p:nvPr/>
        </p:nvSpPr>
        <p:spPr>
          <a:xfrm>
            <a:off x="4562949" y="415723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</p:spTree>
    <p:extLst>
      <p:ext uri="{BB962C8B-B14F-4D97-AF65-F5344CB8AC3E}">
        <p14:creationId xmlns:p14="http://schemas.microsoft.com/office/powerpoint/2010/main" val="148026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757D4-C712-E636-EE60-708F3BDC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마당서점의 데이터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036E1F-0356-2068-8213-35C54705047B}"/>
              </a:ext>
            </a:extLst>
          </p:cNvPr>
          <p:cNvSpPr txBox="1"/>
          <p:nvPr/>
        </p:nvSpPr>
        <p:spPr>
          <a:xfrm>
            <a:off x="2529804" y="4944194"/>
            <a:ext cx="3698379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ea typeface="맑은 고딕" panose="020B0503020000020004" pitchFamily="50" charset="-127"/>
              </a:rPr>
              <a:t>마당서점의 데이터 테이블 관계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AFD2BE8-D815-E766-27DB-F2A559A00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1844824"/>
            <a:ext cx="4274989" cy="30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55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309720"/>
            <a:ext cx="3001439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   	Customer, Orders;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74480" y="638132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3-16 </a:t>
            </a:r>
            <a:r>
              <a:rPr lang="en-US" altLang="ko-KR" sz="1400" b="1" dirty="0">
                <a:ea typeface="맑은 고딕" panose="020B0503020000020004" pitchFamily="50" charset="-127"/>
              </a:rPr>
              <a:t>Customer</a:t>
            </a:r>
            <a:r>
              <a:rPr lang="ko-KR" altLang="en-US" sz="1400" b="1" dirty="0">
                <a:ea typeface="맑은 고딕" panose="020B0503020000020004" pitchFamily="50" charset="-127"/>
              </a:rPr>
              <a:t>와 </a:t>
            </a:r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테이블의 합체 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20000"/>
              </a:lnSpc>
            </a:pPr>
            <a:r>
              <a:rPr lang="en-US" altLang="ko-KR" dirty="0"/>
              <a:t>Customer </a:t>
            </a:r>
            <a:r>
              <a:rPr lang="ko-KR" altLang="en-US" dirty="0"/>
              <a:t>테이블을 </a:t>
            </a:r>
            <a:r>
              <a:rPr lang="en-US" altLang="ko-KR" dirty="0"/>
              <a:t>Orders </a:t>
            </a:r>
            <a:r>
              <a:rPr lang="ko-KR" altLang="en-US" dirty="0"/>
              <a:t>테이블과 조건 없이 연결해보자</a:t>
            </a:r>
            <a:r>
              <a:rPr lang="en-US" altLang="ko-KR" dirty="0"/>
              <a:t>. </a:t>
            </a:r>
          </a:p>
          <a:p>
            <a:pPr marL="0" indent="0" latinLnBrk="0">
              <a:lnSpc>
                <a:spcPct val="120000"/>
              </a:lnSpc>
              <a:buNone/>
            </a:pPr>
            <a:r>
              <a:rPr lang="en-US" altLang="ko-KR" dirty="0"/>
              <a:t>     Customer</a:t>
            </a:r>
            <a:r>
              <a:rPr lang="ko-KR" altLang="en-US" dirty="0"/>
              <a:t>와 </a:t>
            </a:r>
            <a:r>
              <a:rPr lang="en-US" altLang="ko-KR" dirty="0"/>
              <a:t>Orders </a:t>
            </a:r>
            <a:r>
              <a:rPr lang="ko-KR" altLang="en-US" dirty="0"/>
              <a:t>테이블의 합체 결과 </a:t>
            </a:r>
            <a:r>
              <a:rPr lang="ko-KR" altLang="en-US" dirty="0" err="1"/>
              <a:t>투플의</a:t>
            </a:r>
            <a:r>
              <a:rPr lang="ko-KR" altLang="en-US" dirty="0"/>
              <a:t> 개수는 고객이 다섯 명이고  </a:t>
            </a:r>
            <a:endParaRPr lang="en-US" altLang="ko-KR" dirty="0"/>
          </a:p>
          <a:p>
            <a:pPr marL="0" indent="0" latinLnBrk="0">
              <a:lnSpc>
                <a:spcPct val="120000"/>
              </a:lnSpc>
              <a:buNone/>
            </a:pPr>
            <a:r>
              <a:rPr lang="en-US" altLang="ko-KR" dirty="0"/>
              <a:t>     </a:t>
            </a:r>
            <a:r>
              <a:rPr lang="ko-KR" altLang="en-US" dirty="0"/>
              <a:t>주문이 열 개이므로 </a:t>
            </a:r>
            <a:r>
              <a:rPr lang="en-US" altLang="ko-KR" dirty="0"/>
              <a:t>5×10 </a:t>
            </a:r>
            <a:r>
              <a:rPr lang="ko-KR" altLang="en-US" dirty="0"/>
              <a:t>해서 </a:t>
            </a:r>
            <a:r>
              <a:rPr lang="en-US" altLang="ko-KR" dirty="0"/>
              <a:t>50</a:t>
            </a:r>
            <a:r>
              <a:rPr lang="ko-KR" altLang="en-US" dirty="0"/>
              <a:t>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2132856"/>
            <a:ext cx="5121209" cy="41430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33270C-601B-434E-5D85-2AC45C1F462C}"/>
              </a:ext>
            </a:extLst>
          </p:cNvPr>
          <p:cNvSpPr txBox="1"/>
          <p:nvPr/>
        </p:nvSpPr>
        <p:spPr>
          <a:xfrm>
            <a:off x="946054" y="3095117"/>
            <a:ext cx="3001439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   	Customer JOIN Orders;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8638AD-DEAC-E097-6A0B-F077B4BA7BFA}"/>
              </a:ext>
            </a:extLst>
          </p:cNvPr>
          <p:cNvSpPr txBox="1"/>
          <p:nvPr/>
        </p:nvSpPr>
        <p:spPr>
          <a:xfrm>
            <a:off x="985236" y="3880514"/>
            <a:ext cx="3001439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</a:t>
            </a:r>
            <a:r>
              <a:rPr lang="en-US" altLang="ko-KR" sz="1400">
                <a:ea typeface="맑은 고딕" panose="020B0503020000020004" pitchFamily="50" charset="-127"/>
              </a:rPr>
              <a:t>	count(*)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   	Customer, Orders;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13309" y="1844824"/>
          <a:ext cx="781913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주문에 관한 데이터를 모두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284984"/>
            <a:ext cx="7424911" cy="25434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CA987-1F17-358D-9C9C-1F1B15176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9CF4A955-547B-0B6A-BC0A-87651031881A}"/>
              </a:ext>
            </a:extLst>
          </p:cNvPr>
          <p:cNvGraphicFramePr>
            <a:graphicFrameLocks/>
          </p:cNvGraphicFramePr>
          <p:nvPr/>
        </p:nvGraphicFramePr>
        <p:xfrm>
          <a:off x="539551" y="1839218"/>
          <a:ext cx="781913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3-21 #1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고객의 주문에 관한 데이터를 모두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WHERE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21527025-AAFE-2AB5-B010-C908AFD890DA}"/>
              </a:ext>
            </a:extLst>
          </p:cNvPr>
          <p:cNvGraphicFramePr>
            <a:graphicFrameLocks/>
          </p:cNvGraphicFramePr>
          <p:nvPr/>
        </p:nvGraphicFramePr>
        <p:xfrm>
          <a:off x="539551" y="3573016"/>
          <a:ext cx="781913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3-21 #2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고객의 주문에 관한 데이터를 모두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JOIN ON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JOIN Orders ON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BB62359-6424-7415-D585-79B25CFE708E}"/>
              </a:ext>
            </a:extLst>
          </p:cNvPr>
          <p:cNvGraphicFramePr>
            <a:graphicFrameLocks/>
          </p:cNvGraphicFramePr>
          <p:nvPr/>
        </p:nvGraphicFramePr>
        <p:xfrm>
          <a:off x="539551" y="5182076"/>
          <a:ext cx="781913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3-21 #3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고객의 주문에 관한 데이터를 모두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JOIN USING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JOIN Orders USING(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C6D75F9-777F-0430-67D3-7BB4129D1D36}"/>
              </a:ext>
            </a:extLst>
          </p:cNvPr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 3</a:t>
            </a:r>
            <a:r>
              <a:rPr kumimoji="0" lang="ko-KR" altLang="en-US" sz="2000" dirty="0">
                <a:solidFill>
                  <a:schemeClr val="tx2"/>
                </a:solidFill>
              </a:rPr>
              <a:t>가지 타입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51945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13309" y="1839819"/>
          <a:ext cx="7579791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주문에 관한 데이터를 고객번호 순으로 정렬하여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</a:t>
                      </a:r>
                      <a:r>
                        <a:rPr lang="en-US" altLang="ko-KR" sz="1400" err="1">
                          <a:solidFill>
                            <a:schemeClr val="dk1"/>
                          </a:solidFill>
                        </a:rPr>
                        <a:t>custid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</a:rPr>
                        <a:t> = Orders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.custid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573016"/>
            <a:ext cx="7344816" cy="25873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35807" y="1827560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이름과 고객이 주문한 도서의 판매가격을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2345234"/>
            <a:ext cx="1349973" cy="23799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1839436"/>
          <a:ext cx="745909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모든 도서의 총 판매액을 구하고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정렬하시오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name, 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GROUP BY	Customer.name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 BY	Customer.name;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2348880"/>
            <a:ext cx="1813947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43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807244" y="621826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3-20 </a:t>
            </a:r>
            <a:r>
              <a:rPr lang="ko-KR" altLang="en-US" sz="1400" b="1" dirty="0">
                <a:ea typeface="맑은 고딕" panose="020B0503020000020004" pitchFamily="50" charset="-127"/>
              </a:rPr>
              <a:t>마당서점 데이터 간의 연결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845" y="1792833"/>
            <a:ext cx="5704655" cy="4337542"/>
          </a:xfrm>
          <a:prstGeom prst="rect">
            <a:avLst/>
          </a:prstGeom>
        </p:spPr>
      </p:pic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조인</a:t>
            </a:r>
            <a:r>
              <a:rPr kumimoji="0" lang="en-US" altLang="ko-KR" sz="2000">
                <a:solidFill>
                  <a:schemeClr val="tx2"/>
                </a:solidFill>
              </a:rPr>
              <a:t>_</a:t>
            </a:r>
            <a:r>
              <a:rPr kumimoji="0"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3</a:t>
            </a:r>
            <a:r>
              <a:rPr lang="ko-KR" altLang="en-US" sz="1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테이블을 합체해보자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1253095"/>
              </p:ext>
            </p:extLst>
          </p:nvPr>
        </p:nvGraphicFramePr>
        <p:xfrm>
          <a:off x="735807" y="1844824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이름과 고객이 주문한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Orders,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lang="en-US" altLang="ko-KR" sz="4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조인</a:t>
            </a:r>
            <a:r>
              <a:rPr kumimoji="0" lang="en-US" altLang="ko-KR" sz="2000">
                <a:solidFill>
                  <a:schemeClr val="tx2"/>
                </a:solidFill>
              </a:rPr>
              <a:t>_</a:t>
            </a:r>
            <a:r>
              <a:rPr kumimoji="0"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3</a:t>
            </a:r>
            <a:r>
              <a:rPr lang="ko-KR" altLang="en-US" sz="1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2420888"/>
            <a:ext cx="1942902" cy="22633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1844000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3-26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원인 도서를 주문한 고객의 이름과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Orders,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조인</a:t>
            </a:r>
            <a:r>
              <a:rPr kumimoji="0" lang="en-US" altLang="ko-KR" sz="2000">
                <a:solidFill>
                  <a:schemeClr val="tx2"/>
                </a:solidFill>
              </a:rPr>
              <a:t>_</a:t>
            </a:r>
            <a:r>
              <a:rPr kumimoji="0"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3</a:t>
            </a:r>
            <a:r>
              <a:rPr lang="ko-KR" altLang="en-US" sz="1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테이블을 합체해보자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328" y="3510468"/>
            <a:ext cx="1534096" cy="489711"/>
          </a:xfrm>
          <a:prstGeom prst="rect">
            <a:avLst/>
          </a:prstGeom>
        </p:spPr>
      </p:pic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06DC8EE-2CA7-6FEA-297F-1F520D3BB644}"/>
              </a:ext>
            </a:extLst>
          </p:cNvPr>
          <p:cNvGraphicFramePr>
            <a:graphicFrameLocks/>
          </p:cNvGraphicFramePr>
          <p:nvPr/>
        </p:nvGraphicFramePr>
        <p:xfrm>
          <a:off x="735806" y="4293096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3-26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원인 도서를 주문한 고객의 이름과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JOIN Orders ON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   JOIN Book ON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5625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 내부 처리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39552" y="898117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lang="en-US" altLang="ko-K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SELECT * FROM Orders O JOIN Customer C ON </a:t>
            </a:r>
            <a:r>
              <a:rPr lang="en-US" altLang="ko-KR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O.custid</a:t>
            </a:r>
            <a:r>
              <a:rPr lang="en-US" altLang="ko-K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= </a:t>
            </a:r>
            <a:r>
              <a:rPr lang="en-US" altLang="ko-KR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C.custid</a:t>
            </a:r>
            <a:endParaRPr lang="en-US" altLang="ko-KR" sz="14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  <a:p>
            <a:pPr latinLnBrk="0">
              <a:buFont typeface="Wingdings" pitchFamily="2" charset="2"/>
              <a:buChar char="v"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SELECT * FROM Orders JOIN Customer</a:t>
            </a:r>
            <a:endParaRPr lang="ko-KR" altLang="en-US" sz="1800" dirty="0">
              <a:latin typeface="+mj-lt"/>
              <a:ea typeface="+mj-ea"/>
              <a:cs typeface="+mj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D1D29C8-25FE-AF50-326B-EFF42FCD4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72" y="1656089"/>
            <a:ext cx="3168352" cy="211424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1A62138-0C02-F633-B697-D2616C444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1772816"/>
            <a:ext cx="4782217" cy="1819529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675B96D-6D7B-8C42-48DD-8C5B5FAF3D6D}"/>
              </a:ext>
            </a:extLst>
          </p:cNvPr>
          <p:cNvSpPr/>
          <p:nvPr/>
        </p:nvSpPr>
        <p:spPr>
          <a:xfrm>
            <a:off x="719571" y="1844824"/>
            <a:ext cx="3160969" cy="2880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4E4CF2-1D87-586D-19CE-02F7A12770AE}"/>
              </a:ext>
            </a:extLst>
          </p:cNvPr>
          <p:cNvSpPr/>
          <p:nvPr/>
        </p:nvSpPr>
        <p:spPr>
          <a:xfrm>
            <a:off x="4255347" y="2092469"/>
            <a:ext cx="4594814" cy="152684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CCB4650-8F4B-2829-D543-E8DEB97FB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1" y="3852027"/>
            <a:ext cx="5734995" cy="2850327"/>
          </a:xfrm>
          <a:prstGeom prst="rect">
            <a:avLst/>
          </a:prstGeom>
        </p:spPr>
      </p:pic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9C998211-934B-77A9-DD1F-F306C9353C86}"/>
              </a:ext>
            </a:extLst>
          </p:cNvPr>
          <p:cNvSpPr txBox="1">
            <a:spLocks/>
          </p:cNvSpPr>
          <p:nvPr/>
        </p:nvSpPr>
        <p:spPr>
          <a:xfrm>
            <a:off x="6414641" y="3938967"/>
            <a:ext cx="2729359" cy="15891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SELECT * FROM </a:t>
            </a:r>
          </a:p>
          <a:p>
            <a:pPr marL="0" indent="0" latinLnBrk="0"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Orders O JOIN Customer</a:t>
            </a:r>
            <a:endParaRPr lang="ko-KR" altLang="en-US" sz="1800" dirty="0">
              <a:latin typeface="+mj-lt"/>
              <a:ea typeface="+mj-ea"/>
              <a:cs typeface="+mj-cs"/>
            </a:endParaRPr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DD212542-2BDE-7039-61AD-96BAA12FEE0C}"/>
              </a:ext>
            </a:extLst>
          </p:cNvPr>
          <p:cNvSpPr txBox="1">
            <a:spLocks/>
          </p:cNvSpPr>
          <p:nvPr/>
        </p:nvSpPr>
        <p:spPr>
          <a:xfrm>
            <a:off x="1511526" y="2540579"/>
            <a:ext cx="2729359" cy="38436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anchor="ctr" anchorCtr="0"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* FROM Orders 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287FD0E8-5C77-29FC-3E59-3E8943F69063}"/>
              </a:ext>
            </a:extLst>
          </p:cNvPr>
          <p:cNvSpPr txBox="1">
            <a:spLocks/>
          </p:cNvSpPr>
          <p:nvPr/>
        </p:nvSpPr>
        <p:spPr>
          <a:xfrm>
            <a:off x="5904810" y="3373133"/>
            <a:ext cx="2887042" cy="433567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anchor="ctr" anchorCtr="0"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* FROM Customer 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9B12D39-6F4B-CABB-EAFD-7C5D0194292C}"/>
              </a:ext>
            </a:extLst>
          </p:cNvPr>
          <p:cNvSpPr/>
          <p:nvPr/>
        </p:nvSpPr>
        <p:spPr>
          <a:xfrm>
            <a:off x="750748" y="4001303"/>
            <a:ext cx="5595808" cy="9398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753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 내부 처리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20380"/>
            <a:ext cx="8064896" cy="5472608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631272" y="1033934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anose="05000000000000000000" pitchFamily="2" charset="2"/>
              <a:buChar char="v"/>
            </a:pPr>
            <a:r>
              <a:rPr lang="en-US" altLang="ko-KR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SELECT * FROM Orders O JOIN Customer C ON </a:t>
            </a:r>
            <a:r>
              <a:rPr lang="en-US" altLang="ko-KR" sz="1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O.custid</a:t>
            </a:r>
            <a:r>
              <a:rPr lang="en-US" altLang="ko-KR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= </a:t>
            </a:r>
            <a:r>
              <a:rPr lang="en-US" altLang="ko-KR" sz="1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C.custid</a:t>
            </a:r>
            <a:endParaRPr lang="en-US" altLang="ko-KR" sz="18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CCB4650-8F4B-2829-D543-E8DEB97FB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719101"/>
            <a:ext cx="5734995" cy="2850327"/>
          </a:xfrm>
          <a:prstGeom prst="rect">
            <a:avLst/>
          </a:prstGeom>
        </p:spPr>
      </p:pic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9C998211-934B-77A9-DD1F-F306C9353C86}"/>
              </a:ext>
            </a:extLst>
          </p:cNvPr>
          <p:cNvSpPr txBox="1">
            <a:spLocks/>
          </p:cNvSpPr>
          <p:nvPr/>
        </p:nvSpPr>
        <p:spPr>
          <a:xfrm>
            <a:off x="6706595" y="1719101"/>
            <a:ext cx="1973783" cy="15891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SELECT * FROM </a:t>
            </a:r>
          </a:p>
          <a:p>
            <a:pPr marL="0" indent="0" latinLnBrk="0"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Orders O JOIN Customer</a:t>
            </a:r>
            <a:endParaRPr lang="ko-KR" altLang="en-US" sz="18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1429AD-8234-C370-20D5-0BD20802AB49}"/>
              </a:ext>
            </a:extLst>
          </p:cNvPr>
          <p:cNvSpPr/>
          <p:nvPr/>
        </p:nvSpPr>
        <p:spPr>
          <a:xfrm>
            <a:off x="1115615" y="1902155"/>
            <a:ext cx="5590979" cy="23315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6F4008-AFD2-4025-08B0-62232AAFEF62}"/>
              </a:ext>
            </a:extLst>
          </p:cNvPr>
          <p:cNvSpPr/>
          <p:nvPr/>
        </p:nvSpPr>
        <p:spPr>
          <a:xfrm>
            <a:off x="1115615" y="2776893"/>
            <a:ext cx="5590979" cy="23315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DCC93F-BDBC-482C-A300-1D6E57D25D07}"/>
              </a:ext>
            </a:extLst>
          </p:cNvPr>
          <p:cNvSpPr/>
          <p:nvPr/>
        </p:nvSpPr>
        <p:spPr>
          <a:xfrm>
            <a:off x="1115614" y="3856684"/>
            <a:ext cx="5590979" cy="23315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FEA9B4-1A63-6AB6-3190-86740D3CD3AE}"/>
              </a:ext>
            </a:extLst>
          </p:cNvPr>
          <p:cNvSpPr/>
          <p:nvPr/>
        </p:nvSpPr>
        <p:spPr>
          <a:xfrm>
            <a:off x="1619672" y="1719101"/>
            <a:ext cx="360040" cy="29125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1D14C5-A466-18A6-4A0A-777D572FF99A}"/>
              </a:ext>
            </a:extLst>
          </p:cNvPr>
          <p:cNvSpPr/>
          <p:nvPr/>
        </p:nvSpPr>
        <p:spPr>
          <a:xfrm>
            <a:off x="3948721" y="1719101"/>
            <a:ext cx="360040" cy="29125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8FAFE54-2FC3-032A-0179-170272FE1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10" y="4631686"/>
            <a:ext cx="5734995" cy="2028161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62783C1-1A26-4C3B-F140-1B0844EA24B3}"/>
              </a:ext>
            </a:extLst>
          </p:cNvPr>
          <p:cNvCxnSpPr/>
          <p:nvPr/>
        </p:nvCxnSpPr>
        <p:spPr>
          <a:xfrm>
            <a:off x="3059832" y="2060848"/>
            <a:ext cx="144016" cy="2880320"/>
          </a:xfrm>
          <a:prstGeom prst="straightConnector1">
            <a:avLst/>
          </a:prstGeom>
          <a:ln w="127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44D6348-6D2B-10BD-F264-7453C6FB576C}"/>
              </a:ext>
            </a:extLst>
          </p:cNvPr>
          <p:cNvCxnSpPr/>
          <p:nvPr/>
        </p:nvCxnSpPr>
        <p:spPr>
          <a:xfrm>
            <a:off x="2411760" y="2913007"/>
            <a:ext cx="177710" cy="2198266"/>
          </a:xfrm>
          <a:prstGeom prst="straightConnector1">
            <a:avLst/>
          </a:prstGeom>
          <a:ln w="127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281002F-F7F6-6474-627F-C64FA5460485}"/>
              </a:ext>
            </a:extLst>
          </p:cNvPr>
          <p:cNvCxnSpPr/>
          <p:nvPr/>
        </p:nvCxnSpPr>
        <p:spPr>
          <a:xfrm>
            <a:off x="1907704" y="3998088"/>
            <a:ext cx="216022" cy="1303120"/>
          </a:xfrm>
          <a:prstGeom prst="straightConnector1">
            <a:avLst/>
          </a:prstGeom>
          <a:ln w="127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506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 내부 처리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20380"/>
            <a:ext cx="8064896" cy="5472608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39552" y="953195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SELECT * FROM Orders O JOIN Customer ON </a:t>
            </a:r>
            <a:r>
              <a:rPr lang="en-US" altLang="ko-KR" sz="1800" dirty="0" err="1">
                <a:latin typeface="+mj-lt"/>
                <a:ea typeface="+mj-ea"/>
                <a:cs typeface="+mj-cs"/>
              </a:rPr>
              <a:t>O.custid</a:t>
            </a:r>
            <a:r>
              <a:rPr lang="en-US" altLang="ko-KR" sz="1800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sz="1800" dirty="0" err="1">
                <a:latin typeface="+mj-lt"/>
                <a:ea typeface="+mj-ea"/>
                <a:cs typeface="+mj-cs"/>
              </a:rPr>
              <a:t>C.custid</a:t>
            </a:r>
            <a:endParaRPr lang="en-US" altLang="ko-KR" sz="1800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JOIN Book B ON </a:t>
            </a:r>
            <a:r>
              <a:rPr lang="en-US" altLang="ko-KR" sz="1800" dirty="0" err="1">
                <a:latin typeface="+mj-lt"/>
                <a:ea typeface="+mj-ea"/>
                <a:cs typeface="+mj-cs"/>
              </a:rPr>
              <a:t>O.bookid</a:t>
            </a:r>
            <a:r>
              <a:rPr lang="en-US" altLang="ko-KR" sz="1800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sz="1800" dirty="0" err="1">
                <a:latin typeface="+mj-lt"/>
                <a:ea typeface="+mj-ea"/>
                <a:cs typeface="+mj-cs"/>
              </a:rPr>
              <a:t>B.bookid</a:t>
            </a:r>
            <a:endParaRPr lang="ko-KR" altLang="en-US" sz="1800" dirty="0">
              <a:latin typeface="+mj-lt"/>
              <a:ea typeface="+mj-ea"/>
              <a:cs typeface="+mj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8FAFE54-2FC3-032A-0179-170272FE1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81" y="1723977"/>
            <a:ext cx="5167548" cy="182748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46D3E96-CC3C-4482-6A00-E2A3003C6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1723977"/>
            <a:ext cx="2868306" cy="21166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706420-DF5E-F536-6FF4-25ADC7F46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63" y="3770915"/>
            <a:ext cx="4691028" cy="283789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FF5FD6-ABC0-B341-0848-473E985B77F5}"/>
              </a:ext>
            </a:extLst>
          </p:cNvPr>
          <p:cNvSpPr/>
          <p:nvPr/>
        </p:nvSpPr>
        <p:spPr>
          <a:xfrm>
            <a:off x="719571" y="1872356"/>
            <a:ext cx="5016571" cy="260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E6AF05-BEF8-2FCE-0247-26C027380A94}"/>
              </a:ext>
            </a:extLst>
          </p:cNvPr>
          <p:cNvSpPr/>
          <p:nvPr/>
        </p:nvSpPr>
        <p:spPr>
          <a:xfrm>
            <a:off x="6094676" y="1872356"/>
            <a:ext cx="2845823" cy="195706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BFA75D-90A5-EF11-2F00-5E9BA7BC3767}"/>
              </a:ext>
            </a:extLst>
          </p:cNvPr>
          <p:cNvSpPr/>
          <p:nvPr/>
        </p:nvSpPr>
        <p:spPr>
          <a:xfrm>
            <a:off x="539552" y="3933056"/>
            <a:ext cx="4691028" cy="151814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B53DFF37-1B73-BE37-B82B-91675CB54A72}"/>
              </a:ext>
            </a:extLst>
          </p:cNvPr>
          <p:cNvSpPr txBox="1">
            <a:spLocks/>
          </p:cNvSpPr>
          <p:nvPr/>
        </p:nvSpPr>
        <p:spPr>
          <a:xfrm>
            <a:off x="5255402" y="4007850"/>
            <a:ext cx="3924963" cy="258513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* FROM (Orders O JOIN Customer C ON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O.custid</a:t>
            </a:r>
            <a:r>
              <a:rPr lang="en-US" altLang="ko-KR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C.custid</a:t>
            </a:r>
            <a:r>
              <a:rPr lang="en-US" altLang="ko-KR" dirty="0">
                <a:latin typeface="+mj-lt"/>
                <a:ea typeface="+mj-ea"/>
                <a:cs typeface="+mj-cs"/>
              </a:rPr>
              <a:t>)</a:t>
            </a: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JOIN Book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93023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 내부 처리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20380"/>
            <a:ext cx="8064896" cy="5472608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39552" y="953195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* FROM Orders O JOIN Customer ON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O.custid</a:t>
            </a:r>
            <a:r>
              <a:rPr lang="en-US" altLang="ko-KR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C.custid</a:t>
            </a: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JOIN Book B ON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O.bookid</a:t>
            </a:r>
            <a:r>
              <a:rPr lang="en-US" altLang="ko-KR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B.bookid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C706420-DF5E-F536-6FF4-25ADC7F46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29995"/>
            <a:ext cx="5400600" cy="326715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BFA75D-90A5-EF11-2F00-5E9BA7BC3767}"/>
              </a:ext>
            </a:extLst>
          </p:cNvPr>
          <p:cNvSpPr/>
          <p:nvPr/>
        </p:nvSpPr>
        <p:spPr>
          <a:xfrm>
            <a:off x="559280" y="1695639"/>
            <a:ext cx="5452879" cy="22119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896F61-B03C-D6F4-8641-C176F0F674E3}"/>
              </a:ext>
            </a:extLst>
          </p:cNvPr>
          <p:cNvSpPr/>
          <p:nvPr/>
        </p:nvSpPr>
        <p:spPr>
          <a:xfrm>
            <a:off x="539552" y="3784273"/>
            <a:ext cx="5452879" cy="22119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88E63E-C79E-8E78-5179-808CD9EBB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650157"/>
            <a:ext cx="6284425" cy="200456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83A05B8-E7AA-1A71-E3A3-BA7993AFA789}"/>
              </a:ext>
            </a:extLst>
          </p:cNvPr>
          <p:cNvSpPr/>
          <p:nvPr/>
        </p:nvSpPr>
        <p:spPr>
          <a:xfrm>
            <a:off x="1475656" y="1468261"/>
            <a:ext cx="432048" cy="31201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18BF55C-B499-C17F-9E66-C755F7649E47}"/>
              </a:ext>
            </a:extLst>
          </p:cNvPr>
          <p:cNvSpPr/>
          <p:nvPr/>
        </p:nvSpPr>
        <p:spPr>
          <a:xfrm>
            <a:off x="3965989" y="1475645"/>
            <a:ext cx="360040" cy="31127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80D45CB-02A1-6E78-CC9B-4D37DBD1D5E1}"/>
              </a:ext>
            </a:extLst>
          </p:cNvPr>
          <p:cNvCxnSpPr>
            <a:cxnSpLocks/>
          </p:cNvCxnSpPr>
          <p:nvPr/>
        </p:nvCxnSpPr>
        <p:spPr>
          <a:xfrm flipH="1">
            <a:off x="2900842" y="1844824"/>
            <a:ext cx="230998" cy="3175840"/>
          </a:xfrm>
          <a:prstGeom prst="straightConnector1">
            <a:avLst/>
          </a:prstGeom>
          <a:ln w="15875">
            <a:solidFill>
              <a:schemeClr val="accent6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928620E-2180-41ED-FCED-4BD516FA7747}"/>
              </a:ext>
            </a:extLst>
          </p:cNvPr>
          <p:cNvCxnSpPr>
            <a:cxnSpLocks/>
          </p:cNvCxnSpPr>
          <p:nvPr/>
        </p:nvCxnSpPr>
        <p:spPr>
          <a:xfrm>
            <a:off x="2015716" y="3912955"/>
            <a:ext cx="108012" cy="1280039"/>
          </a:xfrm>
          <a:prstGeom prst="straightConnector1">
            <a:avLst/>
          </a:prstGeom>
          <a:ln w="15875">
            <a:solidFill>
              <a:schemeClr val="accent6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2400A8C-2419-95D3-EAC9-D8D9167DA4E5}"/>
              </a:ext>
            </a:extLst>
          </p:cNvPr>
          <p:cNvSpPr/>
          <p:nvPr/>
        </p:nvSpPr>
        <p:spPr>
          <a:xfrm>
            <a:off x="755576" y="4851502"/>
            <a:ext cx="6284425" cy="221193"/>
          </a:xfrm>
          <a:prstGeom prst="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C72588B-B5C0-1D4F-A5FA-C08E5A96EF84}"/>
              </a:ext>
            </a:extLst>
          </p:cNvPr>
          <p:cNvSpPr/>
          <p:nvPr/>
        </p:nvSpPr>
        <p:spPr>
          <a:xfrm>
            <a:off x="755576" y="5082398"/>
            <a:ext cx="6284425" cy="221193"/>
          </a:xfrm>
          <a:prstGeom prst="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961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SELECT </a:t>
            </a:r>
            <a:r>
              <a:rPr lang="en-US" altLang="ko-KR" dirty="0" err="1"/>
              <a:t>group_concat</a:t>
            </a:r>
            <a:r>
              <a:rPr lang="en-US" altLang="ko-KR" dirty="0"/>
              <a:t>(c.name), </a:t>
            </a:r>
            <a:r>
              <a:rPr lang="en-US" altLang="ko-KR" dirty="0" err="1"/>
              <a:t>group_concat</a:t>
            </a:r>
            <a:r>
              <a:rPr lang="en-US" altLang="ko-KR" dirty="0"/>
              <a:t>(</a:t>
            </a:r>
            <a:r>
              <a:rPr lang="en-US" altLang="ko-KR" dirty="0" err="1"/>
              <a:t>o.bookid</a:t>
            </a:r>
            <a:r>
              <a:rPr lang="en-US" altLang="ko-KR" dirty="0"/>
              <a:t>), sum(</a:t>
            </a:r>
            <a:r>
              <a:rPr lang="en-US" altLang="ko-KR" dirty="0" err="1"/>
              <a:t>saleprice</a:t>
            </a:r>
            <a:r>
              <a:rPr lang="en-US" altLang="ko-KR" dirty="0"/>
              <a:t>) </a:t>
            </a:r>
          </a:p>
          <a:p>
            <a:pPr marL="0" indent="0">
              <a:buNone/>
            </a:pPr>
            <a:r>
              <a:rPr lang="en-US" altLang="ko-KR" dirty="0"/>
              <a:t>     FROM practice2.orders as o JOIN customer as c ON </a:t>
            </a:r>
            <a:r>
              <a:rPr lang="en-US" altLang="ko-KR" dirty="0" err="1"/>
              <a:t>o.custid</a:t>
            </a:r>
            <a:r>
              <a:rPr lang="en-US" altLang="ko-KR" dirty="0"/>
              <a:t> = </a:t>
            </a:r>
            <a:r>
              <a:rPr lang="en-US" altLang="ko-KR" dirty="0" err="1"/>
              <a:t>c.custid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GROUP BY </a:t>
            </a:r>
            <a:r>
              <a:rPr lang="en-US" altLang="ko-KR" dirty="0" err="1"/>
              <a:t>o.custid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24757" y="980728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집계 함수의 실행 순서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B67DDF-24C2-5AA9-D2B8-6DC397A9E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030" y="3140968"/>
            <a:ext cx="3312368" cy="11840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772E81-AFF7-6123-D463-2DECBBC58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9" y="2896925"/>
            <a:ext cx="4680520" cy="242693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9FDB03-5BE5-05C6-FD7D-EFD55795055F}"/>
              </a:ext>
            </a:extLst>
          </p:cNvPr>
          <p:cNvSpPr/>
          <p:nvPr/>
        </p:nvSpPr>
        <p:spPr>
          <a:xfrm>
            <a:off x="827583" y="3140968"/>
            <a:ext cx="4536505" cy="6480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553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r>
              <a:rPr lang="ko-KR" altLang="en-US"/>
              <a:t>그룹으로 묶었을때 </a:t>
            </a:r>
            <a:r>
              <a:rPr lang="en-US" altLang="ko-KR"/>
              <a:t>bookid </a:t>
            </a:r>
            <a:r>
              <a:rPr lang="ko-KR" altLang="en-US"/>
              <a:t>의 값이 여러개 이므로 사용할 수 없다</a:t>
            </a:r>
            <a:r>
              <a:rPr lang="en-US" altLang="ko-KR"/>
              <a:t>.</a:t>
            </a:r>
          </a:p>
          <a:p>
            <a:r>
              <a:rPr lang="en-US" altLang="ko-KR"/>
              <a:t>SELECT </a:t>
            </a:r>
            <a:r>
              <a:rPr lang="en-US" altLang="ko-KR" dirty="0" err="1"/>
              <a:t>group_concat</a:t>
            </a:r>
            <a:r>
              <a:rPr lang="en-US" altLang="ko-KR" dirty="0"/>
              <a:t>(c.name), </a:t>
            </a:r>
            <a:r>
              <a:rPr lang="en-US" altLang="ko-KR" dirty="0" err="1"/>
              <a:t>group_concat</a:t>
            </a:r>
            <a:r>
              <a:rPr lang="en-US" altLang="ko-KR" dirty="0"/>
              <a:t>(</a:t>
            </a:r>
            <a:r>
              <a:rPr lang="en-US" altLang="ko-KR" dirty="0" err="1"/>
              <a:t>o.bookid</a:t>
            </a:r>
            <a:r>
              <a:rPr lang="en-US" altLang="ko-KR" dirty="0"/>
              <a:t>), sum(</a:t>
            </a:r>
            <a:r>
              <a:rPr lang="en-US" altLang="ko-KR" dirty="0" err="1"/>
              <a:t>saleprice</a:t>
            </a:r>
            <a:r>
              <a:rPr lang="en-US" altLang="ko-KR" dirty="0"/>
              <a:t>) </a:t>
            </a:r>
          </a:p>
          <a:p>
            <a:pPr marL="0" indent="0">
              <a:buNone/>
            </a:pPr>
            <a:r>
              <a:rPr lang="en-US" altLang="ko-KR" dirty="0"/>
              <a:t>     FROM orders as o JOIN customer as c ON </a:t>
            </a:r>
            <a:r>
              <a:rPr lang="en-US" altLang="ko-KR" dirty="0" err="1"/>
              <a:t>o.custid</a:t>
            </a:r>
            <a:r>
              <a:rPr lang="en-US" altLang="ko-KR" dirty="0"/>
              <a:t> = </a:t>
            </a:r>
            <a:r>
              <a:rPr lang="en-US" altLang="ko-KR" dirty="0" err="1"/>
              <a:t>c.custid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GROUP BY </a:t>
            </a:r>
            <a:r>
              <a:rPr lang="en-US" altLang="ko-KR" dirty="0" err="1"/>
              <a:t>o.custid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24757" y="980728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집계 함수를 사용할 때 </a:t>
            </a:r>
            <a:r>
              <a:rPr kumimoji="0" lang="en-US" altLang="ko-KR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orders </a:t>
            </a:r>
            <a:r>
              <a:rPr kumimoji="0"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에 있는 </a:t>
            </a:r>
            <a:r>
              <a:rPr kumimoji="0" lang="en-US" altLang="ko-KR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bookid</a:t>
            </a:r>
            <a:r>
              <a:rPr kumimoji="0"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를 사용할 수 </a:t>
            </a:r>
            <a:r>
              <a:rPr kumimoji="0" lang="ko-KR" altLang="en-US" sz="2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없다</a:t>
            </a:r>
            <a:r>
              <a:rPr kumimoji="0" lang="en-US" altLang="ko-KR" sz="2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marL="266700" lvl="1" indent="0" latinLnBrk="0">
              <a:buNone/>
            </a:pPr>
            <a:endParaRPr lang="ko-KR" alt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B67DDF-24C2-5AA9-D2B8-6DC397A9E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030" y="3140968"/>
            <a:ext cx="3312368" cy="11840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772E81-AFF7-6123-D463-2DECBBC58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9" y="2896925"/>
            <a:ext cx="4680520" cy="242693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9FDB03-5BE5-05C6-FD7D-EFD55795055F}"/>
              </a:ext>
            </a:extLst>
          </p:cNvPr>
          <p:cNvSpPr/>
          <p:nvPr/>
        </p:nvSpPr>
        <p:spPr>
          <a:xfrm>
            <a:off x="827583" y="3140968"/>
            <a:ext cx="4536505" cy="6480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45D263C-F377-81BA-ABB0-E1A8B148B36F}"/>
              </a:ext>
            </a:extLst>
          </p:cNvPr>
          <p:cNvCxnSpPr>
            <a:cxnSpLocks/>
          </p:cNvCxnSpPr>
          <p:nvPr/>
        </p:nvCxnSpPr>
        <p:spPr>
          <a:xfrm>
            <a:off x="2411760" y="3429000"/>
            <a:ext cx="5040560" cy="110094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5A4105-827E-BE11-A27F-C3FF707A62BC}"/>
              </a:ext>
            </a:extLst>
          </p:cNvPr>
          <p:cNvSpPr/>
          <p:nvPr/>
        </p:nvSpPr>
        <p:spPr>
          <a:xfrm>
            <a:off x="1979712" y="2896925"/>
            <a:ext cx="648072" cy="892115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3C720E-3CF2-165F-2D89-5106B76E5BA1}"/>
              </a:ext>
            </a:extLst>
          </p:cNvPr>
          <p:cNvSpPr/>
          <p:nvPr/>
        </p:nvSpPr>
        <p:spPr>
          <a:xfrm>
            <a:off x="853227" y="4867583"/>
            <a:ext cx="4536505" cy="4781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54F675C-FEA9-2FBF-DD06-9B88976F27CE}"/>
              </a:ext>
            </a:extLst>
          </p:cNvPr>
          <p:cNvCxnSpPr>
            <a:cxnSpLocks/>
          </p:cNvCxnSpPr>
          <p:nvPr/>
        </p:nvCxnSpPr>
        <p:spPr>
          <a:xfrm flipV="1">
            <a:off x="2411760" y="4262255"/>
            <a:ext cx="5004557" cy="840834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7B9E28-50C6-1BA0-DC16-45E5899C5CBE}"/>
              </a:ext>
            </a:extLst>
          </p:cNvPr>
          <p:cNvSpPr/>
          <p:nvPr/>
        </p:nvSpPr>
        <p:spPr>
          <a:xfrm>
            <a:off x="1979712" y="4827395"/>
            <a:ext cx="648072" cy="601241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BFB162-E17A-AEF8-8355-EA3653148FD7}"/>
              </a:ext>
            </a:extLst>
          </p:cNvPr>
          <p:cNvSpPr/>
          <p:nvPr/>
        </p:nvSpPr>
        <p:spPr>
          <a:xfrm>
            <a:off x="7452320" y="4094275"/>
            <a:ext cx="648072" cy="264042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36F776-6B6C-92AB-F348-80CCC43D6F7B}"/>
              </a:ext>
            </a:extLst>
          </p:cNvPr>
          <p:cNvSpPr/>
          <p:nvPr/>
        </p:nvSpPr>
        <p:spPr>
          <a:xfrm>
            <a:off x="7467115" y="3375749"/>
            <a:ext cx="648072" cy="264041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28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38268AE5-9228-195C-C06B-0500FD9D2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39" y="4776043"/>
            <a:ext cx="6228184" cy="16646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 dirty="0"/>
              <a:t>SELECT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(c.name),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o.bookid</a:t>
            </a:r>
            <a:r>
              <a:rPr lang="en-US" altLang="ko-KR" sz="1400" dirty="0"/>
              <a:t>),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</a:t>
            </a:r>
          </a:p>
          <a:p>
            <a:pPr marL="0" indent="0">
              <a:buNone/>
            </a:pPr>
            <a:r>
              <a:rPr lang="en-US" altLang="ko-KR" sz="1400" dirty="0"/>
              <a:t>     FROM orders as o JOIN customer as c ON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c.custid</a:t>
            </a:r>
            <a:r>
              <a:rPr lang="en-US" altLang="ko-KR" sz="1400" dirty="0"/>
              <a:t> WHERE 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 &gt;= 8000</a:t>
            </a:r>
          </a:p>
          <a:p>
            <a:pPr marL="0" indent="0">
              <a:buNone/>
            </a:pPr>
            <a:r>
              <a:rPr lang="en-US" altLang="ko-KR" sz="1400" dirty="0"/>
              <a:t>     GROUP BY </a:t>
            </a:r>
            <a:r>
              <a:rPr lang="en-US" altLang="ko-KR" sz="1400" dirty="0" err="1"/>
              <a:t>o.custid</a:t>
            </a:r>
            <a:endParaRPr lang="en-US" altLang="ko-KR" sz="1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D772E81-AFF7-6123-D463-2DECBBC58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09" y="2132856"/>
            <a:ext cx="4680520" cy="242693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9FDB03-5BE5-05C6-FD7D-EFD55795055F}"/>
              </a:ext>
            </a:extLst>
          </p:cNvPr>
          <p:cNvSpPr/>
          <p:nvPr/>
        </p:nvSpPr>
        <p:spPr>
          <a:xfrm>
            <a:off x="749739" y="2606714"/>
            <a:ext cx="4675593" cy="6480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3C720E-3CF2-165F-2D89-5106B76E5BA1}"/>
              </a:ext>
            </a:extLst>
          </p:cNvPr>
          <p:cNvSpPr/>
          <p:nvPr/>
        </p:nvSpPr>
        <p:spPr>
          <a:xfrm>
            <a:off x="781173" y="3671339"/>
            <a:ext cx="4675593" cy="888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C60EA0F-4DAA-3C5E-051C-CE4CCA3928FC}"/>
              </a:ext>
            </a:extLst>
          </p:cNvPr>
          <p:cNvCxnSpPr>
            <a:cxnSpLocks/>
          </p:cNvCxnSpPr>
          <p:nvPr/>
        </p:nvCxnSpPr>
        <p:spPr>
          <a:xfrm>
            <a:off x="2627784" y="4077072"/>
            <a:ext cx="503285" cy="1450221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C0C06696-026B-ECE6-8601-7CDC57FC2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400" y="3353776"/>
            <a:ext cx="3333670" cy="1081363"/>
          </a:xfrm>
          <a:prstGeom prst="rect">
            <a:avLst/>
          </a:prstGeom>
        </p:spPr>
      </p:pic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CAB9C77-CA79-8B2F-A2B1-5CFF8FC08A60}"/>
              </a:ext>
            </a:extLst>
          </p:cNvPr>
          <p:cNvCxnSpPr>
            <a:cxnSpLocks/>
          </p:cNvCxnSpPr>
          <p:nvPr/>
        </p:nvCxnSpPr>
        <p:spPr>
          <a:xfrm flipV="1">
            <a:off x="4572000" y="3728644"/>
            <a:ext cx="1872208" cy="1487371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BC6132E-F5EE-BA29-929A-C9B0C0BD3C2D}"/>
              </a:ext>
            </a:extLst>
          </p:cNvPr>
          <p:cNvSpPr/>
          <p:nvPr/>
        </p:nvSpPr>
        <p:spPr>
          <a:xfrm>
            <a:off x="862817" y="4996053"/>
            <a:ext cx="6115106" cy="436214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48926B5-2174-8D2E-C7A0-331D9E5004B6}"/>
              </a:ext>
            </a:extLst>
          </p:cNvPr>
          <p:cNvCxnSpPr>
            <a:cxnSpLocks/>
          </p:cNvCxnSpPr>
          <p:nvPr/>
        </p:nvCxnSpPr>
        <p:spPr>
          <a:xfrm flipV="1">
            <a:off x="5241128" y="4363745"/>
            <a:ext cx="1707909" cy="1731138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2F573FE-AE32-D0D1-9B0A-C1C9F54AC110}"/>
              </a:ext>
            </a:extLst>
          </p:cNvPr>
          <p:cNvSpPr/>
          <p:nvPr/>
        </p:nvSpPr>
        <p:spPr>
          <a:xfrm>
            <a:off x="860299" y="6011916"/>
            <a:ext cx="6115106" cy="436214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762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C0C06696-026B-ECE6-8601-7CDC57FC2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949" y="2212716"/>
            <a:ext cx="3333670" cy="108136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 dirty="0"/>
              <a:t>SELECT c.name,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(c.name),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o.bookid</a:t>
            </a:r>
            <a:r>
              <a:rPr lang="en-US" altLang="ko-KR" sz="1400" dirty="0"/>
              <a:t>),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</a:t>
            </a:r>
          </a:p>
          <a:p>
            <a:pPr marL="0" indent="0">
              <a:buNone/>
            </a:pPr>
            <a:r>
              <a:rPr lang="en-US" altLang="ko-KR" sz="1400" dirty="0"/>
              <a:t>     FROM orders as o JOIN customer as c ON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c.custid</a:t>
            </a:r>
            <a:r>
              <a:rPr lang="en-US" altLang="ko-KR" sz="1400" dirty="0"/>
              <a:t> WHERE 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 &gt;= 8000</a:t>
            </a:r>
          </a:p>
          <a:p>
            <a:pPr marL="0" indent="0">
              <a:buNone/>
            </a:pPr>
            <a:r>
              <a:rPr lang="en-US" altLang="ko-KR" sz="1400" dirty="0"/>
              <a:t>     GROUP BY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HAVING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&gt;= 10000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9FDB03-5BE5-05C6-FD7D-EFD55795055F}"/>
              </a:ext>
            </a:extLst>
          </p:cNvPr>
          <p:cNvSpPr/>
          <p:nvPr/>
        </p:nvSpPr>
        <p:spPr>
          <a:xfrm>
            <a:off x="930373" y="2400588"/>
            <a:ext cx="3333670" cy="26232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279770-9CC7-D93A-B56B-114E2175B5B6}"/>
              </a:ext>
            </a:extLst>
          </p:cNvPr>
          <p:cNvSpPr/>
          <p:nvPr/>
        </p:nvSpPr>
        <p:spPr>
          <a:xfrm>
            <a:off x="954833" y="2791075"/>
            <a:ext cx="3309210" cy="50300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46723C-6092-3EBE-0B5C-C28FF96F9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579" y="3485927"/>
            <a:ext cx="7278116" cy="1324160"/>
          </a:xfrm>
          <a:prstGeom prst="rect">
            <a:avLst/>
          </a:prstGeom>
        </p:spPr>
      </p:pic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48926B5-2174-8D2E-C7A0-331D9E5004B6}"/>
              </a:ext>
            </a:extLst>
          </p:cNvPr>
          <p:cNvCxnSpPr>
            <a:cxnSpLocks/>
          </p:cNvCxnSpPr>
          <p:nvPr/>
        </p:nvCxnSpPr>
        <p:spPr>
          <a:xfrm>
            <a:off x="3758682" y="3171267"/>
            <a:ext cx="429057" cy="1250025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CAB9C77-CA79-8B2F-A2B1-5CFF8FC08A60}"/>
              </a:ext>
            </a:extLst>
          </p:cNvPr>
          <p:cNvCxnSpPr>
            <a:cxnSpLocks/>
          </p:cNvCxnSpPr>
          <p:nvPr/>
        </p:nvCxnSpPr>
        <p:spPr>
          <a:xfrm>
            <a:off x="4139952" y="2599227"/>
            <a:ext cx="709431" cy="1548780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201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 sz="1400" dirty="0"/>
              <a:t>SELECT c.name,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(c.name),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o.bookid</a:t>
            </a:r>
            <a:r>
              <a:rPr lang="en-US" altLang="ko-KR" sz="1400" dirty="0"/>
              <a:t>),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</a:t>
            </a:r>
          </a:p>
          <a:p>
            <a:pPr marL="0" indent="0">
              <a:buNone/>
            </a:pPr>
            <a:r>
              <a:rPr lang="en-US" altLang="ko-KR" sz="1400" dirty="0"/>
              <a:t>     FROM orders as o JOIN customer as c ON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c.custid</a:t>
            </a:r>
            <a:r>
              <a:rPr lang="en-US" altLang="ko-KR" sz="1400" dirty="0"/>
              <a:t> WHERE 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 &gt;= 8000</a:t>
            </a:r>
          </a:p>
          <a:p>
            <a:pPr marL="0" indent="0">
              <a:buNone/>
            </a:pPr>
            <a:r>
              <a:rPr lang="en-US" altLang="ko-KR" sz="1400" dirty="0"/>
              <a:t>     GROUP BY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HAVING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&gt;= 10000</a:t>
            </a:r>
          </a:p>
          <a:p>
            <a:pPr marL="0" indent="0">
              <a:buNone/>
            </a:pPr>
            <a:r>
              <a:rPr lang="en-US" altLang="ko-KR" sz="1400" dirty="0"/>
              <a:t>     ORDER BY c.name DESC;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46723C-6092-3EBE-0B5C-C28FF96F9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20" y="2420888"/>
            <a:ext cx="7278116" cy="13241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49BDDDE-632B-FF8E-46D6-D3AD4563F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20" y="4293096"/>
            <a:ext cx="7569104" cy="1304075"/>
          </a:xfrm>
          <a:prstGeom prst="rect">
            <a:avLst/>
          </a:prstGeom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BDA6D786-4168-C26A-34AC-710916BAE282}"/>
              </a:ext>
            </a:extLst>
          </p:cNvPr>
          <p:cNvSpPr/>
          <p:nvPr/>
        </p:nvSpPr>
        <p:spPr>
          <a:xfrm>
            <a:off x="4458378" y="3717032"/>
            <a:ext cx="329646" cy="353691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76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쿼리 실행 순서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FROM -&gt; WHERE -&gt; GROUP BY -&gt; HAVING -&gt; SELECT -&gt; ORDER BY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ASC: </a:t>
            </a:r>
            <a:r>
              <a:rPr lang="ko-KR" altLang="en-US" sz="1600" dirty="0">
                <a:solidFill>
                  <a:schemeClr val="tx2"/>
                </a:solidFill>
              </a:rPr>
              <a:t>오름차순</a:t>
            </a:r>
            <a:r>
              <a:rPr lang="en-US" altLang="ko-KR" sz="1600" dirty="0">
                <a:solidFill>
                  <a:schemeClr val="tx2"/>
                </a:solidFill>
              </a:rPr>
              <a:t>, DESC: </a:t>
            </a:r>
            <a:r>
              <a:rPr lang="ko-KR" altLang="en-US" sz="1600" dirty="0">
                <a:solidFill>
                  <a:schemeClr val="tx2"/>
                </a:solidFill>
              </a:rPr>
              <a:t>내림차순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DISTINCT: </a:t>
            </a:r>
            <a:r>
              <a:rPr lang="ko-KR" altLang="en-US" sz="1600" dirty="0">
                <a:solidFill>
                  <a:schemeClr val="tx2"/>
                </a:solidFill>
              </a:rPr>
              <a:t>중복 제거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628800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8019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06BEC-911E-9A04-FBE6-422ADDDA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F5F81-570B-6C2A-A13D-2DC486E14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099B56-4CDB-07D5-7F5F-803332E2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683073"/>
            <a:ext cx="8064896" cy="118779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셀프조인</a:t>
            </a:r>
            <a:endParaRPr lang="en-US" altLang="ko-KR"/>
          </a:p>
          <a:p>
            <a:pPr lvl="1"/>
            <a:r>
              <a:rPr lang="ko-KR" altLang="en-US"/>
              <a:t>하나의 테이블</a:t>
            </a:r>
            <a:r>
              <a:rPr lang="en-US" altLang="ko-KR"/>
              <a:t>(</a:t>
            </a:r>
            <a:r>
              <a:rPr lang="ko-KR" altLang="en-US"/>
              <a:t>자신</a:t>
            </a:r>
            <a:r>
              <a:rPr lang="en-US" altLang="ko-KR"/>
              <a:t>)</a:t>
            </a:r>
            <a:r>
              <a:rPr lang="ko-KR" altLang="en-US"/>
              <a:t>을 대상으로 조인하는 것을 말한다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Emp </a:t>
            </a:r>
            <a:r>
              <a:rPr lang="ko-KR" altLang="en-US"/>
              <a:t>테이블을 다시 </a:t>
            </a:r>
            <a:r>
              <a:rPr lang="en-US" altLang="ko-KR"/>
              <a:t>Emp </a:t>
            </a:r>
            <a:r>
              <a:rPr lang="ko-KR" altLang="en-US"/>
              <a:t>테이블과 중복으로 조인하게 되면 조인에 참여하는 속성명이 같아지므로 별칭을 사용한다</a:t>
            </a:r>
            <a:r>
              <a:rPr lang="en-US" altLang="ko-KR"/>
              <a:t>.(alias)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D903B33-7730-1AFE-8FBC-794874F78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8450681"/>
              </p:ext>
            </p:extLst>
          </p:nvPr>
        </p:nvGraphicFramePr>
        <p:xfrm>
          <a:off x="899592" y="2871125"/>
          <a:ext cx="757907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0">
                        <a:lnSpc>
                          <a:spcPts val="2100"/>
                        </a:lnSpc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사원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BLAKE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관리하는 부하사원의 이름과 직급을 출력하시오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</a:rPr>
                        <a:t>	staff.ename, staff.job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</a:rPr>
                        <a:t>	Emp staff, Emp manager</a:t>
                      </a:r>
                    </a:p>
                    <a:p>
                      <a:pPr latinLnBrk="0"/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WHERE     staff.mgr = manager.empno AND manager.ename LIKE 'BLAKE';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E7E4FA1-C44F-01A2-24B9-C8FA845E85F3}"/>
              </a:ext>
            </a:extLst>
          </p:cNvPr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6B76A7B-FDE4-6ADE-5D7D-24F14F0DF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4437112"/>
            <a:ext cx="1890210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75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683073"/>
            <a:ext cx="8064896" cy="118779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외부조인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0042588"/>
              </p:ext>
            </p:extLst>
          </p:nvPr>
        </p:nvGraphicFramePr>
        <p:xfrm>
          <a:off x="665337" y="2276138"/>
          <a:ext cx="7579071" cy="154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0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구매하지 않은 고객을 포함하여 고객의 이름과 고객이 주문한 도서의 판매가격을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</a:rPr>
                        <a:t>LEFT [OUTER] 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JOIN Orders </a:t>
                      </a: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            ON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3072705"/>
            <a:ext cx="1458107" cy="273255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82984" y="2276872"/>
          <a:ext cx="7949456" cy="3456384"/>
        </p:xfrm>
        <a:graphic>
          <a:graphicData uri="http://schemas.openxmlformats.org/drawingml/2006/table">
            <a:tbl>
              <a:tblPr/>
              <a:tblGrid>
                <a:gridCol w="1108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111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명령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774">
                <a:tc rowSpan="2"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 조인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 AND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문에서는 주로 동등조인을 사용함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algn="just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두 가지 문법 중 하나를 사용할 수 있음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419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INNER JOIN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ON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5080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외부조인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{LEFT |RIGHT |FULL [OUTER]} JOIN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ON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외부조인은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절에 조인 종류를 </a:t>
                      </a:r>
                      <a:b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적고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이용하여 조인조건을 명시함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1560" y="191683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3-9 </a:t>
            </a:r>
            <a:r>
              <a:rPr lang="ko-KR" altLang="en-US" sz="1400" b="1" dirty="0">
                <a:ea typeface="맑은 고딕" panose="020B0503020000020004" pitchFamily="50" charset="-127"/>
              </a:rPr>
              <a:t>조인 문법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4083169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 조작어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-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검색</a:t>
            </a:r>
            <a:endParaRPr lang="ko-KR" altLang="en-US" sz="3400" b="1" spc="-150" dirty="0">
              <a:solidFill>
                <a:schemeClr val="accent4">
                  <a:lumMod val="50000"/>
                </a:schemeClr>
              </a:solidFill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두 개 이상 테이블에서 </a:t>
            </a: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SQL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질의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7396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97706" y="609329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3-21 </a:t>
            </a:r>
            <a:r>
              <a:rPr lang="ko-KR" altLang="en-US" sz="1400" b="1" dirty="0">
                <a:ea typeface="맑은 고딕" panose="020B0503020000020004" pitchFamily="50" charset="-127"/>
              </a:rPr>
              <a:t>부속질의의 실행 순서</a:t>
            </a:r>
          </a:p>
        </p:txBody>
      </p:sp>
      <p:graphicFrame>
        <p:nvGraphicFramePr>
          <p:cNvPr id="17" name="내용 개체 틀 3"/>
          <p:cNvGraphicFramePr>
            <a:graphicFrameLocks/>
          </p:cNvGraphicFramePr>
          <p:nvPr/>
        </p:nvGraphicFramePr>
        <p:xfrm>
          <a:off x="827584" y="1831876"/>
          <a:ext cx="7579071" cy="1604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505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3-28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가장 비싼 도서의 이름을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7671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 price = ( SELECT</a:t>
                      </a:r>
                      <a:r>
                        <a:rPr lang="en-US" altLang="ko-KR" sz="1400" baseline="0" dirty="0">
                          <a:solidFill>
                            <a:schemeClr val="dk1"/>
                          </a:solidFill>
                        </a:rPr>
                        <a:t> MAX(price)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	</a:t>
                      </a:r>
                      <a:r>
                        <a:rPr lang="en-US" altLang="ko-KR" sz="1400" baseline="0" dirty="0">
                          <a:solidFill>
                            <a:schemeClr val="dk1"/>
                          </a:solidFill>
                        </a:rPr>
                        <a:t>            FROM Book)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7169" name="_x977192200" descr="EMB000024782f9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706" y="3436142"/>
            <a:ext cx="6902686" cy="235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312" y="2420888"/>
            <a:ext cx="1015554" cy="54384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35807" y="1835904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3-29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구매한 적이 있는 고객의 이름을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/>
                        <a:t>SELECT	name</a:t>
                      </a:r>
                    </a:p>
                    <a:p>
                      <a:r>
                        <a:rPr lang="en-US" altLang="ko-KR" sz="1400" dirty="0"/>
                        <a:t>FROM     	Customer</a:t>
                      </a:r>
                    </a:p>
                    <a:p>
                      <a:r>
                        <a:rPr lang="en-US" altLang="ko-KR" sz="1400" dirty="0"/>
                        <a:t>WHERE    	</a:t>
                      </a:r>
                      <a:r>
                        <a:rPr lang="en-US" altLang="ko-KR" sz="1400" dirty="0" err="1"/>
                        <a:t>custid</a:t>
                      </a:r>
                      <a:r>
                        <a:rPr lang="en-US" altLang="ko-KR" sz="1400" dirty="0"/>
                        <a:t> IN (SELECT    </a:t>
                      </a:r>
                      <a:r>
                        <a:rPr lang="en-US" altLang="ko-KR" sz="1400" dirty="0" err="1"/>
                        <a:t>custid</a:t>
                      </a:r>
                      <a:endParaRPr lang="en-US" altLang="ko-KR" sz="1400" dirty="0"/>
                    </a:p>
                    <a:p>
                      <a:r>
                        <a:rPr lang="en-US" altLang="ko-KR" sz="1400" dirty="0"/>
                        <a:t>                           	FROM  </a:t>
                      </a:r>
                      <a:r>
                        <a:rPr lang="en-US" altLang="ko-KR" sz="1400" baseline="0" dirty="0"/>
                        <a:t>  </a:t>
                      </a:r>
                      <a:r>
                        <a:rPr lang="en-US" altLang="ko-KR" sz="1400" dirty="0"/>
                        <a:t>Orders);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4005064"/>
          <a:ext cx="7652617" cy="2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3-30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대한미디어에서 출판한 도서를 구매한 고객의 이름을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name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     	Customer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  <a:latin typeface="+mn-ea"/>
                        </a:rPr>
                        <a:t>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IN (SELECT 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pPr marL="1438275" indent="2667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FROM     </a:t>
                      </a:r>
                      <a:r>
                        <a:rPr lang="en-US" altLang="ko-KR" sz="200" dirty="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Orders</a:t>
                      </a:r>
                    </a:p>
                    <a:p>
                      <a:pPr marL="1438275" indent="2667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WHERE 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IN (SELECT 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bookid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pPr marL="1438275" indent="20574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FROM   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Book</a:t>
                      </a:r>
                    </a:p>
                    <a:p>
                      <a:pPr marL="1438275" indent="20574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WHERE    publisher='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대한미디어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'));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36" y="2376488"/>
            <a:ext cx="751938" cy="126853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344" y="4581128"/>
            <a:ext cx="681608" cy="53783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060848"/>
            <a:ext cx="6264696" cy="382766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23728" y="594928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3-22 </a:t>
            </a:r>
            <a:r>
              <a:rPr lang="en-US" altLang="ko-KR" sz="1400" b="1" dirty="0"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ea typeface="맑은 고딕" panose="020B0503020000020004" pitchFamily="50" charset="-127"/>
              </a:rPr>
              <a:t>단계 부속질의의 실행 순서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755576" y="171959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67704" y="652534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3-23 </a:t>
            </a:r>
            <a:r>
              <a:rPr lang="en-US" altLang="ko-KR" sz="1400" b="1" dirty="0"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ea typeface="맑은 고딕" panose="020B0503020000020004" pitchFamily="50" charset="-127"/>
              </a:rPr>
              <a:t>단계 부속질의의 실행 순서와 데이터 예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781366"/>
            <a:ext cx="6264696" cy="474397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7700" y="1700808"/>
            <a:ext cx="7956748" cy="417646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상관 부속질의</a:t>
            </a:r>
            <a:r>
              <a:rPr lang="en-US" altLang="ko-KR" dirty="0"/>
              <a:t>(correlated </a:t>
            </a:r>
            <a:r>
              <a:rPr lang="en-US" altLang="ko-KR" dirty="0" err="1"/>
              <a:t>subquery</a:t>
            </a:r>
            <a:r>
              <a:rPr lang="en-US" altLang="ko-KR" dirty="0"/>
              <a:t>)</a:t>
            </a:r>
            <a:r>
              <a:rPr lang="ko-KR" altLang="en-US" dirty="0"/>
              <a:t>는 상위 부속질의의 투플을 이용하여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하위 부속질의를 계산함</a:t>
            </a:r>
            <a:r>
              <a:rPr lang="en-US" altLang="ko-KR" dirty="0"/>
              <a:t>. </a:t>
            </a:r>
            <a:r>
              <a:rPr lang="ko-KR" altLang="en-US" dirty="0"/>
              <a:t>즉 상위 부속질의와 하위 부속질의가 독립적이지 않고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서로 관련을 맺고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17" name="내용 개체 틀 3"/>
          <p:cNvGraphicFramePr>
            <a:graphicFrameLocks/>
          </p:cNvGraphicFramePr>
          <p:nvPr/>
        </p:nvGraphicFramePr>
        <p:xfrm>
          <a:off x="807815" y="3252217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3-31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출판사별로 출판사의 평균 도서 가격보다 비싼 도서를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827584" y="3900289"/>
            <a:ext cx="511256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b1.bookname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Book b1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b1.price &gt; (SELECT 	</a:t>
            </a:r>
            <a:r>
              <a:rPr lang="en-US" altLang="ko-KR" sz="1400" dirty="0" err="1">
                <a:ea typeface="맑은 고딕" panose="020B0503020000020004" pitchFamily="50" charset="-127"/>
              </a:rPr>
              <a:t>avg</a:t>
            </a:r>
            <a:r>
              <a:rPr lang="en-US" altLang="ko-KR" sz="1400" dirty="0">
                <a:ea typeface="맑은 고딕" panose="020B0503020000020004" pitchFamily="50" charset="-127"/>
              </a:rPr>
              <a:t>(b2.price)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FROM 	Book b2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WHERE 	b2.publisher=b1.publisher);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20" y="3789040"/>
            <a:ext cx="1039366" cy="101725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F2C44-9F45-4C41-DA32-1311D0E6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B40469-E0C4-B648-D91C-0FF1E1054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95" y="1187735"/>
            <a:ext cx="4537253" cy="3312368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8A1E3AC-7CBB-BEB0-5C93-B180DB98E3B8}"/>
              </a:ext>
            </a:extLst>
          </p:cNvPr>
          <p:cNvSpPr txBox="1">
            <a:spLocks/>
          </p:cNvSpPr>
          <p:nvPr/>
        </p:nvSpPr>
        <p:spPr>
          <a:xfrm>
            <a:off x="5209308" y="1255764"/>
            <a:ext cx="3637661" cy="250711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	publisher, avg(b2.price)	FROM 	Book b2		WHERE 	b2.publisher='</a:t>
            </a:r>
            <a:r>
              <a:rPr lang="ko-KR" altLang="en-US" dirty="0">
                <a:latin typeface="+mj-lt"/>
                <a:ea typeface="+mj-ea"/>
                <a:cs typeface="+mj-cs"/>
              </a:rPr>
              <a:t>대한미디어</a:t>
            </a:r>
            <a:r>
              <a:rPr lang="en-US" altLang="ko-KR" dirty="0">
                <a:latin typeface="+mj-lt"/>
                <a:ea typeface="+mj-ea"/>
                <a:cs typeface="+mj-cs"/>
              </a:rPr>
              <a:t>’;</a:t>
            </a:r>
          </a:p>
          <a:p>
            <a:pPr marL="0" indent="0" latinLnBrk="0">
              <a:lnSpc>
                <a:spcPct val="100000"/>
              </a:lnSpc>
              <a:buNone/>
            </a:pP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publisher, avg(b2.price)	FROM 	Book b2		WHERE 	b2.publisher='</a:t>
            </a:r>
            <a:r>
              <a:rPr lang="ko-KR" altLang="en-US" dirty="0">
                <a:latin typeface="+mj-lt"/>
                <a:ea typeface="+mj-ea"/>
                <a:cs typeface="+mj-cs"/>
              </a:rPr>
              <a:t>굿스포츠</a:t>
            </a:r>
            <a:r>
              <a:rPr lang="en-US" altLang="ko-KR" dirty="0">
                <a:latin typeface="+mj-lt"/>
                <a:ea typeface="+mj-ea"/>
                <a:cs typeface="+mj-cs"/>
              </a:rPr>
              <a:t>';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3836F9-4737-DB2F-7425-7A19171971CB}"/>
              </a:ext>
            </a:extLst>
          </p:cNvPr>
          <p:cNvSpPr/>
          <p:nvPr/>
        </p:nvSpPr>
        <p:spPr>
          <a:xfrm>
            <a:off x="421403" y="4563705"/>
            <a:ext cx="51125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b1.bookname FROM 	Book b1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b1.price &gt; (SELECT 	</a:t>
            </a:r>
            <a:r>
              <a:rPr lang="en-US" altLang="ko-KR" sz="1400" dirty="0" err="1">
                <a:ea typeface="맑은 고딕" panose="020B0503020000020004" pitchFamily="50" charset="-127"/>
              </a:rPr>
              <a:t>avg</a:t>
            </a:r>
            <a:r>
              <a:rPr lang="en-US" altLang="ko-KR" sz="1400" dirty="0">
                <a:ea typeface="맑은 고딕" panose="020B0503020000020004" pitchFamily="50" charset="-127"/>
              </a:rPr>
              <a:t>(b2.price)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FROM 	Book b2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WHERE 	b2.publisher=b1.publisher);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985C8DE-92EA-9B64-2DAB-7EFACDB2FF98}"/>
              </a:ext>
            </a:extLst>
          </p:cNvPr>
          <p:cNvCxnSpPr/>
          <p:nvPr/>
        </p:nvCxnSpPr>
        <p:spPr>
          <a:xfrm>
            <a:off x="683568" y="2564904"/>
            <a:ext cx="4176464" cy="0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0C3B0B0-2DE1-0AD8-B9E1-E297856E5FE1}"/>
              </a:ext>
            </a:extLst>
          </p:cNvPr>
          <p:cNvCxnSpPr/>
          <p:nvPr/>
        </p:nvCxnSpPr>
        <p:spPr>
          <a:xfrm>
            <a:off x="683568" y="3429000"/>
            <a:ext cx="4176464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38290E-89F5-9D4A-D0AD-FBF0CA043889}"/>
              </a:ext>
            </a:extLst>
          </p:cNvPr>
          <p:cNvCxnSpPr/>
          <p:nvPr/>
        </p:nvCxnSpPr>
        <p:spPr>
          <a:xfrm>
            <a:off x="683568" y="2847618"/>
            <a:ext cx="4176464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8769253A-8F72-8565-05BC-0E53E1CD6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326" y="2348880"/>
            <a:ext cx="2791215" cy="75258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A0582A1-10E1-E0CC-9580-77FC9B0A1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326" y="4331483"/>
            <a:ext cx="2829320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928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F2C44-9F45-4C41-DA32-1311D0E6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0DCCF16-F345-3389-3E78-92910125E3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8064" y="1187735"/>
            <a:ext cx="2638793" cy="2429214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B40469-E0C4-B648-D91C-0FF1E1054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95" y="1187735"/>
            <a:ext cx="4537253" cy="3312368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8A1E3AC-7CBB-BEB0-5C93-B180DB98E3B8}"/>
              </a:ext>
            </a:extLst>
          </p:cNvPr>
          <p:cNvSpPr txBox="1">
            <a:spLocks/>
          </p:cNvSpPr>
          <p:nvPr/>
        </p:nvSpPr>
        <p:spPr>
          <a:xfrm>
            <a:off x="5076056" y="3730196"/>
            <a:ext cx="3637661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publisher, avg(price) </a:t>
            </a: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FROM Book GROUP BY publisher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3836F9-4737-DB2F-7425-7A19171971CB}"/>
              </a:ext>
            </a:extLst>
          </p:cNvPr>
          <p:cNvSpPr/>
          <p:nvPr/>
        </p:nvSpPr>
        <p:spPr>
          <a:xfrm>
            <a:off x="421403" y="4563705"/>
            <a:ext cx="51125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b1.bookname FROM 	Book b1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b1.price &gt; (SELECT 	</a:t>
            </a:r>
            <a:r>
              <a:rPr lang="en-US" altLang="ko-KR" sz="1400" dirty="0" err="1">
                <a:ea typeface="맑은 고딕" panose="020B0503020000020004" pitchFamily="50" charset="-127"/>
              </a:rPr>
              <a:t>avg</a:t>
            </a:r>
            <a:r>
              <a:rPr lang="en-US" altLang="ko-KR" sz="1400" dirty="0">
                <a:ea typeface="맑은 고딕" panose="020B0503020000020004" pitchFamily="50" charset="-127"/>
              </a:rPr>
              <a:t>(b2.price)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FROM 	Book b2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WHERE 	b2.publisher=b1.publisher);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DDB8AC9-CF80-63CE-9B5F-64F7F747A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937" y="4797152"/>
            <a:ext cx="1409897" cy="1238423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985C8DE-92EA-9B64-2DAB-7EFACDB2FF98}"/>
              </a:ext>
            </a:extLst>
          </p:cNvPr>
          <p:cNvCxnSpPr/>
          <p:nvPr/>
        </p:nvCxnSpPr>
        <p:spPr>
          <a:xfrm>
            <a:off x="683568" y="2564904"/>
            <a:ext cx="4176464" cy="0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D2A2E59-8EDE-B756-D5B7-FC4188C559AB}"/>
              </a:ext>
            </a:extLst>
          </p:cNvPr>
          <p:cNvCxnSpPr>
            <a:cxnSpLocks/>
          </p:cNvCxnSpPr>
          <p:nvPr/>
        </p:nvCxnSpPr>
        <p:spPr>
          <a:xfrm>
            <a:off x="5148064" y="2402342"/>
            <a:ext cx="3024336" cy="0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0C3B0B0-2DE1-0AD8-B9E1-E297856E5FE1}"/>
              </a:ext>
            </a:extLst>
          </p:cNvPr>
          <p:cNvCxnSpPr/>
          <p:nvPr/>
        </p:nvCxnSpPr>
        <p:spPr>
          <a:xfrm>
            <a:off x="683568" y="3429000"/>
            <a:ext cx="4176464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C5FD85D-9BC8-1463-3349-504291EE94D7}"/>
              </a:ext>
            </a:extLst>
          </p:cNvPr>
          <p:cNvCxnSpPr>
            <a:cxnSpLocks/>
          </p:cNvCxnSpPr>
          <p:nvPr/>
        </p:nvCxnSpPr>
        <p:spPr>
          <a:xfrm>
            <a:off x="5148064" y="2708920"/>
            <a:ext cx="3024336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38290E-89F5-9D4A-D0AD-FBF0CA043889}"/>
              </a:ext>
            </a:extLst>
          </p:cNvPr>
          <p:cNvCxnSpPr/>
          <p:nvPr/>
        </p:nvCxnSpPr>
        <p:spPr>
          <a:xfrm>
            <a:off x="683568" y="2847618"/>
            <a:ext cx="4176464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C7D4A90-3E2E-855F-64D0-C39636B780A5}"/>
              </a:ext>
            </a:extLst>
          </p:cNvPr>
          <p:cNvCxnSpPr>
            <a:cxnSpLocks/>
          </p:cNvCxnSpPr>
          <p:nvPr/>
        </p:nvCxnSpPr>
        <p:spPr>
          <a:xfrm>
            <a:off x="5148064" y="1844824"/>
            <a:ext cx="3024336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3485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9552" y="515250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3-24 </a:t>
            </a:r>
            <a:r>
              <a:rPr lang="ko-KR" altLang="en-US" sz="1400" b="1" dirty="0">
                <a:ea typeface="맑은 고딕" panose="020B0503020000020004" pitchFamily="50" charset="-127"/>
              </a:rPr>
              <a:t>상관 부속질의의 데이터 예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88840"/>
            <a:ext cx="8280920" cy="30603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11200" y="1682403"/>
            <a:ext cx="7893248" cy="415959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합집합 </a:t>
            </a:r>
            <a:r>
              <a:rPr lang="en-US" altLang="ko-KR" dirty="0"/>
              <a:t>UNION, </a:t>
            </a:r>
            <a:r>
              <a:rPr lang="ko-KR" altLang="en-US" dirty="0" err="1"/>
              <a:t>차집합</a:t>
            </a:r>
            <a:r>
              <a:rPr lang="ko-KR" altLang="en-US" dirty="0"/>
              <a:t> </a:t>
            </a:r>
            <a:r>
              <a:rPr lang="en-US" altLang="ko-KR" dirty="0"/>
              <a:t>MINUS, </a:t>
            </a:r>
            <a:r>
              <a:rPr lang="ko-KR" altLang="en-US" dirty="0"/>
              <a:t>교집합 </a:t>
            </a:r>
            <a:r>
              <a:rPr lang="en-US" altLang="ko-KR" dirty="0"/>
              <a:t>INTERSECT </a:t>
            </a:r>
          </a:p>
          <a:p>
            <a:pPr>
              <a:buNone/>
            </a:pPr>
            <a:r>
              <a:rPr lang="en-US" altLang="ko-KR" dirty="0"/>
              <a:t>	</a:t>
            </a:r>
            <a:endParaRPr lang="ko-KR" altLang="en-US" sz="1200" b="0" dirty="0"/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899592" y="2415540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3-32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대한민국에서 거주하는 고객의 이름과 도서를 주문한 고객의 이름을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899592" y="2881601"/>
            <a:ext cx="511256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address LIKE 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</a:t>
            </a:r>
            <a:r>
              <a:rPr lang="en-US" altLang="ko-KR" sz="1400" dirty="0">
                <a:ea typeface="맑은 고딕" panose="020B0503020000020004" pitchFamily="50" charset="-127"/>
              </a:rPr>
              <a:t>%'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UNION 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IN (SELECT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FROM Orders);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99592" y="4624934"/>
            <a:ext cx="54713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ea typeface="맑은 고딕" panose="020B0503020000020004" pitchFamily="50" charset="-127"/>
              </a:rPr>
              <a:t>{</a:t>
            </a:r>
            <a:r>
              <a:rPr lang="ko-KR" altLang="en-US" sz="1200" dirty="0">
                <a:ea typeface="맑은 고딕" panose="020B0503020000020004" pitchFamily="50" charset="-127"/>
              </a:rPr>
              <a:t>고객 이름</a:t>
            </a:r>
            <a:r>
              <a:rPr lang="en-US" altLang="ko-KR" sz="1200" dirty="0">
                <a:ea typeface="맑은 고딕" panose="020B0503020000020004" pitchFamily="50" charset="-127"/>
              </a:rPr>
              <a:t>} = {</a:t>
            </a:r>
            <a:r>
              <a:rPr lang="ko-KR" altLang="en-US" sz="1200" dirty="0">
                <a:ea typeface="맑은 고딕" panose="020B0503020000020004" pitchFamily="50" charset="-127"/>
              </a:rPr>
              <a:t>대한민국에 거주하는 고객 이름</a:t>
            </a:r>
            <a:r>
              <a:rPr lang="en-US" altLang="ko-KR" sz="1200" dirty="0">
                <a:ea typeface="맑은 고딕" panose="020B0503020000020004" pitchFamily="50" charset="-127"/>
              </a:rPr>
              <a:t>} ∪ {</a:t>
            </a:r>
            <a:r>
              <a:rPr lang="ko-KR" altLang="en-US" sz="1200" dirty="0">
                <a:ea typeface="맑은 고딕" panose="020B0503020000020004" pitchFamily="50" charset="-127"/>
              </a:rPr>
              <a:t>도서를 주문한 고객 이름</a:t>
            </a:r>
            <a:r>
              <a:rPr lang="en-US" altLang="ko-KR" sz="1200" dirty="0">
                <a:ea typeface="맑은 고딕" panose="020B0503020000020004" pitchFamily="50" charset="-127"/>
              </a:rPr>
              <a:t>}</a:t>
            </a:r>
            <a:endParaRPr lang="ko-KR" altLang="en-US" sz="1200" dirty="0">
              <a:ea typeface="맑은 고딕" panose="020B0503020000020004" pitchFamily="50" charset="-127"/>
            </a:endParaRPr>
          </a:p>
          <a:p>
            <a:endParaRPr lang="ko-KR" altLang="en-US" sz="1200" dirty="0">
              <a:ea typeface="맑은 고딕" panose="020B0503020000020004" pitchFamily="50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집합 연산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도서를 주문한 고객을 알고 싶다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360" y="2924944"/>
            <a:ext cx="758148" cy="148284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여기서 잠깐</a:t>
            </a:r>
            <a:r>
              <a:rPr lang="en-US" altLang="ko-KR" dirty="0"/>
              <a:t>&gt; MINUS, INTERSECT </a:t>
            </a:r>
            <a:r>
              <a:rPr lang="ko-KR" altLang="en-US" dirty="0"/>
              <a:t>연산자</a:t>
            </a:r>
          </a:p>
          <a:p>
            <a:pPr marL="0" indent="0">
              <a:buNone/>
            </a:pPr>
            <a:r>
              <a:rPr lang="en-US" altLang="ko-KR" b="0" dirty="0"/>
              <a:t>     MySQL</a:t>
            </a:r>
            <a:r>
              <a:rPr lang="ko-KR" altLang="en-US" b="0" dirty="0"/>
              <a:t>에는 </a:t>
            </a:r>
            <a:r>
              <a:rPr lang="en-US" altLang="ko-KR" b="0" dirty="0"/>
              <a:t>MINUS, INTERSECT </a:t>
            </a:r>
            <a:r>
              <a:rPr lang="ko-KR" altLang="en-US" b="0" dirty="0"/>
              <a:t>연산자가 없으므로 다음과 같이 표현한다</a:t>
            </a:r>
            <a:r>
              <a:rPr lang="en-US" altLang="ko-KR" b="0" dirty="0"/>
              <a:t>.	</a:t>
            </a:r>
            <a:endParaRPr lang="ko-KR" altLang="en-US" sz="1200" b="0" dirty="0"/>
          </a:p>
        </p:txBody>
      </p:sp>
      <p:sp>
        <p:nvSpPr>
          <p:cNvPr id="6" name="직사각형 5"/>
          <p:cNvSpPr/>
          <p:nvPr/>
        </p:nvSpPr>
        <p:spPr>
          <a:xfrm>
            <a:off x="894412" y="1965931"/>
            <a:ext cx="7422003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[</a:t>
            </a:r>
            <a:r>
              <a:rPr lang="ko-KR" altLang="en-US" sz="1400" dirty="0">
                <a:ea typeface="맑은 고딕" panose="020B0503020000020004" pitchFamily="50" charset="-127"/>
              </a:rPr>
              <a:t>질의 </a:t>
            </a:r>
            <a:r>
              <a:rPr lang="en-US" altLang="ko-KR" sz="1400" dirty="0">
                <a:ea typeface="맑은 고딕" panose="020B0503020000020004" pitchFamily="50" charset="-127"/>
              </a:rPr>
              <a:t>3-32]</a:t>
            </a:r>
            <a:r>
              <a:rPr lang="ko-KR" altLang="en-US" sz="1400" dirty="0">
                <a:ea typeface="맑은 고딕" panose="020B0503020000020004" pitchFamily="50" charset="-127"/>
              </a:rPr>
              <a:t>에서 </a:t>
            </a:r>
            <a:r>
              <a:rPr lang="en-US" altLang="ko-KR" sz="1400" dirty="0">
                <a:solidFill>
                  <a:srgbClr val="0000CC"/>
                </a:solidFill>
                <a:ea typeface="맑은 고딕" panose="020B0503020000020004" pitchFamily="50" charset="-127"/>
              </a:rPr>
              <a:t>MINUS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ea typeface="맑은 고딕" panose="020B0503020000020004" pitchFamily="50" charset="-127"/>
              </a:rPr>
              <a:t>연산을 수행한 “대한민국에서 거주하는 고객의 이름에서 도서를 주문한 고객의 이름 빼고 보이시오</a:t>
            </a:r>
            <a:r>
              <a:rPr lang="en-US" altLang="ko-KR" sz="1400" dirty="0">
                <a:ea typeface="맑은 고딕" panose="020B0503020000020004" pitchFamily="50" charset="-127"/>
              </a:rPr>
              <a:t>.” </a:t>
            </a:r>
            <a:r>
              <a:rPr lang="ko-KR" altLang="en-US" sz="1400" dirty="0">
                <a:ea typeface="맑은 고딕" panose="020B0503020000020004" pitchFamily="50" charset="-127"/>
              </a:rPr>
              <a:t>질의를 </a:t>
            </a:r>
            <a:r>
              <a:rPr lang="en-US" altLang="ko-KR" sz="1400" dirty="0">
                <a:ea typeface="맑은 고딕" panose="020B0503020000020004" pitchFamily="50" charset="-127"/>
              </a:rPr>
              <a:t>NOT IN </a:t>
            </a:r>
            <a:r>
              <a:rPr lang="ko-KR" altLang="en-US" sz="1400" dirty="0">
                <a:ea typeface="맑은 고딕" panose="020B0503020000020004" pitchFamily="50" charset="-127"/>
              </a:rPr>
              <a:t>연산자를 사용하면 다음과 같다</a:t>
            </a:r>
            <a:r>
              <a:rPr lang="en-US" altLang="ko-KR" sz="1400" dirty="0"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 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address LIKE 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</a:t>
            </a:r>
            <a:r>
              <a:rPr lang="en-US" altLang="ko-KR" sz="1400" dirty="0">
                <a:ea typeface="맑은 고딕" panose="020B0503020000020004" pitchFamily="50" charset="-127"/>
              </a:rPr>
              <a:t>%' AND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name NOT IN (SELECT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WHERE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IN (SELECT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FROM Orders));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[</a:t>
            </a:r>
            <a:r>
              <a:rPr lang="ko-KR" altLang="en-US" sz="1400" dirty="0">
                <a:ea typeface="맑은 고딕" panose="020B0503020000020004" pitchFamily="50" charset="-127"/>
              </a:rPr>
              <a:t>질의 </a:t>
            </a:r>
            <a:r>
              <a:rPr lang="en-US" altLang="ko-KR" sz="1400" dirty="0">
                <a:ea typeface="맑은 고딕" panose="020B0503020000020004" pitchFamily="50" charset="-127"/>
              </a:rPr>
              <a:t>3-32]</a:t>
            </a:r>
            <a:r>
              <a:rPr lang="ko-KR" altLang="en-US" sz="1400" dirty="0">
                <a:ea typeface="맑은 고딕" panose="020B0503020000020004" pitchFamily="50" charset="-127"/>
              </a:rPr>
              <a:t>에서 </a:t>
            </a:r>
            <a:r>
              <a:rPr lang="en-US" altLang="ko-KR" sz="1400" dirty="0">
                <a:solidFill>
                  <a:srgbClr val="0000CC"/>
                </a:solidFill>
                <a:ea typeface="맑은 고딕" panose="020B0503020000020004" pitchFamily="50" charset="-127"/>
              </a:rPr>
              <a:t>INTERSECT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ea typeface="맑은 고딕" panose="020B0503020000020004" pitchFamily="50" charset="-127"/>
              </a:rPr>
              <a:t>연산을 수행한 “대한민국에서 거주하는 고객 중 도서를 주문한 고객의 이름 보이시오</a:t>
            </a:r>
            <a:r>
              <a:rPr lang="en-US" altLang="ko-KR" sz="1400" dirty="0">
                <a:ea typeface="맑은 고딕" panose="020B0503020000020004" pitchFamily="50" charset="-127"/>
              </a:rPr>
              <a:t>.” </a:t>
            </a:r>
            <a:r>
              <a:rPr lang="ko-KR" altLang="en-US" sz="1400" dirty="0">
                <a:ea typeface="맑은 고딕" panose="020B0503020000020004" pitchFamily="50" charset="-127"/>
              </a:rPr>
              <a:t>질의를 </a:t>
            </a:r>
            <a:r>
              <a:rPr lang="en-US" altLang="ko-KR" sz="1400" dirty="0">
                <a:ea typeface="맑은 고딕" panose="020B0503020000020004" pitchFamily="50" charset="-127"/>
              </a:rPr>
              <a:t>IN </a:t>
            </a:r>
            <a:r>
              <a:rPr lang="ko-KR" altLang="en-US" sz="1400" dirty="0">
                <a:ea typeface="맑은 고딕" panose="020B0503020000020004" pitchFamily="50" charset="-127"/>
              </a:rPr>
              <a:t>연산자를 사용하면 다음과 같다</a:t>
            </a:r>
            <a:r>
              <a:rPr lang="en-US" altLang="ko-KR" sz="1400" dirty="0">
                <a:ea typeface="맑은 고딕" panose="020B0503020000020004" pitchFamily="50" charset="-127"/>
              </a:rPr>
              <a:t>.  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address LIKE 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</a:t>
            </a:r>
            <a:r>
              <a:rPr lang="en-US" altLang="ko-KR" sz="1400" dirty="0">
                <a:ea typeface="맑은 고딕" panose="020B0503020000020004" pitchFamily="50" charset="-127"/>
              </a:rPr>
              <a:t>%' AND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name IN (SELECT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WHERE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IN (SELECT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FROM Orders));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7192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61CFD4-7397-A260-734D-771E0599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6B1A1-9370-43ED-5863-7BD6276D6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A2CD589-B2D5-5089-A3D6-ADE2AE9DEDD7}"/>
              </a:ext>
            </a:extLst>
          </p:cNvPr>
          <p:cNvGraphicFramePr>
            <a:graphicFrameLocks/>
          </p:cNvGraphicFramePr>
          <p:nvPr/>
        </p:nvGraphicFramePr>
        <p:xfrm>
          <a:off x="539552" y="1107192"/>
          <a:ext cx="7652617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etc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대한민국에서 거주하는 고객의 이름에서 도서를 주문한 고객의 이름 빼고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차집합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ea typeface="+mn-ea"/>
                        </a:rPr>
                        <a:t>SELECT	name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FROM	Customer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WHERE address LIKE '</a:t>
                      </a:r>
                      <a:r>
                        <a:rPr lang="ko-KR" altLang="en-US" sz="1400" dirty="0">
                          <a:ea typeface="+mn-ea"/>
                        </a:rPr>
                        <a:t>대한민국</a:t>
                      </a:r>
                      <a:r>
                        <a:rPr lang="en-US" altLang="ko-KR" sz="1400" dirty="0">
                          <a:ea typeface="+mn-ea"/>
                        </a:rPr>
                        <a:t>%’ 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AND name NOT IN (SELECT name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FROM Customer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WHERE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IN (SELECT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FROM Orders));</a:t>
                      </a: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EXCEPT (SELECT name FROM Customer WHERE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IN (SELECT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FROM Orders));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385525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AD6C17AA-7309-6ACD-6F3A-D1C22ADCB50F}"/>
              </a:ext>
            </a:extLst>
          </p:cNvPr>
          <p:cNvGraphicFramePr>
            <a:graphicFrameLocks/>
          </p:cNvGraphicFramePr>
          <p:nvPr/>
        </p:nvGraphicFramePr>
        <p:xfrm>
          <a:off x="544491" y="3832651"/>
          <a:ext cx="7652617" cy="2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etc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대한민국에서 거주하는 고객 중 도서를 주문한 고객의 이름을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교집합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ea typeface="+mn-ea"/>
                        </a:rPr>
                        <a:t>SELECT	name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FROM	Customer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WHERE address LIKE '</a:t>
                      </a:r>
                      <a:r>
                        <a:rPr lang="ko-KR" altLang="en-US" sz="1400" dirty="0">
                          <a:ea typeface="+mn-ea"/>
                        </a:rPr>
                        <a:t>대한민국</a:t>
                      </a:r>
                      <a:r>
                        <a:rPr lang="en-US" altLang="ko-KR" sz="1400" dirty="0">
                          <a:ea typeface="+mn-ea"/>
                        </a:rPr>
                        <a:t>%’ 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AND name  IN (SELECT name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FROM Customer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WHERE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IN (SELECT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FROM Orders));</a:t>
                      </a:r>
                    </a:p>
                    <a:p>
                      <a:endParaRPr lang="en-US" altLang="ko-KR" sz="1400" dirty="0">
                        <a:highlight>
                          <a:srgbClr val="00FF00"/>
                        </a:highlight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INTERSECT (SELECT name FROM Customer WHERE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IN (SELECT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FROM Orders));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47215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784003"/>
            <a:ext cx="8064896" cy="4261197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EXISTS</a:t>
            </a:r>
            <a:r>
              <a:rPr lang="ko-KR" altLang="en-US" dirty="0"/>
              <a:t>는 원래 단어에서 의미하는 것과 같이 조건에 맞는 튜플이 존재하면 결과에 포함시킴</a:t>
            </a:r>
            <a:r>
              <a:rPr lang="en-US" altLang="ko-KR" dirty="0"/>
              <a:t>. </a:t>
            </a:r>
            <a:r>
              <a:rPr lang="ko-KR" altLang="en-US" dirty="0"/>
              <a:t>즉 부속질의문의 어떤 행이 조건에 만족하면 참임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NOT EXISTS</a:t>
            </a:r>
            <a:r>
              <a:rPr lang="ko-KR" altLang="en-US" dirty="0"/>
              <a:t>는 부속질의문의 모든 행이 조건에 만족하지 않을 때만 참임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79823" y="3263404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3-33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주문이 있는 고객의 이름과 주소를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99592" y="3911476"/>
            <a:ext cx="511256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name, address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Customer </a:t>
            </a:r>
            <a:r>
              <a:rPr lang="en-US" altLang="ko-KR" sz="1400" dirty="0" err="1">
                <a:ea typeface="맑은 고딕" panose="020B0503020000020004" pitchFamily="50" charset="-127"/>
              </a:rPr>
              <a:t>cs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EXISTS (SELECT 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           FROM  Orders </a:t>
            </a:r>
            <a:r>
              <a:rPr lang="en-US" altLang="ko-KR" sz="1400" dirty="0" err="1">
                <a:ea typeface="맑은 고딕" panose="020B0503020000020004" pitchFamily="50" charset="-127"/>
              </a:rPr>
              <a:t>od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	           WHERE </a:t>
            </a:r>
            <a:r>
              <a:rPr lang="en-US" altLang="ko-KR" sz="1400" dirty="0" err="1">
                <a:ea typeface="맑은 고딕" panose="020B0503020000020004" pitchFamily="50" charset="-127"/>
              </a:rPr>
              <a:t>cs.custid</a:t>
            </a:r>
            <a:r>
              <a:rPr lang="en-US" altLang="ko-KR" sz="1400" dirty="0">
                <a:ea typeface="맑은 고딕" panose="020B0503020000020004" pitchFamily="50" charset="-127"/>
              </a:rPr>
              <a:t> =</a:t>
            </a:r>
            <a:r>
              <a:rPr lang="en-US" altLang="ko-KR" sz="14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400" dirty="0">
                <a:ea typeface="맑은 고딕" panose="020B0503020000020004" pitchFamily="50" charset="-127"/>
              </a:rPr>
              <a:t>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EXISTS_</a:t>
            </a:r>
            <a:r>
              <a:rPr kumimoji="0"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주문이 있는 고객을 알고 싶다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3789040"/>
            <a:ext cx="2024027" cy="124996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772816"/>
            <a:ext cx="7920880" cy="28855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3568" y="465313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3-25 </a:t>
            </a:r>
            <a:r>
              <a:rPr lang="en-US" altLang="ko-KR" sz="1400" b="1" dirty="0">
                <a:ea typeface="맑은 고딕" panose="020B0503020000020004" pitchFamily="50" charset="-127"/>
              </a:rPr>
              <a:t>EXISTS </a:t>
            </a:r>
            <a:r>
              <a:rPr lang="ko-KR" altLang="en-US" sz="1400" b="1" dirty="0">
                <a:ea typeface="맑은 고딕" panose="020B0503020000020004" pitchFamily="50" charset="-127"/>
              </a:rPr>
              <a:t>상관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부속질의문</a:t>
            </a:r>
            <a:r>
              <a:rPr lang="ko-KR" altLang="en-US" sz="1400" b="1" dirty="0">
                <a:ea typeface="맑은 고딕" panose="020B0503020000020004" pitchFamily="50" charset="-127"/>
              </a:rPr>
              <a:t> 데이터 예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1633387" y="5067027"/>
            <a:ext cx="511256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ea typeface="맑은 고딕" panose="020B0503020000020004" pitchFamily="50" charset="-127"/>
              </a:rPr>
              <a:t>SELECT 	name, address</a:t>
            </a:r>
          </a:p>
          <a:p>
            <a:r>
              <a:rPr lang="en-US" altLang="ko-KR" sz="1000" dirty="0">
                <a:ea typeface="맑은 고딕" panose="020B0503020000020004" pitchFamily="50" charset="-127"/>
              </a:rPr>
              <a:t>FROM 	Customer </a:t>
            </a:r>
            <a:r>
              <a:rPr lang="en-US" altLang="ko-KR" sz="1000" dirty="0" err="1">
                <a:ea typeface="맑은 고딕" panose="020B0503020000020004" pitchFamily="50" charset="-127"/>
              </a:rPr>
              <a:t>cs</a:t>
            </a:r>
            <a:endParaRPr lang="en-US" altLang="ko-KR" sz="1000" dirty="0"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ea typeface="맑은 고딕" panose="020B0503020000020004" pitchFamily="50" charset="-127"/>
              </a:rPr>
              <a:t>WHERE 	EXISTS (SELECT *</a:t>
            </a:r>
          </a:p>
          <a:p>
            <a:r>
              <a:rPr lang="en-US" altLang="ko-KR" sz="1000" dirty="0">
                <a:ea typeface="맑은 고딕" panose="020B0503020000020004" pitchFamily="50" charset="-127"/>
              </a:rPr>
              <a:t>	           FROM  Orders </a:t>
            </a:r>
            <a:r>
              <a:rPr lang="en-US" altLang="ko-KR" sz="1000" dirty="0" err="1">
                <a:ea typeface="맑은 고딕" panose="020B0503020000020004" pitchFamily="50" charset="-127"/>
              </a:rPr>
              <a:t>od</a:t>
            </a:r>
            <a:endParaRPr lang="en-US" altLang="ko-KR" sz="1000" dirty="0"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ea typeface="맑은 고딕" panose="020B0503020000020004" pitchFamily="50" charset="-127"/>
              </a:rPr>
              <a:t>	           WHERE </a:t>
            </a:r>
            <a:r>
              <a:rPr lang="en-US" altLang="ko-KR" sz="1000" dirty="0" err="1">
                <a:ea typeface="맑은 고딕" panose="020B0503020000020004" pitchFamily="50" charset="-127"/>
              </a:rPr>
              <a:t>cs.custid</a:t>
            </a:r>
            <a:r>
              <a:rPr lang="en-US" altLang="ko-KR" sz="1000" dirty="0">
                <a:ea typeface="맑은 고딕" panose="020B0503020000020004" pitchFamily="50" charset="-127"/>
              </a:rPr>
              <a:t> =</a:t>
            </a:r>
            <a:r>
              <a:rPr lang="en-US" altLang="ko-KR" sz="10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000" dirty="0">
                <a:ea typeface="맑은 고딕" panose="020B0503020000020004" pitchFamily="50" charset="-127"/>
              </a:rPr>
              <a:t>);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EXISTS_</a:t>
            </a:r>
            <a:r>
              <a:rPr kumimoji="0"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주문이 있는 고객을 알고 싶다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8215</TotalTime>
  <Words>2616</Words>
  <Application>Microsoft Office PowerPoint</Application>
  <PresentationFormat>화면 슬라이드 쇼(4:3)</PresentationFormat>
  <Paragraphs>549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41</vt:i4>
      </vt:variant>
    </vt:vector>
  </HeadingPairs>
  <TitlesOfParts>
    <vt:vector size="46" baseType="lpstr">
      <vt:lpstr>맑은 고딕</vt:lpstr>
      <vt:lpstr>Arial</vt:lpstr>
      <vt:lpstr>Wingdings</vt:lpstr>
      <vt:lpstr>Office 테마</vt:lpstr>
      <vt:lpstr>2_Office 테마</vt:lpstr>
      <vt:lpstr>  SQL 연습 #3</vt:lpstr>
      <vt:lpstr>실습 자료</vt:lpstr>
      <vt:lpstr>SELECT 문</vt:lpstr>
      <vt:lpstr>마당서점의 데이터</vt:lpstr>
      <vt:lpstr>마당서점의 데이터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JOIN 내부 처리 과정</vt:lpstr>
      <vt:lpstr>JOIN 내부 처리 과정</vt:lpstr>
      <vt:lpstr>JOIN 내부 처리 과정</vt:lpstr>
      <vt:lpstr>JOIN 내부 처리 과정</vt:lpstr>
      <vt:lpstr>SELECT 쿼리 실행 순서</vt:lpstr>
      <vt:lpstr>SELECT 쿼리 실행 순서</vt:lpstr>
      <vt:lpstr>SELECT 쿼리 실행 순서</vt:lpstr>
      <vt:lpstr>SELECT 쿼리 실행 순서</vt:lpstr>
      <vt:lpstr>SELECT 쿼리 실행 순서</vt:lpstr>
      <vt:lpstr>SELECT 문</vt:lpstr>
      <vt:lpstr>두 개 이상 테이블에서 SQL 질의</vt:lpstr>
      <vt:lpstr>두 개 이상 테이블에서 SQL 질의</vt:lpstr>
      <vt:lpstr>두 개 이상 테이블에서 SQL 질의</vt:lpstr>
      <vt:lpstr>PowerPoint 프레젠테이션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617</cp:revision>
  <cp:lastPrinted>2023-02-19T06:43:06Z</cp:lastPrinted>
  <dcterms:created xsi:type="dcterms:W3CDTF">2012-07-11T10:23:22Z</dcterms:created>
  <dcterms:modified xsi:type="dcterms:W3CDTF">2026-03-25T08:39:54Z</dcterms:modified>
</cp:coreProperties>
</file>
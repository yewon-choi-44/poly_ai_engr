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37"/>
  </p:notesMasterIdLst>
  <p:handoutMasterIdLst>
    <p:handoutMasterId r:id="rId38"/>
  </p:handoutMasterIdLst>
  <p:sldIdLst>
    <p:sldId id="256" r:id="rId3"/>
    <p:sldId id="523" r:id="rId4"/>
    <p:sldId id="382" r:id="rId5"/>
    <p:sldId id="446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55" r:id="rId16"/>
    <p:sldId id="403" r:id="rId17"/>
    <p:sldId id="404" r:id="rId18"/>
    <p:sldId id="406" r:id="rId19"/>
    <p:sldId id="407" r:id="rId20"/>
    <p:sldId id="408" r:id="rId21"/>
    <p:sldId id="409" r:id="rId22"/>
    <p:sldId id="466" r:id="rId23"/>
    <p:sldId id="467" r:id="rId24"/>
    <p:sldId id="468" r:id="rId25"/>
    <p:sldId id="469" r:id="rId26"/>
    <p:sldId id="470" r:id="rId27"/>
    <p:sldId id="471" r:id="rId28"/>
    <p:sldId id="472" r:id="rId29"/>
    <p:sldId id="473" r:id="rId30"/>
    <p:sldId id="474" r:id="rId31"/>
    <p:sldId id="475" r:id="rId32"/>
    <p:sldId id="476" r:id="rId33"/>
    <p:sldId id="477" r:id="rId34"/>
    <p:sldId id="478" r:id="rId35"/>
    <p:sldId id="479" r:id="rId36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114" d="100"/>
          <a:sy n="114" d="100"/>
        </p:scale>
        <p:origin x="924" y="296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2025-04-07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2025-04-07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2025-04-07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1133VEO58ZyydggswzjavgWTC_CeKce8?usp=drive_link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D7DE31A-9BF9-8891-50D3-7D6A11E3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자료 링크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321C09-FE73-8511-8AA1-19218F99A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hlinkClick r:id="rId2"/>
              </a:rPr>
              <a:t>실습자료 다운로드 링크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895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2683748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01.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내장 함수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628056" y="29333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내장 함수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NULL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값 처리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행번호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출력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280920" cy="5472608"/>
          </a:xfrm>
        </p:spPr>
        <p:txBody>
          <a:bodyPr/>
          <a:lstStyle/>
          <a:p>
            <a:r>
              <a:rPr lang="en-US" altLang="ko-KR"/>
              <a:t>SQL</a:t>
            </a:r>
            <a:r>
              <a:rPr lang="ko-KR" altLang="en-US"/>
              <a:t>에서는 함수의 개념을 사용</a:t>
            </a:r>
            <a:endParaRPr lang="en-US" altLang="ko-KR"/>
          </a:p>
          <a:p>
            <a:r>
              <a:rPr lang="ko-KR" altLang="en-US"/>
              <a:t>수학의 함수와 마찬가지로 특정 값이나 열의 값을 입력 받아 그 값을 계산하여                결과 값을 돌려줌</a:t>
            </a:r>
            <a:endParaRPr lang="en-US" altLang="ko-KR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000"/>
          </a:p>
          <a:p>
            <a:r>
              <a:rPr lang="en-US" altLang="ko-KR"/>
              <a:t>SQL</a:t>
            </a:r>
            <a:r>
              <a:rPr lang="ko-KR" altLang="en-US"/>
              <a:t>의 함수는 </a:t>
            </a:r>
            <a:r>
              <a:rPr lang="en-US" altLang="ko-KR"/>
              <a:t>DBMS</a:t>
            </a:r>
            <a:r>
              <a:rPr lang="ko-KR" altLang="en-US"/>
              <a:t>가 제공하는 내장 함수</a:t>
            </a:r>
            <a:r>
              <a:rPr lang="en-US" altLang="ko-KR"/>
              <a:t>(built-in function),</a:t>
            </a:r>
          </a:p>
          <a:p>
            <a:pPr marL="0" indent="0">
              <a:buNone/>
            </a:pPr>
            <a:r>
              <a:rPr lang="en-US" altLang="ko-KR"/>
              <a:t>     </a:t>
            </a:r>
            <a:r>
              <a:rPr lang="ko-KR" altLang="en-US"/>
              <a:t>사용자가 필요에 따라 직접 만드는 사용자 정의 함수</a:t>
            </a:r>
            <a:r>
              <a:rPr lang="en-US" altLang="ko-KR"/>
              <a:t>(user-defined function)</a:t>
            </a:r>
            <a:r>
              <a:rPr lang="ko-KR" altLang="en-US"/>
              <a:t>로 나뉨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5896" y="393305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4-1 </a:t>
            </a:r>
            <a:r>
              <a:rPr lang="ko-KR" altLang="en-US" sz="1400" b="1">
                <a:ea typeface="맑은 고딕" panose="020B0503020000020004" pitchFamily="50" charset="-127"/>
              </a:rPr>
              <a:t>함수의 원리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276872"/>
            <a:ext cx="1872208" cy="1574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SQL </a:t>
            </a:r>
            <a:r>
              <a:rPr lang="ko-KR" altLang="en-US"/>
              <a:t>내장 함수는 상수나 속성 이름을 입력 값으로 받아 단일 값을 결과로 반환함</a:t>
            </a:r>
            <a:endParaRPr lang="en-US" altLang="ko-KR"/>
          </a:p>
          <a:p>
            <a:r>
              <a:rPr lang="ko-KR" altLang="en-US"/>
              <a:t>모든 내장 함수는 최초에 선언될 때 유효한 입력 값을 받아야 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2096495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4-1 </a:t>
            </a:r>
            <a:r>
              <a:rPr lang="en-US" altLang="ko-KR" sz="1400" b="1">
                <a:ea typeface="맑은 고딕" panose="020B0503020000020004" pitchFamily="50" charset="-127"/>
              </a:rPr>
              <a:t>MySQL</a:t>
            </a:r>
            <a:r>
              <a:rPr lang="ko-KR" altLang="en-US" sz="1400" b="1">
                <a:ea typeface="맑은 고딕" panose="020B0503020000020004" pitchFamily="50" charset="-127"/>
              </a:rPr>
              <a:t>에서 제공하는 주요 내장 함수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83568" y="2410560"/>
          <a:ext cx="7789037" cy="4330808"/>
        </p:xfrm>
        <a:graphic>
          <a:graphicData uri="http://schemas.openxmlformats.org/drawingml/2006/table">
            <a:tbl>
              <a:tblPr/>
              <a:tblGrid>
                <a:gridCol w="1158367">
                  <a:extLst>
                    <a:ext uri="{9D8B030D-6E8A-4147-A177-3AD203B41FA5}">
                      <a16:colId xmlns:a16="http://schemas.microsoft.com/office/drawing/2014/main" val="2330107645"/>
                    </a:ext>
                  </a:extLst>
                </a:gridCol>
                <a:gridCol w="2154001">
                  <a:extLst>
                    <a:ext uri="{9D8B030D-6E8A-4147-A177-3AD203B41FA5}">
                      <a16:colId xmlns:a16="http://schemas.microsoft.com/office/drawing/2014/main" val="2324446187"/>
                    </a:ext>
                  </a:extLst>
                </a:gridCol>
                <a:gridCol w="4476669">
                  <a:extLst>
                    <a:ext uri="{9D8B030D-6E8A-4147-A177-3AD203B41FA5}">
                      <a16:colId xmlns:a16="http://schemas.microsoft.com/office/drawing/2014/main" val="4277909813"/>
                    </a:ext>
                  </a:extLst>
                </a:gridCol>
              </a:tblGrid>
              <a:tr h="307521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737057"/>
                  </a:ext>
                </a:extLst>
              </a:tr>
              <a:tr h="529621">
                <a:tc rowSpan="7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단일행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함수</a:t>
                      </a:r>
                    </a:p>
                  </a:txBody>
                  <a:tcPr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ABS, CEIL, COS, EXP, FLOOR, LN, LOG, MOD, POWER, RAND, ROUND, SIGN, TRUNCATE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531329"/>
                  </a:ext>
                </a:extLst>
              </a:tr>
              <a:tr h="7517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함수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반환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CHAR, CONCAT, LEFT, RIGHT, LOWER, UPPER, LPAD, RPAD, LTRIM, RTRIM, REPLACE, REVERSE, RIGHT, SUBSTR, TRIM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275123"/>
                  </a:ext>
                </a:extLst>
              </a:tr>
              <a:tr h="307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함수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 반환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ASCII, INSTR, LENGTH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946276"/>
                  </a:ext>
                </a:extLst>
              </a:tr>
              <a:tr h="52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날짜∙시간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ADDDATE, CURRENT_DATE, DATE, DATEDIFF, DAYNAME, LAST_DAY, SYSDATE, TIME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13267"/>
                  </a:ext>
                </a:extLst>
              </a:tr>
              <a:tr h="339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변환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CAST, CONVERT, DATE_FORMAT, STR_TO_DATE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982037"/>
                  </a:ext>
                </a:extLst>
              </a:tr>
              <a:tr h="307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DATABASE, SCHEMA, ROW_COUNR, USER, VERSION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14"/>
                  </a:ext>
                </a:extLst>
              </a:tr>
              <a:tr h="307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COALESCE, ISNULL, IFNULL, NULLIF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095319"/>
                  </a:ext>
                </a:extLst>
              </a:tr>
              <a:tr h="307521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집계 함수</a:t>
                      </a:r>
                    </a:p>
                  </a:txBody>
                  <a:tcPr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AVG, COUNT, MAX, MIN, STD, STDDEV, SUM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82542"/>
                  </a:ext>
                </a:extLst>
              </a:tr>
              <a:tr h="642331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윈도우 함수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혹은 분석 함수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CUME_DIST, DENSE_RANK, FIRST_VALUE, LAST_VALUE, LEAD, NTILE, RANK, ROW_NUMBER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3142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8760" y="1556793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4-2 </a:t>
            </a:r>
            <a:r>
              <a:rPr lang="ko-KR" altLang="en-US" sz="1400" b="1">
                <a:ea typeface="맑은 고딕" panose="020B0503020000020004" pitchFamily="50" charset="-127"/>
              </a:rPr>
              <a:t>숫자 함수의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267744" y="1916832"/>
          <a:ext cx="4862016" cy="4608513"/>
        </p:xfrm>
        <a:graphic>
          <a:graphicData uri="http://schemas.openxmlformats.org/drawingml/2006/table">
            <a:tbl>
              <a:tblPr/>
              <a:tblGrid>
                <a:gridCol w="1500772">
                  <a:extLst>
                    <a:ext uri="{9D8B030D-6E8A-4147-A177-3AD203B41FA5}">
                      <a16:colId xmlns:a16="http://schemas.microsoft.com/office/drawing/2014/main" val="3931564477"/>
                    </a:ext>
                  </a:extLst>
                </a:gridCol>
                <a:gridCol w="3361244">
                  <a:extLst>
                    <a:ext uri="{9D8B030D-6E8A-4147-A177-3AD203B41FA5}">
                      <a16:colId xmlns:a16="http://schemas.microsoft.com/office/drawing/2014/main" val="3812723064"/>
                    </a:ext>
                  </a:extLst>
                </a:gridCol>
              </a:tblGrid>
              <a:tr h="2857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09017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ABS(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절댓값을 계산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ABS(-4.5)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4.5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970215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CEIL(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숫자보다 크거나 같은 최소의 정수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CEIL(4.1)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516484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FLOOR(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숫자보다 작거나 같은 최소의 정수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FLOOR(4.1)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533789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ROUND(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반올림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m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 반올림 기준 자릿수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ROUND(5.36, 1)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5.40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466743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LOG(n, 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자연로그 값을 반환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LOG(10)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2.30259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057499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제곱 값을 계산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POWER(2, 3)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994075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SQRT(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제곱근 값을 계산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숫자는 양수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SQRT(9.0)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092099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숫자가 </a:t>
                      </a:r>
                      <a:r>
                        <a:rPr lang="ko-KR" alt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음수면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-1, 0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 </a:t>
                      </a:r>
                      <a:r>
                        <a:rPr lang="ko-KR" alt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양수면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SIGN(3.45)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48637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95536" y="1085503"/>
            <a:ext cx="8064896" cy="525583"/>
          </a:xfrm>
        </p:spPr>
        <p:txBody>
          <a:bodyPr anchor="ctr"/>
          <a:lstStyle/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lang="ko-KR" altLang="en-US" sz="2000">
                <a:solidFill>
                  <a:schemeClr val="tx2"/>
                </a:solidFill>
              </a:rPr>
              <a:t>숫자 함수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r>
              <a:rPr lang="en-US" altLang="ko-KR"/>
              <a:t>ABS </a:t>
            </a:r>
            <a:r>
              <a:rPr lang="ko-KR" altLang="en-US"/>
              <a:t>함수 </a:t>
            </a:r>
            <a:r>
              <a:rPr lang="en-US" altLang="ko-KR"/>
              <a:t>:</a:t>
            </a:r>
            <a:r>
              <a:rPr lang="ko-KR" altLang="en-US"/>
              <a:t> 절댓값을 구하는 함수</a:t>
            </a:r>
            <a:endParaRPr lang="en-US" altLang="ko-KR" sz="1600" b="1"/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</a:pPr>
            <a:endParaRPr lang="en-US" altLang="ko-KR" sz="1600" b="1"/>
          </a:p>
          <a:p>
            <a:endParaRPr lang="en-US" altLang="ko-KR"/>
          </a:p>
          <a:p>
            <a:pPr>
              <a:buNone/>
            </a:pPr>
            <a:endParaRPr lang="en-US" altLang="ko-KR"/>
          </a:p>
          <a:p>
            <a:r>
              <a:rPr lang="en-US" altLang="ko-KR"/>
              <a:t>ROUND </a:t>
            </a:r>
            <a:r>
              <a:rPr lang="ko-KR" altLang="en-US"/>
              <a:t>함수 </a:t>
            </a:r>
            <a:r>
              <a:rPr lang="en-US" altLang="ko-KR"/>
              <a:t>: </a:t>
            </a:r>
            <a:r>
              <a:rPr lang="ko-KR" altLang="en-US"/>
              <a:t>반올림한 값을 구하는 함수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>
              <a:buNone/>
            </a:pPr>
            <a:endParaRPr lang="en-US" altLang="ko-KR"/>
          </a:p>
          <a:p>
            <a:r>
              <a:rPr lang="ko-KR" altLang="en-US"/>
              <a:t>숫자 함수의 연산</a:t>
            </a:r>
            <a:endParaRPr lang="en-US" altLang="ko-KR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5" y="2101826"/>
          <a:ext cx="7848872" cy="828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1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-78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+78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 절댓값을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 ABS(-78), ABS(+78);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  Dual;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827584" y="3541985"/>
          <a:ext cx="7848872" cy="880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5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4.875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소수 첫째 자리까지 반올림한 값을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ROUND(4.875, 1);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</a:t>
                      </a:r>
                      <a:r>
                        <a:rPr lang="en-US" altLang="ko-KR" sz="140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Dual;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/>
        </p:nvGraphicFramePr>
        <p:xfrm>
          <a:off x="827584" y="5054153"/>
          <a:ext cx="7848872" cy="1154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4-3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고객별 평균 주문 금액을 백 원 단위로 반올림한 값을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	</a:t>
                      </a:r>
                      <a:r>
                        <a:rPr lang="en-US" altLang="ko-KR" sz="140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custid</a:t>
                      </a: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‘</a:t>
                      </a:r>
                      <a:r>
                        <a:rPr lang="ko-KR" altLang="en-US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고객번호</a:t>
                      </a: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’, ROUND(SUM(</a:t>
                      </a:r>
                      <a:r>
                        <a:rPr lang="en-US" altLang="ko-KR" sz="140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saleprice</a:t>
                      </a: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)/COUNT(*), -2) ‘</a:t>
                      </a:r>
                      <a:r>
                        <a:rPr lang="ko-KR" altLang="en-US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평균금액</a:t>
                      </a: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</a:t>
                      </a:r>
                    </a:p>
                    <a:p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	Orders</a:t>
                      </a:r>
                    </a:p>
                    <a:p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 BY </a:t>
                      </a:r>
                      <a:r>
                        <a:rPr lang="en-US" altLang="ko-KR" sz="140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custid</a:t>
                      </a: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395536" y="1085503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 함수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2512859"/>
            <a:ext cx="1463280" cy="48409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0" y="4005064"/>
            <a:ext cx="1144340" cy="58427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20" y="5589240"/>
            <a:ext cx="1224136" cy="10144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0844" y="140020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4-3 </a:t>
            </a:r>
            <a:r>
              <a:rPr lang="ko-KR" altLang="en-US" sz="1400" b="1">
                <a:ea typeface="맑은 고딕" panose="020B0503020000020004" pitchFamily="50" charset="-127"/>
              </a:rPr>
              <a:t>문자 함수의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683568" y="1778001"/>
          <a:ext cx="7920881" cy="4698998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27397581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721884112"/>
                    </a:ext>
                  </a:extLst>
                </a:gridCol>
                <a:gridCol w="5544617">
                  <a:extLst>
                    <a:ext uri="{9D8B030D-6E8A-4147-A177-3AD203B41FA5}">
                      <a16:colId xmlns:a16="http://schemas.microsoft.com/office/drawing/2014/main" val="1920281114"/>
                    </a:ext>
                  </a:extLst>
                </a:gridCol>
              </a:tblGrid>
              <a:tr h="24494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구분</a:t>
                      </a:r>
                    </a:p>
                  </a:txBody>
                  <a:tcPr marL="50037" marR="50037" marT="13834" marB="1383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46673"/>
                  </a:ext>
                </a:extLst>
              </a:tr>
              <a:tr h="326619">
                <a:tc rowSpan="8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문자값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함수</a:t>
                      </a:r>
                      <a:endParaRPr lang="en-US" altLang="ko-KR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정수</a:t>
                      </a:r>
                    </a:p>
                  </a:txBody>
                  <a:tcPr marL="50037" marR="50037" marT="13834" marB="1383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CONCAT(s1,s2)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 문자열을 연결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CONCAT('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마당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'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서점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 =&gt; '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마당 서점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425160"/>
                  </a:ext>
                </a:extLst>
              </a:tr>
              <a:tr h="3266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LOWER(s)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문자열을 모두 소문자로 변환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LOWER('MR. SCOTT') =&gt; '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mr.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scott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68386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LPAD(</a:t>
                      </a:r>
                      <a:r>
                        <a:rPr lang="en-US" sz="1100" b="1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s,n,c</a:t>
                      </a: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왼쪽부터 지정한 </a:t>
                      </a:r>
                      <a:r>
                        <a:rPr lang="ko-KR" altLang="en-US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자리수까지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지정한 문자로 채움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LPAD('Page 1', 10, '*') =&gt; '****Page 1'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670525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REPLACE(s1,s2,s3)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지정한 문자를 원하는 문자로 변경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REPLACE('JACK &amp; JUE', 'J', 'BL') =&gt; 'BLACK &amp; BLUE'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073979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RPAD(</a:t>
                      </a:r>
                      <a:r>
                        <a:rPr lang="en-US" sz="1100" b="1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s,n,c</a:t>
                      </a: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오른쪽부터 지정한 </a:t>
                      </a:r>
                      <a:r>
                        <a:rPr lang="ko-KR" altLang="en-US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자리수까지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지정한 문자로 채움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RPAD('</a:t>
                      </a:r>
                      <a:r>
                        <a:rPr lang="en-US" altLang="ko-KR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5, '*') =&gt; '</a:t>
                      </a:r>
                      <a:r>
                        <a:rPr lang="en-US" altLang="ko-KR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**'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067861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SUBSTR(</a:t>
                      </a:r>
                      <a:r>
                        <a:rPr lang="en-US" sz="1100" b="1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s,n,k</a:t>
                      </a: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지정된 자리에서부터 지정된 길이만큼 잘라서 반환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SUBSTR('ABCDEFG', 3, 4) =&gt; 'CDEF'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096849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TRIM(c FROM 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양쪽에서 지정된 문자를 삭제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문자열만 넣으면 기본값으로 공백 제거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TRIM('=' FROM '==BROWNING==') =&gt; 'BROWNING'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741748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UPPER(s)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문자열을 모두 대문자로 변환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UPPER('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mr.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scott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') =&gt; 'MR. SCOTT'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219899"/>
                  </a:ext>
                </a:extLst>
              </a:tr>
              <a:tr h="265945">
                <a:tc row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숫자값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함수</a:t>
                      </a:r>
                    </a:p>
                  </a:txBody>
                  <a:tcPr marL="50037" marR="50037" marT="13834" marB="1383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ASCII(c)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알파벳 문자의 아스키 코드 값을 반환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ASCII('D') =&gt; 68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047833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LENGTH(s)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알파벳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1byte,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3byte (UTF8)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LENGTH('CANDIDE') =&gt; 7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245035"/>
                  </a:ext>
                </a:extLst>
              </a:tr>
              <a:tr h="265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CHAR_LENGTH(s)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문자열의 문자 수를 반환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CHAR_LENGTH('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 =&gt; 3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58265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95536" y="1085503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4794597"/>
          </a:xfrm>
        </p:spPr>
        <p:txBody>
          <a:bodyPr/>
          <a:lstStyle/>
          <a:p>
            <a:r>
              <a:rPr lang="en-US" altLang="ko-KR"/>
              <a:t>REPLACE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문자열을 치환하는 함수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2152934"/>
          <a:ext cx="7848872" cy="1099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3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4-4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도서제목에 야구가 포함된 도서를 농구로 변경한 후 도서 목록을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897">
                <a:tc>
                  <a:txBody>
                    <a:bodyPr/>
                    <a:lstStyle/>
                    <a:p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	</a:t>
                      </a:r>
                      <a:r>
                        <a:rPr lang="en-US" altLang="ko-KR" sz="140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bookid</a:t>
                      </a: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REPLACE(</a:t>
                      </a:r>
                      <a:r>
                        <a:rPr lang="en-US" altLang="ko-KR" sz="140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</a:t>
                      </a: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‘</a:t>
                      </a:r>
                      <a:r>
                        <a:rPr lang="ko-KR" altLang="en-US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야구</a:t>
                      </a: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'</a:t>
                      </a:r>
                      <a:r>
                        <a:rPr lang="ko-KR" altLang="en-US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농구</a:t>
                      </a: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 </a:t>
                      </a:r>
                      <a:r>
                        <a:rPr lang="en-US" altLang="ko-KR" sz="140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</a:t>
                      </a:r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publisher, price</a:t>
                      </a:r>
                    </a:p>
                    <a:p>
                      <a:r>
                        <a:rPr lang="en-US" altLang="ko-KR" sz="14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	Book;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429000"/>
            <a:ext cx="2770959" cy="19166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r>
              <a:rPr lang="en-US" altLang="ko-KR"/>
              <a:t>LENGTH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글자의 수를 세어주는 함수 </a:t>
            </a:r>
            <a:r>
              <a:rPr lang="en-US" altLang="ko-KR"/>
              <a:t>(</a:t>
            </a:r>
            <a:r>
              <a:rPr lang="ko-KR" altLang="en-US"/>
              <a:t>단위가 바이트</a:t>
            </a:r>
            <a:r>
              <a:rPr lang="en-US" altLang="ko-KR"/>
              <a:t>(byte)</a:t>
            </a:r>
            <a:r>
              <a:rPr lang="ko-KR" altLang="en-US"/>
              <a:t>가 아닌 문자 단위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SUBSTR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지정한 길이만큼의 문자열을 반환하는 함수</a:t>
            </a:r>
            <a:endParaRPr lang="en-US" altLang="ko-KR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2226569"/>
          <a:ext cx="7776864" cy="1175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4-5   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굿스포츠에서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출판한 도서의 제목과 제목의 글자 수를 확인하시오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    (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한글은 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바이트 혹은 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UNICODE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경우는 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바이트를 차지함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400" b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7583" y="2748162"/>
            <a:ext cx="77669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r>
              <a:rPr lang="en-US" altLang="ko-KR" sz="1400">
                <a:ea typeface="맑은 고딕" panose="020B0503020000020004" pitchFamily="50" charset="-127"/>
              </a:rPr>
              <a:t> ‘</a:t>
            </a:r>
            <a:r>
              <a:rPr lang="ko-KR" altLang="en-US" sz="1400">
                <a:ea typeface="맑은 고딕" panose="020B0503020000020004" pitchFamily="50" charset="-127"/>
              </a:rPr>
              <a:t>제목</a:t>
            </a:r>
            <a:r>
              <a:rPr lang="en-US" altLang="ko-KR" sz="1400">
                <a:ea typeface="맑은 고딕" panose="020B0503020000020004" pitchFamily="50" charset="-127"/>
              </a:rPr>
              <a:t>’, CHAR_LENGTH(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r>
              <a:rPr lang="en-US" altLang="ko-KR" sz="1400">
                <a:ea typeface="맑은 고딕" panose="020B0503020000020004" pitchFamily="50" charset="-127"/>
              </a:rPr>
              <a:t>) ‘</a:t>
            </a:r>
            <a:r>
              <a:rPr lang="ko-KR" altLang="en-US" sz="1400" err="1">
                <a:ea typeface="맑은 고딕" panose="020B0503020000020004" pitchFamily="50" charset="-127"/>
              </a:rPr>
              <a:t>문자수</a:t>
            </a:r>
            <a:r>
              <a:rPr lang="en-US" altLang="ko-KR" sz="1400">
                <a:ea typeface="맑은 고딕" panose="020B0503020000020004" pitchFamily="50" charset="-127"/>
              </a:rPr>
              <a:t>’, 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               LENGTH(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r>
              <a:rPr lang="en-US" altLang="ko-KR" sz="1400">
                <a:ea typeface="맑은 고딕" panose="020B0503020000020004" pitchFamily="50" charset="-127"/>
              </a:rPr>
              <a:t>) ‘</a:t>
            </a:r>
            <a:r>
              <a:rPr lang="ko-KR" altLang="en-US" sz="1400" err="1">
                <a:ea typeface="맑은 고딕" panose="020B0503020000020004" pitchFamily="50" charset="-127"/>
              </a:rPr>
              <a:t>바이트수</a:t>
            </a:r>
            <a:r>
              <a:rPr lang="en-US" altLang="ko-KR" sz="1400">
                <a:ea typeface="맑은 고딕" panose="020B0503020000020004" pitchFamily="50" charset="-127"/>
              </a:rPr>
              <a:t>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Book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publisher='</a:t>
            </a:r>
            <a:r>
              <a:rPr lang="ko-KR" altLang="en-US" sz="1400" err="1">
                <a:ea typeface="맑은 고딕" panose="020B0503020000020004" pitchFamily="50" charset="-127"/>
              </a:rPr>
              <a:t>굿스포츠</a:t>
            </a:r>
            <a:r>
              <a:rPr lang="en-US" altLang="ko-KR" sz="1400">
                <a:ea typeface="맑은 고딕" panose="020B0503020000020004" pitchFamily="50" charset="-127"/>
              </a:rPr>
              <a:t>';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827584" y="4590305"/>
          <a:ext cx="7776864" cy="12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4-6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마당서점의 고객 중에서 같은 성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姓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을 가진 사람이 몇 명이나 되는지 성별 인원수를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827584" y="5177358"/>
            <a:ext cx="696500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SUBSTR(name, 1, 1) ‘</a:t>
            </a:r>
            <a:r>
              <a:rPr lang="ko-KR" altLang="en-US" sz="1400">
                <a:ea typeface="맑은 고딕" panose="020B0503020000020004" pitchFamily="50" charset="-127"/>
              </a:rPr>
              <a:t>성</a:t>
            </a:r>
            <a:r>
              <a:rPr lang="en-US" altLang="ko-KR" sz="1400">
                <a:ea typeface="맑은 고딕" panose="020B0503020000020004" pitchFamily="50" charset="-127"/>
              </a:rPr>
              <a:t>’, COUNT(*) ‘</a:t>
            </a:r>
            <a:r>
              <a:rPr lang="ko-KR" altLang="en-US" sz="1400">
                <a:ea typeface="맑은 고딕" panose="020B0503020000020004" pitchFamily="50" charset="-127"/>
              </a:rPr>
              <a:t>인원</a:t>
            </a:r>
            <a:r>
              <a:rPr lang="en-US" altLang="ko-KR" sz="1400">
                <a:ea typeface="맑은 고딕" panose="020B0503020000020004" pitchFamily="50" charset="-127"/>
              </a:rPr>
              <a:t>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GROUP BY SUBSTR(name, 1, 1);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3212976"/>
            <a:ext cx="2106628" cy="101041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344" y="5301208"/>
            <a:ext cx="915801" cy="11586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4168" y="14847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4-4 </a:t>
            </a:r>
            <a:r>
              <a:rPr lang="ko-KR" altLang="en-US" sz="1400" b="1">
                <a:ea typeface="맑은 고딕" panose="020B0503020000020004" pitchFamily="50" charset="-127"/>
              </a:rPr>
              <a:t>날짜</a:t>
            </a:r>
            <a:r>
              <a:rPr lang="en-US" altLang="ko-KR" sz="1400" b="1">
                <a:ea typeface="맑은 고딕" panose="020B0503020000020004" pitchFamily="50" charset="-127"/>
              </a:rPr>
              <a:t>·</a:t>
            </a:r>
            <a:r>
              <a:rPr lang="ko-KR" altLang="en-US" sz="1400" b="1">
                <a:ea typeface="맑은 고딕" panose="020B0503020000020004" pitchFamily="50" charset="-127"/>
              </a:rPr>
              <a:t>시간 함수의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727885" y="1816100"/>
          <a:ext cx="7804555" cy="4582691"/>
        </p:xfrm>
        <a:graphic>
          <a:graphicData uri="http://schemas.openxmlformats.org/drawingml/2006/table">
            <a:tbl>
              <a:tblPr/>
              <a:tblGrid>
                <a:gridCol w="2475963">
                  <a:extLst>
                    <a:ext uri="{9D8B030D-6E8A-4147-A177-3AD203B41FA5}">
                      <a16:colId xmlns:a16="http://schemas.microsoft.com/office/drawing/2014/main" val="404583294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102250572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2561013606"/>
                    </a:ext>
                  </a:extLst>
                </a:gridCol>
              </a:tblGrid>
              <a:tr h="28871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200232"/>
                  </a:ext>
                </a:extLst>
              </a:tr>
              <a:tr h="604929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STR_TO_DATE(string, format) 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STRING)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데이터를 </a:t>
                      </a:r>
                      <a:r>
                        <a:rPr lang="ko-KR" alt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날자형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DATE)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STR_TO_DATE('2019-02-14', '%Y-%m-%d') =&gt; 2019-02-14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201376"/>
                  </a:ext>
                </a:extLst>
              </a:tr>
              <a:tr h="865732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DATE_FORMAT(date, format)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DATE)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데이터를 문자열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VARCHAR)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DATE_FORMAT('2019-02-14', '%Y-%m-%d') =&gt; '2019-02-14'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513742"/>
                  </a:ext>
                </a:extLst>
              </a:tr>
              <a:tr h="865732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ADDDATE(date, interval)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형의 날짜에서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INTERVAL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지정한 시간만큼 더함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ADDDATE('2019-02-14', INTERVAL 10 DAY) =&gt; 2019-02-24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287455"/>
                  </a:ext>
                </a:extLst>
              </a:tr>
              <a:tr h="799075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DATE(date)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형의 날짜 부분을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DATE('2003-12-31 01:02:03');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=&gt; 2003-12-31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212309"/>
                  </a:ext>
                </a:extLst>
              </a:tr>
              <a:tr h="604929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DATEDIFF(date1, date2)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형의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date1 – date2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 차이를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DATEDIFF('2019-02-14', '2019-02-04') =&gt; 10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983176"/>
                  </a:ext>
                </a:extLst>
              </a:tr>
              <a:tr h="553581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SYSDATE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DBMS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시스템상의 오늘 날짜를 반환하는 함수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SYSDATE() =&gt; 2018-06-30 21:47:01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295200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95536" y="1052736"/>
            <a:ext cx="5040560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</a:t>
            </a:r>
            <a:r>
              <a:rPr kumimoji="0" lang="en-US" altLang="ko-KR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함수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8640" y="14847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4-5 </a:t>
            </a:r>
            <a:r>
              <a:rPr lang="en-US" altLang="ko-KR" sz="1400" b="1">
                <a:ea typeface="맑은 고딕" panose="020B0503020000020004" pitchFamily="50" charset="-127"/>
              </a:rPr>
              <a:t>format</a:t>
            </a:r>
            <a:r>
              <a:rPr lang="ko-KR" altLang="en-US" sz="1400" b="1">
                <a:ea typeface="맑은 고딕" panose="020B0503020000020004" pitchFamily="50" charset="-127"/>
              </a:rPr>
              <a:t>의 주요</a:t>
            </a:r>
            <a:r>
              <a:rPr lang="en-US" altLang="ko-KR" sz="1400" b="1">
                <a:ea typeface="맑은 고딕" panose="020B0503020000020004" pitchFamily="50" charset="-127"/>
              </a:rPr>
              <a:t> </a:t>
            </a:r>
            <a:r>
              <a:rPr lang="ko-KR" altLang="en-US" sz="1400" b="1">
                <a:ea typeface="맑은 고딕" panose="020B0503020000020004" pitchFamily="50" charset="-127"/>
              </a:rPr>
              <a:t>지정자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627784" y="1772816"/>
          <a:ext cx="3778123" cy="4464495"/>
        </p:xfrm>
        <a:graphic>
          <a:graphicData uri="http://schemas.openxmlformats.org/drawingml/2006/table">
            <a:tbl>
              <a:tblPr/>
              <a:tblGrid>
                <a:gridCol w="792861">
                  <a:extLst>
                    <a:ext uri="{9D8B030D-6E8A-4147-A177-3AD203B41FA5}">
                      <a16:colId xmlns:a16="http://schemas.microsoft.com/office/drawing/2014/main" val="1677876404"/>
                    </a:ext>
                  </a:extLst>
                </a:gridCol>
                <a:gridCol w="2985262">
                  <a:extLst>
                    <a:ext uri="{9D8B030D-6E8A-4147-A177-3AD203B41FA5}">
                      <a16:colId xmlns:a16="http://schemas.microsoft.com/office/drawing/2014/main" val="3043447974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839226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%w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 순서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(0~6,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Sunday=0)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303756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%W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Sunday~Saturday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61182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%a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요일의 약자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Sun~Sat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300645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%d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 중 날짜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(00~31)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764081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%j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중 날짜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(001~366)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66539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%h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(01~12)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237805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%H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(00~23)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262485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r>
                        <a:rPr lang="en-US" sz="1200" b="1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(0~59)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761092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%m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순서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(01~12,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January=01)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557519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%b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이름 약어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Jan~Dec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949554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%M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이름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January~December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928824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%s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(0~59)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15966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%Y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 연도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397977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%y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 연도의 마지막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476239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95536" y="1052736"/>
            <a:ext cx="302433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1844824"/>
          <a:ext cx="7776864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4-7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마당서점은 주문일로부터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후 매출을 확정한다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각 주문의 확정일자를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1135" y="2348880"/>
            <a:ext cx="77768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 '</a:t>
            </a:r>
            <a:r>
              <a:rPr lang="ko-KR" altLang="en-US" sz="1400">
                <a:ea typeface="맑은 고딕" panose="020B0503020000020004" pitchFamily="50" charset="-127"/>
              </a:rPr>
              <a:t>주문번호</a:t>
            </a:r>
            <a:r>
              <a:rPr lang="en-US" altLang="ko-KR" sz="1400">
                <a:ea typeface="맑은 고딕" panose="020B0503020000020004" pitchFamily="50" charset="-127"/>
              </a:rPr>
              <a:t>', </a:t>
            </a:r>
            <a:r>
              <a:rPr lang="en-US" altLang="ko-KR" sz="1400" err="1">
                <a:ea typeface="맑은 고딕" panose="020B0503020000020004" pitchFamily="50" charset="-127"/>
              </a:rPr>
              <a:t>orderdate</a:t>
            </a:r>
            <a:r>
              <a:rPr lang="en-US" altLang="ko-KR" sz="1400">
                <a:ea typeface="맑은 고딕" panose="020B0503020000020004" pitchFamily="50" charset="-127"/>
              </a:rPr>
              <a:t> '</a:t>
            </a:r>
            <a:r>
              <a:rPr lang="ko-KR" altLang="en-US" sz="1400">
                <a:ea typeface="맑은 고딕" panose="020B0503020000020004" pitchFamily="50" charset="-127"/>
              </a:rPr>
              <a:t>주문일</a:t>
            </a:r>
            <a:r>
              <a:rPr lang="en-US" altLang="ko-KR" sz="1400">
                <a:ea typeface="맑은 고딕" panose="020B0503020000020004" pitchFamily="50" charset="-127"/>
              </a:rPr>
              <a:t>', 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	ADDDATE(</a:t>
            </a:r>
            <a:r>
              <a:rPr lang="en-US" altLang="ko-KR" sz="1400" err="1">
                <a:ea typeface="맑은 고딕" panose="020B0503020000020004" pitchFamily="50" charset="-127"/>
              </a:rPr>
              <a:t>orderdate</a:t>
            </a:r>
            <a:r>
              <a:rPr lang="en-US" altLang="ko-KR" sz="1400">
                <a:ea typeface="맑은 고딕" panose="020B0503020000020004" pitchFamily="50" charset="-127"/>
              </a:rPr>
              <a:t>, INTERVAL 10 DAY) '</a:t>
            </a:r>
            <a:r>
              <a:rPr lang="ko-KR" altLang="en-US" sz="1400">
                <a:ea typeface="맑은 고딕" panose="020B0503020000020004" pitchFamily="50" charset="-127"/>
              </a:rPr>
              <a:t>확정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	Orders;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56992"/>
            <a:ext cx="2385070" cy="23923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555403"/>
            <a:ext cx="8064896" cy="4527897"/>
          </a:xfrm>
        </p:spPr>
        <p:txBody>
          <a:bodyPr/>
          <a:lstStyle/>
          <a:p>
            <a:r>
              <a:rPr lang="en-US" altLang="ko-KR"/>
              <a:t>STR_TO_DATE : </a:t>
            </a:r>
            <a:r>
              <a:rPr lang="ko-KR" altLang="en-US" err="1"/>
              <a:t>문자형으로</a:t>
            </a:r>
            <a:r>
              <a:rPr lang="ko-KR" altLang="en-US"/>
              <a:t> 저장된 날짜를 </a:t>
            </a:r>
            <a:r>
              <a:rPr lang="ko-KR" altLang="en-US" err="1"/>
              <a:t>날짜형으로</a:t>
            </a:r>
            <a:r>
              <a:rPr lang="ko-KR" altLang="en-US"/>
              <a:t> 변환하는 함수</a:t>
            </a:r>
            <a:endParaRPr lang="en-US" altLang="ko-KR"/>
          </a:p>
          <a:p>
            <a:r>
              <a:rPr lang="en-US" altLang="ko-KR"/>
              <a:t>DATE_FORMAT : </a:t>
            </a:r>
            <a:r>
              <a:rPr lang="ko-KR" altLang="en-US" err="1"/>
              <a:t>날짜형을</a:t>
            </a:r>
            <a:r>
              <a:rPr lang="ko-KR" altLang="en-US"/>
              <a:t> </a:t>
            </a:r>
            <a:r>
              <a:rPr lang="ko-KR" altLang="en-US" err="1"/>
              <a:t>문자형으로</a:t>
            </a:r>
            <a:r>
              <a:rPr lang="ko-KR" altLang="en-US"/>
              <a:t> 변환하는 함수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2530749"/>
          <a:ext cx="7776864" cy="212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4-8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마당서점이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2014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일에 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주문받은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도서의 주문번호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주문일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고객번호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도서번호를 모두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주문일은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'%Y-%m-%d'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형태로 표시한다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	</a:t>
                      </a:r>
                      <a:r>
                        <a:rPr lang="en-US" altLang="ko-KR" sz="140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orderid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STR_TO_DATE(</a:t>
                      </a:r>
                      <a:r>
                        <a:rPr lang="en-US" altLang="ko-KR" sz="140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orderdate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'%Y-%m-%d') 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</a:t>
                      </a:r>
                    </a:p>
                    <a:p>
                      <a:pPr latinLnBrk="1"/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</a:t>
                      </a:r>
                      <a:r>
                        <a:rPr lang="en-US" altLang="ko-KR" sz="140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custid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'</a:t>
                      </a:r>
                      <a:r>
                        <a:rPr lang="ko-KR" altLang="en-US" sz="140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고객번호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</a:t>
                      </a:r>
                      <a:r>
                        <a:rPr lang="en-US" altLang="ko-KR" sz="140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bookid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'</a:t>
                      </a:r>
                      <a:r>
                        <a:rPr lang="ko-KR" altLang="en-US" sz="140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도서번호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</a:p>
                    <a:p>
                      <a:pPr latinLnBrk="1"/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	Orders</a:t>
                      </a:r>
                    </a:p>
                    <a:p>
                      <a:pPr latinLnBrk="1"/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WHERE      </a:t>
                      </a:r>
                      <a:r>
                        <a:rPr lang="en-US" altLang="ko-KR" sz="140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orderdate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=DATE_FORMAT('20140707', '%</a:t>
                      </a:r>
                      <a:r>
                        <a:rPr lang="en-US" altLang="ko-KR" sz="140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Y%m%d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802012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4293096"/>
            <a:ext cx="2979242" cy="82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45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556792"/>
            <a:ext cx="8064896" cy="3600400"/>
          </a:xfrm>
        </p:spPr>
        <p:txBody>
          <a:bodyPr/>
          <a:lstStyle/>
          <a:p>
            <a:r>
              <a:rPr lang="en-US" altLang="ko-KR"/>
              <a:t>SYSDATE </a:t>
            </a:r>
            <a:r>
              <a:rPr lang="ko-KR" altLang="en-US"/>
              <a:t> </a:t>
            </a:r>
            <a:r>
              <a:rPr lang="en-US" altLang="ko-KR"/>
              <a:t>: MySQL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현재 날짜와 시간을 반환하는 함수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95119" y="2244105"/>
          <a:ext cx="7776864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4-9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DBMS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서버에 설정된 현재 날짜와 시간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요일을 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06252" y="2695685"/>
            <a:ext cx="7776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	SYSDATE(),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               DATE_FORMAT(SYSDATE(), '%Y/%m/%d %M %h:%s') 'SYSDATE_1'; </a:t>
            </a:r>
            <a:endParaRPr lang="ko-KR" altLang="en-US" sz="1400" b="1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501008"/>
            <a:ext cx="3338711" cy="6092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NULL </a:t>
            </a:r>
            <a:r>
              <a:rPr lang="ko-KR" altLang="en-US"/>
              <a:t>값이란</a:t>
            </a:r>
            <a:r>
              <a:rPr lang="en-US" altLang="ko-KR"/>
              <a:t>?</a:t>
            </a:r>
          </a:p>
          <a:p>
            <a:pPr lvl="1"/>
            <a:r>
              <a:rPr lang="ko-KR" altLang="en-US" sz="1400"/>
              <a:t>아직 지정되지 않은 값</a:t>
            </a:r>
            <a:endParaRPr lang="en-US" altLang="ko-KR" sz="1400"/>
          </a:p>
          <a:p>
            <a:pPr lvl="1"/>
            <a:r>
              <a:rPr lang="en-US" altLang="ko-KR" sz="1400"/>
              <a:t>NULL </a:t>
            </a:r>
            <a:r>
              <a:rPr lang="ko-KR" altLang="en-US" sz="1400"/>
              <a:t>값은 ‘</a:t>
            </a:r>
            <a:r>
              <a:rPr lang="en-US" altLang="ko-KR" sz="1400"/>
              <a:t>0</a:t>
            </a:r>
            <a:r>
              <a:rPr lang="ko-KR" altLang="en-US" sz="1400"/>
              <a:t>’</a:t>
            </a:r>
            <a:r>
              <a:rPr lang="en-US" altLang="ko-KR" sz="1400"/>
              <a:t>, ‘’ (</a:t>
            </a:r>
            <a:r>
              <a:rPr lang="ko-KR" altLang="en-US" sz="1400"/>
              <a:t>빈 문자</a:t>
            </a:r>
            <a:r>
              <a:rPr lang="en-US" altLang="ko-KR" sz="1400"/>
              <a:t>), ‘ ’ (</a:t>
            </a:r>
            <a:r>
              <a:rPr lang="ko-KR" altLang="en-US" sz="1400"/>
              <a:t>공백</a:t>
            </a:r>
            <a:r>
              <a:rPr lang="en-US" altLang="ko-KR" sz="1400"/>
              <a:t>) </a:t>
            </a:r>
            <a:r>
              <a:rPr lang="ko-KR" altLang="en-US" sz="1400"/>
              <a:t>등과 다른 특별한 값</a:t>
            </a:r>
            <a:endParaRPr lang="en-US" altLang="ko-KR" sz="1400"/>
          </a:p>
          <a:p>
            <a:pPr lvl="1"/>
            <a:r>
              <a:rPr lang="en-US" altLang="ko-KR" sz="1400"/>
              <a:t>NULL </a:t>
            </a:r>
            <a:r>
              <a:rPr lang="ko-KR" altLang="en-US" sz="1400"/>
              <a:t>값은 비교 연산자로 비교가 불가능함</a:t>
            </a:r>
            <a:endParaRPr lang="en-US" altLang="ko-KR" sz="1400"/>
          </a:p>
          <a:p>
            <a:pPr lvl="1"/>
            <a:r>
              <a:rPr lang="en-US" altLang="ko-KR" sz="1400"/>
              <a:t>NULL </a:t>
            </a:r>
            <a:r>
              <a:rPr lang="ko-KR" altLang="en-US" sz="1400"/>
              <a:t>값의 연산을 수행하면 결과 역시 </a:t>
            </a:r>
            <a:r>
              <a:rPr lang="en-US" altLang="ko-KR" sz="1400"/>
              <a:t>NULL </a:t>
            </a:r>
            <a:r>
              <a:rPr lang="ko-KR" altLang="en-US" sz="1400"/>
              <a:t>값으로 반환됨</a:t>
            </a:r>
            <a:endParaRPr lang="en-US" altLang="ko-KR" sz="1400"/>
          </a:p>
          <a:p>
            <a:endParaRPr lang="en-US" altLang="ko-KR"/>
          </a:p>
          <a:p>
            <a:r>
              <a:rPr lang="ko-KR" altLang="en-US"/>
              <a:t>집계 함수를 사용할 때 주의할 점</a:t>
            </a:r>
            <a:endParaRPr lang="en-US" altLang="ko-KR"/>
          </a:p>
          <a:p>
            <a:pPr lvl="1"/>
            <a:r>
              <a:rPr lang="en-US" altLang="ko-KR" sz="1400"/>
              <a:t>‘NULL+</a:t>
            </a:r>
            <a:r>
              <a:rPr lang="ko-KR" altLang="en-US" sz="1400"/>
              <a:t>숫자’ 연산의 결과는 </a:t>
            </a:r>
            <a:r>
              <a:rPr lang="en-US" altLang="ko-KR" sz="1400"/>
              <a:t>NULL</a:t>
            </a:r>
          </a:p>
          <a:p>
            <a:pPr lvl="1"/>
            <a:r>
              <a:rPr lang="ko-KR" altLang="en-US" sz="1400"/>
              <a:t>집계 함수 계산 시 </a:t>
            </a:r>
            <a:r>
              <a:rPr lang="en-US" altLang="ko-KR" sz="1400"/>
              <a:t>NULL</a:t>
            </a:r>
            <a:r>
              <a:rPr lang="ko-KR" altLang="en-US" sz="1400"/>
              <a:t>이 포함된 행은 집계에서 빠짐</a:t>
            </a:r>
            <a:endParaRPr lang="en-US" altLang="ko-KR" sz="1400"/>
          </a:p>
          <a:p>
            <a:pPr lvl="1"/>
            <a:r>
              <a:rPr lang="ko-KR" altLang="en-US" sz="1400"/>
              <a:t>해당되는 행이 하나도 없을 경우 </a:t>
            </a:r>
            <a:r>
              <a:rPr lang="en-US" altLang="ko-KR" sz="1400"/>
              <a:t>SUM, AVG </a:t>
            </a:r>
            <a:r>
              <a:rPr lang="ko-KR" altLang="en-US" sz="1400"/>
              <a:t>함수의 결과는 </a:t>
            </a:r>
            <a:r>
              <a:rPr lang="en-US" altLang="ko-KR" sz="1400"/>
              <a:t>NULL</a:t>
            </a:r>
            <a:r>
              <a:rPr lang="ko-KR" altLang="en-US" sz="1400"/>
              <a:t>이 되며</a:t>
            </a:r>
            <a:r>
              <a:rPr lang="en-US" altLang="ko-KR" sz="1400"/>
              <a:t>,	</a:t>
            </a:r>
            <a:br>
              <a:rPr lang="en-US" altLang="ko-KR" sz="1400"/>
            </a:br>
            <a:r>
              <a:rPr lang="en-US" altLang="ko-KR" sz="1400"/>
              <a:t>COUNT </a:t>
            </a:r>
            <a:r>
              <a:rPr lang="ko-KR" altLang="en-US" sz="1400"/>
              <a:t>함수의 결과는 </a:t>
            </a:r>
            <a:r>
              <a:rPr lang="en-US" altLang="ko-KR" sz="1400"/>
              <a:t>0.</a:t>
            </a:r>
            <a:endParaRPr lang="ko-KR" alt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NULL </a:t>
            </a:r>
            <a:r>
              <a:rPr lang="ko-KR" altLang="en-US"/>
              <a:t>값에 대한 연산과 집계 함수</a:t>
            </a:r>
            <a:br>
              <a:rPr lang="en-US" altLang="ko-KR"/>
            </a:br>
            <a:r>
              <a:rPr lang="en-US" altLang="ko-KR" sz="1400"/>
              <a:t>(* </a:t>
            </a:r>
            <a:r>
              <a:rPr lang="en-US" altLang="ko-KR" sz="1400" err="1"/>
              <a:t>Mybook</a:t>
            </a:r>
            <a:r>
              <a:rPr lang="en-US" altLang="ko-KR" sz="1400"/>
              <a:t> </a:t>
            </a:r>
            <a:r>
              <a:rPr lang="ko-KR" altLang="en-US" sz="1400"/>
              <a:t>테이블 생성은 </a:t>
            </a:r>
            <a:r>
              <a:rPr lang="ko-KR" altLang="en-US" sz="1400" err="1"/>
              <a:t>웹페이지</a:t>
            </a:r>
            <a:r>
              <a:rPr lang="ko-KR" altLang="en-US" sz="1400"/>
              <a:t> 스크립트 참조</a:t>
            </a:r>
            <a:r>
              <a:rPr lang="en-US" altLang="ko-KR" sz="1400"/>
              <a:t>)</a:t>
            </a:r>
          </a:p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71600" y="1962974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err="1">
                <a:ea typeface="맑은 고딕" panose="020B0503020000020004" pitchFamily="50" charset="-127"/>
              </a:rPr>
              <a:t>Mybook</a:t>
            </a:r>
            <a:endParaRPr lang="ko-KR" altLang="en-US" sz="1200" b="1"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43608" y="2255198"/>
          <a:ext cx="1683004" cy="1032766"/>
        </p:xfrm>
        <a:graphic>
          <a:graphicData uri="http://schemas.openxmlformats.org/drawingml/2006/table">
            <a:tbl>
              <a:tblPr/>
              <a:tblGrid>
                <a:gridCol w="84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3470176" y="2210599"/>
            <a:ext cx="418956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price+100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bookid</a:t>
            </a:r>
            <a:r>
              <a:rPr lang="en-US" altLang="ko-KR" sz="1400">
                <a:ea typeface="맑은 고딕" panose="020B0503020000020004" pitchFamily="50" charset="-127"/>
              </a:rPr>
              <a:t>=3;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51332" y="3462784"/>
            <a:ext cx="7776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   SUM(price), AVG(price), COUNT(*), COUNT(price)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    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r>
              <a:rPr lang="en-US" altLang="ko-KR" sz="1400">
                <a:ea typeface="맑은 고딕" panose="020B0503020000020004" pitchFamily="50" charset="-127"/>
              </a:rPr>
              <a:t>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14931" y="4919444"/>
            <a:ext cx="77768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   SUM(price), AVG(price), COUNT(*)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    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WHERE    </a:t>
            </a:r>
            <a:r>
              <a:rPr lang="en-US" altLang="ko-KR" sz="1400" err="1">
                <a:ea typeface="맑은 고딕" panose="020B0503020000020004" pitchFamily="50" charset="-127"/>
              </a:rPr>
              <a:t>bookid</a:t>
            </a:r>
            <a:r>
              <a:rPr lang="en-US" altLang="ko-KR" sz="1400">
                <a:ea typeface="맑은 고딕" panose="020B0503020000020004" pitchFamily="50" charset="-127"/>
              </a:rPr>
              <a:t> &gt; = 4;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2276872"/>
            <a:ext cx="875159" cy="53572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964" y="4077072"/>
            <a:ext cx="3571044" cy="50405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722" y="5733256"/>
            <a:ext cx="2395166" cy="4835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NULL </a:t>
            </a:r>
            <a:r>
              <a:rPr lang="ko-KR" altLang="en-US"/>
              <a:t>값을 확인하는 방법 </a:t>
            </a:r>
            <a:r>
              <a:rPr lang="en-US" altLang="ko-KR"/>
              <a:t>– IS NULL, IS NOT NULL</a:t>
            </a:r>
          </a:p>
          <a:p>
            <a:pPr lvl="1"/>
            <a:r>
              <a:rPr lang="en-US" altLang="ko-KR" sz="1400" b="0"/>
              <a:t>NULL </a:t>
            </a:r>
            <a:r>
              <a:rPr lang="ko-KR" altLang="en-US" sz="1400" b="0"/>
              <a:t>값을 찾을 때는 ‘</a:t>
            </a:r>
            <a:r>
              <a:rPr lang="en-US" altLang="ko-KR" sz="1400" b="0"/>
              <a:t>=’ </a:t>
            </a:r>
            <a:r>
              <a:rPr lang="ko-KR" altLang="en-US" sz="1400" b="0"/>
              <a:t>연산자가 아닌 ‘</a:t>
            </a:r>
            <a:r>
              <a:rPr lang="en-US" altLang="ko-KR" sz="1400" b="0"/>
              <a:t>IS NULL</a:t>
            </a:r>
            <a:r>
              <a:rPr lang="ko-KR" altLang="en-US" sz="1400" b="0"/>
              <a:t>’을 사용</a:t>
            </a:r>
            <a:r>
              <a:rPr lang="en-US" altLang="ko-KR" sz="1400" b="0"/>
              <a:t>, </a:t>
            </a:r>
          </a:p>
          <a:p>
            <a:pPr lvl="1"/>
            <a:r>
              <a:rPr lang="en-US" altLang="ko-KR" sz="1400" b="0"/>
              <a:t>NULL</a:t>
            </a:r>
            <a:r>
              <a:rPr lang="ko-KR" altLang="en-US" sz="1400" b="0"/>
              <a:t>이 아닌 값을 찾을 때는 ‘＜＞’ 연산자가 아닌 ‘</a:t>
            </a:r>
            <a:r>
              <a:rPr lang="en-US" altLang="ko-KR" sz="1400" b="0"/>
              <a:t>IS NOT NULL</a:t>
            </a:r>
            <a:r>
              <a:rPr lang="ko-KR" altLang="en-US" sz="1400" b="0"/>
              <a:t>’을 사용함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99" y="2499970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err="1">
                <a:ea typeface="맑은 고딕" panose="020B0503020000020004" pitchFamily="50" charset="-127"/>
              </a:rPr>
              <a:t>Mybook</a:t>
            </a:r>
            <a:endParaRPr lang="ko-KR" altLang="en-US" sz="1200" b="1"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43607" y="2792194"/>
          <a:ext cx="1683004" cy="1160020"/>
        </p:xfrm>
        <a:graphic>
          <a:graphicData uri="http://schemas.openxmlformats.org/drawingml/2006/table">
            <a:tbl>
              <a:tblPr/>
              <a:tblGrid>
                <a:gridCol w="84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971599" y="4318089"/>
            <a:ext cx="77768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*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 b="1">
                <a:ea typeface="맑은 고딕" panose="020B0503020000020004" pitchFamily="50" charset="-127"/>
              </a:rPr>
              <a:t>WHERE 	price IS NULL;</a:t>
            </a:r>
            <a:endParaRPr lang="ko-KR" altLang="en-US" sz="1400" b="1"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45331" y="5489875"/>
            <a:ext cx="49685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*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 b="1">
                <a:ea typeface="맑은 고딕" panose="020B0503020000020004" pitchFamily="50" charset="-127"/>
              </a:rPr>
              <a:t>WHERE 	price = '';</a:t>
            </a:r>
            <a:endParaRPr lang="ko-KR" altLang="en-US" sz="1400" b="1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4365104"/>
            <a:ext cx="1107951" cy="52607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5517232"/>
            <a:ext cx="1115849" cy="5040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IFNULL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NULL </a:t>
            </a:r>
            <a:r>
              <a:rPr lang="ko-KR" altLang="en-US"/>
              <a:t>값을 다른 값으로 대치하여 연산하거나 다른 값으로 출력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>
            <a:off x="971600" y="1556792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IFNULL(</a:t>
            </a:r>
            <a:r>
              <a:rPr lang="ko-KR" altLang="en-US" sz="1400">
                <a:ea typeface="맑은 고딕" panose="020B0503020000020004" pitchFamily="50" charset="-127"/>
              </a:rPr>
              <a:t>속성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ea typeface="맑은 고딕" panose="020B0503020000020004" pitchFamily="50" charset="-127"/>
              </a:rPr>
              <a:t>값</a:t>
            </a:r>
            <a:r>
              <a:rPr lang="en-US" altLang="ko-KR" sz="1400">
                <a:ea typeface="맑은 고딕" panose="020B0503020000020004" pitchFamily="50" charset="-127"/>
              </a:rPr>
              <a:t>) 	/* </a:t>
            </a:r>
            <a:r>
              <a:rPr lang="ko-KR" altLang="en-US" sz="1400">
                <a:ea typeface="맑은 고딕" panose="020B0503020000020004" pitchFamily="50" charset="-127"/>
              </a:rPr>
              <a:t>속성 값이 </a:t>
            </a:r>
            <a:r>
              <a:rPr lang="en-US" altLang="ko-KR" sz="1400">
                <a:ea typeface="맑은 고딕" panose="020B0503020000020004" pitchFamily="50" charset="-127"/>
              </a:rPr>
              <a:t>NULL</a:t>
            </a:r>
            <a:r>
              <a:rPr lang="ko-KR" altLang="en-US" sz="1400">
                <a:ea typeface="맑은 고딕" panose="020B0503020000020004" pitchFamily="50" charset="-127"/>
              </a:rPr>
              <a:t>이면 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  <a:r>
              <a:rPr lang="ko-KR" altLang="en-US" sz="1400">
                <a:ea typeface="맑은 고딕" panose="020B0503020000020004" pitchFamily="50" charset="-127"/>
              </a:rPr>
              <a:t>값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  <a:r>
              <a:rPr lang="ko-KR" altLang="en-US" sz="1400">
                <a:ea typeface="맑은 고딕" panose="020B0503020000020004" pitchFamily="50" charset="-127"/>
              </a:rPr>
              <a:t>으로 대치한다 *</a:t>
            </a:r>
            <a:r>
              <a:rPr lang="en-US" altLang="ko-KR" sz="1400">
                <a:ea typeface="맑은 고딕" panose="020B0503020000020004" pitchFamily="50" charset="-127"/>
              </a:rPr>
              <a:t>/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683568" y="2204104"/>
          <a:ext cx="7848872" cy="12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4-10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이름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전화번호가 포함된 고객목록을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전화번호가 없는 고객은 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연락처없음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’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으로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표시한다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683568" y="2996192"/>
            <a:ext cx="7776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name ‘</a:t>
            </a:r>
            <a:r>
              <a:rPr lang="ko-KR" altLang="en-US" sz="1400">
                <a:ea typeface="맑은 고딕" panose="020B0503020000020004" pitchFamily="50" charset="-127"/>
              </a:rPr>
              <a:t>이름</a:t>
            </a:r>
            <a:r>
              <a:rPr lang="en-US" altLang="ko-KR" sz="1400">
                <a:ea typeface="맑은 고딕" panose="020B0503020000020004" pitchFamily="50" charset="-127"/>
              </a:rPr>
              <a:t>’, IFNULL(phone, '</a:t>
            </a:r>
            <a:r>
              <a:rPr lang="ko-KR" altLang="en-US" sz="1400" err="1">
                <a:ea typeface="맑은 고딕" panose="020B0503020000020004" pitchFamily="50" charset="-127"/>
              </a:rPr>
              <a:t>연락처없음</a:t>
            </a:r>
            <a:r>
              <a:rPr lang="en-US" altLang="ko-KR" sz="1400">
                <a:ea typeface="맑은 고딕" panose="020B0503020000020004" pitchFamily="50" charset="-127"/>
              </a:rPr>
              <a:t>') ‘</a:t>
            </a:r>
            <a:r>
              <a:rPr lang="ko-KR" altLang="en-US" sz="1400">
                <a:ea typeface="맑은 고딕" panose="020B0503020000020004" pitchFamily="50" charset="-127"/>
              </a:rPr>
              <a:t>전화번호</a:t>
            </a:r>
            <a:r>
              <a:rPr lang="en-US" altLang="ko-KR" sz="1400">
                <a:ea typeface="맑은 고딕" panose="020B0503020000020004" pitchFamily="50" charset="-127"/>
              </a:rPr>
              <a:t>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Customer;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717032"/>
            <a:ext cx="1628774" cy="13858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 err="1"/>
              <a:t>행번호</a:t>
            </a:r>
            <a:r>
              <a:rPr lang="ko-KR" altLang="en-US"/>
              <a:t> 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268760"/>
            <a:ext cx="8280920" cy="4464496"/>
          </a:xfrm>
        </p:spPr>
        <p:txBody>
          <a:bodyPr/>
          <a:lstStyle/>
          <a:p>
            <a:r>
              <a:rPr lang="ko-KR" altLang="en-US"/>
              <a:t>내장 함수는 아니지만 자주 사용되는 문법</a:t>
            </a:r>
            <a:r>
              <a:rPr lang="en-US" altLang="ko-KR"/>
              <a:t> </a:t>
            </a:r>
          </a:p>
          <a:p>
            <a:r>
              <a:rPr lang="en-US" altLang="ko-KR"/>
              <a:t>MySQL</a:t>
            </a:r>
            <a:r>
              <a:rPr lang="ko-KR" altLang="en-US"/>
              <a:t>에서 변수는 이름 앞에 </a:t>
            </a:r>
            <a:r>
              <a:rPr lang="en-US" altLang="ko-KR"/>
              <a:t>@ </a:t>
            </a:r>
            <a:r>
              <a:rPr lang="ko-KR" altLang="en-US"/>
              <a:t>기호를 붙이며 </a:t>
            </a:r>
            <a:r>
              <a:rPr lang="ko-KR" altLang="en-US" err="1"/>
              <a:t>치환문에는</a:t>
            </a:r>
            <a:r>
              <a:rPr lang="ko-KR" altLang="en-US"/>
              <a:t> </a:t>
            </a:r>
            <a:r>
              <a:rPr lang="en-US" altLang="ko-KR"/>
              <a:t>SET</a:t>
            </a:r>
            <a:r>
              <a:rPr lang="ko-KR" altLang="en-US"/>
              <a:t>과 </a:t>
            </a:r>
            <a:r>
              <a:rPr lang="en-US" altLang="ko-KR"/>
              <a:t>:= </a:t>
            </a:r>
            <a:r>
              <a:rPr lang="ko-KR" altLang="en-US"/>
              <a:t>기호를 사용함</a:t>
            </a:r>
            <a:r>
              <a:rPr lang="en-US" altLang="ko-KR"/>
              <a:t> </a:t>
            </a:r>
          </a:p>
          <a:p>
            <a:r>
              <a:rPr lang="ko-KR" altLang="en-US"/>
              <a:t>자료를 일부분만 확인하여 처리할 때 유용함</a:t>
            </a:r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40342" y="2708920"/>
          <a:ext cx="7632848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4-11  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목록에서 고객번호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전화번호를 앞의 두 명만 보이시오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7584" y="3248980"/>
            <a:ext cx="77768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SET 	@</a:t>
            </a:r>
            <a:r>
              <a:rPr lang="en-US" altLang="ko-KR" sz="1400" err="1">
                <a:ea typeface="맑은 고딕" panose="020B0503020000020004" pitchFamily="50" charset="-127"/>
              </a:rPr>
              <a:t>seq</a:t>
            </a:r>
            <a:r>
              <a:rPr lang="en-US" altLang="ko-KR" sz="1400">
                <a:ea typeface="맑은 고딕" panose="020B0503020000020004" pitchFamily="50" charset="-127"/>
              </a:rPr>
              <a:t>:=0;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SELECT	(@</a:t>
            </a:r>
            <a:r>
              <a:rPr lang="en-US" altLang="ko-KR" sz="1400" err="1">
                <a:ea typeface="맑은 고딕" panose="020B0503020000020004" pitchFamily="50" charset="-127"/>
              </a:rPr>
              <a:t>seq</a:t>
            </a:r>
            <a:r>
              <a:rPr lang="en-US" altLang="ko-KR" sz="1400">
                <a:ea typeface="맑은 고딕" panose="020B0503020000020004" pitchFamily="50" charset="-127"/>
              </a:rPr>
              <a:t>:=@seq+1) '</a:t>
            </a:r>
            <a:r>
              <a:rPr lang="ko-KR" altLang="en-US" sz="1400">
                <a:ea typeface="맑은 고딕" panose="020B0503020000020004" pitchFamily="50" charset="-127"/>
              </a:rPr>
              <a:t>순번</a:t>
            </a:r>
            <a:r>
              <a:rPr lang="en-US" altLang="ko-KR" sz="1400">
                <a:ea typeface="맑은 고딕" panose="020B0503020000020004" pitchFamily="50" charset="-127"/>
              </a:rPr>
              <a:t>',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, name, phone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@</a:t>
            </a:r>
            <a:r>
              <a:rPr lang="en-US" altLang="ko-KR" sz="1400" err="1">
                <a:ea typeface="맑은 고딕" panose="020B0503020000020004" pitchFamily="50" charset="-127"/>
              </a:rPr>
              <a:t>seq</a:t>
            </a:r>
            <a:r>
              <a:rPr lang="en-US" altLang="ko-KR" sz="1400">
                <a:ea typeface="맑은 고딕" panose="020B0503020000020004" pitchFamily="50" charset="-127"/>
              </a:rPr>
              <a:t> &lt; 2;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355602"/>
            <a:ext cx="2691954" cy="8604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1851789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부속질의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628056" y="29333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스칼라 부속질의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SELECT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부속질의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인라인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뷰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FROM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부속질의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중첩질의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WHERE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부속질의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336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부속질의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lang="en-US" altLang="ko-KR" sz="2000" err="1">
                <a:solidFill>
                  <a:schemeClr val="tx2"/>
                </a:solidFill>
                <a:latin typeface="+mn-ea"/>
                <a:ea typeface="+mn-ea"/>
              </a:rPr>
              <a:t>subquery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)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란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?</a:t>
            </a:r>
          </a:p>
          <a:p>
            <a:pPr lvl="1"/>
            <a:r>
              <a:rPr lang="ko-KR" altLang="en-US" sz="1400">
                <a:latin typeface="+mn-lt"/>
                <a:ea typeface="+mn-ea"/>
              </a:rPr>
              <a:t>하나의 </a:t>
            </a:r>
            <a:r>
              <a:rPr lang="en-US" altLang="ko-KR" sz="1400">
                <a:latin typeface="+mn-lt"/>
                <a:ea typeface="+mn-ea"/>
              </a:rPr>
              <a:t>SQL </a:t>
            </a:r>
            <a:r>
              <a:rPr lang="ko-KR" altLang="en-US" sz="1400">
                <a:latin typeface="+mn-lt"/>
                <a:ea typeface="+mn-ea"/>
              </a:rPr>
              <a:t>문 안에 다른 </a:t>
            </a:r>
            <a:r>
              <a:rPr lang="en-US" altLang="ko-KR" sz="1400">
                <a:latin typeface="+mn-lt"/>
                <a:ea typeface="+mn-ea"/>
              </a:rPr>
              <a:t>SQL </a:t>
            </a:r>
            <a:r>
              <a:rPr lang="ko-KR" altLang="en-US" sz="1400">
                <a:latin typeface="+mn-lt"/>
                <a:ea typeface="+mn-ea"/>
              </a:rPr>
              <a:t>문이 중첩된</a:t>
            </a:r>
            <a:r>
              <a:rPr lang="en-US" altLang="ko-KR" sz="1400">
                <a:latin typeface="+mn-lt"/>
                <a:ea typeface="+mn-ea"/>
              </a:rPr>
              <a:t>(nested) </a:t>
            </a:r>
            <a:r>
              <a:rPr lang="ko-KR" altLang="en-US" sz="1400">
                <a:latin typeface="+mn-lt"/>
                <a:ea typeface="+mn-ea"/>
              </a:rPr>
              <a:t>질의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다른 테이블에서 가져온 데이터로 현재 테이블에 있는 정보를 찾거나 가공할 때 사용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보통 데이터가 대량일 때 데이터를 모두 합쳐서 연산하는 조인보다 필요한 데이터만 찾아서 공급해주는 부속질의가 성능이 더 좋음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 err="1">
                <a:latin typeface="+mn-lt"/>
                <a:ea typeface="+mn-ea"/>
              </a:rPr>
              <a:t>주질의</a:t>
            </a:r>
            <a:r>
              <a:rPr lang="en-US" altLang="ko-KR" sz="1400">
                <a:latin typeface="+mn-lt"/>
                <a:ea typeface="+mn-ea"/>
              </a:rPr>
              <a:t>(main query, </a:t>
            </a:r>
            <a:r>
              <a:rPr lang="ko-KR" altLang="en-US" sz="1400">
                <a:latin typeface="+mn-lt"/>
                <a:ea typeface="+mn-ea"/>
              </a:rPr>
              <a:t>외부질의</a:t>
            </a:r>
            <a:r>
              <a:rPr lang="en-US" altLang="ko-KR" sz="1400">
                <a:latin typeface="+mn-lt"/>
                <a:ea typeface="+mn-ea"/>
              </a:rPr>
              <a:t>)</a:t>
            </a:r>
            <a:r>
              <a:rPr lang="ko-KR" altLang="en-US" sz="1400">
                <a:latin typeface="+mn-lt"/>
                <a:ea typeface="+mn-ea"/>
              </a:rPr>
              <a:t>와 부속질의</a:t>
            </a:r>
            <a:r>
              <a:rPr lang="en-US" altLang="ko-KR" sz="1400">
                <a:latin typeface="+mn-lt"/>
                <a:ea typeface="+mn-ea"/>
              </a:rPr>
              <a:t>(sub query, </a:t>
            </a:r>
            <a:r>
              <a:rPr lang="ko-KR" altLang="en-US" sz="1400">
                <a:latin typeface="+mn-lt"/>
                <a:ea typeface="+mn-ea"/>
              </a:rPr>
              <a:t>내부질의</a:t>
            </a:r>
            <a:r>
              <a:rPr lang="en-US" altLang="ko-KR" sz="1400">
                <a:latin typeface="+mn-lt"/>
                <a:ea typeface="+mn-ea"/>
              </a:rPr>
              <a:t>)</a:t>
            </a:r>
            <a:r>
              <a:rPr lang="ko-KR" altLang="en-US" sz="1400">
                <a:latin typeface="+mn-lt"/>
                <a:ea typeface="+mn-ea"/>
              </a:rPr>
              <a:t>로 구성됨</a:t>
            </a:r>
            <a:r>
              <a:rPr lang="en-US" altLang="ko-KR" sz="1400">
                <a:latin typeface="+mn-lt"/>
                <a:ea typeface="+mn-ea"/>
              </a:rPr>
              <a:t> </a:t>
            </a:r>
            <a:endParaRPr lang="ko-KR" altLang="en-US" sz="1400">
              <a:latin typeface="+mn-lt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6312" y="573325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4-2 </a:t>
            </a:r>
            <a:r>
              <a:rPr lang="ko-KR" altLang="en-US" sz="1400" b="1">
                <a:ea typeface="맑은 고딕" panose="020B0503020000020004" pitchFamily="50" charset="-127"/>
              </a:rPr>
              <a:t>부속질의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284984"/>
            <a:ext cx="5390338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20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부속질의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11559" y="1628799"/>
          <a:ext cx="7920881" cy="3157369"/>
        </p:xfrm>
        <a:graphic>
          <a:graphicData uri="http://schemas.openxmlformats.org/drawingml/2006/table">
            <a:tbl>
              <a:tblPr/>
              <a:tblGrid>
                <a:gridCol w="1584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영문 및 동의어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176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스칼라 부속질의</a:t>
                      </a:r>
                      <a:endParaRPr lang="ko-KR" altLang="en-US" sz="1400" b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SELECT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scalar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SELECT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절에서 사용되며 단일 값을 반환하기 때문에 스칼라 부속질의라고 함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176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인라인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뷰</a:t>
                      </a:r>
                      <a:endParaRPr lang="ko-KR" altLang="en-US" sz="1400" b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FROM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inline view,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table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FROM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절에서 결과를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뷰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(view)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형태로 반환하기 때문에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인라인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뷰라고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함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0976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중첩질의</a:t>
                      </a:r>
                      <a:endParaRPr lang="ko-KR" altLang="en-US" sz="1400" b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WHERE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nested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predicate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WHERE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절에 술어와 같이 사용되며 결과를 한정시키기 위해 사용됨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상관 혹은 비상관 형태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7544" y="126876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4-6 </a:t>
            </a:r>
            <a:r>
              <a:rPr lang="ko-KR" altLang="en-US" sz="1400" b="1">
                <a:ea typeface="맑은 고딕" panose="020B0503020000020004" pitchFamily="50" charset="-127"/>
              </a:rPr>
              <a:t>부속질의의 종류</a:t>
            </a:r>
          </a:p>
        </p:txBody>
      </p:sp>
    </p:spTree>
    <p:extLst>
      <p:ext uri="{BB962C8B-B14F-4D97-AF65-F5344CB8AC3E}">
        <p14:creationId xmlns:p14="http://schemas.microsoft.com/office/powerpoint/2010/main" val="3092686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280920" cy="54726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스칼라 부속질의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(scalar </a:t>
            </a:r>
            <a:r>
              <a:rPr lang="en-US" altLang="ko-KR" sz="2000" err="1">
                <a:solidFill>
                  <a:schemeClr val="tx2"/>
                </a:solidFill>
                <a:latin typeface="+mn-ea"/>
                <a:ea typeface="+mn-ea"/>
              </a:rPr>
              <a:t>subquery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)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란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?</a:t>
            </a:r>
          </a:p>
          <a:p>
            <a:pPr lvl="1" latinLnBrk="0"/>
            <a:r>
              <a:rPr lang="en-US" altLang="ko-KR" sz="1400">
                <a:latin typeface="+mn-lt"/>
                <a:ea typeface="+mn-ea"/>
              </a:rPr>
              <a:t>SELECT </a:t>
            </a:r>
            <a:r>
              <a:rPr lang="ko-KR" altLang="en-US" sz="1400">
                <a:latin typeface="+mn-lt"/>
                <a:ea typeface="+mn-ea"/>
              </a:rPr>
              <a:t>절에서 사용되는 부속질의로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부속질의의 결과 값을 단일 행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단일 열의 스칼라 값으로 반환함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원칙적으로 스칼라 값이 들어갈 수 있는 모든 곳에 사용 가능하며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일반적으로 </a:t>
            </a:r>
            <a:r>
              <a:rPr lang="en-US" altLang="ko-KR" sz="1400">
                <a:latin typeface="+mn-lt"/>
                <a:ea typeface="+mn-ea"/>
              </a:rPr>
              <a:t>SELECT </a:t>
            </a:r>
            <a:r>
              <a:rPr lang="ko-KR" altLang="en-US" sz="1400">
                <a:latin typeface="+mn-lt"/>
                <a:ea typeface="+mn-ea"/>
              </a:rPr>
              <a:t>문과 </a:t>
            </a:r>
            <a:r>
              <a:rPr lang="en-US" altLang="ko-KR" sz="1400">
                <a:latin typeface="+mn-lt"/>
                <a:ea typeface="+mn-ea"/>
              </a:rPr>
              <a:t>UPDATE SET </a:t>
            </a:r>
            <a:r>
              <a:rPr lang="ko-KR" altLang="en-US" sz="1400">
                <a:latin typeface="+mn-lt"/>
                <a:ea typeface="+mn-ea"/>
              </a:rPr>
              <a:t>절에 사용됨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 err="1">
                <a:latin typeface="+mn-lt"/>
                <a:ea typeface="+mn-ea"/>
              </a:rPr>
              <a:t>주질의와</a:t>
            </a:r>
            <a:r>
              <a:rPr lang="ko-KR" altLang="en-US" sz="1400">
                <a:latin typeface="+mn-lt"/>
                <a:ea typeface="+mn-ea"/>
              </a:rPr>
              <a:t> 부속질의와의 관계는 상관</a:t>
            </a:r>
            <a:r>
              <a:rPr lang="en-US" altLang="ko-KR" sz="1400">
                <a:latin typeface="+mn-lt"/>
                <a:ea typeface="+mn-ea"/>
              </a:rPr>
              <a:t>/</a:t>
            </a:r>
            <a:r>
              <a:rPr lang="ko-KR" altLang="en-US" sz="1400">
                <a:latin typeface="+mn-lt"/>
                <a:ea typeface="+mn-ea"/>
              </a:rPr>
              <a:t>비상관 모두 가능함</a:t>
            </a:r>
            <a:endParaRPr lang="en-US" altLang="ko-KR" sz="1400">
              <a:latin typeface="+mn-lt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600" y="551723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4-3 </a:t>
            </a:r>
            <a:r>
              <a:rPr lang="ko-KR" altLang="en-US" sz="1400" b="1">
                <a:ea typeface="맑은 고딕" panose="020B0503020000020004" pitchFamily="50" charset="-127"/>
              </a:rPr>
              <a:t>스칼라</a:t>
            </a:r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1400" b="1">
                <a:ea typeface="맑은 고딕" panose="020B0503020000020004" pitchFamily="50" charset="-127"/>
              </a:rPr>
              <a:t>부속질의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284984"/>
            <a:ext cx="5282862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66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663799" y="1350640"/>
          <a:ext cx="7796633" cy="63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8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4-12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마당서점의 고객별 판매액을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고객이름과 고객별 판매액을 출력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84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7584" y="1916832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62050" indent="-1162050"/>
            <a:r>
              <a:rPr lang="en-US" altLang="ko-KR" sz="1400">
                <a:ea typeface="맑은 고딕" panose="020B0503020000020004" pitchFamily="50" charset="-127"/>
              </a:rPr>
              <a:t>SELECT         ( SELECT   name</a:t>
            </a:r>
          </a:p>
          <a:p>
            <a:pPr marL="1162050" indent="-1162050"/>
            <a:r>
              <a:rPr lang="en-US" altLang="ko-KR" sz="1400">
                <a:ea typeface="맑은 고딕" panose="020B0503020000020004" pitchFamily="50" charset="-127"/>
              </a:rPr>
              <a:t>                    FROM    Customer </a:t>
            </a:r>
            <a:r>
              <a:rPr lang="en-US" altLang="ko-KR" sz="1400" err="1">
                <a:ea typeface="맑은 고딕" panose="020B0503020000020004" pitchFamily="50" charset="-127"/>
              </a:rPr>
              <a:t>cs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1162050" indent="-1162050"/>
            <a:r>
              <a:rPr lang="en-US" altLang="ko-KR" sz="1400">
                <a:ea typeface="맑은 고딕" panose="020B0503020000020004" pitchFamily="50" charset="-127"/>
              </a:rPr>
              <a:t>                    WHERE   </a:t>
            </a:r>
            <a:r>
              <a:rPr lang="en-US" altLang="ko-KR" sz="1400" err="1">
                <a:ea typeface="맑은 고딕" panose="020B0503020000020004" pitchFamily="50" charset="-127"/>
              </a:rPr>
              <a:t>cs.custid</a:t>
            </a:r>
            <a:r>
              <a:rPr lang="en-US" altLang="ko-KR" sz="1400">
                <a:ea typeface="맑은 고딕" panose="020B0503020000020004" pitchFamily="50" charset="-127"/>
              </a:rPr>
              <a:t>=</a:t>
            </a:r>
            <a:r>
              <a:rPr lang="en-US" altLang="ko-KR" sz="1400" err="1">
                <a:ea typeface="맑은 고딕" panose="020B0503020000020004" pitchFamily="50" charset="-127"/>
              </a:rPr>
              <a:t>od.custid</a:t>
            </a:r>
            <a:r>
              <a:rPr lang="en-US" altLang="ko-KR" sz="1400">
                <a:ea typeface="맑은 고딕" panose="020B0503020000020004" pitchFamily="50" charset="-127"/>
              </a:rPr>
              <a:t> ) ‘name’, SUM(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    Orders </a:t>
            </a:r>
            <a:r>
              <a:rPr lang="en-US" altLang="ko-KR" sz="1400" err="1">
                <a:ea typeface="맑은 고딕" panose="020B0503020000020004" pitchFamily="50" charset="-127"/>
              </a:rPr>
              <a:t>od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1162050" indent="-1162050"/>
            <a:r>
              <a:rPr lang="en-US" altLang="ko-KR" sz="1400">
                <a:ea typeface="맑은 고딕" panose="020B0503020000020004" pitchFamily="50" charset="-127"/>
              </a:rPr>
              <a:t>GROUP BY     </a:t>
            </a:r>
            <a:r>
              <a:rPr lang="en-US" altLang="ko-KR" sz="1400" err="1">
                <a:ea typeface="맑은 고딕" panose="020B0503020000020004" pitchFamily="50" charset="-127"/>
              </a:rPr>
              <a:t>od.custid</a:t>
            </a:r>
            <a:r>
              <a:rPr lang="en-US" altLang="ko-KR" sz="1400">
                <a:ea typeface="맑은 고딕" panose="020B0503020000020004" pitchFamily="50" charset="-127"/>
              </a:rPr>
              <a:t>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56992"/>
            <a:ext cx="1152128" cy="110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9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6352" y="602128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4-4 </a:t>
            </a:r>
            <a:r>
              <a:rPr lang="ko-KR" altLang="en-US" sz="1400" b="1">
                <a:ea typeface="맑은 고딕" panose="020B0503020000020004" pitchFamily="50" charset="-127"/>
              </a:rPr>
              <a:t>마당서점의</a:t>
            </a:r>
            <a:r>
              <a:rPr lang="en-US" altLang="ko-KR" sz="1400" b="1">
                <a:ea typeface="맑은 고딕" panose="020B0503020000020004" pitchFamily="50" charset="-127"/>
              </a:rPr>
              <a:t> </a:t>
            </a:r>
            <a:r>
              <a:rPr lang="ko-KR" altLang="en-US" sz="1400" b="1">
                <a:ea typeface="맑은 고딕" panose="020B0503020000020004" pitchFamily="50" charset="-127"/>
              </a:rPr>
              <a:t>고객별 판매액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12776"/>
            <a:ext cx="6192688" cy="453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23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663799" y="1350640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4-12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Orders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테이블에 각 주문에 맞는 도서이름을 입력하시오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796416" y="1988840"/>
            <a:ext cx="6655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UPDATE 	Orders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SET 	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r>
              <a:rPr lang="en-US" altLang="ko-KR" sz="1400">
                <a:ea typeface="맑은 고딕" panose="020B0503020000020004" pitchFamily="50" charset="-127"/>
              </a:rPr>
              <a:t> = ( SELECT 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1971675"/>
            <a:r>
              <a:rPr lang="en-US" altLang="ko-KR" sz="1400">
                <a:ea typeface="맑은 고딕" panose="020B0503020000020004" pitchFamily="50" charset="-127"/>
              </a:rPr>
              <a:t>   FROM Book</a:t>
            </a:r>
          </a:p>
          <a:p>
            <a:pPr marL="1971675"/>
            <a:r>
              <a:rPr lang="en-US" altLang="ko-KR" sz="1400">
                <a:ea typeface="맑은 고딕" panose="020B0503020000020004" pitchFamily="50" charset="-127"/>
              </a:rPr>
              <a:t>   WHERE </a:t>
            </a:r>
            <a:r>
              <a:rPr lang="en-US" altLang="ko-KR" sz="1400" err="1">
                <a:ea typeface="맑은 고딕" panose="020B0503020000020004" pitchFamily="50" charset="-127"/>
              </a:rPr>
              <a:t>Book.bookid</a:t>
            </a:r>
            <a:r>
              <a:rPr lang="en-US" altLang="ko-KR" sz="1400">
                <a:ea typeface="맑은 고딕" panose="020B0503020000020004" pitchFamily="50" charset="-127"/>
              </a:rPr>
              <a:t>=</a:t>
            </a:r>
            <a:r>
              <a:rPr lang="en-US" altLang="ko-KR" sz="1400" err="1">
                <a:ea typeface="맑은 고딕" panose="020B0503020000020004" pitchFamily="50" charset="-127"/>
              </a:rPr>
              <a:t>Orders.bookid</a:t>
            </a:r>
            <a:r>
              <a:rPr lang="en-US" altLang="ko-KR" sz="1400">
                <a:ea typeface="맑은 고딕" panose="020B0503020000020004" pitchFamily="50" charset="-127"/>
              </a:rPr>
              <a:t> 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140968"/>
            <a:ext cx="4111774" cy="205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2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 err="1"/>
              <a:t>인라인</a:t>
            </a:r>
            <a:r>
              <a:rPr lang="ko-KR" altLang="en-US"/>
              <a:t> </a:t>
            </a:r>
            <a:r>
              <a:rPr lang="ko-KR" altLang="en-US" err="1"/>
              <a:t>뷰</a:t>
            </a:r>
            <a:r>
              <a:rPr lang="en-US" altLang="ko-KR"/>
              <a:t>- FROM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352928" cy="54726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 err="1">
                <a:solidFill>
                  <a:schemeClr val="tx2"/>
                </a:solidFill>
                <a:latin typeface="+mn-ea"/>
                <a:ea typeface="+mn-ea"/>
              </a:rPr>
              <a:t>인라인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ko-KR" altLang="en-US" sz="2000" err="1">
                <a:solidFill>
                  <a:schemeClr val="tx2"/>
                </a:solidFill>
                <a:latin typeface="+mn-ea"/>
                <a:ea typeface="+mn-ea"/>
              </a:rPr>
              <a:t>뷰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(inline view)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란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?</a:t>
            </a:r>
          </a:p>
          <a:p>
            <a:pPr lvl="1" latinLnBrk="0"/>
            <a:r>
              <a:rPr lang="en-US" altLang="ko-KR" sz="1400">
                <a:latin typeface="+mn-lt"/>
                <a:ea typeface="+mn-ea"/>
              </a:rPr>
              <a:t>FROM </a:t>
            </a:r>
            <a:r>
              <a:rPr lang="ko-KR" altLang="en-US" sz="1400">
                <a:latin typeface="+mn-lt"/>
                <a:ea typeface="+mn-ea"/>
              </a:rPr>
              <a:t>절에서 사용되는 부속질의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테이블 이름 대신 </a:t>
            </a:r>
            <a:r>
              <a:rPr lang="ko-KR" altLang="en-US" sz="1400" err="1">
                <a:latin typeface="+mn-lt"/>
                <a:ea typeface="+mn-ea"/>
              </a:rPr>
              <a:t>인라인</a:t>
            </a:r>
            <a:r>
              <a:rPr lang="ko-KR" altLang="en-US" sz="1400">
                <a:latin typeface="+mn-lt"/>
                <a:ea typeface="+mn-ea"/>
              </a:rPr>
              <a:t> </a:t>
            </a:r>
            <a:r>
              <a:rPr lang="ko-KR" altLang="en-US" sz="1400" err="1">
                <a:latin typeface="+mn-lt"/>
                <a:ea typeface="+mn-ea"/>
              </a:rPr>
              <a:t>뷰</a:t>
            </a:r>
            <a:r>
              <a:rPr lang="ko-KR" altLang="en-US" sz="1400">
                <a:latin typeface="+mn-lt"/>
                <a:ea typeface="+mn-ea"/>
              </a:rPr>
              <a:t> 부속질의를 사용하면 보통의 테이블과 같은 형태로 사용할 수 있음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부속질의 결과 반환되는 데이터는 다중 행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다중 열이어도 상관없음</a:t>
            </a:r>
            <a:r>
              <a:rPr lang="en-US" altLang="ko-KR" sz="1400">
                <a:latin typeface="+mn-lt"/>
                <a:ea typeface="+mn-ea"/>
              </a:rPr>
              <a:t> </a:t>
            </a: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다만 가상의 테이블인 뷰 형태로 제공되어 상관 부속질의로 사용될 수는 없음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3271044"/>
          <a:ext cx="770485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4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4-14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고객번호가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이하인 고객의 판매액을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고객이름과 고객별 판매액 출력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018781" y="3933056"/>
            <a:ext cx="657755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cs.name, SUM(</a:t>
            </a:r>
            <a:r>
              <a:rPr lang="en-US" altLang="ko-KR" sz="1400" err="1">
                <a:ea typeface="맑은 고딕" panose="020B0503020000020004" pitchFamily="50" charset="-127"/>
              </a:rPr>
              <a:t>od.saleprice</a:t>
            </a:r>
            <a:r>
              <a:rPr lang="en-US" altLang="ko-KR" sz="140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(SELECT 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, name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	 FROM   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	 WHERE 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 &lt;= 2) </a:t>
            </a:r>
            <a:r>
              <a:rPr lang="en-US" altLang="ko-KR" sz="1400" err="1">
                <a:ea typeface="맑은 고딕" panose="020B0503020000020004" pitchFamily="50" charset="-127"/>
              </a:rPr>
              <a:t>cs</a:t>
            </a:r>
            <a:r>
              <a:rPr lang="en-US" altLang="ko-KR" sz="1400">
                <a:ea typeface="맑은 고딕" panose="020B0503020000020004" pitchFamily="50" charset="-127"/>
              </a:rPr>
              <a:t>,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	 Orders   od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cs.custid</a:t>
            </a:r>
            <a:r>
              <a:rPr lang="en-US" altLang="ko-KR" sz="1400">
                <a:ea typeface="맑은 고딕" panose="020B0503020000020004" pitchFamily="50" charset="-127"/>
              </a:rPr>
              <a:t>=</a:t>
            </a:r>
            <a:r>
              <a:rPr lang="en-US" altLang="ko-KR" sz="1400" err="1">
                <a:ea typeface="맑은 고딕" panose="020B0503020000020004" pitchFamily="50" charset="-127"/>
              </a:rPr>
              <a:t>od.custid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GROUP BY cs.name;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4005064"/>
            <a:ext cx="1241699" cy="73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 err="1"/>
              <a:t>인라인</a:t>
            </a:r>
            <a:r>
              <a:rPr lang="ko-KR" altLang="en-US"/>
              <a:t> </a:t>
            </a:r>
            <a:r>
              <a:rPr lang="ko-KR" altLang="en-US" err="1"/>
              <a:t>뷰</a:t>
            </a:r>
            <a:r>
              <a:rPr lang="en-US" altLang="ko-KR"/>
              <a:t>- FROM </a:t>
            </a:r>
            <a:r>
              <a:rPr lang="ko-KR" altLang="en-US"/>
              <a:t>부속질의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5696" y="465313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4-5 </a:t>
            </a:r>
            <a:r>
              <a:rPr lang="ko-KR" altLang="en-US" sz="1400" b="1" err="1">
                <a:ea typeface="맑은 고딕" panose="020B0503020000020004" pitchFamily="50" charset="-127"/>
              </a:rPr>
              <a:t>인라인</a:t>
            </a:r>
            <a:r>
              <a:rPr lang="ko-KR" altLang="en-US" sz="1400" b="1">
                <a:ea typeface="맑은 고딕" panose="020B0503020000020004" pitchFamily="50" charset="-127"/>
              </a:rPr>
              <a:t> </a:t>
            </a:r>
            <a:r>
              <a:rPr lang="ko-KR" altLang="en-US" sz="1400" b="1" err="1">
                <a:ea typeface="맑은 고딕" panose="020B0503020000020004" pitchFamily="50" charset="-127"/>
              </a:rPr>
              <a:t>뷰</a:t>
            </a:r>
            <a:endParaRPr lang="ko-KR" altLang="en-US" sz="1400" b="1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746" y="1772816"/>
            <a:ext cx="5147732" cy="279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90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/>
              <a:t>중첩질의</a:t>
            </a:r>
            <a:r>
              <a:rPr lang="en-US" altLang="ko-KR"/>
              <a:t>(nested </a:t>
            </a:r>
            <a:r>
              <a:rPr lang="en-US" altLang="ko-KR" err="1"/>
              <a:t>subquery</a:t>
            </a:r>
            <a:r>
              <a:rPr lang="en-US" altLang="ko-KR"/>
              <a:t>) : WHERE </a:t>
            </a:r>
            <a:r>
              <a:rPr lang="ko-KR" altLang="en-US"/>
              <a:t>절에서 사용되는 부속질의</a:t>
            </a:r>
            <a:r>
              <a:rPr lang="en-US" altLang="ko-KR"/>
              <a:t> </a:t>
            </a:r>
          </a:p>
          <a:p>
            <a:pPr algn="just"/>
            <a:r>
              <a:rPr lang="en-US" altLang="ko-KR"/>
              <a:t>WHERE </a:t>
            </a:r>
            <a:r>
              <a:rPr lang="ko-KR" altLang="en-US"/>
              <a:t>절은 보통 데이터를 선택하는 조건 혹은 술어</a:t>
            </a:r>
            <a:r>
              <a:rPr lang="en-US" altLang="ko-KR"/>
              <a:t>(predicate)</a:t>
            </a:r>
            <a:r>
              <a:rPr lang="ko-KR" altLang="en-US"/>
              <a:t>와 같이 사용됨</a:t>
            </a:r>
            <a:r>
              <a:rPr lang="en-US" altLang="ko-KR"/>
              <a:t> </a:t>
            </a:r>
            <a:r>
              <a:rPr lang="ko-KR" altLang="en-US"/>
              <a:t>→ 중첩질의를 술어 부속질의</a:t>
            </a:r>
            <a:r>
              <a:rPr lang="en-US" altLang="ko-KR"/>
              <a:t>(predicate </a:t>
            </a:r>
            <a:r>
              <a:rPr lang="en-US" altLang="ko-KR" err="1"/>
              <a:t>subquery</a:t>
            </a:r>
            <a:r>
              <a:rPr lang="en-US" altLang="ko-KR"/>
              <a:t>)</a:t>
            </a:r>
            <a:r>
              <a:rPr lang="ko-KR" altLang="en-US"/>
              <a:t>라고도 함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83568" y="2829034"/>
          <a:ext cx="7776865" cy="2472174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10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술어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행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＞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＜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＞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＜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＜＞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IN, NOT IN</a:t>
                      </a:r>
                      <a:endParaRPr lang="en-US" altLang="ko-KR" sz="14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한정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(quantified)</a:t>
                      </a:r>
                      <a:endParaRPr lang="ko-KR" altLang="en-US" sz="14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ALL, SOME(ANY)</a:t>
                      </a:r>
                      <a:endParaRPr lang="en-US" altLang="ko-KR" sz="14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EXISTS, NOT EXISTS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4518" y="24928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4-7 </a:t>
            </a:r>
            <a:r>
              <a:rPr lang="ko-KR" altLang="en-US" sz="1400" b="1">
                <a:ea typeface="맑은 고딕" panose="020B0503020000020004" pitchFamily="50" charset="-127"/>
              </a:rPr>
              <a:t>중첩질의 연산자의 종류</a:t>
            </a:r>
          </a:p>
        </p:txBody>
      </p:sp>
    </p:spTree>
    <p:extLst>
      <p:ext uri="{BB962C8B-B14F-4D97-AF65-F5344CB8AC3E}">
        <p14:creationId xmlns:p14="http://schemas.microsoft.com/office/powerpoint/2010/main" val="4265730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비교 연산자</a:t>
            </a:r>
            <a:b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</a:br>
            <a:r>
              <a:rPr lang="ko-KR" altLang="en-US" sz="1400" b="0" spc="-100">
                <a:latin typeface="+mn-ea"/>
                <a:ea typeface="+mn-ea"/>
              </a:rPr>
              <a:t>부속질의가 반드시 단일 행</a:t>
            </a:r>
            <a:r>
              <a:rPr lang="en-US" altLang="ko-KR" sz="1400" b="0" spc="-100">
                <a:latin typeface="+mn-ea"/>
                <a:ea typeface="+mn-ea"/>
              </a:rPr>
              <a:t>, </a:t>
            </a:r>
            <a:r>
              <a:rPr lang="ko-KR" altLang="en-US" sz="1400" b="0" spc="-100">
                <a:latin typeface="+mn-ea"/>
                <a:ea typeface="+mn-ea"/>
              </a:rPr>
              <a:t>단일 열을 반환해야 하며</a:t>
            </a:r>
            <a:r>
              <a:rPr lang="en-US" altLang="ko-KR" sz="1400" b="0" spc="-100">
                <a:latin typeface="+mn-ea"/>
                <a:ea typeface="+mn-ea"/>
              </a:rPr>
              <a:t>, </a:t>
            </a:r>
            <a:r>
              <a:rPr lang="ko-KR" altLang="en-US" sz="1400" b="0" spc="-100">
                <a:latin typeface="+mn-ea"/>
                <a:ea typeface="+mn-ea"/>
              </a:rPr>
              <a:t>아닐 경우 질의를 처리할 수 없음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45729" y="2276872"/>
          <a:ext cx="77867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4-15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평균 주문금액 이하의 주문에 대해서 주문번호와 금액을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68424" y="2834933"/>
            <a:ext cx="6655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 &lt;= (SELECT AVG(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                                  FROM Orders);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757536" y="4206453"/>
          <a:ext cx="7796633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4-16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각 고객의 평균 주문금액보다 큰 금액의 주문 내역에 대해서 주문번호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고객번호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868424" y="4995753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 od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 &gt; (SELECT AVG(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</a:t>
            </a:r>
          </a:p>
          <a:p>
            <a:pPr marL="1885950"/>
            <a:r>
              <a:rPr lang="en-US" altLang="ko-KR" sz="1400">
                <a:ea typeface="맑은 고딕" panose="020B0503020000020004" pitchFamily="50" charset="-127"/>
              </a:rPr>
              <a:t> FROM Orders so</a:t>
            </a:r>
          </a:p>
          <a:p>
            <a:pPr marL="1885950"/>
            <a:r>
              <a:rPr lang="en-US" altLang="ko-KR" sz="1400">
                <a:ea typeface="맑은 고딕" panose="020B0503020000020004" pitchFamily="50" charset="-127"/>
              </a:rPr>
              <a:t> WHERE </a:t>
            </a:r>
            <a:r>
              <a:rPr lang="en-US" altLang="ko-KR" sz="1400" err="1">
                <a:ea typeface="맑은 고딕" panose="020B0503020000020004" pitchFamily="50" charset="-127"/>
              </a:rPr>
              <a:t>od.custid</a:t>
            </a:r>
            <a:r>
              <a:rPr lang="en-US" altLang="ko-KR" sz="1400">
                <a:ea typeface="맑은 고딕" panose="020B0503020000020004" pitchFamily="50" charset="-127"/>
              </a:rPr>
              <a:t>=</a:t>
            </a:r>
            <a:r>
              <a:rPr lang="en-US" altLang="ko-KR" sz="1400" err="1">
                <a:ea typeface="맑은 고딕" panose="020B0503020000020004" pitchFamily="50" charset="-127"/>
              </a:rPr>
              <a:t>so.custid</a:t>
            </a:r>
            <a:r>
              <a:rPr lang="en-US" altLang="ko-KR" sz="1400">
                <a:ea typeface="맑은 고딕" panose="020B0503020000020004" pitchFamily="50" charset="-127"/>
              </a:rPr>
              <a:t>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280" y="2780928"/>
            <a:ext cx="1368152" cy="109981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5013176"/>
            <a:ext cx="192481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2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57536" y="3527495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4-17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대한민국에 거주하는 고객에게 판매한 도서의 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총판매액을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940432" y="4059649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SUM(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 IN (SELECT  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1704975"/>
            <a:r>
              <a:rPr lang="en-US" altLang="ko-KR" sz="1400">
                <a:ea typeface="맑은 고딕" panose="020B0503020000020004" pitchFamily="50" charset="-127"/>
              </a:rPr>
              <a:t> FROM    Customer</a:t>
            </a:r>
          </a:p>
          <a:p>
            <a:pPr marL="1704975"/>
            <a:r>
              <a:rPr lang="en-US" altLang="ko-KR" sz="1400">
                <a:ea typeface="맑은 고딕" panose="020B0503020000020004" pitchFamily="50" charset="-127"/>
              </a:rPr>
              <a:t> WHERE   address LIKE '%</a:t>
            </a:r>
            <a:r>
              <a:rPr lang="ko-KR" altLang="en-US" sz="1400">
                <a:ea typeface="맑은 고딕" panose="020B0503020000020004" pitchFamily="50" charset="-127"/>
              </a:rPr>
              <a:t>대한민국</a:t>
            </a:r>
            <a:r>
              <a:rPr lang="en-US" altLang="ko-KR" sz="1400">
                <a:ea typeface="맑은 고딕" panose="020B0503020000020004" pitchFamily="50" charset="-127"/>
              </a:rPr>
              <a:t>%');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539552" y="1124744"/>
            <a:ext cx="8064896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  <a:latin typeface="+mn-ea"/>
                <a:ea typeface="+mn-ea"/>
              </a:rPr>
              <a:t>IN, NOT IN</a:t>
            </a:r>
          </a:p>
          <a:p>
            <a:pPr lvl="1"/>
            <a:r>
              <a:rPr kumimoji="0" lang="en-US" altLang="ko-KR" sz="1400">
                <a:latin typeface="+mn-lt"/>
                <a:ea typeface="+mn-ea"/>
              </a:rPr>
              <a:t>IN </a:t>
            </a:r>
            <a:r>
              <a:rPr kumimoji="0" lang="ko-KR" altLang="en-US" sz="1400">
                <a:latin typeface="+mn-lt"/>
                <a:ea typeface="+mn-ea"/>
              </a:rPr>
              <a:t>연산자는 </a:t>
            </a:r>
            <a:r>
              <a:rPr kumimoji="0" lang="ko-KR" altLang="en-US" sz="1400" err="1">
                <a:latin typeface="+mn-lt"/>
                <a:ea typeface="+mn-ea"/>
              </a:rPr>
              <a:t>주질의</a:t>
            </a:r>
            <a:r>
              <a:rPr kumimoji="0" lang="ko-KR" altLang="en-US" sz="1400">
                <a:latin typeface="+mn-lt"/>
                <a:ea typeface="+mn-ea"/>
              </a:rPr>
              <a:t> 속성 값이 부속질의에서 제공한 결과 집합에 있는지 확인하는 역할을 함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r>
              <a:rPr kumimoji="0" lang="en-US" altLang="ko-KR" sz="1400">
                <a:latin typeface="+mn-lt"/>
                <a:ea typeface="+mn-ea"/>
              </a:rPr>
              <a:t>IN </a:t>
            </a:r>
            <a:r>
              <a:rPr kumimoji="0" lang="ko-KR" altLang="en-US" sz="1400">
                <a:latin typeface="+mn-lt"/>
                <a:ea typeface="+mn-ea"/>
              </a:rPr>
              <a:t>연산자는 부속질의의 결과 다중 행을 가질 수 있음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r>
              <a:rPr kumimoji="0" lang="ko-KR" altLang="en-US" sz="1400" err="1">
                <a:latin typeface="+mn-lt"/>
                <a:ea typeface="+mn-ea"/>
              </a:rPr>
              <a:t>주질의는</a:t>
            </a:r>
            <a:r>
              <a:rPr kumimoji="0" lang="ko-KR" altLang="en-US" sz="1400">
                <a:latin typeface="+mn-lt"/>
                <a:ea typeface="+mn-ea"/>
              </a:rPr>
              <a:t> </a:t>
            </a:r>
            <a:r>
              <a:rPr kumimoji="0" lang="en-US" altLang="ko-KR" sz="1400">
                <a:latin typeface="+mn-lt"/>
                <a:ea typeface="+mn-ea"/>
              </a:rPr>
              <a:t>WHERE </a:t>
            </a:r>
            <a:r>
              <a:rPr kumimoji="0" lang="ko-KR" altLang="en-US" sz="1400">
                <a:latin typeface="+mn-lt"/>
                <a:ea typeface="+mn-ea"/>
              </a:rPr>
              <a:t>절에 사용되는 속성 값을 부속질의의 결과 집합과 비교해 하나라도 있으면 참이 됨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r>
              <a:rPr kumimoji="0" lang="en-US" altLang="ko-KR" sz="1400">
                <a:latin typeface="+mn-lt"/>
                <a:ea typeface="+mn-ea"/>
              </a:rPr>
              <a:t>NOT IN</a:t>
            </a:r>
            <a:r>
              <a:rPr kumimoji="0" lang="ko-KR" altLang="en-US" sz="1400">
                <a:latin typeface="+mn-lt"/>
                <a:ea typeface="+mn-ea"/>
              </a:rPr>
              <a:t>은 이와 반대로 값이 존재하지 않으면 참이 됨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endParaRPr kumimoji="0" lang="en-US" altLang="ko-KR" sz="1400">
              <a:latin typeface="+mn-lt"/>
              <a:ea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5373216"/>
            <a:ext cx="700019" cy="55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84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ALL, SOME(ANY)</a:t>
            </a:r>
          </a:p>
          <a:p>
            <a:pPr lvl="1"/>
            <a:r>
              <a:rPr lang="en-US" altLang="ko-KR" sz="1400">
                <a:latin typeface="+mn-lt"/>
                <a:ea typeface="+mn-ea"/>
              </a:rPr>
              <a:t>ALL</a:t>
            </a:r>
            <a:r>
              <a:rPr lang="ko-KR" altLang="en-US" sz="1400">
                <a:latin typeface="+mn-lt"/>
                <a:ea typeface="+mn-ea"/>
              </a:rPr>
              <a:t>은 모두</a:t>
            </a:r>
            <a:r>
              <a:rPr lang="en-US" altLang="ko-KR" sz="1400">
                <a:latin typeface="+mn-lt"/>
                <a:ea typeface="+mn-ea"/>
              </a:rPr>
              <a:t>, SOME(ANY)</a:t>
            </a:r>
            <a:r>
              <a:rPr lang="ko-KR" altLang="en-US" sz="1400">
                <a:latin typeface="+mn-lt"/>
                <a:ea typeface="+mn-ea"/>
              </a:rPr>
              <a:t>은 어떠한</a:t>
            </a:r>
            <a:r>
              <a:rPr lang="en-US" altLang="ko-KR" sz="1400">
                <a:latin typeface="+mn-lt"/>
                <a:ea typeface="+mn-ea"/>
              </a:rPr>
              <a:t>(</a:t>
            </a:r>
            <a:r>
              <a:rPr lang="ko-KR" altLang="en-US" sz="1400">
                <a:latin typeface="+mn-lt"/>
                <a:ea typeface="+mn-ea"/>
              </a:rPr>
              <a:t>최소한 하나라도</a:t>
            </a:r>
            <a:r>
              <a:rPr lang="en-US" altLang="ko-KR" sz="1400">
                <a:latin typeface="+mn-lt"/>
                <a:ea typeface="+mn-ea"/>
              </a:rPr>
              <a:t>)</a:t>
            </a:r>
            <a:r>
              <a:rPr lang="ko-KR" altLang="en-US" sz="1400">
                <a:latin typeface="+mn-lt"/>
                <a:ea typeface="+mn-ea"/>
              </a:rPr>
              <a:t>이라는 의미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구문 구조</a:t>
            </a:r>
            <a:endParaRPr lang="en-US" altLang="ko-KR" sz="1400">
              <a:latin typeface="+mn-lt"/>
              <a:ea typeface="+mn-ea"/>
            </a:endParaRPr>
          </a:p>
          <a:p>
            <a:pPr marL="714375" indent="-714375">
              <a:buNone/>
            </a:pP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	</a:t>
            </a:r>
            <a:endParaRPr lang="en-US" altLang="ko-KR" sz="1400" b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339" y="3509720"/>
          <a:ext cx="7486872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4-18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번 고객이 주문한 도서의 최고 금액보다 더 비싼 도서를 구입한 주문의 주문번호와 금액을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020504" y="4275673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 &gt; ALL (SELECT 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2238375"/>
            <a:r>
              <a:rPr lang="en-US" altLang="ko-KR" sz="1400">
                <a:ea typeface="맑은 고딕" panose="020B0503020000020004" pitchFamily="50" charset="-127"/>
              </a:rPr>
              <a:t> FROM   Orders</a:t>
            </a:r>
          </a:p>
          <a:p>
            <a:pPr marL="2238375"/>
            <a:r>
              <a:rPr lang="en-US" altLang="ko-KR" sz="1400">
                <a:ea typeface="맑은 고딕" panose="020B0503020000020004" pitchFamily="50" charset="-127"/>
              </a:rPr>
              <a:t> WHERE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='3');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04864"/>
            <a:ext cx="7200800" cy="86818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320" y="4365104"/>
            <a:ext cx="1432096" cy="78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31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EXISTS, NOT EXISTS</a:t>
            </a:r>
          </a:p>
          <a:p>
            <a:pPr lvl="1"/>
            <a:r>
              <a:rPr lang="ko-KR" altLang="en-US" sz="1400">
                <a:latin typeface="+mn-lt"/>
                <a:ea typeface="+mn-ea"/>
              </a:rPr>
              <a:t>데이터의 존재 유무를 확인하는 연산자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 err="1">
                <a:latin typeface="+mn-lt"/>
                <a:ea typeface="+mn-ea"/>
              </a:rPr>
              <a:t>주질의에서</a:t>
            </a:r>
            <a:r>
              <a:rPr lang="ko-KR" altLang="en-US" sz="1400">
                <a:latin typeface="+mn-lt"/>
                <a:ea typeface="+mn-ea"/>
              </a:rPr>
              <a:t> 부속질의로 제공된 속성의 값을 가지고 부속질의에 조건을 만족하여 값이 존재하면 참이 되고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 err="1">
                <a:latin typeface="+mn-lt"/>
                <a:ea typeface="+mn-ea"/>
              </a:rPr>
              <a:t>주질의는</a:t>
            </a:r>
            <a:r>
              <a:rPr lang="ko-KR" altLang="en-US" sz="1400">
                <a:latin typeface="+mn-lt"/>
                <a:ea typeface="+mn-ea"/>
              </a:rPr>
              <a:t> 해당 행의 데이터를 출력함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en-US" altLang="ko-KR" sz="1400">
                <a:latin typeface="+mn-lt"/>
                <a:ea typeface="+mn-ea"/>
              </a:rPr>
              <a:t>NOT EXIST</a:t>
            </a:r>
            <a:r>
              <a:rPr lang="ko-KR" altLang="en-US" sz="1400">
                <a:latin typeface="+mn-lt"/>
                <a:ea typeface="+mn-ea"/>
              </a:rPr>
              <a:t>의 경우 이와 반대로 동작함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구문 구조</a:t>
            </a:r>
            <a:br>
              <a:rPr lang="en-US" altLang="ko-KR" sz="1400">
                <a:latin typeface="+mn-lt"/>
                <a:ea typeface="+mn-ea"/>
              </a:rPr>
            </a:br>
            <a:endParaRPr lang="en-US" altLang="ko-KR" sz="1400">
              <a:latin typeface="+mn-lt"/>
              <a:ea typeface="+mn-ea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50850" y="3893981"/>
          <a:ext cx="7486872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4-19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EXISTS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연산자로 대한민국에 거주하는 고객에게 판매한 도서의 총 판매액을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004081" y="4659934"/>
            <a:ext cx="724032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SUM(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 </a:t>
            </a:r>
            <a:r>
              <a:rPr lang="en-US" altLang="ko-KR" sz="1400" err="1">
                <a:ea typeface="맑은 고딕" panose="020B0503020000020004" pitchFamily="50" charset="-127"/>
              </a:rPr>
              <a:t>od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WHERE 	EXISTS (SELECT   *</a:t>
            </a:r>
          </a:p>
          <a:p>
            <a:pPr marL="1524000"/>
            <a:r>
              <a:rPr lang="en-US" altLang="ko-KR" sz="1400">
                <a:ea typeface="맑은 고딕" panose="020B0503020000020004" pitchFamily="50" charset="-127"/>
              </a:rPr>
              <a:t> FROM    Customer </a:t>
            </a:r>
            <a:r>
              <a:rPr lang="en-US" altLang="ko-KR" sz="1400" err="1">
                <a:ea typeface="맑은 고딕" panose="020B0503020000020004" pitchFamily="50" charset="-127"/>
              </a:rPr>
              <a:t>cs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1524000"/>
            <a:r>
              <a:rPr lang="en-US" altLang="ko-KR" sz="1400">
                <a:ea typeface="맑은 고딕" panose="020B0503020000020004" pitchFamily="50" charset="-127"/>
              </a:rPr>
              <a:t> WHERE   address LIKE '%</a:t>
            </a:r>
            <a:r>
              <a:rPr lang="ko-KR" altLang="en-US" sz="1400">
                <a:ea typeface="맑은 고딕" panose="020B0503020000020004" pitchFamily="50" charset="-127"/>
              </a:rPr>
              <a:t>대한민국</a:t>
            </a:r>
            <a:r>
              <a:rPr lang="en-US" altLang="ko-KR" sz="1400">
                <a:ea typeface="맑은 고딕" panose="020B0503020000020004" pitchFamily="50" charset="-127"/>
              </a:rPr>
              <a:t>%' AND </a:t>
            </a:r>
            <a:r>
              <a:rPr lang="en-US" altLang="ko-KR" sz="1400" err="1">
                <a:ea typeface="맑은 고딕" panose="020B0503020000020004" pitchFamily="50" charset="-127"/>
              </a:rPr>
              <a:t>cs.custid</a:t>
            </a:r>
            <a:r>
              <a:rPr lang="en-US" altLang="ko-KR" sz="1400">
                <a:ea typeface="맑은 고딕" panose="020B0503020000020004" pitchFamily="50" charset="-127"/>
              </a:rPr>
              <a:t>=</a:t>
            </a:r>
            <a:r>
              <a:rPr lang="en-US" altLang="ko-KR" sz="1400" err="1">
                <a:ea typeface="맑은 고딕" panose="020B0503020000020004" pitchFamily="50" charset="-127"/>
              </a:rPr>
              <a:t>od.custid</a:t>
            </a:r>
            <a:r>
              <a:rPr lang="en-US" altLang="ko-KR" sz="1400">
                <a:ea typeface="맑은 고딕" panose="020B0503020000020004" pitchFamily="50" charset="-127"/>
              </a:rPr>
              <a:t>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1"/>
            <a:ext cx="7200800" cy="53609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76" y="5877272"/>
            <a:ext cx="595312" cy="5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20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8328</TotalTime>
  <Words>2900</Words>
  <Application>Microsoft Office PowerPoint</Application>
  <PresentationFormat>화면 슬라이드 쇼(4:3)</PresentationFormat>
  <Paragraphs>464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맑은 고딕</vt:lpstr>
      <vt:lpstr>Arial</vt:lpstr>
      <vt:lpstr>Wingdings</vt:lpstr>
      <vt:lpstr>Office 테마</vt:lpstr>
      <vt:lpstr>2_Office 테마</vt:lpstr>
      <vt:lpstr>PowerPoint 프레젠테이션</vt:lpstr>
      <vt:lpstr>실습 자료 링크</vt:lpstr>
      <vt:lpstr>PowerPoint 프레젠테이션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2. NULL 값 처리</vt:lpstr>
      <vt:lpstr>2. NULL 값 처리</vt:lpstr>
      <vt:lpstr>2. NULL 값 처리</vt:lpstr>
      <vt:lpstr>2. NULL 값 처리</vt:lpstr>
      <vt:lpstr>3. 행번호 출력</vt:lpstr>
      <vt:lpstr>PowerPoint 프레젠테이션</vt:lpstr>
      <vt:lpstr>부속질의</vt:lpstr>
      <vt:lpstr>부속질의</vt:lpstr>
      <vt:lpstr>1. 스칼라 부속질의 – SELECT 부속질의</vt:lpstr>
      <vt:lpstr>1. 스칼라 부속질의 – SELECT 부속질의</vt:lpstr>
      <vt:lpstr>1. 스칼라 부속질의 – SELECT 부속질의</vt:lpstr>
      <vt:lpstr>1. 스칼라 부속질의 – SELECT 부속질의</vt:lpstr>
      <vt:lpstr>2. 인라인 뷰- FROM 부속질의</vt:lpstr>
      <vt:lpstr>2. 인라인 뷰- FROM 부속질의</vt:lpstr>
      <vt:lpstr>3. 중첩질의 – WHERE 부속질의</vt:lpstr>
      <vt:lpstr>3. 중첩질의 – WHERE 부속질의</vt:lpstr>
      <vt:lpstr>3. 중첩질의 – WHERE 부속질의</vt:lpstr>
      <vt:lpstr>3. 중첩질의 – WHERE 부속질의</vt:lpstr>
      <vt:lpstr>3. 중첩질의 – WHERE 부속질의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605</cp:revision>
  <cp:lastPrinted>2023-02-19T06:43:06Z</cp:lastPrinted>
  <dcterms:created xsi:type="dcterms:W3CDTF">2012-07-11T10:23:22Z</dcterms:created>
  <dcterms:modified xsi:type="dcterms:W3CDTF">2025-04-07T06:09:58Z</dcterms:modified>
</cp:coreProperties>
</file>
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412" r:id="rId3"/>
    <p:sldId id="413" r:id="rId4"/>
    <p:sldId id="438" r:id="rId5"/>
    <p:sldId id="422" r:id="rId6"/>
    <p:sldId id="439" r:id="rId7"/>
    <p:sldId id="423" r:id="rId8"/>
    <p:sldId id="426" r:id="rId9"/>
    <p:sldId id="429" r:id="rId10"/>
    <p:sldId id="437" r:id="rId11"/>
    <p:sldId id="427" r:id="rId12"/>
    <p:sldId id="428" r:id="rId13"/>
    <p:sldId id="433" r:id="rId14"/>
    <p:sldId id="436" r:id="rId15"/>
    <p:sldId id="434" r:id="rId16"/>
    <p:sldId id="435" r:id="rId17"/>
    <p:sldId id="430" r:id="rId18"/>
    <p:sldId id="440" r:id="rId19"/>
    <p:sldId id="441" r:id="rId20"/>
    <p:sldId id="431" r:id="rId21"/>
    <p:sldId id="442" r:id="rId22"/>
    <p:sldId id="443" r:id="rId23"/>
    <p:sldId id="444" r:id="rId24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  <p15:guide id="3" orient="horz" pos="1162">
          <p15:clr>
            <a:srgbClr val="A4A3A4"/>
          </p15:clr>
        </p15:guide>
        <p15:guide id="4" pos="4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34E"/>
    <a:srgbClr val="0070C0"/>
    <a:srgbClr val="0000CC"/>
    <a:srgbClr val="CDF1FF"/>
    <a:srgbClr val="99CCFF"/>
    <a:srgbClr val="FF5050"/>
    <a:srgbClr val="97E1FF"/>
    <a:srgbClr val="00A4E6"/>
    <a:srgbClr val="5BD0FF"/>
    <a:srgbClr val="29C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2" autoAdjust="0"/>
    <p:restoredTop sz="98901" autoAdjust="0"/>
  </p:normalViewPr>
  <p:slideViewPr>
    <p:cSldViewPr>
      <p:cViewPr varScale="1">
        <p:scale>
          <a:sx n="118" d="100"/>
          <a:sy n="118" d="100"/>
        </p:scale>
        <p:origin x="88" y="480"/>
      </p:cViewPr>
      <p:guideLst>
        <p:guide orient="horz" pos="119"/>
        <p:guide pos="158"/>
        <p:guide orient="horz" pos="1162"/>
        <p:guide pos="43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>
                <a:ea typeface="맑은 고딕" panose="020B0503020000020004" pitchFamily="50" charset="-127"/>
              </a:rPr>
              <a:pPr/>
              <a:t>2026-04-01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>
                <a:ea typeface="맑은 고딕" panose="020B0503020000020004" pitchFamily="50" charset="-127"/>
              </a:rPr>
              <a:pPr/>
              <a:t>‹#›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3140B-A455-4A59-916C-960D4A93601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E1D51-9158-4745-94AC-4FA4FE8FC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78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78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5724128" y="93663"/>
            <a:ext cx="3380100" cy="523220"/>
            <a:chOff x="6752029" y="188640"/>
            <a:chExt cx="3381457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1796645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2800" b="1" kern="1200" spc="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SQL</a:t>
              </a:r>
              <a:r>
                <a:rPr kumimoji="1" lang="en-US" altLang="ko-KR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기초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147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41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1049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8132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실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0825" y="188913"/>
            <a:ext cx="7560840" cy="548680"/>
          </a:xfrm>
        </p:spPr>
        <p:txBody>
          <a:bodyPr/>
          <a:lstStyle>
            <a:lvl1pPr algn="l">
              <a:defRPr sz="2400" b="1" baseline="0">
                <a:solidFill>
                  <a:srgbClr val="0000CC"/>
                </a:solidFill>
              </a:defRPr>
            </a:lvl1pPr>
          </a:lstStyle>
          <a:p>
            <a:r>
              <a:rPr lang="ko-KR" altLang="en-US"/>
              <a:t>연습문제 풀이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5576" y="980728"/>
            <a:ext cx="8136904" cy="54726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latin typeface="+mn-lt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accent5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accent5">
                  <a:lumMod val="50000"/>
                </a:schemeClr>
              </a:buClr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908720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2339752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908720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88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2026-04-01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1" r:id="rId2"/>
    <p:sldLayoutId id="2147483692" r:id="rId3"/>
    <p:sldLayoutId id="2147483693" r:id="rId4"/>
    <p:sldLayoutId id="2147483690" r:id="rId5"/>
    <p:sldLayoutId id="2147483679" r:id="rId6"/>
    <p:sldLayoutId id="2147483680" r:id="rId7"/>
    <p:sldLayoutId id="2147483686" r:id="rId8"/>
    <p:sldLayoutId id="2147483688" r:id="rId9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11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gv.co.kr/" TargetMode="External"/><Relationship Id="rId2" Type="http://schemas.openxmlformats.org/officeDocument/2006/relationships/hyperlink" Target="https://www.lottecinema.co.kr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megabox.co.kr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gv.co.kr/" TargetMode="External"/><Relationship Id="rId2" Type="http://schemas.openxmlformats.org/officeDocument/2006/relationships/hyperlink" Target="https://www.lottecinema.co.kr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megabox.co.kr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gv.co.kr/" TargetMode="External"/><Relationship Id="rId2" Type="http://schemas.openxmlformats.org/officeDocument/2006/relationships/hyperlink" Target="https://www.lottecinema.co.kr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megabox.co.kr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www.cgv.co.kr/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br>
              <a:rPr kumimoji="0" lang="en-US" altLang="ko-KR">
                <a:solidFill>
                  <a:schemeClr val="bg1"/>
                </a:solidFill>
              </a:rPr>
            </a:br>
            <a:r>
              <a:rPr kumimoji="0"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#5</a:t>
            </a:r>
            <a:endParaRPr lang="ko-KR" altLang="en-US" sz="4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6DE74197-CBCC-A7CC-7D6A-88E041C04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517" y="3005011"/>
            <a:ext cx="5268469" cy="1720132"/>
          </a:xfrm>
          <a:prstGeom prst="rect">
            <a:avLst/>
          </a:prstGeom>
          <a:ln w="12700">
            <a:solidFill>
              <a:srgbClr val="1C334E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03E4495-8019-B5F1-E3E7-1284C497D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92" y="3005011"/>
            <a:ext cx="2818856" cy="1720133"/>
          </a:xfrm>
          <a:prstGeom prst="rect">
            <a:avLst/>
          </a:prstGeom>
          <a:ln w="12700">
            <a:solidFill>
              <a:srgbClr val="1C334E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8B2F600-3E58-7036-0D58-4A99AF3C2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4941168"/>
            <a:ext cx="4925112" cy="1600423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1982679"/>
              </p:ext>
            </p:extLst>
          </p:nvPr>
        </p:nvGraphicFramePr>
        <p:xfrm>
          <a:off x="539750" y="1085850"/>
          <a:ext cx="8065252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상영 시간 데이터베이스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470DBF-3E11-3F14-3E5D-11DEE1705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1571362"/>
            <a:ext cx="6694393" cy="1201182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C922F76-3EFA-A934-F10C-41AF3136690C}"/>
              </a:ext>
            </a:extLst>
          </p:cNvPr>
          <p:cNvSpPr txBox="1"/>
          <p:nvPr/>
        </p:nvSpPr>
        <p:spPr>
          <a:xfrm>
            <a:off x="683567" y="1614810"/>
            <a:ext cx="1728193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극장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theater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945B0A-B1BC-B035-FD81-7B89932549B3}"/>
              </a:ext>
            </a:extLst>
          </p:cNvPr>
          <p:cNvSpPr txBox="1"/>
          <p:nvPr/>
        </p:nvSpPr>
        <p:spPr>
          <a:xfrm>
            <a:off x="683568" y="3054970"/>
            <a:ext cx="1944216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상영관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screen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AF1560-1C30-7013-E28D-C83947B2C3DD}"/>
              </a:ext>
            </a:extLst>
          </p:cNvPr>
          <p:cNvSpPr txBox="1"/>
          <p:nvPr/>
        </p:nvSpPr>
        <p:spPr>
          <a:xfrm>
            <a:off x="4321300" y="3055118"/>
            <a:ext cx="1834875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영화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movie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F3F2E9-6622-448B-4598-22F34E4FE0B5}"/>
              </a:ext>
            </a:extLst>
          </p:cNvPr>
          <p:cNvSpPr txBox="1"/>
          <p:nvPr/>
        </p:nvSpPr>
        <p:spPr>
          <a:xfrm>
            <a:off x="590391" y="4666100"/>
            <a:ext cx="2304257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상영시간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screenhist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588EE9-4511-56D2-A0BC-7366B0352760}"/>
              </a:ext>
            </a:extLst>
          </p:cNvPr>
          <p:cNvSpPr txBox="1"/>
          <p:nvPr/>
        </p:nvSpPr>
        <p:spPr>
          <a:xfrm>
            <a:off x="6156175" y="4805555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상영시간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4C334F-8FB3-DAB1-5811-2F49CBCEB9B6}"/>
              </a:ext>
            </a:extLst>
          </p:cNvPr>
          <p:cNvSpPr txBox="1"/>
          <p:nvPr/>
        </p:nvSpPr>
        <p:spPr>
          <a:xfrm>
            <a:off x="4427984" y="1876976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상영관 수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8436B7-AC02-14C5-0792-6F289979B23D}"/>
              </a:ext>
            </a:extLst>
          </p:cNvPr>
          <p:cNvSpPr txBox="1"/>
          <p:nvPr/>
        </p:nvSpPr>
        <p:spPr>
          <a:xfrm>
            <a:off x="7920372" y="2716990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개봉일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7026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0177B4D0-6C0A-8720-1BC0-3F09BFD3E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4941168"/>
            <a:ext cx="4925112" cy="1600423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6CEDF2B-9DDB-9182-F7F7-8271BEE5A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517" y="3005011"/>
            <a:ext cx="5268469" cy="1720132"/>
          </a:xfrm>
          <a:prstGeom prst="rect">
            <a:avLst/>
          </a:prstGeom>
          <a:ln w="12700">
            <a:solidFill>
              <a:srgbClr val="1C334E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847372B-59B5-27BA-A91C-9BC1FD945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92" y="3005011"/>
            <a:ext cx="2818856" cy="1720133"/>
          </a:xfrm>
          <a:prstGeom prst="rect">
            <a:avLst/>
          </a:prstGeom>
          <a:ln w="12700">
            <a:solidFill>
              <a:srgbClr val="1C334E"/>
            </a:solidFill>
          </a:ln>
        </p:spPr>
      </p:pic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5387009"/>
              </p:ext>
            </p:extLst>
          </p:nvPr>
        </p:nvGraphicFramePr>
        <p:xfrm>
          <a:off x="539750" y="1085850"/>
          <a:ext cx="8065252" cy="1047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77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상영 시간 데이터베이스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226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36470DBF-3E11-3F14-3E5D-11DEE1705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1571362"/>
            <a:ext cx="6694393" cy="1201182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29879C92-93EE-5B54-6190-594583CBDD60}"/>
              </a:ext>
            </a:extLst>
          </p:cNvPr>
          <p:cNvCxnSpPr>
            <a:cxnSpLocks/>
            <a:stCxn id="3" idx="0"/>
            <a:endCxn id="12" idx="2"/>
          </p:cNvCxnSpPr>
          <p:nvPr/>
        </p:nvCxnSpPr>
        <p:spPr>
          <a:xfrm rot="16200000" flipV="1">
            <a:off x="990249" y="3154506"/>
            <a:ext cx="1676629" cy="1849556"/>
          </a:xfrm>
          <a:prstGeom prst="bentConnector3">
            <a:avLst/>
          </a:prstGeom>
          <a:ln w="22225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8A7EA821-DE8C-7C98-38FB-2310F9998109}"/>
              </a:ext>
            </a:extLst>
          </p:cNvPr>
          <p:cNvCxnSpPr>
            <a:cxnSpLocks/>
            <a:stCxn id="10" idx="0"/>
            <a:endCxn id="14" idx="2"/>
          </p:cNvCxnSpPr>
          <p:nvPr/>
        </p:nvCxnSpPr>
        <p:spPr>
          <a:xfrm rot="16200000" flipV="1">
            <a:off x="638943" y="2048035"/>
            <a:ext cx="1097362" cy="720080"/>
          </a:xfrm>
          <a:prstGeom prst="bentConnector3">
            <a:avLst>
              <a:gd name="adj1" fmla="val 50000"/>
            </a:avLst>
          </a:prstGeom>
          <a:ln w="22225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E4A133AE-CFF9-9278-462B-25879876C055}"/>
              </a:ext>
            </a:extLst>
          </p:cNvPr>
          <p:cNvCxnSpPr>
            <a:cxnSpLocks/>
            <a:stCxn id="5" idx="0"/>
            <a:endCxn id="23" idx="2"/>
          </p:cNvCxnSpPr>
          <p:nvPr/>
        </p:nvCxnSpPr>
        <p:spPr>
          <a:xfrm rot="5400000" flipH="1" flipV="1">
            <a:off x="3297436" y="3690031"/>
            <a:ext cx="1648548" cy="784598"/>
          </a:xfrm>
          <a:prstGeom prst="bentConnector3">
            <a:avLst/>
          </a:prstGeom>
          <a:ln w="22225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16834-BE52-3CB9-1D88-F0D437EE6D6C}"/>
              </a:ext>
            </a:extLst>
          </p:cNvPr>
          <p:cNvSpPr/>
          <p:nvPr/>
        </p:nvSpPr>
        <p:spPr>
          <a:xfrm>
            <a:off x="2537317" y="4917598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63CA8A-0BF4-404F-9AFB-3E029CBC1946}"/>
              </a:ext>
            </a:extLst>
          </p:cNvPr>
          <p:cNvSpPr/>
          <p:nvPr/>
        </p:nvSpPr>
        <p:spPr>
          <a:xfrm>
            <a:off x="3513387" y="4906604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A84C77-22B1-39FE-3D29-763607C710B3}"/>
              </a:ext>
            </a:extLst>
          </p:cNvPr>
          <p:cNvSpPr/>
          <p:nvPr/>
        </p:nvSpPr>
        <p:spPr>
          <a:xfrm>
            <a:off x="1331640" y="2956756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0BCAC8-C1AD-1B18-0A98-FBE50FC9C787}"/>
              </a:ext>
            </a:extLst>
          </p:cNvPr>
          <p:cNvSpPr/>
          <p:nvPr/>
        </p:nvSpPr>
        <p:spPr>
          <a:xfrm>
            <a:off x="687761" y="2952937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D665816-EDA7-5C44-A320-F8A644AE2B74}"/>
              </a:ext>
            </a:extLst>
          </p:cNvPr>
          <p:cNvSpPr/>
          <p:nvPr/>
        </p:nvSpPr>
        <p:spPr>
          <a:xfrm>
            <a:off x="611560" y="1571362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E317B4-7506-F59C-F202-1A874D2058DC}"/>
              </a:ext>
            </a:extLst>
          </p:cNvPr>
          <p:cNvSpPr/>
          <p:nvPr/>
        </p:nvSpPr>
        <p:spPr>
          <a:xfrm>
            <a:off x="4297985" y="2970024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377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155462"/>
              </p:ext>
            </p:extLst>
          </p:nvPr>
        </p:nvGraphicFramePr>
        <p:xfrm>
          <a:off x="611560" y="1196752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.(CREATE DATABASE)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CREATE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DATABASE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practice5 CHARSET UTF8MB4;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07F7281-2685-8EB2-8459-DEB358A7C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9795905"/>
              </p:ext>
            </p:extLst>
          </p:nvPr>
        </p:nvGraphicFramePr>
        <p:xfrm>
          <a:off x="611560" y="2276872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 삭제하기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.(DROP DATABASE)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DROP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DATABASE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practice5;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A8E71E38-6596-A76A-4313-A25BDE3F28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3676908"/>
              </p:ext>
            </p:extLst>
          </p:nvPr>
        </p:nvGraphicFramePr>
        <p:xfrm>
          <a:off x="610833" y="3275722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목록 보기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SHOW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DATABASES;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BE9D05E7-4A35-49EC-781B-6F4A9494FA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5065716"/>
              </p:ext>
            </p:extLst>
          </p:nvPr>
        </p:nvGraphicFramePr>
        <p:xfrm>
          <a:off x="610833" y="4220683"/>
          <a:ext cx="8065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movie_theater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CREATE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DATABASE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movie_theater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CHARSET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UTF8MB4;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674732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D590F57F-4BA9-B966-FE12-AF9E52040065}"/>
              </a:ext>
            </a:extLst>
          </p:cNvPr>
          <p:cNvSpPr/>
          <p:nvPr/>
        </p:nvSpPr>
        <p:spPr>
          <a:xfrm>
            <a:off x="1498660" y="4698264"/>
            <a:ext cx="2719051" cy="2314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내용 개체 틀 3">
            <a:extLst>
              <a:ext uri="{FF2B5EF4-FFF2-40B4-BE49-F238E27FC236}">
                <a16:creationId xmlns:a16="http://schemas.microsoft.com/office/drawing/2014/main" id="{23C7B5C0-6D6F-C52F-DD71-175F9EBB18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6627922"/>
              </p:ext>
            </p:extLst>
          </p:nvPr>
        </p:nvGraphicFramePr>
        <p:xfrm>
          <a:off x="610833" y="5323780"/>
          <a:ext cx="8065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movie_theater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USE movie_theater;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실습시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moive_theater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데이터 베이스에서 쿼리를 수행하자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67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688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2509577"/>
              </p:ext>
            </p:extLst>
          </p:nvPr>
        </p:nvGraphicFramePr>
        <p:xfrm>
          <a:off x="611560" y="1196752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.(CREATE TABLE)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테이블 이름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theater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848764"/>
              </p:ext>
            </p:extLst>
          </p:nvPr>
        </p:nvGraphicFramePr>
        <p:xfrm>
          <a:off x="611560" y="1938432"/>
          <a:ext cx="655272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269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587955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3184503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primary key, auto_increment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varchar(40)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varchar(100)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screen_cnt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varchar(50)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115767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07F7281-2685-8EB2-8459-DEB358A7C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9433416"/>
              </p:ext>
            </p:extLst>
          </p:nvPr>
        </p:nvGraphicFramePr>
        <p:xfrm>
          <a:off x="611560" y="4226024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상영관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테이블 이름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screen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CE9E9A5-ADEE-45EB-8F0B-2FC6AA498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933943"/>
              </p:ext>
            </p:extLst>
          </p:nvPr>
        </p:nvGraphicFramePr>
        <p:xfrm>
          <a:off x="613762" y="5018112"/>
          <a:ext cx="7412771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929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294385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primary key, auto_increment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theater_id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null, foreign key reference theater table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varchar(40)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333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5347907"/>
              </p:ext>
            </p:extLst>
          </p:nvPr>
        </p:nvGraphicFramePr>
        <p:xfrm>
          <a:off x="611560" y="1085851"/>
          <a:ext cx="8065252" cy="2644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10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.(CREATE TABLE)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10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CREATE TABLE theater (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id             INTEGER PRIMARY KEY AUTO_INCREMENT,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name           VARCHAR(40) NOT NULL,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address        VARCHAR(100),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screen_cnt     INTEGER,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website        VARCHAR(50)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);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07F7281-2685-8EB2-8459-DEB358A7C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5685535"/>
              </p:ext>
            </p:extLst>
          </p:nvPr>
        </p:nvGraphicFramePr>
        <p:xfrm>
          <a:off x="613675" y="3789040"/>
          <a:ext cx="8065252" cy="2349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상영관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CREATE TABLE screen (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id          INTEGER PRIMARY KEY AUTO_INCREMENT,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theater_id  INTEGER NOT NULL,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name        VARCHAR(40),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FOREIGN KEY (theater_id) REFERENCES theater (id)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D2Coding ligature" panose="020B0609020101020101" pitchFamily="49" charset="-127"/>
                        <a:ea typeface="D2Coding ligature" panose="020B0609020101020101" pitchFamily="49" charset="-127"/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06BA58F-64AF-8679-F647-CE34202B8F21}"/>
              </a:ext>
            </a:extLst>
          </p:cNvPr>
          <p:cNvSpPr/>
          <p:nvPr/>
        </p:nvSpPr>
        <p:spPr>
          <a:xfrm>
            <a:off x="3275856" y="5583489"/>
            <a:ext cx="936104" cy="1771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D04419-FDCF-80AA-28DC-ED6B49492ECC}"/>
              </a:ext>
            </a:extLst>
          </p:cNvPr>
          <p:cNvSpPr/>
          <p:nvPr/>
        </p:nvSpPr>
        <p:spPr>
          <a:xfrm>
            <a:off x="2383005" y="2781518"/>
            <a:ext cx="648072" cy="2154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0ADB7F-906A-0AE2-87FA-6DBAF31D3834}"/>
              </a:ext>
            </a:extLst>
          </p:cNvPr>
          <p:cNvSpPr/>
          <p:nvPr/>
        </p:nvSpPr>
        <p:spPr>
          <a:xfrm>
            <a:off x="1043608" y="3140968"/>
            <a:ext cx="648072" cy="2154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18E19E-7CBC-12ED-8D08-5CFA8A2BF22B}"/>
              </a:ext>
            </a:extLst>
          </p:cNvPr>
          <p:cNvSpPr/>
          <p:nvPr/>
        </p:nvSpPr>
        <p:spPr>
          <a:xfrm>
            <a:off x="1043608" y="4941168"/>
            <a:ext cx="936104" cy="2160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42F6D6-6190-A123-D080-F72710D2D4B3}"/>
              </a:ext>
            </a:extLst>
          </p:cNvPr>
          <p:cNvSpPr/>
          <p:nvPr/>
        </p:nvSpPr>
        <p:spPr>
          <a:xfrm>
            <a:off x="4067943" y="4578548"/>
            <a:ext cx="936105" cy="2186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371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9760437"/>
              </p:ext>
            </p:extLst>
          </p:nvPr>
        </p:nvGraphicFramePr>
        <p:xfrm>
          <a:off x="611560" y="1085850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테이블 이름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movie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389569"/>
              </p:ext>
            </p:extLst>
          </p:nvPr>
        </p:nvGraphicFramePr>
        <p:xfrm>
          <a:off x="611560" y="1827530"/>
          <a:ext cx="6552727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269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587955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3184503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primary key, auto_increment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varchar(30)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varchar(50)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release_date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date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07F7281-2685-8EB2-8459-DEB358A7C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4596896"/>
              </p:ext>
            </p:extLst>
          </p:nvPr>
        </p:nvGraphicFramePr>
        <p:xfrm>
          <a:off x="611560" y="3576196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테이블 이름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screen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CE9E9A5-ADEE-45EB-8F0B-2FC6AA498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839406"/>
              </p:ext>
            </p:extLst>
          </p:nvPr>
        </p:nvGraphicFramePr>
        <p:xfrm>
          <a:off x="613586" y="4317876"/>
          <a:ext cx="7412771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929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294385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primary key, auto_increment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null, foreign key references screen table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movie_id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null, foreign key references movie table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screening_date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datetime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4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547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390341"/>
              </p:ext>
            </p:extLst>
          </p:nvPr>
        </p:nvGraphicFramePr>
        <p:xfrm>
          <a:off x="611560" y="1085851"/>
          <a:ext cx="8065252" cy="2644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10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(CREATE TABLE)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10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CREATE TABLE movie (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id            INTEGER PRIMARY KEY AUTO_INCREMENT,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title         VARCHAR(15) NOT NULL,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director      VARCHAR(50),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release_date  DATE NOT NULL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);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07F7281-2685-8EB2-8459-DEB358A7C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9028006"/>
              </p:ext>
            </p:extLst>
          </p:nvPr>
        </p:nvGraphicFramePr>
        <p:xfrm>
          <a:off x="611560" y="3433919"/>
          <a:ext cx="8065252" cy="2989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상영관시간 테이블 생성하기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CREATE TABLE screenhist (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id               INTEGER PRIMARY KEY AUTO_INCREMENT,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screen_id        INTEGER NOT NULL,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movie_id         INTEGER NOT NULL,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screening_date   DATETIME NOT NULL,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FOREIGN KEY (screen_id) REFERENCES screen (id),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FOREIGN KEY (movie_id) REFERENCES movie (id)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D2Coding ligature" panose="020B0609020101020101" pitchFamily="49" charset="-127"/>
                        <a:ea typeface="D2Coding ligature" panose="020B0609020101020101" pitchFamily="49" charset="-127"/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716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7728197"/>
              </p:ext>
            </p:extLst>
          </p:nvPr>
        </p:nvGraphicFramePr>
        <p:xfrm>
          <a:off x="611560" y="1085850"/>
          <a:ext cx="8065252" cy="3032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릴레이션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/>
        </p:nvGraphicFramePr>
        <p:xfrm>
          <a:off x="683746" y="1916832"/>
          <a:ext cx="7920880" cy="182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097569508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889813267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address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screen_cnt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website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롯데시네마 대구광장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서구 달구벌대로 </a:t>
                      </a:r>
                      <a:r>
                        <a:rPr lang="en-US" altLang="ko-KR" sz="1100"/>
                        <a:t>1691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2"/>
                        </a:rPr>
                        <a:t>https://www.lottecinema.co.kr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대구죽전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달서구 달구벌대로 </a:t>
                      </a:r>
                      <a:r>
                        <a:rPr lang="en-US" altLang="ko-KR" sz="1100"/>
                        <a:t>1551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프리미엄만경관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중구 국채보상로 </a:t>
                      </a:r>
                      <a:r>
                        <a:rPr lang="en-US" altLang="ko-KR" sz="1100"/>
                        <a:t>547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4"/>
                        </a:rPr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대구현대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중구 달구벌대로 </a:t>
                      </a:r>
                      <a:r>
                        <a:rPr lang="en-US" altLang="ko-KR" sz="1100"/>
                        <a:t>2077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대구신세계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동구 동부로 </a:t>
                      </a:r>
                      <a:r>
                        <a:rPr lang="en-US" altLang="ko-KR" sz="1100"/>
                        <a:t>149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DC6F18E-379C-1A1F-9968-4B038FCB88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730701"/>
              </p:ext>
            </p:extLst>
          </p:nvPr>
        </p:nvGraphicFramePr>
        <p:xfrm>
          <a:off x="683746" y="4725144"/>
          <a:ext cx="504038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5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4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릴레이션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같은 의미로 통용되는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릴레이션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(relation)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(table)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스키마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(schema)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헤더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(header)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인스턴스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(instance)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데이터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(data)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투플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tuple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행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row),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레코드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(record)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(attribute)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column),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필드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(field)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01DDCA5E-2EEE-8D1A-5663-301A51C15AF2}"/>
              </a:ext>
            </a:extLst>
          </p:cNvPr>
          <p:cNvSpPr/>
          <p:nvPr/>
        </p:nvSpPr>
        <p:spPr>
          <a:xfrm>
            <a:off x="611560" y="1844824"/>
            <a:ext cx="8065252" cy="43204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EF17FF-678E-84C1-8C19-67B89BAD1720}"/>
              </a:ext>
            </a:extLst>
          </p:cNvPr>
          <p:cNvSpPr/>
          <p:nvPr/>
        </p:nvSpPr>
        <p:spPr>
          <a:xfrm>
            <a:off x="611560" y="2323582"/>
            <a:ext cx="8065252" cy="1490068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E024E1B-61B4-A07C-0B1C-0328C25322E3}"/>
              </a:ext>
            </a:extLst>
          </p:cNvPr>
          <p:cNvSpPr/>
          <p:nvPr/>
        </p:nvSpPr>
        <p:spPr>
          <a:xfrm>
            <a:off x="467188" y="1772817"/>
            <a:ext cx="8353284" cy="218503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말풍선: 사각형 14">
            <a:extLst>
              <a:ext uri="{FF2B5EF4-FFF2-40B4-BE49-F238E27FC236}">
                <a16:creationId xmlns:a16="http://schemas.microsoft.com/office/drawing/2014/main" id="{F1530257-909D-5D19-C509-EE36A5328FCA}"/>
              </a:ext>
            </a:extLst>
          </p:cNvPr>
          <p:cNvSpPr/>
          <p:nvPr/>
        </p:nvSpPr>
        <p:spPr>
          <a:xfrm>
            <a:off x="3995936" y="3866092"/>
            <a:ext cx="1531888" cy="427376"/>
          </a:xfrm>
          <a:prstGeom prst="wedgeRectCallout">
            <a:avLst>
              <a:gd name="adj1" fmla="val -36902"/>
              <a:gd name="adj2" fmla="val -113473"/>
            </a:avLst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데이터</a:t>
            </a:r>
            <a:r>
              <a:rPr lang="en-US" altLang="ko-KR" sz="1400"/>
              <a:t>(data)</a:t>
            </a:r>
            <a:endParaRPr lang="ko-KR" altLang="en-US"/>
          </a:p>
        </p:txBody>
      </p:sp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3906F1FE-7836-76BD-C1E4-28A39811693F}"/>
              </a:ext>
            </a:extLst>
          </p:cNvPr>
          <p:cNvSpPr/>
          <p:nvPr/>
        </p:nvSpPr>
        <p:spPr>
          <a:xfrm>
            <a:off x="3092044" y="1280643"/>
            <a:ext cx="1531888" cy="427376"/>
          </a:xfrm>
          <a:prstGeom prst="wedgeRectCallout">
            <a:avLst>
              <a:gd name="adj1" fmla="val -39476"/>
              <a:gd name="adj2" fmla="val 86194"/>
            </a:avLst>
          </a:prstGeom>
          <a:solidFill>
            <a:schemeClr val="accent6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스키마</a:t>
            </a:r>
            <a:r>
              <a:rPr lang="en-US" altLang="ko-KR" sz="1400"/>
              <a:t>(schema)</a:t>
            </a:r>
            <a:endParaRPr lang="ko-KR" altLang="en-US"/>
          </a:p>
        </p:txBody>
      </p:sp>
      <p:sp>
        <p:nvSpPr>
          <p:cNvPr id="16" name="말풍선: 사각형 15">
            <a:extLst>
              <a:ext uri="{FF2B5EF4-FFF2-40B4-BE49-F238E27FC236}">
                <a16:creationId xmlns:a16="http://schemas.microsoft.com/office/drawing/2014/main" id="{036ED276-8DDB-0417-27A5-682083F39722}"/>
              </a:ext>
            </a:extLst>
          </p:cNvPr>
          <p:cNvSpPr/>
          <p:nvPr/>
        </p:nvSpPr>
        <p:spPr>
          <a:xfrm>
            <a:off x="771860" y="4062277"/>
            <a:ext cx="1531888" cy="427376"/>
          </a:xfrm>
          <a:prstGeom prst="wedgeRectCallout">
            <a:avLst>
              <a:gd name="adj1" fmla="val 36054"/>
              <a:gd name="adj2" fmla="val -103284"/>
            </a:avLst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테이블</a:t>
            </a:r>
            <a:r>
              <a:rPr lang="en-US" altLang="ko-KR" sz="1400"/>
              <a:t>(table)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152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1560" y="1085850"/>
          <a:ext cx="8065252" cy="3032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릴레이션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/>
        </p:nvGraphicFramePr>
        <p:xfrm>
          <a:off x="683746" y="1916832"/>
          <a:ext cx="7920880" cy="182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097569508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889813267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address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screen_cnt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website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롯데시네마 대구광장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서구 달구벌대로 </a:t>
                      </a:r>
                      <a:r>
                        <a:rPr lang="en-US" altLang="ko-KR" sz="1100"/>
                        <a:t>1691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2"/>
                        </a:rPr>
                        <a:t>https://www.lottecinema.co.kr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대구죽전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달서구 달구벌대로 </a:t>
                      </a:r>
                      <a:r>
                        <a:rPr lang="en-US" altLang="ko-KR" sz="1100"/>
                        <a:t>1551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프리미엄만경관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중구 국채보상로 </a:t>
                      </a:r>
                      <a:r>
                        <a:rPr lang="en-US" altLang="ko-KR" sz="1100"/>
                        <a:t>547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4"/>
                        </a:rPr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대구현대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중구 달구벌대로 </a:t>
                      </a:r>
                      <a:r>
                        <a:rPr lang="en-US" altLang="ko-KR" sz="1100"/>
                        <a:t>2077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대구신세계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동구 동부로 </a:t>
                      </a:r>
                      <a:r>
                        <a:rPr lang="en-US" altLang="ko-KR" sz="1100"/>
                        <a:t>149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DC6F18E-379C-1A1F-9968-4B038FCB88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232046"/>
              </p:ext>
            </p:extLst>
          </p:nvPr>
        </p:nvGraphicFramePr>
        <p:xfrm>
          <a:off x="683746" y="4453299"/>
          <a:ext cx="47523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3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릴레이션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같은 의미로 통용되는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33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릴레이션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(relation)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(table)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33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스키마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(schema)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헤더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(header)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33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인스턴스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(instance)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데이터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(data)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33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투플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tuple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행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row),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레코드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(record)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33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(attribute)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column),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필드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(field)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AA894B2-79FE-C63F-AF2F-1C0AE546035B}"/>
              </a:ext>
            </a:extLst>
          </p:cNvPr>
          <p:cNvSpPr/>
          <p:nvPr/>
        </p:nvSpPr>
        <p:spPr>
          <a:xfrm>
            <a:off x="611560" y="2445510"/>
            <a:ext cx="8065252" cy="432048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C74EA5-88E5-B943-23D4-AF4930259E71}"/>
              </a:ext>
            </a:extLst>
          </p:cNvPr>
          <p:cNvSpPr/>
          <p:nvPr/>
        </p:nvSpPr>
        <p:spPr>
          <a:xfrm>
            <a:off x="611560" y="3065750"/>
            <a:ext cx="8065252" cy="432048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D8AEB5-B92D-EAF0-DDF0-58E4BFCFA176}"/>
              </a:ext>
            </a:extLst>
          </p:cNvPr>
          <p:cNvSpPr/>
          <p:nvPr/>
        </p:nvSpPr>
        <p:spPr>
          <a:xfrm>
            <a:off x="5364087" y="1844826"/>
            <a:ext cx="1224137" cy="425256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말풍선: 사각형 10">
            <a:extLst>
              <a:ext uri="{FF2B5EF4-FFF2-40B4-BE49-F238E27FC236}">
                <a16:creationId xmlns:a16="http://schemas.microsoft.com/office/drawing/2014/main" id="{365BC495-74B6-7EB8-86E5-FEFD925D9614}"/>
              </a:ext>
            </a:extLst>
          </p:cNvPr>
          <p:cNvSpPr/>
          <p:nvPr/>
        </p:nvSpPr>
        <p:spPr>
          <a:xfrm>
            <a:off x="6064448" y="3685990"/>
            <a:ext cx="1531888" cy="427376"/>
          </a:xfrm>
          <a:prstGeom prst="wedgeRectCallout">
            <a:avLst>
              <a:gd name="adj1" fmla="val -36902"/>
              <a:gd name="adj2" fmla="val -113473"/>
            </a:avLst>
          </a:prstGeom>
          <a:solidFill>
            <a:srgbClr val="0070C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레코드</a:t>
            </a:r>
            <a:r>
              <a:rPr lang="en-US" altLang="ko-KR" sz="1400"/>
              <a:t>(record)</a:t>
            </a:r>
            <a:endParaRPr lang="ko-KR" altLang="en-US"/>
          </a:p>
        </p:txBody>
      </p:sp>
      <p:sp>
        <p:nvSpPr>
          <p:cNvPr id="10" name="말풍선: 사각형 9">
            <a:extLst>
              <a:ext uri="{FF2B5EF4-FFF2-40B4-BE49-F238E27FC236}">
                <a16:creationId xmlns:a16="http://schemas.microsoft.com/office/drawing/2014/main" id="{BBB66DD2-BC83-6615-DB4A-AE536DC1A4A8}"/>
              </a:ext>
            </a:extLst>
          </p:cNvPr>
          <p:cNvSpPr/>
          <p:nvPr/>
        </p:nvSpPr>
        <p:spPr>
          <a:xfrm>
            <a:off x="6084168" y="1251649"/>
            <a:ext cx="1152128" cy="427376"/>
          </a:xfrm>
          <a:prstGeom prst="wedgeRectCallout">
            <a:avLst>
              <a:gd name="adj1" fmla="val -42249"/>
              <a:gd name="adj2" fmla="val 73314"/>
            </a:avLst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열</a:t>
            </a:r>
            <a:r>
              <a:rPr lang="en-US" altLang="ko-KR" sz="1400"/>
              <a:t>(column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B0D9680-6147-B902-B59A-F60F08BB33B9}"/>
              </a:ext>
            </a:extLst>
          </p:cNvPr>
          <p:cNvSpPr/>
          <p:nvPr/>
        </p:nvSpPr>
        <p:spPr>
          <a:xfrm>
            <a:off x="1115616" y="1835949"/>
            <a:ext cx="1963937" cy="1998021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말풍선: 사각형 18">
            <a:extLst>
              <a:ext uri="{FF2B5EF4-FFF2-40B4-BE49-F238E27FC236}">
                <a16:creationId xmlns:a16="http://schemas.microsoft.com/office/drawing/2014/main" id="{D46303C0-7369-5203-A241-FB9007BB84C8}"/>
              </a:ext>
            </a:extLst>
          </p:cNvPr>
          <p:cNvSpPr/>
          <p:nvPr/>
        </p:nvSpPr>
        <p:spPr>
          <a:xfrm>
            <a:off x="2885157" y="1314144"/>
            <a:ext cx="1152128" cy="427376"/>
          </a:xfrm>
          <a:prstGeom prst="wedgeRectCallout">
            <a:avLst>
              <a:gd name="adj1" fmla="val -42249"/>
              <a:gd name="adj2" fmla="val 73314"/>
            </a:avLst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컬럼</a:t>
            </a:r>
            <a:r>
              <a:rPr lang="en-US" altLang="ko-KR" sz="1400"/>
              <a:t>, </a:t>
            </a:r>
            <a:r>
              <a:rPr lang="ko-KR" altLang="en-US" sz="1400"/>
              <a:t>필드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118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5196599"/>
              </p:ext>
            </p:extLst>
          </p:nvPr>
        </p:nvGraphicFramePr>
        <p:xfrm>
          <a:off x="611560" y="1085850"/>
          <a:ext cx="8065252" cy="4403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아래의 테이블과 같이 나오도록 극장 데이터를 입력하자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데이터 입력 방법 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가지</a:t>
                      </a:r>
                      <a:endParaRPr lang="en-US" altLang="ko-KR" sz="12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INSERT INTO theater VALUES (NULL, 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롯데시네마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대구광역시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7, 'https:...');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INSERT INTO theater (name, address, screen_cnt, website) VALUES ('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롯데시네마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대구광역시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7, 'https:...');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INSERT INTO theater SET name = 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롯데시네마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address = 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대구광역시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screent_cnt = 7, website = 'https:...';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779114"/>
              </p:ext>
            </p:extLst>
          </p:nvPr>
        </p:nvGraphicFramePr>
        <p:xfrm>
          <a:off x="683746" y="1916832"/>
          <a:ext cx="7920880" cy="182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097569508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889813267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address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screen_cnt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website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롯데시네마 대구광장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서구 달구벌대로 </a:t>
                      </a:r>
                      <a:r>
                        <a:rPr lang="en-US" altLang="ko-KR" sz="1100"/>
                        <a:t>1691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2"/>
                        </a:rPr>
                        <a:t>https://www.lottecinema.co.kr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대구죽전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달서구 달구벌대로 </a:t>
                      </a:r>
                      <a:r>
                        <a:rPr lang="en-US" altLang="ko-KR" sz="1100"/>
                        <a:t>1551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프리미엄만경관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중구 국채보상로 </a:t>
                      </a:r>
                      <a:r>
                        <a:rPr lang="en-US" altLang="ko-KR" sz="1100"/>
                        <a:t>547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4"/>
                        </a:rPr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대구현대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중구 달구벌대로 </a:t>
                      </a:r>
                      <a:r>
                        <a:rPr lang="en-US" altLang="ko-KR" sz="1100"/>
                        <a:t>2077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대구신세계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동구 동부로 </a:t>
                      </a:r>
                      <a:r>
                        <a:rPr lang="en-US" altLang="ko-KR" sz="1100"/>
                        <a:t>149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3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2162942"/>
              </p:ext>
            </p:extLst>
          </p:nvPr>
        </p:nvGraphicFramePr>
        <p:xfrm>
          <a:off x="611560" y="1085850"/>
          <a:ext cx="8065252" cy="3352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상영관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아래의 테이블과 같이 나오도록 상영관 데이터를 입력하자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838964"/>
              </p:ext>
            </p:extLst>
          </p:nvPr>
        </p:nvGraphicFramePr>
        <p:xfrm>
          <a:off x="683568" y="1908591"/>
          <a:ext cx="2808311" cy="3040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069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326147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858095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theater_id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7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4DX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컴포트</a:t>
                      </a:r>
                      <a:r>
                        <a:rPr lang="en-US" altLang="ko-KR" sz="1100"/>
                        <a:t>1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38694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컴포트</a:t>
                      </a:r>
                      <a:r>
                        <a:rPr lang="en-US" altLang="ko-KR" sz="1100"/>
                        <a:t>5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137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2577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B69A843-A7FC-223A-72E3-5FA0D8CBB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005380"/>
              </p:ext>
            </p:extLst>
          </p:nvPr>
        </p:nvGraphicFramePr>
        <p:xfrm>
          <a:off x="3779912" y="1908591"/>
          <a:ext cx="3744415" cy="3040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1944215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theater_id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38694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137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25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707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310910"/>
              </p:ext>
            </p:extLst>
          </p:nvPr>
        </p:nvGraphicFramePr>
        <p:xfrm>
          <a:off x="611560" y="1085850"/>
          <a:ext cx="8065252" cy="3672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신규 극장 데이터는 아래와 같다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현재 운영중인 상영관은 씨네앤포레관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, 3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관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곳이다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상영관 데이터도 추가하자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4769CF4-8E0E-39B8-DBED-D21C1289E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900830"/>
              </p:ext>
            </p:extLst>
          </p:nvPr>
        </p:nvGraphicFramePr>
        <p:xfrm>
          <a:off x="683746" y="1916832"/>
          <a:ext cx="7416824" cy="608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097569508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889813267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address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screen_cnt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website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</a:t>
                      </a:r>
                      <a:r>
                        <a:rPr lang="ko-KR" altLang="en-US" sz="1100"/>
                        <a:t> 대구한일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중구 동성로 </a:t>
                      </a:r>
                      <a:r>
                        <a:rPr lang="en-US" altLang="ko-KR" sz="1100"/>
                        <a:t>39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2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A1889FB-2F05-E00C-F394-FE22C9AAA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925433"/>
              </p:ext>
            </p:extLst>
          </p:nvPr>
        </p:nvGraphicFramePr>
        <p:xfrm>
          <a:off x="690642" y="3196906"/>
          <a:ext cx="2736126" cy="912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974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theater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</a:t>
                      </a:r>
                      <a:r>
                        <a:rPr lang="ko-KR" altLang="en-US" sz="1100"/>
                        <a:t> 대구한일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씨네앤포레관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대구한일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055A00F9-984B-1049-EC86-6ADB8547C4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6843529"/>
              </p:ext>
            </p:extLst>
          </p:nvPr>
        </p:nvGraphicFramePr>
        <p:xfrm>
          <a:off x="611560" y="4477152"/>
          <a:ext cx="8065252" cy="1111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 생성 정보 확인하기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SHOW CREATE TABLE screen;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CDE3B847-90B0-E070-C9DE-13FC10CD0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42" y="5268438"/>
            <a:ext cx="6545654" cy="1296995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5550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1737420"/>
              </p:ext>
            </p:extLst>
          </p:nvPr>
        </p:nvGraphicFramePr>
        <p:xfrm>
          <a:off x="611560" y="1085850"/>
          <a:ext cx="8065252" cy="1431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FK(FOREIGN KEY,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외래키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참조 관계에 있는 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  theater SET id = 10 WHERE name = ‘CGV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’;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ERROR 1451 (23000): Cannot delete or update a parent row: a foreign key constraint fails 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ID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변경시 외래키 제약 조건 오류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8D7D9476-4CB8-C9AB-9AA0-239D47DFB3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416243"/>
              </p:ext>
            </p:extLst>
          </p:nvPr>
        </p:nvGraphicFramePr>
        <p:xfrm>
          <a:off x="611560" y="2697172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FK(FOREIGN KEY,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외래키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제약 조건 삭제하기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screen DROP FOREIGN KEY screen_ibfk_1;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B0733B12-AFE6-E770-FB97-41646F16FB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0492225"/>
              </p:ext>
            </p:extLst>
          </p:nvPr>
        </p:nvGraphicFramePr>
        <p:xfrm>
          <a:off x="604712" y="3789988"/>
          <a:ext cx="8065252" cy="1061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 ON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UPDATE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CASCADE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screen ADD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FOREIGN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KEY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(theater_id)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REFERENCES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theater(id)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ON UPDATE CASCADE;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>
            <a:extLst>
              <a:ext uri="{FF2B5EF4-FFF2-40B4-BE49-F238E27FC236}">
                <a16:creationId xmlns:a16="http://schemas.microsoft.com/office/drawing/2014/main" id="{0669E54C-3C77-B742-A86F-C418EE5F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6584741"/>
              </p:ext>
            </p:extLst>
          </p:nvPr>
        </p:nvGraphicFramePr>
        <p:xfrm>
          <a:off x="611560" y="5056441"/>
          <a:ext cx="8065252" cy="1431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변경시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theater_id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 같이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 theater SET id = 10 WHERE name = ‘CGV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’;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screen;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ON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CASCADE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로 설정하면 극장의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ID(Primary)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변경시 연결된 상영관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(FK)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의 값도 변경됨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EEB1EBC-6EBF-1BE0-4816-E98BC8814FE2}"/>
              </a:ext>
            </a:extLst>
          </p:cNvPr>
          <p:cNvSpPr/>
          <p:nvPr/>
        </p:nvSpPr>
        <p:spPr>
          <a:xfrm>
            <a:off x="2771800" y="4293096"/>
            <a:ext cx="792088" cy="2160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678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314427"/>
              </p:ext>
            </p:extLst>
          </p:nvPr>
        </p:nvGraphicFramePr>
        <p:xfrm>
          <a:off x="611560" y="1085850"/>
          <a:ext cx="8065252" cy="1431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FK(FOREIGN KEY,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외래키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참조 관계에 있는 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 삭제하기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DELETE FROM theater WHERE name = ‘CGV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’;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ERROR 1451 (23000): Cannot delete or update a parent row: a foreign key constraint fails 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삭제시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foreign key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제약으로 삭제할 수 없음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8D7D9476-4CB8-C9AB-9AA0-239D47DFB3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3276945"/>
              </p:ext>
            </p:extLst>
          </p:nvPr>
        </p:nvGraphicFramePr>
        <p:xfrm>
          <a:off x="611560" y="2843004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FK(FOREIGN KEY,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외래키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제약 조건 삭제하기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screen DROP FOREIGN KEY screen_ibfk_1;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B0733B12-AFE6-E770-FB97-41646F16FB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8142782"/>
              </p:ext>
            </p:extLst>
          </p:nvPr>
        </p:nvGraphicFramePr>
        <p:xfrm>
          <a:off x="614968" y="3910420"/>
          <a:ext cx="8065252" cy="1061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 ON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DELETE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CASCADE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추가하기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screen ADD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FOREIGN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KEY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(theater_id)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REFERENCES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theater(id)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ON DELETE CASCADE;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>
            <a:extLst>
              <a:ext uri="{FF2B5EF4-FFF2-40B4-BE49-F238E27FC236}">
                <a16:creationId xmlns:a16="http://schemas.microsoft.com/office/drawing/2014/main" id="{0669E54C-3C77-B742-A86F-C418EE5F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7175566"/>
              </p:ext>
            </p:extLst>
          </p:nvPr>
        </p:nvGraphicFramePr>
        <p:xfrm>
          <a:off x="611560" y="5056441"/>
          <a:ext cx="8065252" cy="1431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 삭제시 연결된 상영관 같이 삭제하기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DELETE FROM theater WHERE name = ‘CGV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’;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screen;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ON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DELETE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CASCADE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로 설정하면 극장을 지우면 연결된 상영관도 같이 지워진다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30DE2A3-8BEF-83A4-BE3F-135A51CCEBCF}"/>
              </a:ext>
            </a:extLst>
          </p:cNvPr>
          <p:cNvSpPr/>
          <p:nvPr/>
        </p:nvSpPr>
        <p:spPr>
          <a:xfrm>
            <a:off x="2339752" y="4365104"/>
            <a:ext cx="432048" cy="247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363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B0733B12-AFE6-E770-FB97-41646F16FB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626831"/>
              </p:ext>
            </p:extLst>
          </p:nvPr>
        </p:nvGraphicFramePr>
        <p:xfrm>
          <a:off x="611560" y="1995985"/>
          <a:ext cx="8065252" cy="1061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FK(theater_id) ON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DELETE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CASCADE ON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UPDATE CASCADE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외래키 삭제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변경된 외래키 제약 추가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688B9CC4-6686-5C05-07C6-1B0ADFC460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0754579"/>
              </p:ext>
            </p:extLst>
          </p:nvPr>
        </p:nvGraphicFramePr>
        <p:xfrm>
          <a:off x="611560" y="1082291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제약 조건 내역 보기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information_schema.table_constraints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where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table_name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=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‘screen’;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348FB2F2-BC46-ADC7-95E6-347A9F4203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3320745"/>
              </p:ext>
            </p:extLst>
          </p:nvPr>
        </p:nvGraphicFramePr>
        <p:xfrm>
          <a:off x="602432" y="3229148"/>
          <a:ext cx="8065252" cy="143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상영관을 먼저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INSERT INTO screen SET theater_id=12, name='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씨네앤포레관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';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ERROR 1452 (23000): Cannot add or update a child row: a foreign key constraint fails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theater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에 없는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theater_id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를 입력할 수 없다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개체 참조 제약조건 위반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2036"/>
                  </a:ext>
                </a:extLst>
              </a:tr>
            </a:tbl>
          </a:graphicData>
        </a:graphic>
      </p:graphicFrame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338F1BD-0D96-5ED2-77A6-E97370CA3A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5283097"/>
              </p:ext>
            </p:extLst>
          </p:nvPr>
        </p:nvGraphicFramePr>
        <p:xfrm>
          <a:off x="611560" y="4833151"/>
          <a:ext cx="8065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먼저 추가하고 상영관을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극장과 상영관 데이터는 이전에 나온 페이지를 참조하자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2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489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6513039"/>
              </p:ext>
            </p:extLst>
          </p:nvPr>
        </p:nvGraphicFramePr>
        <p:xfrm>
          <a:off x="611560" y="1085850"/>
          <a:ext cx="8065252" cy="3352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아래의 테이블과 같이 나오도록 영화 데이터를 입력하자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701327"/>
              </p:ext>
            </p:extLst>
          </p:nvPr>
        </p:nvGraphicFramePr>
        <p:xfrm>
          <a:off x="755576" y="1916832"/>
          <a:ext cx="6912768" cy="2736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443925797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title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director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release_date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프로젝트 헤일메리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크리스토퍼 밀러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2026-03-18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왕과 사는 남자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장항준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2026-02-04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네가 마지막으로 남긴 노래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이키 타카히로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귀멸의 칼날</a:t>
                      </a:r>
                      <a:r>
                        <a:rPr lang="en-US" altLang="ko-KR" sz="1100"/>
                        <a:t>-</a:t>
                      </a:r>
                      <a:r>
                        <a:rPr lang="ko-KR" altLang="en-US" sz="1100"/>
                        <a:t>유한성편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소토자키 하루오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2026-03-25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펫 트레인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쟝</a:t>
                      </a:r>
                      <a:r>
                        <a:rPr lang="en-US" altLang="ko-KR" sz="1100"/>
                        <a:t>-</a:t>
                      </a:r>
                      <a:r>
                        <a:rPr lang="ko-KR" altLang="en-US" sz="1100"/>
                        <a:t>크리스챤 태시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2026-03-28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끝장수사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박철환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2026-04-02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38694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1370"/>
                  </a:ext>
                </a:extLst>
              </a:tr>
            </a:tbl>
          </a:graphicData>
        </a:graphic>
      </p:graphicFrame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6398E03D-2431-EFAF-C5FD-9901CCF048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1233325"/>
              </p:ext>
            </p:extLst>
          </p:nvPr>
        </p:nvGraphicFramePr>
        <p:xfrm>
          <a:off x="611560" y="5013176"/>
          <a:ext cx="8065252" cy="143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INSERT INTO movice SET title='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프로젝트 헤일메리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', director='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크리스토퍼 밀러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', release_date = '2026-03-18';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796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983622"/>
              </p:ext>
            </p:extLst>
          </p:nvPr>
        </p:nvGraphicFramePr>
        <p:xfrm>
          <a:off x="611560" y="1085850"/>
          <a:ext cx="8065252" cy="1752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새로운 영화 데이터를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practice5.new_movie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테이블에서 가져와서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movie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다른 데이터베이스에 있는 테이블을 참조할 때는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데이터베이스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테이블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"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를 사용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INSERT INTO movie (title, director, release_date) (SELECT title, director, release_date FROM practice5.new_movie);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6398E03D-2431-EFAF-C5FD-9901CCF048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3724554"/>
              </p:ext>
            </p:extLst>
          </p:nvPr>
        </p:nvGraphicFramePr>
        <p:xfrm>
          <a:off x="595321" y="3836966"/>
          <a:ext cx="8065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movie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release_date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NULL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입력할 수 있도록 수정하자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new_movie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에 개봉일이 미정인 데이터가 있다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제약 조건에 걸려서 입력할 수 없다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moive MODIFY release_date DATE NULL;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73E14CB7-F3D0-331C-5D86-2E3A5AD6B7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791468"/>
              </p:ext>
            </p:extLst>
          </p:nvPr>
        </p:nvGraphicFramePr>
        <p:xfrm>
          <a:off x="539552" y="5301208"/>
          <a:ext cx="8065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제목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인사이드아웃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인사이드아웃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 movie SET title = '</a:t>
                      </a:r>
                      <a:r>
                        <a:rPr lang="ko-KR" altLang="en-US" sz="1400"/>
                        <a:t>귀멸의 칼날</a:t>
                      </a:r>
                      <a:r>
                        <a:rPr lang="en-US" altLang="ko-KR" sz="1400"/>
                        <a:t>-</a:t>
                      </a:r>
                      <a:r>
                        <a:rPr lang="ko-KR" altLang="en-US" sz="1400"/>
                        <a:t>유한성편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' FROM title = '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귀멸의 칼날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무한성편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8FDC8A13-1E9A-70B7-E5F8-9FC5044371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5355445"/>
              </p:ext>
            </p:extLst>
          </p:nvPr>
        </p:nvGraphicFramePr>
        <p:xfrm>
          <a:off x="611560" y="2743564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새로운 영화가 추가 되었는지 확인해보자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movie;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381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756955"/>
              </p:ext>
            </p:extLst>
          </p:nvPr>
        </p:nvGraphicFramePr>
        <p:xfrm>
          <a:off x="523357" y="3437171"/>
          <a:ext cx="8065252" cy="143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 필드명을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running_time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play_time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movie change running_time play_time INTEGER DEFAULT 0;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C3FCDDD-B1E9-5FA6-7C60-8023A95E2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232191"/>
              </p:ext>
            </p:extLst>
          </p:nvPr>
        </p:nvGraphicFramePr>
        <p:xfrm>
          <a:off x="613586" y="3848365"/>
          <a:ext cx="741277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929">
                  <a:extLst>
                    <a:ext uri="{9D8B030D-6E8A-4147-A177-3AD203B41FA5}">
                      <a16:colId xmlns:a16="http://schemas.microsoft.com/office/drawing/2014/main" val="868223950"/>
                    </a:ext>
                  </a:extLst>
                </a:gridCol>
                <a:gridCol w="1294385">
                  <a:extLst>
                    <a:ext uri="{9D8B030D-6E8A-4147-A177-3AD203B41FA5}">
                      <a16:colId xmlns:a16="http://schemas.microsoft.com/office/drawing/2014/main" val="4057366744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1225008802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59557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play_time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default 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57084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FB6B9D18-01CF-0D37-F617-E3DF755218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5869627"/>
              </p:ext>
            </p:extLst>
          </p:nvPr>
        </p:nvGraphicFramePr>
        <p:xfrm>
          <a:off x="521484" y="2564494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 필드가 추가되었는지 확인해보자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DESC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movie;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AF2637BC-63F7-A277-2EF8-C9831CD962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242258"/>
              </p:ext>
            </p:extLst>
          </p:nvPr>
        </p:nvGraphicFramePr>
        <p:xfrm>
          <a:off x="525208" y="5085184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 필드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(play_time)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default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60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movie MODIFY play_time INTEGER DEFAULT 60;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>
            <a:extLst>
              <a:ext uri="{FF2B5EF4-FFF2-40B4-BE49-F238E27FC236}">
                <a16:creationId xmlns:a16="http://schemas.microsoft.com/office/drawing/2014/main" id="{2D845B95-C989-82E0-E528-A5837DEE91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5920637"/>
              </p:ext>
            </p:extLst>
          </p:nvPr>
        </p:nvGraphicFramePr>
        <p:xfrm>
          <a:off x="521484" y="5982227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테이블의 스키마를 확인해보자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생성 정보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SHOW CREATE TABLE movie;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87552377-622B-E6B3-0467-A06CC6BC0C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6810336"/>
              </p:ext>
            </p:extLst>
          </p:nvPr>
        </p:nvGraphicFramePr>
        <p:xfrm>
          <a:off x="521484" y="988899"/>
          <a:ext cx="8065252" cy="143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(movie)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테이블에 새로운 필드인 상영시간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(running_time)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movie ADD running_time INTEGER DEFAULT 0;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C3FCDDD-B1E9-5FA6-7C60-8023A95E2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543669"/>
              </p:ext>
            </p:extLst>
          </p:nvPr>
        </p:nvGraphicFramePr>
        <p:xfrm>
          <a:off x="597545" y="1402202"/>
          <a:ext cx="741277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929">
                  <a:extLst>
                    <a:ext uri="{9D8B030D-6E8A-4147-A177-3AD203B41FA5}">
                      <a16:colId xmlns:a16="http://schemas.microsoft.com/office/drawing/2014/main" val="868223950"/>
                    </a:ext>
                  </a:extLst>
                </a:gridCol>
                <a:gridCol w="1294385">
                  <a:extLst>
                    <a:ext uri="{9D8B030D-6E8A-4147-A177-3AD203B41FA5}">
                      <a16:colId xmlns:a16="http://schemas.microsoft.com/office/drawing/2014/main" val="4057366744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1225008802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59557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running_time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default 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570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975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8610586"/>
              </p:ext>
            </p:extLst>
          </p:nvPr>
        </p:nvGraphicFramePr>
        <p:xfrm>
          <a:off x="611560" y="1085850"/>
          <a:ext cx="8065252" cy="3352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상영시간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아래의 테이블과 같이 나오도록  영화 상영시간 데이터를 입력하자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448752"/>
              </p:ext>
            </p:extLst>
          </p:nvPr>
        </p:nvGraphicFramePr>
        <p:xfrm>
          <a:off x="683568" y="1844824"/>
          <a:ext cx="3168352" cy="4231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846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592266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634483999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screen_id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movie_id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screening_date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11:35:00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14:45:00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10:40:00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13:55:00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19:40:00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22:05:00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2026-04-02 10:00:00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386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2026-04-02 12:25:00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1370"/>
                  </a:ext>
                </a:extLst>
              </a:tr>
              <a:tr h="246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16:00:00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86435"/>
                  </a:ext>
                </a:extLst>
              </a:tr>
              <a:tr h="2190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19:05:00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5049806"/>
                  </a:ext>
                </a:extLst>
              </a:tr>
              <a:tr h="1914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2026-04-02 14:40:00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315919"/>
                  </a:ext>
                </a:extLst>
              </a:tr>
              <a:tr h="163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2026-04-03 13:00:00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295199"/>
                  </a:ext>
                </a:extLst>
              </a:tr>
              <a:tr h="13613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2026-04-03 18:50:00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94884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6901DC6-A23B-C2F3-3087-A1E2A7520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792440"/>
              </p:ext>
            </p:extLst>
          </p:nvPr>
        </p:nvGraphicFramePr>
        <p:xfrm>
          <a:off x="4716016" y="1844824"/>
          <a:ext cx="3168351" cy="4231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576063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634483999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screen_id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movie_id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screening_date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2026-04-02 09:40:00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8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2026-04-02 09:30:00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8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2026-04-02 11:40:00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9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2026-04-03 14:35:00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2026-03-31 10:40:00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2026-04-03 20:50:00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2026-04-03 11:05:00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386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2026-04-03 15:40:00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1370"/>
                  </a:ext>
                </a:extLst>
              </a:tr>
              <a:tr h="246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2026-04-03 10:40:00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86435"/>
                  </a:ext>
                </a:extLst>
              </a:tr>
              <a:tr h="2190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2026-04-03 10:30:00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5049806"/>
                  </a:ext>
                </a:extLst>
              </a:tr>
              <a:tr h="191410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315919"/>
                  </a:ext>
                </a:extLst>
              </a:tr>
              <a:tr h="163774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295199"/>
                  </a:ext>
                </a:extLst>
              </a:tr>
              <a:tr h="136137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94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179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9102719"/>
              </p:ext>
            </p:extLst>
          </p:nvPr>
        </p:nvGraphicFramePr>
        <p:xfrm>
          <a:off x="611560" y="1085850"/>
          <a:ext cx="8065252" cy="143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상영시간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practice5.new_screenhist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에 있는 상영시간 정보를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movie_theater.screenhist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로 옮기자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INSERT INTO screenhist (screen_id, movie_id, reservation_cnt, screening_date) (SELECT screen_id, movie_id, reservation_cnt, screening_date FROM practice5.new_screenhist);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B0B322BA-FBF7-F3D7-3DF6-A144D35BD6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6728390"/>
              </p:ext>
            </p:extLst>
          </p:nvPr>
        </p:nvGraphicFramePr>
        <p:xfrm>
          <a:off x="611560" y="2996952"/>
          <a:ext cx="8065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screenhist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테이블에 일반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심야을 나타내는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showtime_category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필드를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EA80DFA-1740-FB11-BC5C-5C9C0FF55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954642"/>
              </p:ext>
            </p:extLst>
          </p:nvPr>
        </p:nvGraphicFramePr>
        <p:xfrm>
          <a:off x="696699" y="3521229"/>
          <a:ext cx="741277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929">
                  <a:extLst>
                    <a:ext uri="{9D8B030D-6E8A-4147-A177-3AD203B41FA5}">
                      <a16:colId xmlns:a16="http://schemas.microsoft.com/office/drawing/2014/main" val="868223950"/>
                    </a:ext>
                  </a:extLst>
                </a:gridCol>
                <a:gridCol w="1294385">
                  <a:extLst>
                    <a:ext uri="{9D8B030D-6E8A-4147-A177-3AD203B41FA5}">
                      <a16:colId xmlns:a16="http://schemas.microsoft.com/office/drawing/2014/main" val="4057366744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1225008802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59557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showtime_category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varchar(10)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default</a:t>
                      </a:r>
                      <a:r>
                        <a:rPr lang="ko-KR" altLang="en-US" sz="1400"/>
                        <a:t> </a:t>
                      </a:r>
                      <a:r>
                        <a:rPr lang="en-US" altLang="ko-KR" sz="1400"/>
                        <a:t>‘normal’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570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78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51D66B37-2301-E966-35F0-7A1E0DA30C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8714118"/>
              </p:ext>
            </p:extLst>
          </p:nvPr>
        </p:nvGraphicFramePr>
        <p:xfrm>
          <a:off x="624128" y="1196752"/>
          <a:ext cx="8065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screening_date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에서 날짜 정보는 제외 하고 시간 정보만 추출하기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DATE_FORMAT(screening_date, ‘%H:%i:%S’) AS TIME FROM screenhist;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B0B322BA-FBF7-F3D7-3DF6-A144D35BD6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1676720"/>
              </p:ext>
            </p:extLst>
          </p:nvPr>
        </p:nvGraphicFramePr>
        <p:xfrm>
          <a:off x="624128" y="2309272"/>
          <a:ext cx="8065252" cy="143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screenhist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테이블에 상영시간이 오전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 이전인 경우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카테고리를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조조를 나타내는 키워드는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‘early’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이다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 screenhist SET showtime_category = ‘early’ WHERE DATE_FORMAT(screening_date, ‘%H:%i:%S’) &lt;= ‘10:00:00’;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FAA1DC66-3842-458C-FB10-E812F39B71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8687408"/>
              </p:ext>
            </p:extLst>
          </p:nvPr>
        </p:nvGraphicFramePr>
        <p:xfrm>
          <a:off x="624128" y="4077072"/>
          <a:ext cx="8065252" cy="143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상영시간이 오후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 이후에 새벽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시이전인 경우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카테고리를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심야를 나타내는 키워드는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‘night’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이다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 screenhist SET showtime_category = ‘early’ WHERE DATE_FORMAT(screening_date, ‘%H:%i:%S’) &gt;= ‘22:00:00’ OR DATE_FORMAT(screening_date, ‘%H:%i:%S’) &lt;= ‘03:00:00’;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0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813934"/>
              </p:ext>
            </p:extLst>
          </p:nvPr>
        </p:nvGraphicFramePr>
        <p:xfrm>
          <a:off x="611560" y="1085850"/>
          <a:ext cx="8065252" cy="1061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상영시간이 오후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 이후에 새벽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시이전인 경우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변경되었는지 확인하기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FROM screenhist WHERE DATE_FORMAT(screening_date, ‘%H:%i:%S’) &gt;= ‘22:00:00’ OR DATE_FORMAT(screening_date, ‘%H:%i:%S’) &lt;= ‘03:00:00’;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4746E6E8-E656-52D6-EDBB-6CC59D552D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2381254"/>
              </p:ext>
            </p:extLst>
          </p:nvPr>
        </p:nvGraphicFramePr>
        <p:xfrm>
          <a:off x="683568" y="2482259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월달 상영시간표를 표시하자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CB60C42-1C34-6EA1-E481-B0FE6A933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299327"/>
              </p:ext>
            </p:extLst>
          </p:nvPr>
        </p:nvGraphicFramePr>
        <p:xfrm>
          <a:off x="755754" y="2924944"/>
          <a:ext cx="7848695" cy="2103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644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767828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1563846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482821593"/>
                    </a:ext>
                  </a:extLst>
                </a:gridCol>
                <a:gridCol w="1728193">
                  <a:extLst>
                    <a:ext uri="{9D8B030D-6E8A-4147-A177-3AD203B41FA5}">
                      <a16:colId xmlns:a16="http://schemas.microsoft.com/office/drawing/2014/main" val="1634483999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theater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movie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screening_date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showtime_category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롯데시네마 대구광장</a:t>
                      </a:r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프로젝트 헤일메리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11:35:00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normal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...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...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...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...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033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10209</TotalTime>
  <Words>2442</Words>
  <Application>Microsoft Office PowerPoint</Application>
  <PresentationFormat>화면 슬라이드 쇼(4:3)</PresentationFormat>
  <Paragraphs>613</Paragraphs>
  <Slides>23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D2Coding ligature</vt:lpstr>
      <vt:lpstr>HY견고딕</vt:lpstr>
      <vt:lpstr>나눔고딕</vt:lpstr>
      <vt:lpstr>맑은 고딕</vt:lpstr>
      <vt:lpstr>Arial</vt:lpstr>
      <vt:lpstr>Wingdings</vt:lpstr>
      <vt:lpstr>Office 테마</vt:lpstr>
      <vt:lpstr>PowerPoint 프레젠테이션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780</cp:revision>
  <dcterms:created xsi:type="dcterms:W3CDTF">2012-07-11T10:23:22Z</dcterms:created>
  <dcterms:modified xsi:type="dcterms:W3CDTF">2026-04-01T05:53:48Z</dcterms:modified>
</cp:coreProperties>
</file>
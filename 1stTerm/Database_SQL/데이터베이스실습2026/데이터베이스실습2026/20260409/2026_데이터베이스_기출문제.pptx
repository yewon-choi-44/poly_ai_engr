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28"/>
  </p:notesMasterIdLst>
  <p:handoutMasterIdLst>
    <p:handoutMasterId r:id="rId29"/>
  </p:handoutMasterIdLst>
  <p:sldIdLst>
    <p:sldId id="256" r:id="rId3"/>
    <p:sldId id="413" r:id="rId4"/>
    <p:sldId id="596" r:id="rId5"/>
    <p:sldId id="597" r:id="rId6"/>
    <p:sldId id="607" r:id="rId7"/>
    <p:sldId id="518" r:id="rId8"/>
    <p:sldId id="617" r:id="rId9"/>
    <p:sldId id="601" r:id="rId10"/>
    <p:sldId id="602" r:id="rId11"/>
    <p:sldId id="603" r:id="rId12"/>
    <p:sldId id="605" r:id="rId13"/>
    <p:sldId id="604" r:id="rId14"/>
    <p:sldId id="469" r:id="rId15"/>
    <p:sldId id="470" r:id="rId16"/>
    <p:sldId id="471" r:id="rId17"/>
    <p:sldId id="610" r:id="rId18"/>
    <p:sldId id="615" r:id="rId19"/>
    <p:sldId id="618" r:id="rId20"/>
    <p:sldId id="619" r:id="rId21"/>
    <p:sldId id="620" r:id="rId22"/>
    <p:sldId id="424" r:id="rId23"/>
    <p:sldId id="445" r:id="rId24"/>
    <p:sldId id="621" r:id="rId25"/>
    <p:sldId id="622" r:id="rId26"/>
    <p:sldId id="623" r:id="rId27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DDE"/>
    <a:srgbClr val="0C77C3"/>
    <a:srgbClr val="65A9D9"/>
    <a:srgbClr val="F8F8F8"/>
    <a:srgbClr val="7F7F7F"/>
    <a:srgbClr val="50ABCC"/>
    <a:srgbClr val="3E699D"/>
    <a:srgbClr val="393939"/>
    <a:srgbClr val="344F6B"/>
    <a:srgbClr val="B5D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90" d="100"/>
          <a:sy n="90" d="100"/>
        </p:scale>
        <p:origin x="1560" y="78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1725369209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1725369209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2732792057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2732792057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79063515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79063515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63922737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935049512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44519076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91429988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25369209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563922737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63922737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563922737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2935049512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935049512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2935049512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2935049512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4451907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4451907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4451907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4451907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191429988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91429988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191429988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90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  <p:sldLayoutId id="2147483703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/>
            </a: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다음은 </a:t>
            </a:r>
            <a:r>
              <a:rPr lang="en-US" altLang="ko-KR" sz="1400"/>
              <a:t>[</a:t>
            </a:r>
            <a:r>
              <a:rPr lang="ko-KR" altLang="en-US" sz="1400"/>
              <a:t>자격증</a:t>
            </a:r>
            <a:r>
              <a:rPr lang="en-US" altLang="ko-KR" sz="1400"/>
              <a:t>]</a:t>
            </a:r>
            <a:r>
              <a:rPr lang="ko-KR" altLang="en-US" sz="1400"/>
              <a:t>과 </a:t>
            </a:r>
            <a:r>
              <a:rPr lang="en-US" altLang="ko-KR" sz="1400"/>
              <a:t>[</a:t>
            </a:r>
            <a:r>
              <a:rPr lang="ko-KR" altLang="en-US" sz="1400"/>
              <a:t>응시료</a:t>
            </a:r>
            <a:r>
              <a:rPr lang="en-US" altLang="ko-KR" sz="1400"/>
              <a:t>] </a:t>
            </a:r>
            <a:r>
              <a:rPr lang="ko-KR" altLang="en-US" sz="1400"/>
              <a:t>테이블이다</a:t>
            </a:r>
            <a:r>
              <a:rPr lang="en-US" altLang="ko-KR" sz="1400"/>
              <a:t>. [</a:t>
            </a:r>
            <a:r>
              <a:rPr lang="ko-KR" altLang="en-US" sz="1400"/>
              <a:t>자격증</a:t>
            </a:r>
            <a:r>
              <a:rPr lang="en-US" altLang="ko-KR" sz="1400"/>
              <a:t>]</a:t>
            </a:r>
            <a:r>
              <a:rPr lang="ko-KR" altLang="en-US" sz="1400"/>
              <a:t>과 </a:t>
            </a:r>
            <a:r>
              <a:rPr lang="en-US" altLang="ko-KR" sz="1400"/>
              <a:t>[</a:t>
            </a:r>
            <a:r>
              <a:rPr lang="ko-KR" altLang="en-US" sz="1400"/>
              <a:t>응시료</a:t>
            </a:r>
            <a:r>
              <a:rPr lang="en-US" altLang="ko-KR" sz="1400"/>
              <a:t>] </a:t>
            </a:r>
            <a:r>
              <a:rPr lang="ko-KR" altLang="en-US" sz="1400"/>
              <a:t>테이블을 조인하여 </a:t>
            </a:r>
            <a:r>
              <a:rPr lang="en-US" altLang="ko-KR" sz="1400"/>
              <a:t>[</a:t>
            </a:r>
            <a:r>
              <a:rPr lang="ko-KR" altLang="en-US" sz="1400"/>
              <a:t>결과</a:t>
            </a:r>
            <a:r>
              <a:rPr lang="en-US" altLang="ko-KR" sz="1400"/>
              <a:t>] </a:t>
            </a:r>
            <a:r>
              <a:rPr lang="ko-KR" altLang="en-US" sz="1400"/>
              <a:t>테이블처럼 나오도록 쿼리를 작성하시오</a:t>
            </a:r>
            <a:r>
              <a:rPr lang="en-US" altLang="ko-KR" sz="1400"/>
              <a:t>.</a:t>
            </a:r>
          </a:p>
          <a:p>
            <a:r>
              <a:rPr lang="en-US" altLang="ko-KR" sz="1200"/>
              <a:t>[</a:t>
            </a:r>
            <a:r>
              <a:rPr lang="ko-KR" altLang="en-US" sz="1200"/>
              <a:t>자격증</a:t>
            </a:r>
            <a:r>
              <a:rPr lang="en-US" altLang="ko-KR" sz="1200"/>
              <a:t>]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r>
              <a:rPr lang="en-US" altLang="ko-KR" sz="1200"/>
              <a:t>[</a:t>
            </a:r>
            <a:r>
              <a:rPr lang="ko-KR" altLang="en-US" sz="1200"/>
              <a:t>응시료</a:t>
            </a:r>
            <a:r>
              <a:rPr lang="en-US" altLang="ko-KR" sz="1200"/>
              <a:t>]</a:t>
            </a:r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[</a:t>
            </a:r>
            <a:r>
              <a:rPr lang="ko-KR" altLang="en-US" sz="1200"/>
              <a:t>결과</a:t>
            </a:r>
            <a:r>
              <a:rPr lang="en-US" altLang="ko-KR" sz="1200"/>
              <a:t>]</a:t>
            </a:r>
          </a:p>
          <a:p>
            <a:endParaRPr lang="en-US" altLang="ko-KR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D18CFF-E862-F56E-1BFC-7E1A942B9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417361"/>
              </p:ext>
            </p:extLst>
          </p:nvPr>
        </p:nvGraphicFramePr>
        <p:xfrm>
          <a:off x="971601" y="2132856"/>
          <a:ext cx="3240360" cy="1226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</a:tblGrid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자격증번호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자격증명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정보처리기사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빅데이터분석기사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컴퓨터시스템응용기술사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241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정보관리기술사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41922D-9110-BF7A-0308-319683B2C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858135"/>
              </p:ext>
            </p:extLst>
          </p:nvPr>
        </p:nvGraphicFramePr>
        <p:xfrm>
          <a:off x="957790" y="3645024"/>
          <a:ext cx="3240360" cy="1226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</a:tblGrid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자격증번호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응시료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20000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19000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60000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241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62000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4E9812-4E9C-7679-B6DF-FD1541450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540455"/>
              </p:ext>
            </p:extLst>
          </p:nvPr>
        </p:nvGraphicFramePr>
        <p:xfrm>
          <a:off x="971599" y="5299300"/>
          <a:ext cx="3528393" cy="1226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905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1646583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  <a:gridCol w="940905">
                  <a:extLst>
                    <a:ext uri="{9D8B030D-6E8A-4147-A177-3AD203B41FA5}">
                      <a16:colId xmlns:a16="http://schemas.microsoft.com/office/drawing/2014/main" val="160768670"/>
                    </a:ext>
                  </a:extLst>
                </a:gridCol>
              </a:tblGrid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자격증번호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자격증명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응시료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정보처리기사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20000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빅데이터분석기사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245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컴퓨터시스템응용기술사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241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정보관리기술사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60000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34BE0F-65F5-E405-54CC-875AD504AA17}"/>
              </a:ext>
            </a:extLst>
          </p:cNvPr>
          <p:cNvSpPr txBox="1"/>
          <p:nvPr/>
        </p:nvSpPr>
        <p:spPr>
          <a:xfrm>
            <a:off x="4355976" y="1787439"/>
            <a:ext cx="4176464" cy="187220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/>
              <a:t>SELECT A.</a:t>
            </a:r>
            <a:r>
              <a:rPr lang="ko-KR" altLang="en-US" sz="1200" b="1"/>
              <a:t>자격증번호 </a:t>
            </a:r>
            <a:r>
              <a:rPr lang="en-US" altLang="ko-KR" sz="1200" b="1"/>
              <a:t>AS </a:t>
            </a:r>
            <a:r>
              <a:rPr lang="ko-KR" altLang="en-US" sz="1200" b="1"/>
              <a:t>자격증번호</a:t>
            </a:r>
            <a:r>
              <a:rPr lang="en-US" altLang="ko-KR" sz="1200" b="1"/>
              <a:t>, A.</a:t>
            </a:r>
            <a:r>
              <a:rPr lang="ko-KR" altLang="en-US" sz="1200" b="1"/>
              <a:t>자격증명 </a:t>
            </a:r>
            <a:r>
              <a:rPr lang="en-US" altLang="ko-KR" sz="1200" b="1"/>
              <a:t>AS </a:t>
            </a:r>
            <a:r>
              <a:rPr lang="ko-KR" altLang="en-US" sz="1200" b="1"/>
              <a:t>자격증명</a:t>
            </a:r>
            <a:r>
              <a:rPr lang="en-US" altLang="ko-KR" sz="1200" b="1"/>
              <a:t>, B.</a:t>
            </a:r>
            <a:r>
              <a:rPr lang="ko-KR" altLang="en-US" sz="1200" b="1"/>
              <a:t>응시료 </a:t>
            </a:r>
            <a:r>
              <a:rPr lang="en-US" altLang="ko-KR" sz="1200" b="1"/>
              <a:t>AS </a:t>
            </a:r>
            <a:r>
              <a:rPr lang="ko-KR" altLang="en-US" sz="1200" b="1"/>
              <a:t>응시료 </a:t>
            </a:r>
            <a:r>
              <a:rPr lang="en-US" altLang="ko-KR" sz="1200" b="1"/>
              <a:t>FROM </a:t>
            </a:r>
            <a:r>
              <a:rPr lang="ko-KR" altLang="en-US" sz="1200" b="1"/>
              <a:t>자격증</a:t>
            </a:r>
            <a:r>
              <a:rPr lang="en-US" altLang="ko-KR" sz="1200" b="1"/>
              <a:t> A LEFT JOIN </a:t>
            </a:r>
            <a:r>
              <a:rPr lang="ko-KR" altLang="en-US" sz="1200" b="1"/>
              <a:t>응시료</a:t>
            </a:r>
            <a:r>
              <a:rPr lang="en-US" altLang="ko-KR" sz="1200" b="1"/>
              <a:t> B ON</a:t>
            </a:r>
            <a:r>
              <a:rPr lang="ko-KR" altLang="en-US" sz="1200" b="1"/>
              <a:t> </a:t>
            </a:r>
            <a:r>
              <a:rPr lang="en-US" altLang="ko-KR" sz="1200" b="1"/>
              <a:t>A.</a:t>
            </a:r>
            <a:r>
              <a:rPr lang="ko-KR" altLang="en-US" sz="1200" b="1"/>
              <a:t>자격증번호 </a:t>
            </a:r>
            <a:r>
              <a:rPr lang="en-US" altLang="ko-KR" sz="1200" b="1"/>
              <a:t>= B.</a:t>
            </a:r>
            <a:r>
              <a:rPr lang="ko-KR" altLang="en-US" sz="1200" b="1"/>
              <a:t>자격증번호</a:t>
            </a:r>
            <a:r>
              <a:rPr lang="en-US" altLang="ko-KR" sz="1200" b="1"/>
              <a:t>;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95C7C-493F-0798-075F-AFCC8D00D02D}"/>
              </a:ext>
            </a:extLst>
          </p:cNvPr>
          <p:cNvSpPr txBox="1"/>
          <p:nvPr/>
        </p:nvSpPr>
        <p:spPr>
          <a:xfrm>
            <a:off x="4902685" y="3573016"/>
            <a:ext cx="3528392" cy="187220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응시료 필드에 </a:t>
            </a:r>
            <a:r>
              <a:rPr lang="en-US" altLang="ko-KR" sz="1200" b="1"/>
              <a:t>NULL </a:t>
            </a:r>
            <a:r>
              <a:rPr lang="ko-KR" altLang="en-US" sz="1200" b="1"/>
              <a:t>값으로 되어 있는 것을 보면 </a:t>
            </a:r>
            <a:r>
              <a:rPr lang="en-US" altLang="ko-KR" sz="1200" b="1"/>
              <a:t>LEFT (OUTER) JOIN </a:t>
            </a:r>
            <a:r>
              <a:rPr lang="ko-KR" altLang="en-US" sz="1200" b="1"/>
              <a:t>임을 알 수 있다</a:t>
            </a:r>
            <a:r>
              <a:rPr lang="en-US" altLang="ko-KR" sz="1200" b="1"/>
              <a:t>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A542E7-51F4-11BE-9DAF-11508B21DACC}"/>
              </a:ext>
            </a:extLst>
          </p:cNvPr>
          <p:cNvSpPr/>
          <p:nvPr/>
        </p:nvSpPr>
        <p:spPr>
          <a:xfrm>
            <a:off x="4529347" y="3197372"/>
            <a:ext cx="4075101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CA3AB-81B5-ADF6-BF1C-F92081F6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CC0C8-4418-D8AA-6402-34F71D8D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25FC81-27FD-93E4-2108-CDAE23A81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다음은 키에 대한 설명이다</a:t>
            </a:r>
            <a:r>
              <a:rPr lang="en-US" altLang="ko-KR" sz="1400"/>
              <a:t>. () </a:t>
            </a:r>
            <a:r>
              <a:rPr lang="ko-KR" altLang="en-US" sz="1400"/>
              <a:t>안에 들어갈 용어를 쓰시오</a:t>
            </a:r>
            <a:endParaRPr lang="en-US" altLang="ko-KR" sz="1400"/>
          </a:p>
          <a:p>
            <a:r>
              <a:rPr lang="ko-KR" altLang="en-US" sz="1400"/>
              <a:t>슈퍼 키는 </a:t>
            </a:r>
            <a:r>
              <a:rPr lang="en-US" altLang="ko-KR" sz="1400"/>
              <a:t>(       )</a:t>
            </a:r>
            <a:r>
              <a:rPr lang="ko-KR" altLang="en-US" sz="1400"/>
              <a:t>의 속성을 가진다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후보 키는 </a:t>
            </a:r>
            <a:r>
              <a:rPr lang="en-US" altLang="ko-KR" sz="1400"/>
              <a:t>(       )</a:t>
            </a:r>
            <a:r>
              <a:rPr lang="ko-KR" altLang="en-US" sz="1400"/>
              <a:t>와</a:t>
            </a:r>
            <a:r>
              <a:rPr lang="en-US" altLang="ko-KR" sz="1400"/>
              <a:t>/</a:t>
            </a:r>
            <a:r>
              <a:rPr lang="ko-KR" altLang="en-US" sz="1400"/>
              <a:t>과 </a:t>
            </a:r>
            <a:r>
              <a:rPr lang="en-US" altLang="ko-KR" sz="1400"/>
              <a:t>(       )</a:t>
            </a:r>
            <a:r>
              <a:rPr lang="ko-KR" altLang="en-US" sz="1400"/>
              <a:t>의 속성을 갖는다</a:t>
            </a:r>
            <a:r>
              <a:rPr lang="en-US" altLang="ko-KR" sz="1400"/>
              <a:t>.</a:t>
            </a:r>
          </a:p>
          <a:p>
            <a:endParaRPr lang="en-US" altLang="ko-KR" sz="1200"/>
          </a:p>
          <a:p>
            <a:r>
              <a:rPr lang="ko-KR" altLang="en-US" sz="1200">
                <a:solidFill>
                  <a:schemeClr val="accent6"/>
                </a:solidFill>
              </a:rPr>
              <a:t>유일성</a:t>
            </a:r>
            <a:r>
              <a:rPr lang="en-US" altLang="ko-KR" sz="1200">
                <a:solidFill>
                  <a:schemeClr val="accent6"/>
                </a:solidFill>
              </a:rPr>
              <a:t>, </a:t>
            </a:r>
            <a:r>
              <a:rPr lang="ko-KR" altLang="en-US" sz="1200">
                <a:solidFill>
                  <a:schemeClr val="accent6"/>
                </a:solidFill>
              </a:rPr>
              <a:t>최소성</a:t>
            </a:r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899E38C-13B2-236A-14E1-08153097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58795"/>
              </p:ext>
            </p:extLst>
          </p:nvPr>
        </p:nvGraphicFramePr>
        <p:xfrm>
          <a:off x="935596" y="2780928"/>
          <a:ext cx="7272808" cy="271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843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5090965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</a:tblGrid>
              <a:tr h="519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문제점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기본키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후보 키 중에서 선택받아 테이블의 튜플들을 고유하게 식별하는 키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대체키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후보 키 중에서 기본 키로 선택되지 않은 키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후보키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유일성과 최소성을 모드 만족하는 키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더이상 제외 시킬 것이 없는 상태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슈퍼키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유일성은 만족하지만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최소성은 만족하지 못하는 키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키를 포함하는 모든 부분 집합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외래키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한 </a:t>
                      </a:r>
                      <a:r>
                        <a:rPr lang="ko-KR" altLang="en-US" sz="1000" dirty="0" err="1"/>
                        <a:t>릴레이션의</a:t>
                      </a:r>
                      <a:r>
                        <a:rPr lang="ko-KR" altLang="en-US" sz="1000" dirty="0"/>
                        <a:t> 컬럼이나 다른 </a:t>
                      </a:r>
                      <a:r>
                        <a:rPr lang="ko-KR" altLang="en-US" sz="1000" dirty="0" err="1"/>
                        <a:t>릴레이션의</a:t>
                      </a:r>
                      <a:r>
                        <a:rPr lang="ko-KR" altLang="en-US" sz="1000" dirty="0"/>
                        <a:t> 기본 키로 이용되는 키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314638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03B8349-86D9-6B56-1024-4C6A43141283}"/>
              </a:ext>
            </a:extLst>
          </p:cNvPr>
          <p:cNvSpPr/>
          <p:nvPr/>
        </p:nvSpPr>
        <p:spPr>
          <a:xfrm>
            <a:off x="2555776" y="2325440"/>
            <a:ext cx="1080120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1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B31E2C-B2B7-B970-5E43-4CABF4DA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4FE9C-F5F5-BD10-8127-01A718DA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B9249-1183-7BE4-C4E6-F4C42B091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 릴레이션에 생기는 문제를 방지하기 위해서는 </a:t>
            </a:r>
            <a:r>
              <a:rPr lang="en-US" altLang="ko-KR" sz="1400"/>
              <a:t>(    ) </a:t>
            </a:r>
            <a:r>
              <a:rPr lang="ko-KR" altLang="en-US" sz="1400"/>
              <a:t>무결성 제약 조건을 준수해야 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괄호</a:t>
            </a:r>
            <a:r>
              <a:rPr lang="en-US" altLang="ko-KR" sz="1400"/>
              <a:t>(    ) </a:t>
            </a:r>
            <a:r>
              <a:rPr lang="ko-KR" altLang="en-US" sz="1400"/>
              <a:t>안에 들어갈 용어를 쓰시오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(        </a:t>
            </a:r>
            <a:r>
              <a:rPr lang="ko-KR" altLang="en-US" sz="1400">
                <a:solidFill>
                  <a:srgbClr val="0070C0"/>
                </a:solidFill>
              </a:rPr>
              <a:t>참조</a:t>
            </a:r>
            <a:r>
              <a:rPr lang="en-US" altLang="ko-KR" sz="1400"/>
              <a:t>        ) </a:t>
            </a:r>
            <a:r>
              <a:rPr lang="ko-KR" altLang="en-US" sz="1400"/>
              <a:t>무결성 제약 조건</a:t>
            </a:r>
            <a:endParaRPr lang="en-US" altLang="ko-KR" sz="1400"/>
          </a:p>
          <a:p>
            <a:r>
              <a:rPr lang="ko-KR" altLang="en-US" sz="1200"/>
              <a:t>참조 무결성 제약 조건은 릴레이션과 릴레이션 사이에 대해 참조의 일관성을 보장하기 위한 조건이다</a:t>
            </a:r>
            <a:endParaRPr lang="en-US" altLang="ko-KR" sz="1200"/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1F1271A-62B2-798D-5223-F87EBAD62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977175"/>
              </p:ext>
            </p:extLst>
          </p:nvPr>
        </p:nvGraphicFramePr>
        <p:xfrm>
          <a:off x="971600" y="1988840"/>
          <a:ext cx="2736304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99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1320405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고객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고객 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홍길동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장길산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임꺽정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A6A9ED-2C9E-0C89-F4F2-A348B2F62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4553"/>
              </p:ext>
            </p:extLst>
          </p:nvPr>
        </p:nvGraphicFramePr>
        <p:xfrm>
          <a:off x="4427984" y="2924944"/>
          <a:ext cx="2808312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82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887610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531867641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고객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고객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수량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홍길동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장길산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임꺽정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B976EB9-8A9D-D1A2-C46C-83A025CAE8B9}"/>
              </a:ext>
            </a:extLst>
          </p:cNvPr>
          <p:cNvCxnSpPr>
            <a:cxnSpLocks/>
          </p:cNvCxnSpPr>
          <p:nvPr/>
        </p:nvCxnSpPr>
        <p:spPr>
          <a:xfrm>
            <a:off x="1907704" y="2518023"/>
            <a:ext cx="2808312" cy="91097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879881-A8BF-A35A-A5DF-E8036B043589}"/>
              </a:ext>
            </a:extLst>
          </p:cNvPr>
          <p:cNvCxnSpPr>
            <a:cxnSpLocks/>
          </p:cNvCxnSpPr>
          <p:nvPr/>
        </p:nvCxnSpPr>
        <p:spPr>
          <a:xfrm>
            <a:off x="1835696" y="3140968"/>
            <a:ext cx="2880320" cy="9361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314224-76C6-69DE-613F-58D014F68ED0}"/>
              </a:ext>
            </a:extLst>
          </p:cNvPr>
          <p:cNvCxnSpPr>
            <a:cxnSpLocks/>
          </p:cNvCxnSpPr>
          <p:nvPr/>
        </p:nvCxnSpPr>
        <p:spPr>
          <a:xfrm flipV="1">
            <a:off x="4932040" y="2590031"/>
            <a:ext cx="576064" cy="8389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858999EF-2779-A46D-ADAB-1710189D7891}"/>
              </a:ext>
            </a:extLst>
          </p:cNvPr>
          <p:cNvSpPr/>
          <p:nvPr/>
        </p:nvSpPr>
        <p:spPr>
          <a:xfrm>
            <a:off x="5508104" y="2301999"/>
            <a:ext cx="288032" cy="288032"/>
          </a:xfrm>
          <a:prstGeom prst="mathMultiply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D615B-76E6-9E99-5384-7741CEFC25D0}"/>
              </a:ext>
            </a:extLst>
          </p:cNvPr>
          <p:cNvSpPr txBox="1"/>
          <p:nvPr/>
        </p:nvSpPr>
        <p:spPr>
          <a:xfrm>
            <a:off x="6012160" y="2085975"/>
            <a:ext cx="1872208" cy="43204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ko-KR" sz="1400"/>
              <a:t>A</a:t>
            </a:r>
            <a:r>
              <a:rPr lang="ko-KR" altLang="en-US" sz="1400"/>
              <a:t>가 존재하지 않음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55376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1A20-6C76-CC05-066E-FA7A2BC8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F2D34-1468-5A86-4B2B-1F4302F7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240E1-42DD-6F0B-669D-2368CB16D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200"/>
              <a:t>다음은 무결성 제약 조건에 대한 문제이다</a:t>
            </a:r>
            <a:r>
              <a:rPr lang="en-US" altLang="ko-KR" sz="1200"/>
              <a:t>. </a:t>
            </a:r>
            <a:r>
              <a:rPr lang="ko-KR" altLang="en-US" sz="1200"/>
              <a:t>아래 표에서 어떠한 </a:t>
            </a:r>
            <a:r>
              <a:rPr lang="en-US" altLang="ko-KR" sz="1200"/>
              <a:t>(     ) </a:t>
            </a:r>
            <a:r>
              <a:rPr lang="ko-KR" altLang="en-US" sz="1200"/>
              <a:t>무결성을 위반하였는지 작성하시오</a:t>
            </a:r>
            <a:r>
              <a:rPr lang="en-US" altLang="ko-KR" sz="1200"/>
              <a:t>.</a:t>
            </a:r>
          </a:p>
          <a:p>
            <a:r>
              <a:rPr lang="ko-KR" altLang="en-US" sz="1200">
                <a:solidFill>
                  <a:schemeClr val="accent6"/>
                </a:solidFill>
              </a:rPr>
              <a:t>개체 무결성</a:t>
            </a:r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47E6F97-AD12-F7A6-37D2-7A7CC80DE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784021"/>
              </p:ext>
            </p:extLst>
          </p:nvPr>
        </p:nvGraphicFramePr>
        <p:xfrm>
          <a:off x="971600" y="1844824"/>
          <a:ext cx="4464496" cy="23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038213792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1005397302"/>
                    </a:ext>
                  </a:extLst>
                </a:gridCol>
              </a:tblGrid>
              <a:tr h="473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sng"/>
                        <a:t>StudentID</a:t>
                      </a:r>
                      <a:endParaRPr lang="ko-KR" altLang="en-US" sz="1000" u="sng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Name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Age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Major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Computer Science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Mathematics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David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Chemistry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AEBC0E73-3616-2AE4-6F37-39CF860FF1B9}"/>
              </a:ext>
            </a:extLst>
          </p:cNvPr>
          <p:cNvSpPr/>
          <p:nvPr/>
        </p:nvSpPr>
        <p:spPr>
          <a:xfrm>
            <a:off x="2195736" y="1491545"/>
            <a:ext cx="1080120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9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7844-3159-DBA7-EA57-DDF7644E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C3009-75AB-612A-323F-07035D5A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무결성 </a:t>
            </a:r>
            <a:r>
              <a:rPr lang="ko-KR" altLang="en-US" dirty="0"/>
              <a:t>제약조건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EAEF35-92DC-F4F3-AB9D-115297AE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무결성</a:t>
            </a:r>
            <a:r>
              <a:rPr lang="en-US" altLang="ko-KR" dirty="0"/>
              <a:t>(integrity, </a:t>
            </a:r>
            <a:r>
              <a:rPr lang="ko-KR" altLang="en-US" dirty="0" err="1"/>
              <a:t>無缺性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sz="1400" b="0" dirty="0"/>
              <a:t>     </a:t>
            </a:r>
            <a:r>
              <a:rPr lang="ko-KR" altLang="en-US" sz="1400" b="0" dirty="0"/>
              <a:t>데이터베이스에 저장된 데이터의 일관성과 정확성을 </a:t>
            </a:r>
            <a:r>
              <a:rPr lang="ko-KR" altLang="en-US" sz="1400" b="0"/>
              <a:t>지키는 것</a:t>
            </a:r>
            <a:r>
              <a:rPr lang="en-US" altLang="ko-KR" sz="1400" b="0"/>
              <a:t>, </a:t>
            </a:r>
            <a:r>
              <a:rPr lang="ko-KR" altLang="en-US" sz="1400" b="0"/>
              <a:t>여러가지 제약조건으로 지켜짐</a:t>
            </a:r>
            <a:endParaRPr lang="en-US" altLang="ko-KR" sz="1400" b="0" dirty="0"/>
          </a:p>
          <a:p>
            <a:endParaRPr lang="en-US" altLang="ko-KR" sz="1050" dirty="0"/>
          </a:p>
          <a:p>
            <a:r>
              <a:rPr lang="ko-KR" altLang="en-US" dirty="0"/>
              <a:t>도메인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sz="1400" dirty="0"/>
              <a:t>	</a:t>
            </a:r>
            <a:r>
              <a:rPr lang="ko-KR" altLang="en-US" sz="1400" b="0" dirty="0"/>
              <a:t>도메인 제약</a:t>
            </a:r>
            <a:r>
              <a:rPr lang="en-US" altLang="ko-KR" sz="1400" b="0" dirty="0"/>
              <a:t>(domain constraint)</a:t>
            </a:r>
            <a:r>
              <a:rPr lang="ko-KR" altLang="en-US" sz="1400" b="0" dirty="0"/>
              <a:t>이라고도 하며</a:t>
            </a:r>
            <a:r>
              <a:rPr lang="en-US" altLang="ko-KR" sz="1400" b="0" dirty="0"/>
              <a:t>,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내의 </a:t>
            </a:r>
            <a:r>
              <a:rPr lang="ko-KR" altLang="en-US" sz="1400" b="0" dirty="0" err="1"/>
              <a:t>투플들이</a:t>
            </a:r>
            <a:r>
              <a:rPr lang="ko-KR" altLang="en-US" sz="1400" b="0" dirty="0"/>
              <a:t> 각 속성의 도메인에 지정된 값만을 가져야 한다는 조건</a:t>
            </a:r>
            <a:r>
              <a:rPr lang="en-US" altLang="ko-KR" sz="1400" b="0" dirty="0"/>
              <a:t>. SQL </a:t>
            </a:r>
            <a:r>
              <a:rPr lang="ko-KR" altLang="en-US" sz="1400" b="0" dirty="0"/>
              <a:t>문에서 데이터 형식</a:t>
            </a:r>
            <a:r>
              <a:rPr lang="en-US" altLang="ko-KR" sz="1400" b="0" dirty="0"/>
              <a:t>(type), </a:t>
            </a:r>
            <a:r>
              <a:rPr lang="ko-KR" altLang="en-US" sz="1400" b="0" dirty="0"/>
              <a:t>널</a:t>
            </a:r>
            <a:r>
              <a:rPr lang="en-US" altLang="ko-KR" sz="1400" b="0" dirty="0"/>
              <a:t>(null/not null), </a:t>
            </a:r>
            <a:r>
              <a:rPr lang="ko-KR" altLang="en-US" sz="1400" b="0" dirty="0"/>
              <a:t>기본 값</a:t>
            </a:r>
            <a:r>
              <a:rPr lang="en-US" altLang="ko-KR" sz="1400" b="0" dirty="0"/>
              <a:t>(default), </a:t>
            </a:r>
            <a:r>
              <a:rPr lang="ko-KR" altLang="en-US" sz="1400" b="0" dirty="0"/>
              <a:t>체크</a:t>
            </a:r>
            <a:r>
              <a:rPr lang="en-US" altLang="ko-KR" sz="1400" b="0" dirty="0"/>
              <a:t>(check) </a:t>
            </a:r>
            <a:r>
              <a:rPr lang="ko-KR" altLang="en-US" sz="1400" b="0" dirty="0"/>
              <a:t>등을 사용하여 지정할 수 있음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00" b="0" dirty="0"/>
          </a:p>
          <a:p>
            <a:r>
              <a:rPr lang="ko-KR" altLang="en-US" dirty="0"/>
              <a:t>개체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ko-KR" altLang="en-US" sz="1400" b="0" dirty="0" err="1"/>
              <a:t>기본키</a:t>
            </a:r>
            <a:r>
              <a:rPr lang="ko-KR" altLang="en-US" sz="1400" b="0" dirty="0"/>
              <a:t> 제약</a:t>
            </a:r>
            <a:r>
              <a:rPr lang="en-US" altLang="ko-KR" sz="1400" b="0" dirty="0"/>
              <a:t>(primary key constraint)</a:t>
            </a:r>
            <a:r>
              <a:rPr lang="ko-KR" altLang="en-US" sz="1400" b="0" dirty="0"/>
              <a:t>이라고도 함</a:t>
            </a:r>
            <a:r>
              <a:rPr lang="en-US" altLang="ko-KR" sz="1400" b="0" dirty="0"/>
              <a:t>. </a:t>
            </a:r>
            <a:r>
              <a:rPr lang="ko-KR" altLang="en-US" sz="1400" b="0" dirty="0" err="1"/>
              <a:t>릴레이션은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기본키를</a:t>
            </a:r>
            <a:r>
              <a:rPr lang="ko-KR" altLang="en-US" sz="1400" b="0" dirty="0"/>
              <a:t> 지정하고 그에 따른 </a:t>
            </a:r>
            <a:r>
              <a:rPr lang="ko-KR" altLang="en-US" sz="1400" b="0" dirty="0" err="1"/>
              <a:t>무결성</a:t>
            </a:r>
            <a:r>
              <a:rPr lang="ko-KR" altLang="en-US" sz="1400" b="0" dirty="0"/>
              <a:t> 원칙</a:t>
            </a:r>
            <a:r>
              <a:rPr lang="en-US" altLang="ko-KR" sz="1400" b="0" dirty="0"/>
              <a:t>,</a:t>
            </a:r>
            <a:r>
              <a:rPr lang="ko-KR" altLang="en-US" sz="1400" b="0" dirty="0"/>
              <a:t> 즉</a:t>
            </a:r>
            <a:r>
              <a:rPr lang="en-US" altLang="ko-KR" sz="1400" b="0" dirty="0"/>
              <a:t> </a:t>
            </a:r>
            <a:r>
              <a:rPr lang="ko-KR" altLang="en-US" sz="1400" b="0" dirty="0" err="1"/>
              <a:t>기본키는</a:t>
            </a:r>
            <a:r>
              <a:rPr lang="ko-KR" altLang="en-US" sz="1400" b="0" dirty="0"/>
              <a:t> </a:t>
            </a:r>
            <a:r>
              <a:rPr lang="en-US" altLang="ko-KR" sz="1400" b="0" dirty="0"/>
              <a:t>NULL </a:t>
            </a:r>
            <a:r>
              <a:rPr lang="ko-KR" altLang="en-US" sz="1400" b="0" dirty="0"/>
              <a:t>값을 가져서는 안 되며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내에 오직 하나의 값만 존재해야 한다는 조건임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50" b="0" dirty="0"/>
          </a:p>
          <a:p>
            <a:r>
              <a:rPr lang="ko-KR" altLang="en-US" dirty="0"/>
              <a:t>참조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ko-KR" altLang="en-US" sz="1400" b="0" dirty="0" err="1"/>
              <a:t>외래키</a:t>
            </a:r>
            <a:r>
              <a:rPr lang="ko-KR" altLang="en-US" sz="1400" b="0" dirty="0"/>
              <a:t> 제약</a:t>
            </a:r>
            <a:r>
              <a:rPr lang="en-US" altLang="ko-KR" sz="1400" b="0" dirty="0"/>
              <a:t>(foreign key constraint)</a:t>
            </a:r>
            <a:r>
              <a:rPr lang="ko-KR" altLang="en-US" sz="1400" b="0" dirty="0"/>
              <a:t>이라고도 하며</a:t>
            </a:r>
            <a:r>
              <a:rPr lang="en-US" altLang="ko-KR" sz="1400" b="0" dirty="0"/>
              <a:t>,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간의 참조 관계를 선언하는 제약조건임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자식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외래키는</a:t>
            </a:r>
            <a:r>
              <a:rPr lang="ko-KR" altLang="en-US" sz="1400" b="0" dirty="0"/>
              <a:t> 부모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기본키와</a:t>
            </a:r>
            <a:r>
              <a:rPr lang="ko-KR" altLang="en-US" sz="1400" b="0" dirty="0"/>
              <a:t> 도메인이 동일해야 하며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자식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값이 변경될 때 부모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제약을 받는다는 것임</a:t>
            </a:r>
            <a:endParaRPr lang="en-US" altLang="ko-KR" sz="1800" dirty="0"/>
          </a:p>
          <a:p>
            <a:pPr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6724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2386-55DC-AAE6-913C-FD9640AA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1BA74-E54A-7C62-6B01-67788742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64985-7CE3-3B62-3D07-9B658C591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200"/>
              <a:t>다음은 제약조건과 관련된 문제이다</a:t>
            </a:r>
            <a:r>
              <a:rPr lang="en-US" altLang="ko-KR" sz="1200"/>
              <a:t>. </a:t>
            </a:r>
            <a:r>
              <a:rPr lang="ko-KR" altLang="en-US" sz="1200"/>
              <a:t>괄호 안에 알맞은 용어를 보기에 골라 작성하시오</a:t>
            </a:r>
            <a:r>
              <a:rPr lang="en-US" altLang="ko-KR" sz="1200"/>
              <a:t>.</a:t>
            </a: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200">
              <a:solidFill>
                <a:schemeClr val="accent6"/>
              </a:solidFill>
            </a:endParaRPr>
          </a:p>
          <a:p>
            <a:r>
              <a:rPr lang="en-US" altLang="ko-KR" sz="1200"/>
              <a:t>[</a:t>
            </a:r>
            <a:r>
              <a:rPr lang="ko-KR" altLang="en-US" sz="1200"/>
              <a:t>보기</a:t>
            </a:r>
            <a:r>
              <a:rPr lang="en-US" altLang="ko-KR" sz="1200"/>
              <a:t>] </a:t>
            </a:r>
            <a:r>
              <a:rPr lang="ko-KR" altLang="en-US" sz="1200"/>
              <a:t>개체</a:t>
            </a:r>
            <a:r>
              <a:rPr lang="en-US" altLang="ko-KR" sz="1200"/>
              <a:t>, </a:t>
            </a:r>
            <a:r>
              <a:rPr lang="ko-KR" altLang="en-US" sz="1200"/>
              <a:t>참조</a:t>
            </a:r>
            <a:r>
              <a:rPr lang="en-US" altLang="ko-KR" sz="1200"/>
              <a:t>, </a:t>
            </a:r>
            <a:r>
              <a:rPr lang="ko-KR" altLang="en-US" sz="1200"/>
              <a:t>도메인</a:t>
            </a:r>
            <a:endParaRPr lang="en-US" altLang="ko-KR" sz="1200"/>
          </a:p>
          <a:p>
            <a:endParaRPr lang="en-US" altLang="ko-KR" sz="1200">
              <a:solidFill>
                <a:schemeClr val="accent6"/>
              </a:solidFill>
            </a:endParaRPr>
          </a:p>
          <a:p>
            <a:r>
              <a:rPr lang="ko-KR" altLang="en-US" sz="1200">
                <a:solidFill>
                  <a:schemeClr val="accent6"/>
                </a:solidFill>
              </a:rPr>
              <a:t>도메인</a:t>
            </a:r>
            <a:r>
              <a:rPr lang="en-US" altLang="ko-KR" sz="1200">
                <a:solidFill>
                  <a:schemeClr val="accent6"/>
                </a:solidFill>
              </a:rPr>
              <a:t>, </a:t>
            </a:r>
            <a:r>
              <a:rPr lang="ko-KR" altLang="en-US" sz="1200">
                <a:solidFill>
                  <a:schemeClr val="accent6"/>
                </a:solidFill>
              </a:rPr>
              <a:t>개체</a:t>
            </a:r>
            <a:r>
              <a:rPr lang="en-US" altLang="ko-KR" sz="1200">
                <a:solidFill>
                  <a:schemeClr val="accent6"/>
                </a:solidFill>
              </a:rPr>
              <a:t>, </a:t>
            </a:r>
            <a:r>
              <a:rPr lang="ko-KR" altLang="en-US" sz="1200">
                <a:solidFill>
                  <a:schemeClr val="accent6"/>
                </a:solidFill>
              </a:rPr>
              <a:t>참조</a:t>
            </a:r>
            <a:endParaRPr lang="en-US" altLang="ko-KR" sz="1200">
              <a:solidFill>
                <a:schemeClr val="accent6"/>
              </a:solidFill>
            </a:endParaRP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0A2EB67-A733-83E3-007D-0D3013ACF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794567"/>
              </p:ext>
            </p:extLst>
          </p:nvPr>
        </p:nvGraphicFramePr>
        <p:xfrm>
          <a:off x="971600" y="1536700"/>
          <a:ext cx="7488832" cy="291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833">
                  <a:extLst>
                    <a:ext uri="{9D8B030D-6E8A-4147-A177-3AD203B41FA5}">
                      <a16:colId xmlns:a16="http://schemas.microsoft.com/office/drawing/2014/main" val="647574126"/>
                    </a:ext>
                  </a:extLst>
                </a:gridCol>
                <a:gridCol w="1986833">
                  <a:extLst>
                    <a:ext uri="{9D8B030D-6E8A-4147-A177-3AD203B41FA5}">
                      <a16:colId xmlns:a16="http://schemas.microsoft.com/office/drawing/2014/main" val="599515775"/>
                    </a:ext>
                  </a:extLst>
                </a:gridCol>
                <a:gridCol w="1834000">
                  <a:extLst>
                    <a:ext uri="{9D8B030D-6E8A-4147-A177-3AD203B41FA5}">
                      <a16:colId xmlns:a16="http://schemas.microsoft.com/office/drawing/2014/main" val="3038213792"/>
                    </a:ext>
                  </a:extLst>
                </a:gridCol>
                <a:gridCol w="1681166">
                  <a:extLst>
                    <a:ext uri="{9D8B030D-6E8A-4147-A177-3AD203B41FA5}">
                      <a16:colId xmlns:a16="http://schemas.microsoft.com/office/drawing/2014/main" val="1005397302"/>
                    </a:ext>
                  </a:extLst>
                </a:gridCol>
              </a:tblGrid>
              <a:tr h="421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(   ) </a:t>
                      </a:r>
                      <a:r>
                        <a:rPr lang="ko-KR" altLang="en-US" sz="1000"/>
                        <a:t>무결성 제약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(   ) </a:t>
                      </a:r>
                      <a:r>
                        <a:rPr lang="ko-KR" altLang="en-US" sz="1000"/>
                        <a:t>무결성 제약조건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(   ) </a:t>
                      </a:r>
                      <a:r>
                        <a:rPr lang="ko-KR" altLang="en-US" sz="1000"/>
                        <a:t>무결성 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22620"/>
                  </a:ext>
                </a:extLst>
              </a:tr>
              <a:tr h="421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제약대상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속성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투플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속성과 투플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71338"/>
                  </a:ext>
                </a:extLst>
              </a:tr>
              <a:tr h="4211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NULL </a:t>
                      </a:r>
                      <a:r>
                        <a:rPr lang="ko-KR" altLang="en-US" sz="1000"/>
                        <a:t>값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기본키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외래키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83697"/>
                  </a:ext>
                </a:extLst>
              </a:tr>
              <a:tr h="421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릴레이션 내 제약조건의 개수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속성의 개수와 동일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0 ~ </a:t>
                      </a:r>
                      <a:r>
                        <a:rPr lang="ko-KR" altLang="en-US" sz="1000"/>
                        <a:t>외래키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96538"/>
                  </a:ext>
                </a:extLst>
              </a:tr>
              <a:tr h="107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기타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투플 삽입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시 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제약사항 우선 확인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투플 삽입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시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제약사항 우선 확인 </a:t>
                      </a:r>
                      <a:endParaRPr lang="en-US" altLang="ko-KR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투플 삽입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시 제약 우선 확인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부모 릴레이션 투플 수정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삭제시 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제약 사항 우선 확인</a:t>
                      </a:r>
                      <a:endParaRPr lang="en-US" altLang="ko-KR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13211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DCFA859-155E-ADED-02B7-DC8657AE7A45}"/>
              </a:ext>
            </a:extLst>
          </p:cNvPr>
          <p:cNvSpPr/>
          <p:nvPr/>
        </p:nvSpPr>
        <p:spPr>
          <a:xfrm>
            <a:off x="2555776" y="5218875"/>
            <a:ext cx="1209758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14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EBB2-7318-4E0B-EE4E-83F811D3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B2048-6DD8-E421-B639-900313BA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41FE0-C519-ADC2-1BAA-47F6A4F18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/>
              <a:t>[</a:t>
            </a:r>
            <a:r>
              <a:rPr lang="ko-KR" altLang="en-US" sz="1400"/>
              <a:t>학생</a:t>
            </a:r>
            <a:r>
              <a:rPr lang="en-US" altLang="ko-KR" sz="1400"/>
              <a:t>] </a:t>
            </a:r>
            <a:r>
              <a:rPr lang="ko-KR" altLang="en-US" sz="1400"/>
              <a:t>테이블의 스키마 이용해 </a:t>
            </a:r>
            <a:r>
              <a:rPr lang="en-US" altLang="ko-KR" sz="1400"/>
              <a:t>[</a:t>
            </a:r>
            <a:r>
              <a:rPr lang="ko-KR" altLang="en-US" sz="1400"/>
              <a:t>처리 조건</a:t>
            </a:r>
            <a:r>
              <a:rPr lang="en-US" altLang="ko-KR" sz="1400"/>
              <a:t>]</a:t>
            </a:r>
            <a:r>
              <a:rPr lang="ko-KR" altLang="en-US" sz="1400"/>
              <a:t>에 맞는 쿼리문을 작성하시오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[</a:t>
            </a:r>
            <a:r>
              <a:rPr lang="ko-KR" altLang="en-US" sz="1400"/>
              <a:t>학생</a:t>
            </a:r>
            <a:r>
              <a:rPr lang="en-US" altLang="ko-KR" sz="1400"/>
              <a:t>] </a:t>
            </a:r>
            <a:r>
              <a:rPr lang="ko-KR" altLang="en-US" sz="1400"/>
              <a:t>테이블</a:t>
            </a:r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처리조건</a:t>
            </a:r>
            <a:r>
              <a:rPr lang="en-US" altLang="ko-KR"/>
              <a:t>]</a:t>
            </a:r>
          </a:p>
          <a:p>
            <a:pPr lvl="1"/>
            <a:r>
              <a:rPr lang="ko-KR" altLang="en-US"/>
              <a:t>학생 테이블에 학번이 </a:t>
            </a:r>
            <a:r>
              <a:rPr lang="en-US" altLang="ko-KR"/>
              <a:t>9830287, </a:t>
            </a:r>
            <a:r>
              <a:rPr lang="ko-KR" altLang="en-US"/>
              <a:t>이름이 </a:t>
            </a:r>
            <a:r>
              <a:rPr lang="en-US" altLang="ko-KR"/>
              <a:t>‘</a:t>
            </a:r>
            <a:r>
              <a:rPr lang="ko-KR" altLang="en-US"/>
              <a:t>한국산</a:t>
            </a:r>
            <a:r>
              <a:rPr lang="en-US" altLang="ko-KR"/>
              <a:t>‘, </a:t>
            </a:r>
            <a:r>
              <a:rPr lang="ko-KR" altLang="en-US"/>
              <a:t>학년이 </a:t>
            </a:r>
            <a:r>
              <a:rPr lang="en-US" altLang="ko-KR"/>
              <a:t>3, </a:t>
            </a:r>
            <a:r>
              <a:rPr lang="ko-KR" altLang="en-US"/>
              <a:t>과목이 </a:t>
            </a:r>
            <a:r>
              <a:rPr lang="en-US" altLang="ko-KR"/>
              <a:t>‘</a:t>
            </a:r>
            <a:r>
              <a:rPr lang="ko-KR" altLang="en-US"/>
              <a:t>경영학개론</a:t>
            </a:r>
            <a:r>
              <a:rPr lang="en-US" altLang="ko-KR"/>
              <a:t>‘, </a:t>
            </a:r>
            <a:r>
              <a:rPr lang="ko-KR" altLang="en-US"/>
              <a:t>연락처가 </a:t>
            </a:r>
            <a:r>
              <a:rPr lang="en-US" altLang="ko-KR"/>
              <a:t>‘050-1234-1234’</a:t>
            </a:r>
            <a:r>
              <a:rPr lang="ko-KR" altLang="en-US"/>
              <a:t>인 학생의 정보를 입력하시오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명령문 마지막의 세미콜론</a:t>
            </a:r>
            <a:r>
              <a:rPr lang="en-US" altLang="ko-KR"/>
              <a:t>(;)</a:t>
            </a:r>
            <a:r>
              <a:rPr lang="ko-KR" altLang="en-US"/>
              <a:t>은 생략이 가능하다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인용 부호가 필요한 경우 작은 따옴표</a:t>
            </a:r>
            <a:r>
              <a:rPr lang="en-US" altLang="ko-KR"/>
              <a:t>(‘)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en-US" altLang="ko-KR" sz="1100">
                <a:solidFill>
                  <a:schemeClr val="tx2"/>
                </a:solidFill>
              </a:rPr>
              <a:t>INSERT INTO </a:t>
            </a:r>
            <a:r>
              <a:rPr lang="ko-KR" altLang="en-US" sz="1100">
                <a:solidFill>
                  <a:schemeClr val="tx2"/>
                </a:solidFill>
              </a:rPr>
              <a:t>학생 </a:t>
            </a:r>
            <a:r>
              <a:rPr lang="en-US" altLang="ko-KR" sz="1100">
                <a:solidFill>
                  <a:schemeClr val="tx2"/>
                </a:solidFill>
              </a:rPr>
              <a:t>VALUES (9830287, ‘</a:t>
            </a:r>
            <a:r>
              <a:rPr lang="ko-KR" altLang="en-US" sz="1100">
                <a:solidFill>
                  <a:schemeClr val="tx2"/>
                </a:solidFill>
              </a:rPr>
              <a:t>한국산</a:t>
            </a:r>
            <a:r>
              <a:rPr lang="en-US" altLang="ko-KR" sz="1100">
                <a:solidFill>
                  <a:schemeClr val="tx2"/>
                </a:solidFill>
              </a:rPr>
              <a:t>’, 3, ‘</a:t>
            </a:r>
            <a:r>
              <a:rPr lang="ko-KR" altLang="en-US" sz="1100">
                <a:solidFill>
                  <a:schemeClr val="tx2"/>
                </a:solidFill>
              </a:rPr>
              <a:t>경영학개론</a:t>
            </a:r>
            <a:r>
              <a:rPr lang="en-US" altLang="ko-KR" sz="1100">
                <a:solidFill>
                  <a:schemeClr val="tx2"/>
                </a:solidFill>
              </a:rPr>
              <a:t>’, ‘050-1234-1234’);</a:t>
            </a:r>
          </a:p>
          <a:p>
            <a:r>
              <a:rPr lang="en-US" altLang="ko-KR" sz="1100">
                <a:solidFill>
                  <a:schemeClr val="tx2"/>
                </a:solidFill>
              </a:rPr>
              <a:t>INSERT INTO </a:t>
            </a:r>
            <a:r>
              <a:rPr lang="ko-KR" altLang="en-US" sz="1100">
                <a:solidFill>
                  <a:schemeClr val="tx2"/>
                </a:solidFill>
              </a:rPr>
              <a:t>학생</a:t>
            </a:r>
            <a:r>
              <a:rPr lang="en-US" altLang="ko-KR" sz="1100">
                <a:solidFill>
                  <a:schemeClr val="tx2"/>
                </a:solidFill>
              </a:rPr>
              <a:t>(</a:t>
            </a:r>
            <a:r>
              <a:rPr lang="ko-KR" altLang="en-US" sz="1100">
                <a:solidFill>
                  <a:schemeClr val="tx2"/>
                </a:solidFill>
              </a:rPr>
              <a:t>학번</a:t>
            </a:r>
            <a:r>
              <a:rPr lang="en-US" altLang="ko-KR" sz="1100">
                <a:solidFill>
                  <a:schemeClr val="tx2"/>
                </a:solidFill>
              </a:rPr>
              <a:t>, </a:t>
            </a:r>
            <a:r>
              <a:rPr lang="ko-KR" altLang="en-US" sz="1100">
                <a:solidFill>
                  <a:schemeClr val="tx2"/>
                </a:solidFill>
              </a:rPr>
              <a:t>이름</a:t>
            </a:r>
            <a:r>
              <a:rPr lang="en-US" altLang="ko-KR" sz="1100">
                <a:solidFill>
                  <a:schemeClr val="tx2"/>
                </a:solidFill>
              </a:rPr>
              <a:t>, </a:t>
            </a:r>
            <a:r>
              <a:rPr lang="ko-KR" altLang="en-US" sz="1100">
                <a:solidFill>
                  <a:schemeClr val="tx2"/>
                </a:solidFill>
              </a:rPr>
              <a:t>학년</a:t>
            </a:r>
            <a:r>
              <a:rPr lang="en-US" altLang="ko-KR" sz="1100">
                <a:solidFill>
                  <a:schemeClr val="tx2"/>
                </a:solidFill>
              </a:rPr>
              <a:t>, </a:t>
            </a:r>
            <a:r>
              <a:rPr lang="ko-KR" altLang="en-US" sz="1100">
                <a:solidFill>
                  <a:schemeClr val="tx2"/>
                </a:solidFill>
              </a:rPr>
              <a:t>과목</a:t>
            </a:r>
            <a:r>
              <a:rPr lang="en-US" altLang="ko-KR" sz="1100">
                <a:solidFill>
                  <a:schemeClr val="tx2"/>
                </a:solidFill>
              </a:rPr>
              <a:t>, </a:t>
            </a:r>
            <a:r>
              <a:rPr lang="ko-KR" altLang="en-US" sz="1100">
                <a:solidFill>
                  <a:schemeClr val="tx2"/>
                </a:solidFill>
              </a:rPr>
              <a:t>연락처</a:t>
            </a:r>
            <a:r>
              <a:rPr lang="en-US" altLang="ko-KR" sz="1100">
                <a:solidFill>
                  <a:schemeClr val="tx2"/>
                </a:solidFill>
              </a:rPr>
              <a:t>) VALUES (9830287, ‘</a:t>
            </a:r>
            <a:r>
              <a:rPr lang="ko-KR" altLang="en-US" sz="1100">
                <a:solidFill>
                  <a:schemeClr val="tx2"/>
                </a:solidFill>
              </a:rPr>
              <a:t>한국산</a:t>
            </a:r>
            <a:r>
              <a:rPr lang="en-US" altLang="ko-KR" sz="1100">
                <a:solidFill>
                  <a:schemeClr val="tx2"/>
                </a:solidFill>
              </a:rPr>
              <a:t>’, 3, ‘</a:t>
            </a:r>
            <a:r>
              <a:rPr lang="ko-KR" altLang="en-US" sz="1100">
                <a:solidFill>
                  <a:schemeClr val="tx2"/>
                </a:solidFill>
              </a:rPr>
              <a:t>경영학개론</a:t>
            </a:r>
            <a:r>
              <a:rPr lang="en-US" altLang="ko-KR" sz="1100">
                <a:solidFill>
                  <a:schemeClr val="tx2"/>
                </a:solidFill>
              </a:rPr>
              <a:t>’, ‘050-1234-1234’);</a:t>
            </a:r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5E75968-C955-4953-DE7D-FCA134D8C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151007"/>
              </p:ext>
            </p:extLst>
          </p:nvPr>
        </p:nvGraphicFramePr>
        <p:xfrm>
          <a:off x="971600" y="1916832"/>
          <a:ext cx="3816424" cy="1726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61646035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48548938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663747211"/>
                    </a:ext>
                  </a:extLst>
                </a:gridCol>
              </a:tblGrid>
              <a:tr h="35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속성명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152282"/>
                  </a:ext>
                </a:extLst>
              </a:tr>
              <a:tr h="118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학번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INT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PRIMARY KEY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383211"/>
                  </a:ext>
                </a:extLst>
              </a:tr>
              <a:tr h="156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VARCHAR(20)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601470"/>
                  </a:ext>
                </a:extLst>
              </a:tr>
              <a:tr h="118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학년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INT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681614"/>
                  </a:ext>
                </a:extLst>
              </a:tr>
              <a:tr h="118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VARCHAR(20)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37883"/>
                  </a:ext>
                </a:extLst>
              </a:tr>
              <a:tr h="156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VARCHAR(20)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9041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D613B2F-2536-0EAC-B4CE-B0EEEDD054E0}"/>
              </a:ext>
            </a:extLst>
          </p:cNvPr>
          <p:cNvSpPr/>
          <p:nvPr/>
        </p:nvSpPr>
        <p:spPr>
          <a:xfrm>
            <a:off x="5497439" y="3123200"/>
            <a:ext cx="7293122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213F-2DC4-1AF9-4BDA-155FC03A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8FB45-D10E-7996-862F-41B29B91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6A56-3750-C501-E4FD-4DFCC7541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다음은 스키마와 관련된 내용이다</a:t>
            </a:r>
            <a:r>
              <a:rPr lang="en-US" altLang="ko-KR" sz="1400"/>
              <a:t>. </a:t>
            </a:r>
            <a:r>
              <a:rPr lang="ko-KR" altLang="en-US" sz="1400"/>
              <a:t>각 괄호 안에 알맞은 답을 </a:t>
            </a:r>
            <a:r>
              <a:rPr lang="en-US" altLang="ko-KR" sz="1400"/>
              <a:t>[</a:t>
            </a:r>
            <a:r>
              <a:rPr lang="ko-KR" altLang="en-US" sz="1400"/>
              <a:t>보기</a:t>
            </a:r>
            <a:r>
              <a:rPr lang="en-US" altLang="ko-KR" sz="1400"/>
              <a:t>]</a:t>
            </a:r>
            <a:r>
              <a:rPr lang="ko-KR" altLang="en-US" sz="1400"/>
              <a:t>에서 찾아 작성하시오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(     ) </a:t>
            </a:r>
            <a:r>
              <a:rPr lang="ko-KR" altLang="en-US" sz="1400"/>
              <a:t>스키마는 사용자나 개발자의 관점에서 필요로 하는 데이터베이스의 논리적 구조이고</a:t>
            </a:r>
            <a:r>
              <a:rPr lang="en-US" altLang="ko-KR" sz="1400"/>
              <a:t>, </a:t>
            </a:r>
            <a:r>
              <a:rPr lang="ko-KR" altLang="en-US" sz="1400"/>
              <a:t>사용자 뷰를 나타내며</a:t>
            </a:r>
            <a:r>
              <a:rPr lang="en-US" altLang="ko-KR" sz="1400"/>
              <a:t>, </a:t>
            </a:r>
            <a:r>
              <a:rPr lang="ko-KR" altLang="en-US" sz="1400"/>
              <a:t>서브 스키마로 불린다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(     ) </a:t>
            </a:r>
            <a:r>
              <a:rPr lang="ko-KR" altLang="en-US" sz="1400"/>
              <a:t>스키마는 데이터베이스의 전체적인 논리적 구조이다</a:t>
            </a:r>
            <a:r>
              <a:rPr lang="en-US" altLang="ko-KR" sz="1400"/>
              <a:t>. </a:t>
            </a:r>
            <a:r>
              <a:rPr lang="ko-KR" altLang="en-US" sz="1400"/>
              <a:t>전체적인 뷰를 나타내고</a:t>
            </a:r>
            <a:r>
              <a:rPr lang="en-US" altLang="ko-KR" sz="1400"/>
              <a:t>, </a:t>
            </a:r>
            <a:r>
              <a:rPr lang="ko-KR" altLang="en-US" sz="1400"/>
              <a:t>개체 간의 관계</a:t>
            </a:r>
            <a:r>
              <a:rPr lang="en-US" altLang="ko-KR" sz="1400"/>
              <a:t>, </a:t>
            </a:r>
            <a:r>
              <a:rPr lang="ko-KR" altLang="en-US" sz="1400"/>
              <a:t>제약조건</a:t>
            </a:r>
            <a:r>
              <a:rPr lang="en-US" altLang="ko-KR" sz="1400"/>
              <a:t>, </a:t>
            </a:r>
            <a:r>
              <a:rPr lang="ko-KR" altLang="en-US" sz="1400"/>
              <a:t>접근 권한</a:t>
            </a:r>
            <a:r>
              <a:rPr lang="en-US" altLang="ko-KR" sz="1400"/>
              <a:t>, </a:t>
            </a:r>
            <a:r>
              <a:rPr lang="ko-KR" altLang="en-US" sz="1400"/>
              <a:t>무결성</a:t>
            </a:r>
            <a:r>
              <a:rPr lang="en-US" altLang="ko-KR" sz="1400"/>
              <a:t>, </a:t>
            </a:r>
            <a:r>
              <a:rPr lang="ko-KR" altLang="en-US" sz="1400"/>
              <a:t>보안에 대해 정의한다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(     ) </a:t>
            </a:r>
            <a:r>
              <a:rPr lang="ko-KR" altLang="en-US" sz="1400"/>
              <a:t>스키마는 물리적 저장 장치의 관점에서 보는 데이터베이스 구조이고</a:t>
            </a:r>
            <a:r>
              <a:rPr lang="en-US" altLang="ko-KR" sz="1400"/>
              <a:t>, </a:t>
            </a:r>
            <a:r>
              <a:rPr lang="ko-KR" altLang="en-US" sz="1400"/>
              <a:t>실제 데이터 베이스에 저장될 레코드의 형식을 정의한다</a:t>
            </a:r>
            <a:r>
              <a:rPr lang="en-US" altLang="ko-KR" sz="1400"/>
              <a:t>. </a:t>
            </a:r>
            <a:r>
              <a:rPr lang="ko-KR" altLang="en-US" sz="1400"/>
              <a:t>데이터 항목 표현 방법</a:t>
            </a:r>
            <a:r>
              <a:rPr lang="en-US" altLang="ko-KR" sz="1400"/>
              <a:t>, </a:t>
            </a:r>
            <a:r>
              <a:rPr lang="ko-KR" altLang="en-US" sz="1400"/>
              <a:t>내부 레코드의 물리적 순서 등을 표현한다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외부</a:t>
            </a:r>
            <a:r>
              <a:rPr lang="en-US" altLang="ko-KR" sz="1400"/>
              <a:t>, </a:t>
            </a:r>
            <a:r>
              <a:rPr lang="ko-KR" altLang="en-US" sz="1400"/>
              <a:t>개념</a:t>
            </a:r>
            <a:r>
              <a:rPr lang="en-US" altLang="ko-KR" sz="1400"/>
              <a:t>, </a:t>
            </a:r>
            <a:r>
              <a:rPr lang="ko-KR" altLang="en-US" sz="1400"/>
              <a:t>내부</a:t>
            </a:r>
            <a:endParaRPr lang="en-US" altLang="ko-KR" sz="1400"/>
          </a:p>
          <a:p>
            <a:r>
              <a:rPr lang="en-US" altLang="ko-KR" sz="1400">
                <a:solidFill>
                  <a:schemeClr val="tx2"/>
                </a:solidFill>
              </a:rPr>
              <a:t>1. </a:t>
            </a:r>
            <a:r>
              <a:rPr lang="ko-KR" altLang="en-US" sz="1400">
                <a:solidFill>
                  <a:schemeClr val="tx2"/>
                </a:solidFill>
              </a:rPr>
              <a:t>외부</a:t>
            </a:r>
            <a:r>
              <a:rPr lang="en-US" altLang="ko-KR" sz="1400">
                <a:solidFill>
                  <a:schemeClr val="tx2"/>
                </a:solidFill>
              </a:rPr>
              <a:t>, 2. </a:t>
            </a:r>
            <a:r>
              <a:rPr lang="ko-KR" altLang="en-US" sz="1400">
                <a:solidFill>
                  <a:schemeClr val="tx2"/>
                </a:solidFill>
              </a:rPr>
              <a:t>개념</a:t>
            </a:r>
            <a:r>
              <a:rPr lang="en-US" altLang="ko-KR" sz="1400">
                <a:solidFill>
                  <a:schemeClr val="tx2"/>
                </a:solidFill>
              </a:rPr>
              <a:t>, 3. </a:t>
            </a:r>
            <a:r>
              <a:rPr lang="ko-KR" altLang="en-US" sz="1400">
                <a:solidFill>
                  <a:schemeClr val="tx2"/>
                </a:solidFill>
              </a:rPr>
              <a:t>내부</a:t>
            </a:r>
            <a:endParaRPr lang="en-US" altLang="ko-KR" sz="1400">
              <a:solidFill>
                <a:schemeClr val="tx2"/>
              </a:solidFill>
            </a:endParaRPr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</p:spTree>
    <p:extLst>
      <p:ext uri="{BB962C8B-B14F-4D97-AF65-F5344CB8AC3E}">
        <p14:creationId xmlns:p14="http://schemas.microsoft.com/office/powerpoint/2010/main" val="168028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D57B-4961-9820-1936-5BB0BB29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55F94-222D-EEFB-9DFC-DD3F4CA9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21431-5178-894A-7B54-CCEFB8F5C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F6BC54-D59E-C665-4EDE-69CDABB9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00585"/>
              </p:ext>
            </p:extLst>
          </p:nvPr>
        </p:nvGraphicFramePr>
        <p:xfrm>
          <a:off x="683568" y="1196752"/>
          <a:ext cx="7704856" cy="3510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1616460354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485489382"/>
                    </a:ext>
                  </a:extLst>
                </a:gridCol>
              </a:tblGrid>
              <a:tr h="517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152282"/>
                  </a:ext>
                </a:extLst>
              </a:tr>
              <a:tr h="7786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외부 스키마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사용자나 개발자의 관점에서 필요로 하는 데이터베이스의 논리적 구조</a:t>
                      </a:r>
                      <a:endParaRPr lang="en-US" altLang="ko-KR" sz="1200"/>
                    </a:p>
                    <a:p>
                      <a:pPr latinLnBrk="1"/>
                      <a:r>
                        <a:rPr lang="ko-KR" altLang="en-US" sz="1200"/>
                        <a:t>사용자 뷰를 나타내며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서브 스키마로 불림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383211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개념 스키마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데이터베이스의 전체적인 논리적 구조</a:t>
                      </a:r>
                      <a:endParaRPr lang="en-US" altLang="ko-KR" sz="1200"/>
                    </a:p>
                    <a:p>
                      <a:pPr latinLnBrk="1"/>
                      <a:r>
                        <a:rPr lang="ko-KR" altLang="en-US" sz="1200"/>
                        <a:t>전체적인 뷰를 나타내며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개체 간의 관계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제약 조건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접근 권한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무결설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보안에 대해 정의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601470"/>
                  </a:ext>
                </a:extLst>
              </a:tr>
              <a:tr h="12060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내부 스키마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물리적 저장 장치의 관점에서 보는 데이터베이스 구조</a:t>
                      </a:r>
                      <a:endParaRPr lang="en-US" altLang="ko-KR" sz="1200"/>
                    </a:p>
                    <a:p>
                      <a:pPr latinLnBrk="1"/>
                      <a:r>
                        <a:rPr lang="ko-KR" altLang="en-US" sz="1200"/>
                        <a:t>실제로 데이터베이스에 저장될 레코드의 형식을 정의하고 저장</a:t>
                      </a:r>
                      <a:endParaRPr lang="en-US" altLang="ko-KR" sz="1200"/>
                    </a:p>
                    <a:p>
                      <a:pPr latinLnBrk="1"/>
                      <a:r>
                        <a:rPr lang="ko-KR" altLang="en-US" sz="1200"/>
                        <a:t>데이터 항목의 표현 방법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내부 레코드의 물리적 순서 등을 표현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68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62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B24D5-625D-B7D3-594E-1E85323E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6009A-7579-7AD1-94E5-DDC37924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8395C-E688-C88C-D510-304B2353A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/>
              <a:t>[</a:t>
            </a:r>
            <a:r>
              <a:rPr lang="ko-KR" altLang="en-US" sz="1400"/>
              <a:t>학생</a:t>
            </a:r>
            <a:r>
              <a:rPr lang="en-US" altLang="ko-KR" sz="1400"/>
              <a:t>] </a:t>
            </a:r>
            <a:r>
              <a:rPr lang="ko-KR" altLang="en-US" sz="1400"/>
              <a:t>테이블에서 학생 이름이 </a:t>
            </a:r>
            <a:r>
              <a:rPr lang="en-US" altLang="ko-KR" sz="1400"/>
              <a:t>'</a:t>
            </a:r>
            <a:r>
              <a:rPr lang="ko-KR" altLang="en-US" sz="1400"/>
              <a:t>민수</a:t>
            </a:r>
            <a:r>
              <a:rPr lang="en-US" altLang="ko-KR" sz="1400"/>
              <a:t>'</a:t>
            </a:r>
            <a:r>
              <a:rPr lang="ko-KR" altLang="en-US" sz="1400"/>
              <a:t>인 튜플을 삭제하는 쿼리를 작성하시오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[</a:t>
            </a:r>
            <a:r>
              <a:rPr lang="ko-KR" altLang="en-US" sz="1400"/>
              <a:t>학생</a:t>
            </a:r>
            <a:r>
              <a:rPr lang="en-US" altLang="ko-KR" sz="1400"/>
              <a:t>] </a:t>
            </a:r>
            <a:r>
              <a:rPr lang="ko-KR" altLang="en-US" sz="1400"/>
              <a:t>테이블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>
                <a:solidFill>
                  <a:schemeClr val="accent6"/>
                </a:solidFill>
              </a:rPr>
              <a:t>DELETE FROM </a:t>
            </a:r>
            <a:r>
              <a:rPr lang="ko-KR" altLang="en-US" sz="1400">
                <a:solidFill>
                  <a:schemeClr val="accent6"/>
                </a:solidFill>
              </a:rPr>
              <a:t>학생 </a:t>
            </a:r>
            <a:r>
              <a:rPr lang="en-US" altLang="ko-KR" sz="1400">
                <a:solidFill>
                  <a:schemeClr val="accent6"/>
                </a:solidFill>
              </a:rPr>
              <a:t>WHERE </a:t>
            </a:r>
            <a:r>
              <a:rPr lang="ko-KR" altLang="en-US" sz="1400">
                <a:solidFill>
                  <a:schemeClr val="accent6"/>
                </a:solidFill>
              </a:rPr>
              <a:t>이름 </a:t>
            </a:r>
            <a:r>
              <a:rPr lang="en-US" altLang="ko-KR" sz="1400">
                <a:solidFill>
                  <a:schemeClr val="accent6"/>
                </a:solidFill>
              </a:rPr>
              <a:t>= ‘</a:t>
            </a:r>
            <a:r>
              <a:rPr lang="ko-KR" altLang="en-US" sz="1400">
                <a:solidFill>
                  <a:schemeClr val="accent6"/>
                </a:solidFill>
              </a:rPr>
              <a:t>민수</a:t>
            </a:r>
            <a:r>
              <a:rPr lang="en-US" altLang="ko-KR" sz="1400">
                <a:solidFill>
                  <a:schemeClr val="accent6"/>
                </a:solidFill>
              </a:rPr>
              <a:t>’;</a:t>
            </a:r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DF37F7-F434-3434-6BCD-8B914D015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444475"/>
              </p:ext>
            </p:extLst>
          </p:nvPr>
        </p:nvGraphicFramePr>
        <p:xfrm>
          <a:off x="1043608" y="18448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404891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13222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51561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학번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학년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90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33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민수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3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98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민정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2218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2430B74-F27E-3580-4993-C1B6169038C5}"/>
              </a:ext>
            </a:extLst>
          </p:cNvPr>
          <p:cNvSpPr/>
          <p:nvPr/>
        </p:nvSpPr>
        <p:spPr>
          <a:xfrm>
            <a:off x="1187624" y="4653136"/>
            <a:ext cx="3528392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2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E5E7-4209-27B7-310B-3B8195DF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48656-041F-4D04-EA05-60B71891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5B57A3-4896-BE4E-15AA-C9A32957A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다음은 데이터베이스에 관련된 내용이다</a:t>
            </a:r>
            <a:r>
              <a:rPr lang="en-US" altLang="ko-KR" sz="1400"/>
              <a:t>. </a:t>
            </a:r>
            <a:r>
              <a:rPr lang="ko-KR" altLang="en-US" sz="1400"/>
              <a:t>각 괄호에 들어갈 답을 </a:t>
            </a:r>
            <a:r>
              <a:rPr lang="en-US" altLang="ko-KR" sz="1400"/>
              <a:t>[</a:t>
            </a:r>
            <a:r>
              <a:rPr lang="ko-KR" altLang="en-US" sz="1400"/>
              <a:t>보기</a:t>
            </a:r>
            <a:r>
              <a:rPr lang="en-US" altLang="ko-KR" sz="1400"/>
              <a:t>]</a:t>
            </a:r>
            <a:r>
              <a:rPr lang="ko-KR" altLang="en-US" sz="1400"/>
              <a:t>에서 골라 쓰시오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(            ) </a:t>
            </a:r>
            <a:r>
              <a:rPr lang="ko-KR" altLang="en-US" sz="1400"/>
              <a:t>은</a:t>
            </a:r>
            <a:r>
              <a:rPr lang="en-US" altLang="ko-KR" sz="1400"/>
              <a:t>/</a:t>
            </a:r>
            <a:r>
              <a:rPr lang="ko-KR" altLang="en-US" sz="1400"/>
              <a:t>는 테이블 내의 행을 의미하며</a:t>
            </a:r>
            <a:r>
              <a:rPr lang="en-US" altLang="ko-KR" sz="1400"/>
              <a:t>, </a:t>
            </a:r>
            <a:r>
              <a:rPr lang="ko-KR" altLang="en-US" sz="1400"/>
              <a:t>레코드</a:t>
            </a:r>
            <a:r>
              <a:rPr lang="en-US" altLang="ko-KR" sz="1400"/>
              <a:t>(Record) </a:t>
            </a:r>
            <a:r>
              <a:rPr lang="ko-KR" altLang="en-US" sz="1400"/>
              <a:t>라고도 한다</a:t>
            </a:r>
            <a:r>
              <a:rPr lang="en-US" altLang="ko-KR" sz="1400"/>
              <a:t>. </a:t>
            </a:r>
            <a:r>
              <a:rPr lang="ko-KR" altLang="en-US" sz="1400"/>
              <a:t>어떤 요소의 집합이지만 일반적인 집합과는 달리 중복이 허용될 수 있다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(            ) </a:t>
            </a:r>
            <a:r>
              <a:rPr lang="ko-KR" altLang="en-US" sz="1400"/>
              <a:t>은</a:t>
            </a:r>
            <a:r>
              <a:rPr lang="en-US" altLang="ko-KR" sz="1400"/>
              <a:t>/</a:t>
            </a:r>
            <a:r>
              <a:rPr lang="ko-KR" altLang="en-US" sz="1400"/>
              <a:t>는 릴레이션에 실제로 저장된 데이터의 집합을 의미한다</a:t>
            </a:r>
            <a:r>
              <a:rPr lang="en-US" altLang="ko-KR" sz="1400"/>
              <a:t>. </a:t>
            </a:r>
            <a:r>
              <a:rPr lang="ko-KR" altLang="en-US" sz="1400"/>
              <a:t>릴레이션 또는 릴레이션외연</a:t>
            </a:r>
            <a:r>
              <a:rPr lang="en-US" altLang="ko-KR" sz="1400"/>
              <a:t>(Relation Extension)</a:t>
            </a:r>
            <a:r>
              <a:rPr lang="ko-KR" altLang="en-US" sz="1400"/>
              <a:t>라고도 한다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(           ) </a:t>
            </a:r>
            <a:r>
              <a:rPr lang="ko-KR" altLang="en-US" sz="1400"/>
              <a:t>은</a:t>
            </a:r>
            <a:r>
              <a:rPr lang="en-US" altLang="ko-KR" sz="1400"/>
              <a:t>/</a:t>
            </a:r>
            <a:r>
              <a:rPr lang="ko-KR" altLang="en-US" sz="1400"/>
              <a:t>는 특정 데이터의 집합의 유니크</a:t>
            </a:r>
            <a:r>
              <a:rPr lang="en-US" altLang="ko-KR" sz="1400"/>
              <a:t>(Unique)</a:t>
            </a:r>
            <a:r>
              <a:rPr lang="ko-KR" altLang="en-US" sz="1400"/>
              <a:t>한 값의 개수를 의미한다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보기</a:t>
            </a:r>
            <a:endParaRPr lang="en-US" altLang="ko-KR" sz="1400"/>
          </a:p>
          <a:p>
            <a:r>
              <a:rPr lang="ko-KR" altLang="en-US" sz="1400"/>
              <a:t>튜플</a:t>
            </a:r>
            <a:r>
              <a:rPr lang="en-US" altLang="ko-KR" sz="1400"/>
              <a:t>(Tuple), </a:t>
            </a:r>
            <a:r>
              <a:rPr lang="ko-KR" altLang="en-US" sz="1400"/>
              <a:t>릴레이션 스키마</a:t>
            </a:r>
            <a:r>
              <a:rPr lang="en-US" altLang="ko-KR" sz="1400"/>
              <a:t>(Relation Schema), </a:t>
            </a:r>
            <a:r>
              <a:rPr lang="ko-KR" altLang="en-US" sz="1400"/>
              <a:t>릴레이션 인스턴스</a:t>
            </a:r>
            <a:r>
              <a:rPr lang="en-US" altLang="ko-KR" sz="1400"/>
              <a:t>(Relation Instance), </a:t>
            </a:r>
            <a:r>
              <a:rPr lang="ko-KR" altLang="en-US" sz="1400"/>
              <a:t>카디널리티</a:t>
            </a:r>
            <a:r>
              <a:rPr lang="en-US" altLang="ko-KR" sz="1400"/>
              <a:t>(Cardinality), </a:t>
            </a:r>
            <a:r>
              <a:rPr lang="ko-KR" altLang="en-US" sz="1400"/>
              <a:t>디그리</a:t>
            </a:r>
            <a:r>
              <a:rPr lang="en-US" altLang="ko-KR" sz="1400"/>
              <a:t>(Degree), </a:t>
            </a:r>
            <a:r>
              <a:rPr lang="ko-KR" altLang="en-US" sz="1400"/>
              <a:t>애트리뷰터</a:t>
            </a:r>
            <a:r>
              <a:rPr lang="en-US" altLang="ko-KR" sz="1400"/>
              <a:t>(Attribute)</a:t>
            </a:r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ko-KR" altLang="en-US" sz="1400">
                <a:solidFill>
                  <a:schemeClr val="accent6"/>
                </a:solidFill>
              </a:rPr>
              <a:t>튜플</a:t>
            </a:r>
            <a:r>
              <a:rPr lang="en-US" altLang="ko-KR" sz="1400">
                <a:solidFill>
                  <a:schemeClr val="accent6"/>
                </a:solidFill>
              </a:rPr>
              <a:t>, </a:t>
            </a:r>
            <a:r>
              <a:rPr lang="ko-KR" altLang="en-US" sz="1400">
                <a:solidFill>
                  <a:schemeClr val="accent6"/>
                </a:solidFill>
              </a:rPr>
              <a:t>릴레이션 인스턴스</a:t>
            </a:r>
            <a:r>
              <a:rPr lang="en-US" altLang="ko-KR" sz="1400">
                <a:solidFill>
                  <a:schemeClr val="accent6"/>
                </a:solidFill>
              </a:rPr>
              <a:t>, </a:t>
            </a:r>
            <a:r>
              <a:rPr lang="ko-KR" altLang="en-US" sz="1400">
                <a:solidFill>
                  <a:schemeClr val="accent6"/>
                </a:solidFill>
              </a:rPr>
              <a:t>카디널리티</a:t>
            </a:r>
            <a:endParaRPr lang="en-US" altLang="ko-KR" sz="1400">
              <a:solidFill>
                <a:schemeClr val="accent6"/>
              </a:solidFill>
            </a:endParaRPr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</p:spTree>
    <p:extLst>
      <p:ext uri="{BB962C8B-B14F-4D97-AF65-F5344CB8AC3E}">
        <p14:creationId xmlns:p14="http://schemas.microsoft.com/office/powerpoint/2010/main" val="115245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5896" y="1916832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애트리뷰트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(column)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이라고도 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차수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=4)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왼쪽 대괄호 7"/>
          <p:cNvSpPr/>
          <p:nvPr/>
        </p:nvSpPr>
        <p:spPr>
          <a:xfrm rot="5400000">
            <a:off x="4548536" y="930443"/>
            <a:ext cx="190944" cy="345638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96" y="3427258"/>
            <a:ext cx="1893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(tuple), 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(row)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이라고도 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카디날리티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=5)</a:t>
            </a:r>
          </a:p>
        </p:txBody>
      </p:sp>
      <p:sp>
        <p:nvSpPr>
          <p:cNvPr id="12" name="오른쪽 대괄호 11"/>
          <p:cNvSpPr/>
          <p:nvPr/>
        </p:nvSpPr>
        <p:spPr>
          <a:xfrm>
            <a:off x="7058372" y="3157299"/>
            <a:ext cx="144016" cy="12600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오른쪽 대괄호 6"/>
          <p:cNvSpPr/>
          <p:nvPr/>
        </p:nvSpPr>
        <p:spPr>
          <a:xfrm rot="10800000">
            <a:off x="1995887" y="3201710"/>
            <a:ext cx="144016" cy="12600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995887" y="3519223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995887" y="383673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995887" y="4154250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267744" y="2794045"/>
          <a:ext cx="4752528" cy="1785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7048847" y="2951778"/>
            <a:ext cx="648072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40352" y="2707179"/>
            <a:ext cx="125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스키마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내포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Schema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7226771" y="3859307"/>
            <a:ext cx="288032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58236" y="3643283"/>
            <a:ext cx="125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인스턴스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외연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0834" y="486916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2-3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5736" y="24601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 err="1">
                <a:solidFill>
                  <a:schemeClr val="tx2"/>
                </a:solidFill>
              </a:rPr>
              <a:t>릴레이션</a:t>
            </a:r>
            <a:r>
              <a:rPr lang="ko-KR" altLang="en-US" sz="2000" dirty="0">
                <a:solidFill>
                  <a:schemeClr val="tx2"/>
                </a:solidFill>
              </a:rPr>
              <a:t> 스키마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819150" y="1745903"/>
            <a:ext cx="7907522" cy="1708497"/>
            <a:chOff x="819150" y="1745903"/>
            <a:chExt cx="7907522" cy="1708497"/>
          </a:xfrm>
        </p:grpSpPr>
        <p:sp>
          <p:nvSpPr>
            <p:cNvPr id="5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5900" marR="0" lvl="0" indent="-2159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Char char="n"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스키마의 요소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내용 개체 틀 2"/>
            <p:cNvSpPr txBox="1">
              <a:spLocks/>
            </p:cNvSpPr>
            <p:nvPr/>
          </p:nvSpPr>
          <p:spPr bwMode="auto">
            <a:xfrm>
              <a:off x="933450" y="2203103"/>
              <a:ext cx="7793222" cy="1251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(attribute) :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스키마의 열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도메인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(domain) :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속성이 가질 수 있는 값의 집합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차수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(degree) :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속성의 개수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819150" y="3587403"/>
            <a:ext cx="7793222" cy="578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스키마의 표현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933450" y="4044603"/>
            <a:ext cx="7793222" cy="1251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 이름만 표기 하거나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속성과 도메인을 같이 표기 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 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3, …)</a:t>
            </a: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 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3, …)</a:t>
            </a:r>
            <a:b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EX)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출판사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 err="1">
                <a:solidFill>
                  <a:schemeClr val="tx2"/>
                </a:solidFill>
              </a:rPr>
              <a:t>릴레이션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ko-KR" altLang="en-US" sz="2000" dirty="0" err="1">
                <a:solidFill>
                  <a:schemeClr val="tx2"/>
                </a:solidFill>
              </a:rPr>
              <a:t>인스턴스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99592" y="3933056"/>
          <a:ext cx="7416825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파일 시스템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파일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(file)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내포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(intension)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외연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(extension)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(row)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(column)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35010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2-2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구조와 관련된 용어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0531" y="2852936"/>
            <a:ext cx="5495925" cy="64807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marL="0" marR="0" lvl="2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→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투플이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가지는 속성의 개수는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스키마의 차수와 동일하고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b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내의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모든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투플들은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서로 중복되지 않아야 함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811226" y="1745903"/>
            <a:ext cx="7793222" cy="578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인스턴스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요소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925526" y="2203103"/>
            <a:ext cx="3956050" cy="86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(tuple)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행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카디날리티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(cardinality)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수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F31B-6FB6-30C3-78A9-DB3D7A15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D622F-B4E2-2048-D5F0-C4B77AD6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EBCB9-770B-76FB-E08D-CFA24E4E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주어진 테이블의 </a:t>
            </a:r>
            <a:r>
              <a:rPr lang="en-US" altLang="ko-KR" sz="1400"/>
              <a:t>Cardinality, Degree </a:t>
            </a:r>
            <a:r>
              <a:rPr lang="ko-KR" altLang="en-US" sz="1400"/>
              <a:t>를 구하시오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Cardinality: 5 -&gt; 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중복되지 않은 행의 갯수</a:t>
            </a:r>
            <a:endParaRPr lang="en-US" altLang="ko-KR" sz="14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Degree: 4 -&gt; 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속성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필드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열의 갯수</a:t>
            </a:r>
            <a:endParaRPr lang="en-US" altLang="ko-KR" sz="140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46D27DD-5A20-E703-E40A-4C2BAB055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89923"/>
              </p:ext>
            </p:extLst>
          </p:nvPr>
        </p:nvGraphicFramePr>
        <p:xfrm>
          <a:off x="971600" y="1661567"/>
          <a:ext cx="6180689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138">
                  <a:extLst>
                    <a:ext uri="{9D8B030D-6E8A-4147-A177-3AD203B41FA5}">
                      <a16:colId xmlns:a16="http://schemas.microsoft.com/office/drawing/2014/main" val="3998190989"/>
                    </a:ext>
                  </a:extLst>
                </a:gridCol>
                <a:gridCol w="1236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tx1"/>
                          </a:solidFill>
                        </a:rPr>
                        <a:t>학번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tx1"/>
                          </a:solidFill>
                        </a:rPr>
                        <a:t>학년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tx1"/>
                          </a:solidFill>
                        </a:rPr>
                        <a:t>학과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202101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홍길동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컴퓨터공학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202102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김영희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전기공학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202103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이철수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건축공학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202104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임꺽정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전자공학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202105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장길산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토목공학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86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E6C9-EF11-B442-349C-3E9947F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F6A4F-6047-D37F-F2BB-146D0C54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ABA1BC-A05D-CB31-E14B-D6F51DB5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다음  </a:t>
            </a:r>
            <a:r>
              <a:rPr lang="en-US" altLang="ko-KR" sz="1400" dirty="0"/>
              <a:t>SQL </a:t>
            </a:r>
            <a:r>
              <a:rPr lang="ko-KR" altLang="en-US" sz="1400" dirty="0"/>
              <a:t>실행 결과를 숫자만 쓰시오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급여</a:t>
            </a:r>
            <a:r>
              <a:rPr lang="en-US" altLang="ko-KR" sz="1400" dirty="0"/>
              <a:t>]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SELECT</a:t>
            </a:r>
            <a:r>
              <a:rPr lang="ko-KR" altLang="en-US" sz="1400" dirty="0"/>
              <a:t> </a:t>
            </a:r>
            <a:r>
              <a:rPr lang="en-US" altLang="ko-KR" sz="1400" dirty="0"/>
              <a:t>COUNT(*) FROM </a:t>
            </a:r>
            <a:r>
              <a:rPr lang="ko-KR" altLang="en-US" sz="1400" dirty="0"/>
              <a:t>급여 </a:t>
            </a:r>
            <a:r>
              <a:rPr lang="en-US" altLang="ko-KR" sz="1400" dirty="0"/>
              <a:t>WHERE EMPNO &gt; 100 AND SAL &gt;= 3000 OR EMPNO = 200;</a:t>
            </a:r>
          </a:p>
          <a:p>
            <a:r>
              <a:rPr lang="en-US" altLang="ko-KR" sz="1400" dirty="0"/>
              <a:t>(200, 3000) </a:t>
            </a:r>
            <a:r>
              <a:rPr lang="ko-KR" altLang="en-US" sz="1400" dirty="0"/>
              <a:t>레코드만 만족 카운터는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AND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와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의 연산자 우선순위에서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AND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가 높다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sz="1400" dirty="0"/>
              <a:t>WHERE (EMPNO &gt; 100 AND SAL &gt;= 3000) OR (EMPNO = 200)</a:t>
            </a:r>
          </a:p>
          <a:p>
            <a:endParaRPr lang="en-US" altLang="ko-KR" sz="1400" dirty="0"/>
          </a:p>
          <a:p>
            <a:r>
              <a:rPr lang="en-US" altLang="ko-KR" sz="1400" dirty="0"/>
              <a:t>SELECT</a:t>
            </a:r>
            <a:r>
              <a:rPr lang="ko-KR" altLang="en-US" sz="1400" dirty="0"/>
              <a:t> </a:t>
            </a:r>
            <a:r>
              <a:rPr lang="en-US" altLang="ko-KR" sz="1400" dirty="0"/>
              <a:t>COUNT(*) FROM </a:t>
            </a:r>
            <a:r>
              <a:rPr lang="ko-KR" altLang="en-US" sz="1400" dirty="0"/>
              <a:t>급여 </a:t>
            </a:r>
            <a:r>
              <a:rPr lang="en-US" altLang="ko-KR" sz="1400" dirty="0"/>
              <a:t>WHERE EMPNO &gt; 100 AND SAL &gt;= 1500 OR EMPNO &gt;= 200 AND SAL &gt;= 1000;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lvl="1"/>
            <a:endParaRPr lang="en-US" altLang="ko-KR" sz="10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F6774A-7405-7033-42C4-7716F2404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45213"/>
              </p:ext>
            </p:extLst>
          </p:nvPr>
        </p:nvGraphicFramePr>
        <p:xfrm>
          <a:off x="971600" y="1916832"/>
          <a:ext cx="25922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17275809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42659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EMPNO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SAL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3000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1500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20814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4B367E3-552F-676A-56F5-D0BBC22BBF49}"/>
              </a:ext>
            </a:extLst>
          </p:cNvPr>
          <p:cNvSpPr/>
          <p:nvPr/>
        </p:nvSpPr>
        <p:spPr>
          <a:xfrm>
            <a:off x="4296801" y="4365104"/>
            <a:ext cx="216024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86C40F-8A56-2899-BF06-F60E2966FF8D}"/>
              </a:ext>
            </a:extLst>
          </p:cNvPr>
          <p:cNvSpPr/>
          <p:nvPr/>
        </p:nvSpPr>
        <p:spPr>
          <a:xfrm>
            <a:off x="1259632" y="6282777"/>
            <a:ext cx="216024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55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3206-A1DE-3CEB-51B2-DC996F82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80A74-34D7-DA59-681B-CBEB9CFE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BD879-E01A-64EA-C62F-D4D0432E2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다음은 </a:t>
            </a:r>
            <a:r>
              <a:rPr lang="en-US" altLang="ko-KR" sz="1400"/>
              <a:t>SQL </a:t>
            </a:r>
            <a:r>
              <a:rPr lang="ko-KR" altLang="en-US" sz="1400"/>
              <a:t>문제이다</a:t>
            </a:r>
            <a:r>
              <a:rPr lang="en-US" altLang="ko-KR" sz="1400"/>
              <a:t>. </a:t>
            </a:r>
            <a:r>
              <a:rPr lang="ko-KR" altLang="en-US" sz="1400"/>
              <a:t>아래 두 테이블을 참고하여 보기에 쿼리 실행 결과를 작성하시오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[emp </a:t>
            </a:r>
            <a:r>
              <a:rPr lang="ko-KR" altLang="en-US" sz="1400"/>
              <a:t>테이블</a:t>
            </a:r>
            <a:r>
              <a:rPr lang="en-US" altLang="ko-KR" sz="1400"/>
              <a:t>]                                        [sal </a:t>
            </a:r>
            <a:r>
              <a:rPr lang="ko-KR" altLang="en-US" sz="1400"/>
              <a:t>테이블</a:t>
            </a:r>
            <a:r>
              <a:rPr lang="en-US" altLang="ko-KR" sz="1400"/>
              <a:t>]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SELECT</a:t>
            </a:r>
            <a:r>
              <a:rPr lang="ko-KR" altLang="en-US" sz="1400"/>
              <a:t> </a:t>
            </a:r>
            <a:r>
              <a:rPr lang="en-US" altLang="ko-KR" sz="1400"/>
              <a:t>name,</a:t>
            </a:r>
            <a:r>
              <a:rPr lang="ko-KR" altLang="en-US" sz="1400"/>
              <a:t> </a:t>
            </a:r>
            <a:r>
              <a:rPr lang="en-US" altLang="ko-KR" sz="1400"/>
              <a:t>incentives</a:t>
            </a:r>
            <a:r>
              <a:rPr lang="ko-KR" altLang="en-US" sz="1400"/>
              <a:t> </a:t>
            </a:r>
            <a:r>
              <a:rPr lang="en-US" altLang="ko-KR" sz="1400"/>
              <a:t>FROM</a:t>
            </a:r>
            <a:r>
              <a:rPr lang="ko-KR" altLang="en-US" sz="1400"/>
              <a:t> </a:t>
            </a:r>
            <a:r>
              <a:rPr lang="en-US" altLang="ko-KR" sz="1400"/>
              <a:t>emp,</a:t>
            </a:r>
            <a:r>
              <a:rPr lang="ko-KR" altLang="en-US" sz="1400"/>
              <a:t> </a:t>
            </a:r>
            <a:r>
              <a:rPr lang="en-US" altLang="ko-KR" sz="1400"/>
              <a:t>sal</a:t>
            </a:r>
            <a:r>
              <a:rPr lang="ko-KR" altLang="en-US" sz="1400"/>
              <a:t> </a:t>
            </a:r>
            <a:r>
              <a:rPr lang="en-US" altLang="ko-KR" sz="1400"/>
              <a:t>WHERE</a:t>
            </a:r>
            <a:r>
              <a:rPr lang="ko-KR" altLang="en-US" sz="1400"/>
              <a:t> </a:t>
            </a:r>
            <a:r>
              <a:rPr lang="en-US" altLang="ko-KR" sz="1400"/>
              <a:t>emp.id</a:t>
            </a:r>
            <a:r>
              <a:rPr lang="ko-KR" altLang="en-US" sz="1400"/>
              <a:t> </a:t>
            </a:r>
            <a:r>
              <a:rPr lang="en-US" altLang="ko-KR" sz="1400"/>
              <a:t>=</a:t>
            </a:r>
            <a:r>
              <a:rPr lang="ko-KR" altLang="en-US" sz="1400"/>
              <a:t> </a:t>
            </a:r>
            <a:r>
              <a:rPr lang="en-US" altLang="ko-KR" sz="1400"/>
              <a:t>sal.id AND incentives &gt;= 500;</a:t>
            </a:r>
          </a:p>
          <a:p>
            <a:endParaRPr lang="en-US" altLang="ko-KR" sz="1400"/>
          </a:p>
          <a:p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name  | incentives</a:t>
            </a:r>
          </a:p>
          <a:p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이순신 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| 1000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43CE46A-0FB3-0A50-4C83-E3CCC4ADD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03178"/>
              </p:ext>
            </p:extLst>
          </p:nvPr>
        </p:nvGraphicFramePr>
        <p:xfrm>
          <a:off x="971600" y="1844824"/>
          <a:ext cx="2592288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17275809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42659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김철수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홍길동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5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강감찬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20814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이순신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5976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894552-E4B1-1A9D-CF7D-0580D6D0C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00317"/>
              </p:ext>
            </p:extLst>
          </p:nvPr>
        </p:nvGraphicFramePr>
        <p:xfrm>
          <a:off x="4499992" y="1844824"/>
          <a:ext cx="2592288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17275809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42659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incentives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5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20814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1009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500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5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95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F1C6-2100-7289-B299-A00343A6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4E712-F8A4-B444-5BC9-20EC9AF6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92A1D2-B89F-B013-513B-DD66C1A6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다음은 </a:t>
            </a:r>
            <a:r>
              <a:rPr lang="en-US" altLang="ko-KR" sz="1400" dirty="0"/>
              <a:t>SQL </a:t>
            </a:r>
            <a:r>
              <a:rPr lang="ko-KR" altLang="en-US" sz="1400" dirty="0"/>
              <a:t>문제이다</a:t>
            </a:r>
            <a:r>
              <a:rPr lang="en-US" altLang="ko-KR" sz="1400" dirty="0"/>
              <a:t>. </a:t>
            </a:r>
            <a:r>
              <a:rPr lang="ko-KR" altLang="en-US" sz="1400" dirty="0"/>
              <a:t>아래 두 테이블을 참고하여 보기에 쿼리 실행 결과를 작성하시오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SELECT COUNT(*) FROM employee AS e JOIN project AS p ON </a:t>
            </a:r>
            <a:r>
              <a:rPr lang="en-US" altLang="ko-KR" sz="1400" dirty="0" err="1"/>
              <a:t>e.project_id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p.project_id</a:t>
            </a:r>
            <a:r>
              <a:rPr lang="en-US" altLang="ko-KR" sz="1400" dirty="0"/>
              <a:t> WHERE p.name IN ( SELECT name FROM project p WHERE p. </a:t>
            </a:r>
            <a:r>
              <a:rPr lang="en-US" altLang="ko-KR" sz="1400" dirty="0" err="1"/>
              <a:t>project_id</a:t>
            </a:r>
            <a:r>
              <a:rPr lang="en-US" altLang="ko-KR" sz="1400" dirty="0"/>
              <a:t> IN ( SELECT </a:t>
            </a:r>
            <a:r>
              <a:rPr lang="en-US" altLang="ko-KR" sz="1400" dirty="0" err="1"/>
              <a:t>project_id</a:t>
            </a:r>
            <a:r>
              <a:rPr lang="en-US" altLang="ko-KR" sz="1400" dirty="0"/>
              <a:t> FROM employee GROUP BY </a:t>
            </a:r>
            <a:r>
              <a:rPr lang="en-US" altLang="ko-KR" sz="1400" dirty="0" err="1"/>
              <a:t>project_id</a:t>
            </a:r>
            <a:r>
              <a:rPr lang="en-US" altLang="ko-KR" sz="1400" dirty="0"/>
              <a:t> HAVING count(*) &lt; 2 ) );</a:t>
            </a:r>
          </a:p>
          <a:p>
            <a:endParaRPr lang="en-US" altLang="ko-KR" sz="1400" dirty="0"/>
          </a:p>
          <a:p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20 | Beta -&gt; </a:t>
            </a:r>
            <a:r>
              <a:rPr lang="en-US" altLang="ko-KR" sz="1200" dirty="0" err="1">
                <a:solidFill>
                  <a:schemeClr val="accent6">
                    <a:lumMod val="75000"/>
                  </a:schemeClr>
                </a:solidFill>
              </a:rPr>
              <a:t>p.project_id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 IN (20) -&gt; p.name in (Beta) -&gt; count(*)</a:t>
            </a:r>
          </a:p>
          <a:p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lvl="1"/>
            <a:endParaRPr lang="en-US" altLang="ko-KR" sz="10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	</a:t>
            </a:r>
            <a:endParaRPr lang="en-US" altLang="ko-KR" sz="14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BB9E08-C5B7-85F4-62E6-713D9D98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12776"/>
            <a:ext cx="2998717" cy="254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2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6C44-1602-FBB7-26DE-0AA96D86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0A3D1-0E09-FE8E-5163-DF8878A1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ECAE1-965E-0C12-9012-F9D929678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다음은 </a:t>
            </a:r>
            <a:r>
              <a:rPr lang="en-US" altLang="ko-KR" sz="1400" dirty="0"/>
              <a:t>SQL </a:t>
            </a:r>
            <a:r>
              <a:rPr lang="ko-KR" altLang="en-US" sz="1400" dirty="0"/>
              <a:t>문제이다</a:t>
            </a:r>
            <a:r>
              <a:rPr lang="en-US" altLang="ko-KR" sz="1400" dirty="0"/>
              <a:t>. </a:t>
            </a:r>
            <a:r>
              <a:rPr lang="ko-KR" altLang="en-US" sz="1400" dirty="0"/>
              <a:t>아래 </a:t>
            </a:r>
            <a:r>
              <a:rPr lang="en-US" altLang="ko-KR" sz="1400" dirty="0"/>
              <a:t>A</a:t>
            </a:r>
            <a:r>
              <a:rPr lang="ko-KR" altLang="en-US" sz="1400" dirty="0"/>
              <a:t>테이블을 참고하여 쿼리의 결과를 작성하시오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SELECT count(col2) FROM A WHERE col1 IN (2, 3) OR col2 IN (3, 5);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col2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전체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count, null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은 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</a:rPr>
              <a:t>갯수에서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 제외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  <a:p>
            <a:endParaRPr lang="en-US" altLang="ko-KR" sz="12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lvl="1"/>
            <a:endParaRPr lang="en-US" altLang="ko-KR" sz="10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	</a:t>
            </a:r>
            <a:endParaRPr lang="en-US" altLang="ko-KR" sz="14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63E0CD-8798-EB7B-3F91-7CD413C45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84784"/>
            <a:ext cx="2088232" cy="21194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27584" y="2132856"/>
            <a:ext cx="2376264" cy="86409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83568" y="2652496"/>
            <a:ext cx="2880320" cy="992528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28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관계대수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72957" y="1847850"/>
          <a:ext cx="8198086" cy="34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10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65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연산자 종류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대상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연산자 이름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기호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단항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err="1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셀렉션</a:t>
                      </a:r>
                      <a:endParaRPr lang="ko-KR" altLang="en-US" sz="1200" b="1" dirty="0">
                        <a:solidFill>
                          <a:srgbClr val="0000CC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릴레이션에서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조건에 만족하는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투플을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선택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단항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err="1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프로젝션</a:t>
                      </a:r>
                      <a:endParaRPr lang="ko-KR" altLang="en-US" sz="1200" b="1" dirty="0">
                        <a:solidFill>
                          <a:srgbClr val="0000CC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릴레이션의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속성을 선택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단항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개명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릴레이션이나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속성의 이름을 변경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유도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이항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디비전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부모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릴레이션에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포함된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투플의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값을 모두 갖고 있는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투플을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분자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릴레이션에서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추출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유도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이항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공통 속성을 이용해 </a:t>
                      </a:r>
                      <a:r>
                        <a:rPr lang="en-US" altLang="ko-KR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ko-KR" altLang="en-US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ko-KR" altLang="en-US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튜플들을 연결해 만들어진 튜플 반환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</a:t>
                      </a:r>
                    </a:p>
                  </a:txBody>
                  <a:tcPr marL="94050" marR="94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이항</a:t>
                      </a: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카디전 프로덕트</a:t>
                      </a:r>
                      <a:endParaRPr lang="ko-KR" altLang="en-US" sz="1200" b="1" dirty="0">
                        <a:solidFill>
                          <a:srgbClr val="0000CC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두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릴레이션에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속한 모든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투플의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집합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4050" marR="94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09296" y="14127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2-5 </a:t>
            </a:r>
            <a:r>
              <a:rPr lang="ko-KR" altLang="en-US" sz="1400" b="1" dirty="0">
                <a:ea typeface="맑은 고딕" panose="020B0503020000020004" pitchFamily="50" charset="-127"/>
              </a:rPr>
              <a:t>관계대수 연산자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7462" y="2440420"/>
            <a:ext cx="195429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2605" y="2938064"/>
            <a:ext cx="185143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6272" y="3444144"/>
            <a:ext cx="157808" cy="216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4176" y="3961919"/>
            <a:ext cx="16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78053" y="4978748"/>
            <a:ext cx="216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관계대수 연산자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CF956DD7-7AF1-C8F4-7557-E1184A7DF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47864" y="4478708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디비전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형식 </a:t>
            </a:r>
            <a:r>
              <a:rPr lang="en-US" altLang="ko-KR" dirty="0"/>
              <a:t>: R </a:t>
            </a:r>
            <a:r>
              <a:rPr lang="en-US" altLang="ko-KR"/>
              <a:t>÷ S</a:t>
            </a:r>
          </a:p>
          <a:p>
            <a:r>
              <a:rPr lang="ko-KR" altLang="en-US"/>
              <a:t>릴레이션 </a:t>
            </a:r>
            <a:r>
              <a:rPr lang="en-US" altLang="ko-KR"/>
              <a:t>R(A, B)</a:t>
            </a:r>
            <a:r>
              <a:rPr lang="ko-KR" altLang="en-US"/>
              <a:t>와 </a:t>
            </a:r>
            <a:r>
              <a:rPr lang="en-US" altLang="ko-KR"/>
              <a:t>S(B) </a:t>
            </a:r>
            <a:r>
              <a:rPr lang="ko-KR" altLang="en-US"/>
              <a:t>에 대해 디비전의 결과는 </a:t>
            </a:r>
            <a:r>
              <a:rPr lang="en-US" altLang="ko-KR"/>
              <a:t>S</a:t>
            </a:r>
            <a:r>
              <a:rPr lang="ko-KR" altLang="en-US"/>
              <a:t>의 모든 </a:t>
            </a:r>
            <a:r>
              <a:rPr lang="en-US" altLang="ko-KR"/>
              <a:t>B </a:t>
            </a:r>
            <a:r>
              <a:rPr lang="ko-KR" altLang="en-US"/>
              <a:t>값을</a:t>
            </a:r>
            <a:r>
              <a:rPr lang="en-US" altLang="ko-KR"/>
              <a:t> </a:t>
            </a:r>
            <a:r>
              <a:rPr lang="ko-KR" altLang="en-US"/>
              <a:t>가진 </a:t>
            </a:r>
            <a:r>
              <a:rPr lang="en-US" altLang="ko-KR"/>
              <a:t>A </a:t>
            </a:r>
            <a:r>
              <a:rPr lang="ko-KR" altLang="en-US"/>
              <a:t>값들의 집합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71600" y="2348880"/>
          <a:ext cx="4680520" cy="384119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R÷S1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R÷S2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S3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R÷S3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884"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9538">
                <a:tc rowSpan="2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 flipV="1">
            <a:off x="1444576" y="2852936"/>
            <a:ext cx="2263328" cy="708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444576" y="3787924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444576" y="4435996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444576" y="508406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V="1">
            <a:off x="2452688" y="2780928"/>
            <a:ext cx="1327224" cy="10069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2452688" y="2923828"/>
            <a:ext cx="1224136" cy="15121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5400000" flipH="1" flipV="1">
            <a:off x="1964730" y="3340894"/>
            <a:ext cx="2231132" cy="12552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아래쪽 화살표 15"/>
          <p:cNvSpPr/>
          <p:nvPr/>
        </p:nvSpPr>
        <p:spPr>
          <a:xfrm>
            <a:off x="4600575" y="2684537"/>
            <a:ext cx="214314" cy="21431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4607618" y="4206230"/>
            <a:ext cx="214314" cy="21431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아래쪽 화살표 17"/>
          <p:cNvSpPr/>
          <p:nvPr/>
        </p:nvSpPr>
        <p:spPr>
          <a:xfrm>
            <a:off x="4605908" y="5504084"/>
            <a:ext cx="214314" cy="21431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ED5C-A51D-9272-440F-1BF0869A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8B7AA-2AFB-4ABA-7F2D-5915FA0E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2C806-782A-ED53-660C-7F466E31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 테이블에서 </a:t>
            </a:r>
            <a:r>
              <a:rPr lang="el-GR" altLang="ko-KR"/>
              <a:t>π</a:t>
            </a:r>
            <a:r>
              <a:rPr lang="en-US" altLang="ko-KR"/>
              <a:t>TTL(employee)</a:t>
            </a:r>
            <a:r>
              <a:rPr lang="ko-KR" altLang="en-US"/>
              <a:t>에 대한 연산 결과 값을 작성하시오</a:t>
            </a:r>
            <a:r>
              <a:rPr lang="en-US" altLang="ko-KR"/>
              <a:t>.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l-GR" altLang="ko-KR" sz="1400">
                <a:solidFill>
                  <a:schemeClr val="accent6">
                    <a:lumMod val="75000"/>
                  </a:schemeClr>
                </a:solidFill>
              </a:rPr>
              <a:t>π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프로젝션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원하는 필드를 선택적으로 가져온다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658509-61D1-1FA1-831F-B6B66B89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628800"/>
            <a:ext cx="5975131" cy="18002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89AC91D-397A-AC4B-3BB4-9F3412843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944810"/>
              </p:ext>
            </p:extLst>
          </p:nvPr>
        </p:nvGraphicFramePr>
        <p:xfrm>
          <a:off x="1187624" y="3958917"/>
          <a:ext cx="576064" cy="1440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70136291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TTL</a:t>
                      </a:r>
                      <a:endParaRPr lang="ko-KR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8186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8425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51257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과장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0705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차장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987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52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C6F7-63CC-706D-2FE5-6A0DB81D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91B22-86AD-A79B-5F54-9BDE3621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C25483-A90C-93B2-BD56-3518DDC3E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/>
              <a:t>다음 </a:t>
            </a:r>
            <a:r>
              <a:rPr lang="en-US" altLang="ko-KR" sz="1400"/>
              <a:t>SQL </a:t>
            </a:r>
            <a:r>
              <a:rPr lang="ko-KR" altLang="en-US" sz="1400"/>
              <a:t>결과에 알맞는 쿼리를 작성하시오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정렬 관련 문제</a:t>
            </a:r>
            <a:r>
              <a:rPr lang="en-US" altLang="ko-KR" sz="1400"/>
              <a:t>, </a:t>
            </a:r>
            <a:r>
              <a:rPr lang="ko-KR" altLang="en-US" sz="1400"/>
              <a:t>빈칸이 </a:t>
            </a:r>
            <a:r>
              <a:rPr lang="en-US" altLang="ko-KR" sz="1400"/>
              <a:t>3</a:t>
            </a:r>
            <a:r>
              <a:rPr lang="ko-KR" altLang="en-US" sz="1400"/>
              <a:t>개</a:t>
            </a:r>
            <a:endParaRPr lang="en-US" altLang="ko-KR" sz="1400"/>
          </a:p>
          <a:p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1. ORDER 2. score 3. DESC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lvl="1"/>
            <a:endParaRPr lang="en-US" altLang="ko-KR" sz="10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pPr marL="0" indent="0">
              <a:buNone/>
            </a:pPr>
            <a:endParaRPr lang="en-US" altLang="ko-KR" sz="1200"/>
          </a:p>
          <a:p>
            <a:endParaRPr lang="en-US" altLang="ko-KR"/>
          </a:p>
          <a:p>
            <a:endParaRPr lang="en-US" altLang="ko-KR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/>
              <a:t>	</a:t>
            </a:r>
            <a:endParaRPr lang="en-US" altLang="ko-KR" sz="14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AFB16D-806B-36FA-7F8C-324E62170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476982"/>
            <a:ext cx="4752528" cy="18798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B9D9CF7-850A-653E-7F01-F7D6049D9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08" y="3573016"/>
            <a:ext cx="5382376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1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A407-8384-ECE4-032B-16146581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BDFF0-844C-F338-E1C3-E7D6DC3E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문제풀이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30B4A-8F48-5C44-7FE6-296A3CD46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아래와 같이 </a:t>
            </a:r>
            <a:r>
              <a:rPr lang="ko-KR" altLang="en-US" sz="1400" dirty="0" err="1"/>
              <a:t>월별매출</a:t>
            </a:r>
            <a:r>
              <a:rPr lang="ko-KR" altLang="en-US" sz="1400" dirty="0"/>
              <a:t> 테이블에 데이터가 입력되어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다음 중 </a:t>
            </a:r>
            <a:r>
              <a:rPr lang="en-US" altLang="ko-KR" sz="1400" dirty="0"/>
              <a:t>2014</a:t>
            </a:r>
            <a:r>
              <a:rPr lang="ko-KR" altLang="en-US" sz="1400" dirty="0"/>
              <a:t>년 </a:t>
            </a:r>
            <a:r>
              <a:rPr lang="en-US" altLang="ko-KR" sz="1400" dirty="0"/>
              <a:t>11</a:t>
            </a:r>
            <a:r>
              <a:rPr lang="ko-KR" altLang="en-US" sz="1400" dirty="0"/>
              <a:t>월 부터 </a:t>
            </a:r>
            <a:r>
              <a:rPr lang="en-US" altLang="ko-KR" sz="1400" dirty="0"/>
              <a:t>2015</a:t>
            </a:r>
            <a:r>
              <a:rPr lang="ko-KR" altLang="en-US" sz="1400" dirty="0"/>
              <a:t>년 </a:t>
            </a:r>
            <a:r>
              <a:rPr lang="en-US" altLang="ko-KR" sz="1400" dirty="0"/>
              <a:t>03</a:t>
            </a:r>
            <a:r>
              <a:rPr lang="ko-KR" altLang="en-US" sz="1400" dirty="0"/>
              <a:t>월까지의 </a:t>
            </a:r>
            <a:r>
              <a:rPr lang="ko-KR" altLang="en-US" sz="1400" dirty="0" err="1"/>
              <a:t>매출금액</a:t>
            </a:r>
            <a:r>
              <a:rPr lang="ko-KR" altLang="en-US" sz="1400" dirty="0"/>
              <a:t> 합계를 출력하는 </a:t>
            </a:r>
            <a:r>
              <a:rPr lang="en-US" altLang="ko-KR" sz="1400" dirty="0"/>
              <a:t>SQL </a:t>
            </a:r>
            <a:r>
              <a:rPr lang="ko-KR" altLang="en-US" sz="1400" dirty="0"/>
              <a:t>문장을 작성하시오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      [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테이블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</a:rPr>
              <a:t>월별매출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SELECT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SUM(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</a:rPr>
              <a:t>매출금액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) AS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매출금액합계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 FROM 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</a:rPr>
              <a:t>월별매출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      WHERE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년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= '2014' AND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월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BETWEEN '11' AND '12'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             OR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년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= '2015' AND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월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BETWEEN '01' AND '03';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lvl="1"/>
            <a:endParaRPr lang="en-US" altLang="ko-KR" sz="10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	</a:t>
            </a:r>
            <a:endParaRPr lang="en-US" altLang="ko-KR" sz="1400" b="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D1D981A-374E-F4BA-E784-804DC8AD1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846569"/>
              </p:ext>
            </p:extLst>
          </p:nvPr>
        </p:nvGraphicFramePr>
        <p:xfrm>
          <a:off x="971600" y="2132856"/>
          <a:ext cx="4752528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60634110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657827655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37616694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년</a:t>
                      </a:r>
                      <a:r>
                        <a:rPr lang="en-US" altLang="ko-KR" sz="1000"/>
                        <a:t>(PK)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월</a:t>
                      </a:r>
                      <a:r>
                        <a:rPr lang="en-US" altLang="ko-KR" sz="1000"/>
                        <a:t>(PK)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매출금액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13049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45112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69768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03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3000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166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4000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155698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2014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5000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635538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6000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6836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7000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71711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03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8000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88437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9000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2015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12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10000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3291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A7BA4F8-82AF-4165-614B-54312204A8E7}"/>
              </a:ext>
            </a:extLst>
          </p:cNvPr>
          <p:cNvSpPr/>
          <p:nvPr/>
        </p:nvSpPr>
        <p:spPr>
          <a:xfrm>
            <a:off x="5544108" y="6104285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920C9E-1680-3BB9-6281-F6131C48EA11}"/>
              </a:ext>
            </a:extLst>
          </p:cNvPr>
          <p:cNvSpPr/>
          <p:nvPr/>
        </p:nvSpPr>
        <p:spPr>
          <a:xfrm>
            <a:off x="5724128" y="5229200"/>
            <a:ext cx="1224136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D3F314-5BA3-6F67-2353-D6B874976DD7}"/>
              </a:ext>
            </a:extLst>
          </p:cNvPr>
          <p:cNvSpPr/>
          <p:nvPr/>
        </p:nvSpPr>
        <p:spPr>
          <a:xfrm>
            <a:off x="5691353" y="5650460"/>
            <a:ext cx="1008112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27584" y="3068960"/>
            <a:ext cx="5184576" cy="504056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32349" y="3573016"/>
            <a:ext cx="5184576" cy="720080"/>
          </a:xfrm>
          <a:prstGeom prst="rect">
            <a:avLst/>
          </a:prstGeom>
          <a:noFill/>
          <a:ln w="349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09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10275</TotalTime>
  <Words>1846</Words>
  <Application>Microsoft Office PowerPoint</Application>
  <PresentationFormat>화면 슬라이드 쇼(4:3)</PresentationFormat>
  <Paragraphs>848</Paragraphs>
  <Slides>25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PowerPoint 프레젠테이션</vt:lpstr>
      <vt:lpstr>문제풀이</vt:lpstr>
      <vt:lpstr>문제풀이</vt:lpstr>
      <vt:lpstr>문제풀이</vt:lpstr>
      <vt:lpstr>문제풀이</vt:lpstr>
      <vt:lpstr>무결성 제약조건</vt:lpstr>
      <vt:lpstr>문제풀이</vt:lpstr>
      <vt:lpstr>문제풀이</vt:lpstr>
      <vt:lpstr>문제풀이</vt:lpstr>
      <vt:lpstr>문제풀이</vt:lpstr>
      <vt:lpstr>문제풀이</vt:lpstr>
      <vt:lpstr>문제풀이</vt:lpstr>
      <vt:lpstr>2. 릴레이션 스키마와 인스턴스</vt:lpstr>
      <vt:lpstr>2. 릴레이션 스키마와 인스턴스</vt:lpstr>
      <vt:lpstr>2. 릴레이션 스키마와 인스턴스</vt:lpstr>
      <vt:lpstr>문제풀이</vt:lpstr>
      <vt:lpstr>문제풀이</vt:lpstr>
      <vt:lpstr>문제풀이</vt:lpstr>
      <vt:lpstr>문제풀이</vt:lpstr>
      <vt:lpstr>문제풀이</vt:lpstr>
      <vt:lpstr>관계대수</vt:lpstr>
      <vt:lpstr>디비전</vt:lpstr>
      <vt:lpstr>문제풀이</vt:lpstr>
      <vt:lpstr>문제풀이</vt:lpstr>
      <vt:lpstr>문제풀이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657</cp:revision>
  <cp:lastPrinted>2023-02-19T06:43:06Z</cp:lastPrinted>
  <dcterms:created xsi:type="dcterms:W3CDTF">2012-07-11T10:23:22Z</dcterms:created>
  <dcterms:modified xsi:type="dcterms:W3CDTF">2026-04-09T03:25:28Z</dcterms:modified>
</cp:coreProperties>
</file>
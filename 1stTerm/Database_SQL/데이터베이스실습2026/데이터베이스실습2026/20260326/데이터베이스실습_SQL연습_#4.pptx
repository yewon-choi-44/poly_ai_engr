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408" r:id="rId3"/>
    <p:sldId id="409" r:id="rId4"/>
    <p:sldId id="410" r:id="rId5"/>
    <p:sldId id="411" r:id="rId6"/>
    <p:sldId id="412" r:id="rId7"/>
    <p:sldId id="413" r:id="rId8"/>
    <p:sldId id="414" r:id="rId9"/>
    <p:sldId id="415" r:id="rId10"/>
    <p:sldId id="416" r:id="rId11"/>
    <p:sldId id="417" r:id="rId12"/>
    <p:sldId id="418" r:id="rId13"/>
    <p:sldId id="419" r:id="rId14"/>
    <p:sldId id="421" r:id="rId15"/>
    <p:sldId id="420" r:id="rId16"/>
  </p:sldIdLst>
  <p:sldSz cx="9144000" cy="6858000" type="screen4x3"/>
  <p:notesSz cx="6858000" cy="914400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9">
          <p15:clr>
            <a:srgbClr val="A4A3A4"/>
          </p15:clr>
        </p15:guide>
        <p15:guide id="2" pos="158">
          <p15:clr>
            <a:srgbClr val="A4A3A4"/>
          </p15:clr>
        </p15:guide>
        <p15:guide id="3" orient="horz" pos="1162">
          <p15:clr>
            <a:srgbClr val="A4A3A4"/>
          </p15:clr>
        </p15:guide>
        <p15:guide id="4" pos="43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CDF1FF"/>
    <a:srgbClr val="99CCFF"/>
    <a:srgbClr val="FF5050"/>
    <a:srgbClr val="97E1FF"/>
    <a:srgbClr val="00A4E6"/>
    <a:srgbClr val="5BD0FF"/>
    <a:srgbClr val="29C2FF"/>
    <a:srgbClr val="11BBFF"/>
    <a:srgbClr val="21C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52" autoAdjust="0"/>
    <p:restoredTop sz="98901" autoAdjust="0"/>
  </p:normalViewPr>
  <p:slideViewPr>
    <p:cSldViewPr>
      <p:cViewPr varScale="1">
        <p:scale>
          <a:sx n="111" d="100"/>
          <a:sy n="111" d="100"/>
        </p:scale>
        <p:origin x="168" y="76"/>
      </p:cViewPr>
      <p:guideLst>
        <p:guide orient="horz" pos="119"/>
        <p:guide pos="158"/>
        <p:guide orient="horz" pos="1162"/>
        <p:guide pos="43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2" d="100"/>
          <a:sy n="82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C39FFA-0F1A-413B-9BFE-941741C2D487}" type="datetimeFigureOut">
              <a:rPr lang="ko-KR" altLang="en-US" smtClean="0">
                <a:ea typeface="맑은 고딕" panose="020B0503020000020004" pitchFamily="50" charset="-127"/>
              </a:rPr>
              <a:pPr/>
              <a:t>2024-04-20</a:t>
            </a:fld>
            <a:endParaRPr lang="ko-KR" altLang="en-US" dirty="0"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4E8097-7531-4C06-8889-FE1FF848364C}" type="slidenum">
              <a:rPr lang="ko-KR" altLang="en-US" smtClean="0">
                <a:ea typeface="맑은 고딕" panose="020B0503020000020004" pitchFamily="50" charset="-127"/>
              </a:rPr>
              <a:pPr/>
              <a:t>‹#›</a:t>
            </a:fld>
            <a:endParaRPr lang="ko-KR" altLang="en-US" dirty="0"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123296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C3140B-A455-4A59-916C-960D4A936015}" type="datetimeFigureOut">
              <a:rPr lang="ko-KR" altLang="en-US" smtClean="0"/>
              <a:t>2024-04-20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BE1D51-9158-4745-94AC-4FA4FE8FC3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37814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" name="그룹 15"/>
          <p:cNvGrpSpPr/>
          <p:nvPr userDrawn="1"/>
        </p:nvGrpSpPr>
        <p:grpSpPr>
          <a:xfrm>
            <a:off x="276521" y="5990292"/>
            <a:ext cx="3791423" cy="586615"/>
            <a:chOff x="130805" y="5990292"/>
            <a:chExt cx="3791423" cy="586615"/>
          </a:xfrm>
        </p:grpSpPr>
        <p:sp>
          <p:nvSpPr>
            <p:cNvPr id="17" name="TextBox 9"/>
            <p:cNvSpPr txBox="1"/>
            <p:nvPr userDrawn="1"/>
          </p:nvSpPr>
          <p:spPr>
            <a:xfrm>
              <a:off x="130805" y="6269130"/>
              <a:ext cx="3791423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MySQL</a:t>
              </a:r>
              <a:r>
                <a:rPr kumimoji="0" lang="ko-KR" altLang="en-US" sz="1400" b="1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로 배우는 데이터베이스 개론과 실습</a:t>
              </a:r>
              <a:endParaRPr kumimoji="0"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18" name="TextBox 17"/>
            <p:cNvSpPr txBox="1"/>
            <p:nvPr userDrawn="1"/>
          </p:nvSpPr>
          <p:spPr>
            <a:xfrm>
              <a:off x="197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19" name="TextBox 18"/>
            <p:cNvSpPr txBox="1"/>
            <p:nvPr userDrawn="1"/>
          </p:nvSpPr>
          <p:spPr>
            <a:xfrm>
              <a:off x="359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20" name="TextBox 19"/>
            <p:cNvSpPr txBox="1"/>
            <p:nvPr userDrawn="1"/>
          </p:nvSpPr>
          <p:spPr>
            <a:xfrm>
              <a:off x="538980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21" name="직사각형 10"/>
          <p:cNvSpPr/>
          <p:nvPr userDrawn="1"/>
        </p:nvSpPr>
        <p:spPr>
          <a:xfrm flipV="1">
            <a:off x="0" y="5743552"/>
            <a:ext cx="9144000" cy="61712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목차/학습목표/요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40"/>
          <p:cNvSpPr>
            <a:spLocks noChangeArrowheads="1"/>
          </p:cNvSpPr>
          <p:nvPr userDrawn="1"/>
        </p:nvSpPr>
        <p:spPr bwMode="invGray">
          <a:xfrm>
            <a:off x="0" y="6803"/>
            <a:ext cx="9144000" cy="617311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/>
          </a:p>
        </p:txBody>
      </p:sp>
      <p:sp>
        <p:nvSpPr>
          <p:cNvPr id="9" name="제목 9"/>
          <p:cNvSpPr>
            <a:spLocks noGrp="1"/>
          </p:cNvSpPr>
          <p:nvPr>
            <p:ph type="title"/>
          </p:nvPr>
        </p:nvSpPr>
        <p:spPr>
          <a:xfrm>
            <a:off x="107042" y="64772"/>
            <a:ext cx="7785100" cy="474662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="1" spc="-100" baseline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effectLst>
                  <a:glow>
                    <a:schemeClr val="tx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3789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40"/>
          <p:cNvSpPr>
            <a:spLocks noChangeArrowheads="1"/>
          </p:cNvSpPr>
          <p:nvPr userDrawn="1"/>
        </p:nvSpPr>
        <p:spPr bwMode="invGray">
          <a:xfrm>
            <a:off x="0" y="647700"/>
            <a:ext cx="9144000" cy="6210300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grpSp>
        <p:nvGrpSpPr>
          <p:cNvPr id="3" name="그룹 7"/>
          <p:cNvGrpSpPr>
            <a:grpSpLocks/>
          </p:cNvGrpSpPr>
          <p:nvPr userDrawn="1"/>
        </p:nvGrpSpPr>
        <p:grpSpPr bwMode="auto">
          <a:xfrm>
            <a:off x="5724128" y="93663"/>
            <a:ext cx="3380100" cy="523220"/>
            <a:chOff x="6752029" y="188640"/>
            <a:chExt cx="3381457" cy="521913"/>
          </a:xfrm>
        </p:grpSpPr>
        <p:sp>
          <p:nvSpPr>
            <p:cNvPr id="4" name="직사각형 3"/>
            <p:cNvSpPr/>
            <p:nvPr/>
          </p:nvSpPr>
          <p:spPr>
            <a:xfrm>
              <a:off x="8336841" y="188640"/>
              <a:ext cx="1796645" cy="52191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l" rtl="0" eaLnBrk="1" fontAlgn="base" latinLnBrk="1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ko-KR" sz="2800" b="1" kern="1200" spc="0" dirty="0">
                  <a:solidFill>
                    <a:srgbClr val="393939"/>
                  </a:solidFill>
                  <a:latin typeface="맑은 고딕" pitchFamily="50" charset="-127"/>
                  <a:ea typeface="맑은 고딕" panose="020B0503020000020004" pitchFamily="50" charset="-127"/>
                  <a:cs typeface="+mn-cs"/>
                </a:rPr>
                <a:t>SQL</a:t>
              </a:r>
              <a:r>
                <a:rPr kumimoji="1" lang="en-US" altLang="ko-KR" sz="2800" b="1" kern="1200" spc="-300" dirty="0">
                  <a:solidFill>
                    <a:srgbClr val="393939"/>
                  </a:solidFill>
                  <a:latin typeface="맑은 고딕" pitchFamily="50" charset="-127"/>
                  <a:ea typeface="맑은 고딕" panose="020B0503020000020004" pitchFamily="50" charset="-127"/>
                  <a:cs typeface="+mn-cs"/>
                </a:rPr>
                <a:t> </a:t>
              </a:r>
              <a:r>
                <a:rPr kumimoji="1" lang="ko-KR" altLang="en-US" sz="2800" b="1" kern="1200" spc="-300" dirty="0">
                  <a:solidFill>
                    <a:srgbClr val="393939"/>
                  </a:solidFill>
                  <a:latin typeface="맑은 고딕" pitchFamily="50" charset="-127"/>
                  <a:ea typeface="맑은 고딕" panose="020B0503020000020004" pitchFamily="50" charset="-127"/>
                  <a:cs typeface="+mn-cs"/>
                </a:rPr>
                <a:t>기초</a:t>
              </a:r>
            </a:p>
          </p:txBody>
        </p:sp>
        <p:sp>
          <p:nvSpPr>
            <p:cNvPr id="5" name="직사각형 4"/>
            <p:cNvSpPr>
              <a:spLocks noChangeArrowheads="1"/>
            </p:cNvSpPr>
            <p:nvPr/>
          </p:nvSpPr>
          <p:spPr bwMode="auto">
            <a:xfrm>
              <a:off x="6752029" y="188640"/>
              <a:ext cx="184805" cy="521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>
              <a:lvl1pPr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defRPr/>
              </a:pPr>
              <a:endParaRPr lang="ko-KR" altLang="en-US" sz="2800" b="1" dirty="0">
                <a:solidFill>
                  <a:srgbClr val="344F6B"/>
                </a:solidFill>
                <a:ea typeface="맑은 고딕" panose="020B0503020000020004" pitchFamily="50" charset="-127"/>
              </a:endParaRPr>
            </a:p>
          </p:txBody>
        </p:sp>
      </p:grpSp>
      <p:sp>
        <p:nvSpPr>
          <p:cNvPr id="6" name="Rectangle 440"/>
          <p:cNvSpPr>
            <a:spLocks noChangeArrowheads="1"/>
          </p:cNvSpPr>
          <p:nvPr userDrawn="1"/>
        </p:nvSpPr>
        <p:spPr bwMode="invGray">
          <a:xfrm>
            <a:off x="0" y="587375"/>
            <a:ext cx="9144000" cy="107950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pic>
        <p:nvPicPr>
          <p:cNvPr id="7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92" t="68494" r="5122" b="13763"/>
          <a:stretch>
            <a:fillRect/>
          </a:stretch>
        </p:blipFill>
        <p:spPr bwMode="auto">
          <a:xfrm>
            <a:off x="5521325" y="5372100"/>
            <a:ext cx="3311525" cy="135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31478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본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201910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064896" cy="5472608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rgbClr val="50ABCC"/>
              </a:buClr>
              <a:buFont typeface="Wingdings" pitchFamily="2" charset="2"/>
              <a:buChar char="n"/>
              <a:defRPr sz="1600" b="1">
                <a:latin typeface="+mn-ea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/>
            </a:lvl3pPr>
            <a:lvl4pPr marL="809625" indent="-180975">
              <a:spcAft>
                <a:spcPts val="300"/>
              </a:spcAft>
              <a:buSzPct val="96000"/>
              <a:defRPr sz="1100"/>
            </a:lvl4pPr>
            <a:lvl5pPr marL="990600" indent="-180975">
              <a:buClr>
                <a:srgbClr val="50ABCC"/>
              </a:buClr>
              <a:buFont typeface="Arial" panose="020B0604020202020204" pitchFamily="34" charset="0"/>
              <a:buChar char="»"/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869479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/>
          <p:cNvCxnSpPr/>
          <p:nvPr userDrawn="1"/>
        </p:nvCxnSpPr>
        <p:spPr>
          <a:xfrm>
            <a:off x="2339752" y="869479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/>
          <p:cNvCxnSpPr/>
          <p:nvPr userDrawn="1"/>
        </p:nvCxnSpPr>
        <p:spPr>
          <a:xfrm>
            <a:off x="4572000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/>
          <p:cNvCxnSpPr/>
          <p:nvPr userDrawn="1"/>
        </p:nvCxnSpPr>
        <p:spPr>
          <a:xfrm>
            <a:off x="6821191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4418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섹션 목차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99400" y="476250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184745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10" name="직선 연결선 9"/>
          <p:cNvCxnSpPr/>
          <p:nvPr userDrawn="1"/>
        </p:nvCxnSpPr>
        <p:spPr>
          <a:xfrm>
            <a:off x="0" y="836712"/>
            <a:ext cx="2339752" cy="0"/>
          </a:xfrm>
          <a:prstGeom prst="line">
            <a:avLst/>
          </a:prstGeom>
          <a:ln w="762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 userDrawn="1"/>
        </p:nvCxnSpPr>
        <p:spPr>
          <a:xfrm>
            <a:off x="2339752" y="836712"/>
            <a:ext cx="2339752" cy="0"/>
          </a:xfrm>
          <a:prstGeom prst="line">
            <a:avLst/>
          </a:prstGeom>
          <a:ln w="76200"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 userDrawn="1"/>
        </p:nvCxnSpPr>
        <p:spPr>
          <a:xfrm>
            <a:off x="4572000" y="836712"/>
            <a:ext cx="2339752" cy="0"/>
          </a:xfrm>
          <a:prstGeom prst="line">
            <a:avLst/>
          </a:prstGeom>
          <a:ln w="76200">
            <a:solidFill>
              <a:schemeClr val="tx2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 userDrawn="1"/>
        </p:nvCxnSpPr>
        <p:spPr>
          <a:xfrm>
            <a:off x="6821191" y="836712"/>
            <a:ext cx="2339752" cy="0"/>
          </a:xfrm>
          <a:prstGeom prst="line">
            <a:avLst/>
          </a:prstGeom>
          <a:ln w="76200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064896" cy="5472608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rgbClr val="0070C0"/>
              </a:buClr>
              <a:buFont typeface="Wingdings" pitchFamily="2" charset="2"/>
              <a:buChar char="n"/>
              <a:defRPr sz="1600" b="1">
                <a:latin typeface="+mn-ea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/>
            </a:lvl3pPr>
            <a:lvl4pPr marL="809625" indent="-180975">
              <a:spcAft>
                <a:spcPts val="300"/>
              </a:spcAft>
              <a:buSzPct val="96000"/>
              <a:defRPr sz="1100"/>
            </a:lvl4pPr>
            <a:lvl5pPr marL="990600" indent="-180975"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910496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/>
          <p:cNvSpPr txBox="1"/>
          <p:nvPr userDrawn="1"/>
        </p:nvSpPr>
        <p:spPr>
          <a:xfrm>
            <a:off x="755576" y="768921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HY견고딕" pitchFamily="18" charset="-127"/>
                <a:ea typeface="HY견고딕" pitchFamily="18" charset="-127"/>
                <a:cs typeface="Tahoma" pitchFamily="34" charset="0"/>
              </a:rPr>
              <a:t>목차</a:t>
            </a: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51323"/>
            <a:ext cx="7615014" cy="4104456"/>
          </a:xfrm>
          <a:prstGeom prst="rect">
            <a:avLst/>
          </a:prstGeom>
        </p:spPr>
        <p:txBody>
          <a:bodyPr/>
          <a:lstStyle>
            <a:lvl1pPr marL="457200" indent="-457200"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  <p:pic>
        <p:nvPicPr>
          <p:cNvPr id="12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30840" y="476250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학습목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/>
          <p:cNvSpPr txBox="1"/>
          <p:nvPr userDrawn="1"/>
        </p:nvSpPr>
        <p:spPr>
          <a:xfrm>
            <a:off x="611560" y="762422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HY견고딕" pitchFamily="18" charset="-127"/>
                <a:ea typeface="HY견고딕" pitchFamily="18" charset="-127"/>
                <a:cs typeface="Tahoma" pitchFamily="34" charset="0"/>
              </a:rPr>
              <a:t>학습목표</a:t>
            </a:r>
          </a:p>
        </p:txBody>
      </p:sp>
      <p:sp>
        <p:nvSpPr>
          <p:cNvPr id="11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44824"/>
            <a:ext cx="7704856" cy="4104456"/>
          </a:xfrm>
          <a:prstGeom prst="rect">
            <a:avLst/>
          </a:prstGeom>
        </p:spPr>
        <p:txBody>
          <a:bodyPr/>
          <a:lstStyle>
            <a:lvl1pPr marL="457200" indent="-457200">
              <a:lnSpc>
                <a:spcPct val="200000"/>
              </a:lnSpc>
              <a:buFont typeface="Arial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  <p:pic>
        <p:nvPicPr>
          <p:cNvPr id="8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30840" y="476250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섹션 목차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99400" y="476250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184745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10" name="직선 연결선 9"/>
          <p:cNvCxnSpPr/>
          <p:nvPr userDrawn="1"/>
        </p:nvCxnSpPr>
        <p:spPr>
          <a:xfrm>
            <a:off x="0" y="836712"/>
            <a:ext cx="2339752" cy="0"/>
          </a:xfrm>
          <a:prstGeom prst="line">
            <a:avLst/>
          </a:prstGeom>
          <a:ln w="762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 userDrawn="1"/>
        </p:nvCxnSpPr>
        <p:spPr>
          <a:xfrm>
            <a:off x="2339752" y="836712"/>
            <a:ext cx="2339752" cy="0"/>
          </a:xfrm>
          <a:prstGeom prst="line">
            <a:avLst/>
          </a:prstGeom>
          <a:ln w="76200"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 userDrawn="1"/>
        </p:nvCxnSpPr>
        <p:spPr>
          <a:xfrm>
            <a:off x="4572000" y="836712"/>
            <a:ext cx="2339752" cy="0"/>
          </a:xfrm>
          <a:prstGeom prst="line">
            <a:avLst/>
          </a:prstGeom>
          <a:ln w="76200">
            <a:solidFill>
              <a:schemeClr val="tx2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 userDrawn="1"/>
        </p:nvCxnSpPr>
        <p:spPr>
          <a:xfrm>
            <a:off x="6821191" y="836712"/>
            <a:ext cx="2339752" cy="0"/>
          </a:xfrm>
          <a:prstGeom prst="line">
            <a:avLst/>
          </a:prstGeom>
          <a:ln w="76200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064896" cy="5472608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rgbClr val="0070C0"/>
              </a:buClr>
              <a:buFont typeface="Wingdings" pitchFamily="2" charset="2"/>
              <a:buChar char="n"/>
              <a:defRPr sz="1600" b="1">
                <a:latin typeface="+mn-ea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/>
            </a:lvl3pPr>
            <a:lvl4pPr marL="809625" indent="-180975">
              <a:spcAft>
                <a:spcPts val="300"/>
              </a:spcAft>
              <a:buSzPct val="96000"/>
              <a:defRPr sz="1100"/>
            </a:lvl4pPr>
            <a:lvl5pPr marL="990600" indent="-180975"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481326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실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99400" y="476250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250825" y="188913"/>
            <a:ext cx="7560840" cy="548680"/>
          </a:xfrm>
        </p:spPr>
        <p:txBody>
          <a:bodyPr/>
          <a:lstStyle>
            <a:lvl1pPr algn="l">
              <a:defRPr sz="2400" b="1" baseline="0">
                <a:solidFill>
                  <a:srgbClr val="0000CC"/>
                </a:solidFill>
              </a:defRPr>
            </a:lvl1pPr>
          </a:lstStyle>
          <a:p>
            <a:r>
              <a:rPr lang="ko-KR" altLang="en-US"/>
              <a:t>연습문제 풀이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55576" y="980728"/>
            <a:ext cx="8136904" cy="54726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200" b="0">
                <a:latin typeface="+mn-lt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chemeClr val="accent5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>
              <a:spcAft>
                <a:spcPts val="300"/>
              </a:spcAft>
              <a:buClr>
                <a:schemeClr val="accent5">
                  <a:lumMod val="50000"/>
                </a:schemeClr>
              </a:buClr>
              <a:defRPr sz="1200"/>
            </a:lvl3pPr>
            <a:lvl4pPr marL="809625" indent="-180975">
              <a:spcAft>
                <a:spcPts val="300"/>
              </a:spcAft>
              <a:buSzPct val="96000"/>
              <a:defRPr sz="1100"/>
            </a:lvl4pPr>
            <a:lvl5pPr marL="990600" indent="-180975">
              <a:defRPr sz="1100"/>
            </a:lvl5pPr>
          </a:lstStyle>
          <a:p>
            <a:pPr lvl="0"/>
            <a:endParaRPr lang="ko-KR" altLang="en-US" dirty="0"/>
          </a:p>
        </p:txBody>
      </p:sp>
      <p:cxnSp>
        <p:nvCxnSpPr>
          <p:cNvPr id="12" name="직선 연결선 11"/>
          <p:cNvCxnSpPr/>
          <p:nvPr userDrawn="1"/>
        </p:nvCxnSpPr>
        <p:spPr>
          <a:xfrm>
            <a:off x="0" y="908720"/>
            <a:ext cx="2339752" cy="0"/>
          </a:xfrm>
          <a:prstGeom prst="line">
            <a:avLst/>
          </a:prstGeom>
          <a:ln w="762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 userDrawn="1"/>
        </p:nvCxnSpPr>
        <p:spPr>
          <a:xfrm>
            <a:off x="2339752" y="908720"/>
            <a:ext cx="2339752" cy="0"/>
          </a:xfrm>
          <a:prstGeom prst="line">
            <a:avLst/>
          </a:prstGeom>
          <a:ln w="76200"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 userDrawn="1"/>
        </p:nvCxnSpPr>
        <p:spPr>
          <a:xfrm>
            <a:off x="4572000" y="908720"/>
            <a:ext cx="2339752" cy="0"/>
          </a:xfrm>
          <a:prstGeom prst="line">
            <a:avLst/>
          </a:prstGeom>
          <a:ln w="76200">
            <a:solidFill>
              <a:schemeClr val="tx2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 userDrawn="1"/>
        </p:nvCxnSpPr>
        <p:spPr>
          <a:xfrm>
            <a:off x="6821191" y="908720"/>
            <a:ext cx="2339752" cy="0"/>
          </a:xfrm>
          <a:prstGeom prst="line">
            <a:avLst/>
          </a:prstGeom>
          <a:ln w="76200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2880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251520" y="274638"/>
            <a:ext cx="871296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53486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3C4A7B72-6AE8-49C2-8F32-E8A725FD610D}" type="datetimeFigureOut">
              <a:rPr lang="ko-KR" altLang="en-US" smtClean="0"/>
              <a:pPr>
                <a:defRPr/>
              </a:pPr>
              <a:t>2024-04-20</a:t>
            </a:fld>
            <a:endParaRPr lang="ko-KR" altLang="en-US" dirty="0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525344"/>
            <a:ext cx="2895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91" r:id="rId2"/>
    <p:sldLayoutId id="2147483692" r:id="rId3"/>
    <p:sldLayoutId id="2147483693" r:id="rId4"/>
    <p:sldLayoutId id="2147483690" r:id="rId5"/>
    <p:sldLayoutId id="2147483679" r:id="rId6"/>
    <p:sldLayoutId id="2147483680" r:id="rId7"/>
    <p:sldLayoutId id="2147483686" r:id="rId8"/>
    <p:sldLayoutId id="2147483688" r:id="rId9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Blip>
          <a:blip r:embed="rId11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/>
        </p:nvSpPr>
        <p:spPr bwMode="auto">
          <a:xfrm>
            <a:off x="156810" y="3573016"/>
            <a:ext cx="6143382" cy="19020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l"/>
            <a:br>
              <a:rPr kumimoji="0" lang="en-US" altLang="ko-KR" dirty="0">
                <a:solidFill>
                  <a:schemeClr val="bg1"/>
                </a:solidFill>
              </a:rPr>
            </a:br>
            <a:r>
              <a:rPr kumimoji="0" lang="ko-KR" altLang="en-US" sz="4600" b="1">
                <a:solidFill>
                  <a:schemeClr val="tx1">
                    <a:lumMod val="85000"/>
                    <a:lumOff val="15000"/>
                  </a:schemeClr>
                </a:solidFill>
              </a:rPr>
              <a:t>실습 </a:t>
            </a:r>
            <a:r>
              <a:rPr kumimoji="0" lang="en-US" altLang="ko-KR" sz="4600" b="1">
                <a:solidFill>
                  <a:schemeClr val="tx1">
                    <a:lumMod val="85000"/>
                    <a:lumOff val="15000"/>
                  </a:schemeClr>
                </a:solidFill>
              </a:rPr>
              <a:t>#4</a:t>
            </a:r>
            <a:endParaRPr lang="ko-KR" altLang="en-US" sz="46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SQL #1</a:t>
            </a:r>
            <a:endParaRPr lang="ko-KR" altLang="en-US" dirty="0"/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9487603"/>
              </p:ext>
            </p:extLst>
          </p:nvPr>
        </p:nvGraphicFramePr>
        <p:xfrm>
          <a:off x="539750" y="1085850"/>
          <a:ext cx="8065252" cy="1412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야구 또는 축구 관련 도서를 찾으시오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ts val="2000"/>
                        </a:lnSpc>
                      </a:pP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SELECT   *</a:t>
                      </a:r>
                    </a:p>
                    <a:p>
                      <a:pPr latinLnBrk="1">
                        <a:lnSpc>
                          <a:spcPts val="2000"/>
                        </a:lnSpc>
                      </a:pP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FROM   </a:t>
                      </a:r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 Book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ts val="2000"/>
                        </a:lnSpc>
                      </a:pP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WHERE  </a:t>
                      </a:r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 baseline="0" dirty="0" err="1">
                          <a:solidFill>
                            <a:sysClr val="windowText" lastClr="000000"/>
                          </a:solidFill>
                        </a:rPr>
                        <a:t>bookname</a:t>
                      </a:r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 baseline="0">
                          <a:solidFill>
                            <a:sysClr val="windowText" lastClr="000000"/>
                          </a:solidFill>
                        </a:rPr>
                        <a:t>LIKE ‘%</a:t>
                      </a:r>
                      <a:r>
                        <a:rPr lang="ko-KR" altLang="en-US" sz="1400" baseline="0">
                          <a:solidFill>
                            <a:sysClr val="windowText" lastClr="000000"/>
                          </a:solidFill>
                        </a:rPr>
                        <a:t>야구</a:t>
                      </a:r>
                      <a:r>
                        <a:rPr lang="en-US" altLang="ko-KR" sz="1400" baseline="0">
                          <a:solidFill>
                            <a:sysClr val="windowText" lastClr="000000"/>
                          </a:solidFill>
                        </a:rPr>
                        <a:t>%’ OR bookname LIKE '%</a:t>
                      </a:r>
                      <a:r>
                        <a:rPr lang="ko-KR" altLang="en-US" sz="1400" baseline="0">
                          <a:solidFill>
                            <a:sysClr val="windowText" lastClr="000000"/>
                          </a:solidFill>
                        </a:rPr>
                        <a:t>축구</a:t>
                      </a:r>
                      <a:r>
                        <a:rPr lang="en-US" altLang="ko-KR" sz="1400" baseline="0">
                          <a:solidFill>
                            <a:sysClr val="windowText" lastClr="000000"/>
                          </a:solidFill>
                        </a:rPr>
                        <a:t>%';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827584" y="5233392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endParaRPr lang="ko-KR" altLang="en-US" sz="1400" b="1" dirty="0">
              <a:ea typeface="맑은 고딕" panose="020B0503020000020004" pitchFamily="50" charset="-127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graphicFrame>
        <p:nvGraphicFramePr>
          <p:cNvPr id="3" name="내용 개체 틀 3">
            <a:extLst>
              <a:ext uri="{FF2B5EF4-FFF2-40B4-BE49-F238E27FC236}">
                <a16:creationId xmlns:a16="http://schemas.microsoft.com/office/drawing/2014/main" id="{D12A22B5-B4FB-B1E6-DA02-2FF71FA6B3A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93200054"/>
              </p:ext>
            </p:extLst>
          </p:nvPr>
        </p:nvGraphicFramePr>
        <p:xfrm>
          <a:off x="539374" y="2852936"/>
          <a:ext cx="8065252" cy="1412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출판사가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대한미디어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’ or ‘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삼성당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’ or ‘</a:t>
                      </a:r>
                      <a:r>
                        <a:rPr lang="ko-KR" altLang="en-US" sz="14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나무수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 도서를 </a:t>
                      </a:r>
                      <a:r>
                        <a:rPr lang="ko-KR" altLang="en-US" sz="14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찾으시오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ts val="2000"/>
                        </a:lnSpc>
                      </a:pP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SELECT   *</a:t>
                      </a:r>
                    </a:p>
                    <a:p>
                      <a:pPr latinLnBrk="1">
                        <a:lnSpc>
                          <a:spcPts val="2000"/>
                        </a:lnSpc>
                      </a:pP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FROM   </a:t>
                      </a:r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 Book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ts val="2000"/>
                        </a:lnSpc>
                      </a:pP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WHERE  </a:t>
                      </a:r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 publisher IN (‘</a:t>
                      </a:r>
                      <a:r>
                        <a:rPr lang="ko-KR" altLang="en-US" sz="1400" baseline="0" dirty="0">
                          <a:solidFill>
                            <a:sysClr val="windowText" lastClr="000000"/>
                          </a:solidFill>
                        </a:rPr>
                        <a:t>대한미디어</a:t>
                      </a:r>
                      <a:r>
                        <a:rPr lang="en-US" altLang="ko-KR" sz="1400" baseline="0">
                          <a:solidFill>
                            <a:sysClr val="windowText" lastClr="000000"/>
                          </a:solidFill>
                        </a:rPr>
                        <a:t>’, '</a:t>
                      </a:r>
                      <a:r>
                        <a:rPr lang="ko-KR" altLang="en-US" sz="1400" baseline="0">
                          <a:solidFill>
                            <a:sysClr val="windowText" lastClr="000000"/>
                          </a:solidFill>
                        </a:rPr>
                        <a:t>삼성당</a:t>
                      </a:r>
                      <a:r>
                        <a:rPr lang="en-US" altLang="ko-KR" sz="1400" baseline="0">
                          <a:solidFill>
                            <a:sysClr val="windowText" lastClr="000000"/>
                          </a:solidFill>
                        </a:rPr>
                        <a:t>', '</a:t>
                      </a:r>
                      <a:r>
                        <a:rPr lang="ko-KR" altLang="en-US" sz="1400" baseline="0">
                          <a:solidFill>
                            <a:sysClr val="windowText" lastClr="000000"/>
                          </a:solidFill>
                        </a:rPr>
                        <a:t>나무수</a:t>
                      </a:r>
                      <a:r>
                        <a:rPr lang="en-US" altLang="ko-KR" sz="1400" baseline="0">
                          <a:solidFill>
                            <a:sysClr val="windowText" lastClr="000000"/>
                          </a:solidFill>
                        </a:rPr>
                        <a:t>'  );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내용 개체 틀 3">
            <a:extLst>
              <a:ext uri="{FF2B5EF4-FFF2-40B4-BE49-F238E27FC236}">
                <a16:creationId xmlns:a16="http://schemas.microsoft.com/office/drawing/2014/main" id="{BA054B5B-0D33-8EC7-0A68-56C26F5A5F0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81214266"/>
              </p:ext>
            </p:extLst>
          </p:nvPr>
        </p:nvGraphicFramePr>
        <p:xfrm>
          <a:off x="539374" y="4620022"/>
          <a:ext cx="8065252" cy="1412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도서를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높은 가격 순으로 </a:t>
                      </a:r>
                      <a:r>
                        <a:rPr lang="ko-KR" altLang="en-US" sz="14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검색하시오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ts val="2000"/>
                        </a:lnSpc>
                      </a:pP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SELECT   *</a:t>
                      </a:r>
                    </a:p>
                    <a:p>
                      <a:pPr latinLnBrk="1">
                        <a:lnSpc>
                          <a:spcPts val="2000"/>
                        </a:lnSpc>
                      </a:pP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FROM   </a:t>
                      </a:r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 book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ts val="2000"/>
                        </a:lnSpc>
                      </a:pP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ORDER BY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price DESC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62C7D4E-644F-3350-3E98-ACBF1BE32458}"/>
              </a:ext>
            </a:extLst>
          </p:cNvPr>
          <p:cNvSpPr txBox="1"/>
          <p:nvPr/>
        </p:nvSpPr>
        <p:spPr>
          <a:xfrm>
            <a:off x="2754040" y="2200369"/>
            <a:ext cx="687603" cy="252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rtlCol="0" anchor="ctr">
            <a:normAutofit/>
          </a:bodyPr>
          <a:lstStyle/>
          <a:p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41010B-395B-AF26-DB4F-8B87F3181160}"/>
              </a:ext>
            </a:extLst>
          </p:cNvPr>
          <p:cNvSpPr txBox="1"/>
          <p:nvPr/>
        </p:nvSpPr>
        <p:spPr>
          <a:xfrm>
            <a:off x="5152075" y="2207082"/>
            <a:ext cx="759611" cy="252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rtlCol="0" anchor="ctr">
            <a:normAutofit/>
          </a:bodyPr>
          <a:lstStyle/>
          <a:p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A9DF27-2238-D893-B03E-21C842E745E2}"/>
              </a:ext>
            </a:extLst>
          </p:cNvPr>
          <p:cNvSpPr txBox="1"/>
          <p:nvPr/>
        </p:nvSpPr>
        <p:spPr>
          <a:xfrm>
            <a:off x="3585659" y="3990314"/>
            <a:ext cx="1368152" cy="27431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rtlCol="0" anchor="ctr">
            <a:normAutofit/>
          </a:bodyPr>
          <a:lstStyle/>
          <a:p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976612-FD84-E3E8-9AEB-54CE80613C7D}"/>
              </a:ext>
            </a:extLst>
          </p:cNvPr>
          <p:cNvSpPr txBox="1"/>
          <p:nvPr/>
        </p:nvSpPr>
        <p:spPr>
          <a:xfrm>
            <a:off x="1511941" y="5753197"/>
            <a:ext cx="899819" cy="27688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rtlCol="0" anchor="ctr">
            <a:normAutofit/>
          </a:bodyPr>
          <a:lstStyle/>
          <a:p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0657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SQL #2</a:t>
            </a:r>
            <a:endParaRPr lang="ko-KR" altLang="en-US" dirty="0"/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8108094"/>
              </p:ext>
            </p:extLst>
          </p:nvPr>
        </p:nvGraphicFramePr>
        <p:xfrm>
          <a:off x="539750" y="1085850"/>
          <a:ext cx="8065252" cy="139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서점이 보유한 도서의 평균 가격을 구하시오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ts val="2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SELECT   </a:t>
                      </a:r>
                      <a:r>
                        <a:rPr lang="en-US" altLang="ko-KR" sz="1400">
                          <a:solidFill>
                            <a:srgbClr val="00B050"/>
                          </a:solidFill>
                        </a:rPr>
                        <a:t>AVG(price)</a:t>
                      </a:r>
                      <a:endParaRPr lang="en-US" altLang="ko-KR" sz="1400" dirty="0">
                        <a:solidFill>
                          <a:srgbClr val="00B050"/>
                        </a:solidFill>
                      </a:endParaRPr>
                    </a:p>
                    <a:p>
                      <a:pPr latinLnBrk="1">
                        <a:lnSpc>
                          <a:spcPts val="2000"/>
                        </a:lnSpc>
                      </a:pP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FROM   </a:t>
                      </a:r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 Book;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827584" y="5233392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endParaRPr lang="ko-KR" altLang="en-US" sz="1400" b="1" dirty="0">
              <a:ea typeface="맑은 고딕" panose="020B0503020000020004" pitchFamily="50" charset="-127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graphicFrame>
        <p:nvGraphicFramePr>
          <p:cNvPr id="3" name="내용 개체 틀 3">
            <a:extLst>
              <a:ext uri="{FF2B5EF4-FFF2-40B4-BE49-F238E27FC236}">
                <a16:creationId xmlns:a16="http://schemas.microsoft.com/office/drawing/2014/main" id="{D12A22B5-B4FB-B1E6-DA02-2FF71FA6B3A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2074370"/>
              </p:ext>
            </p:extLst>
          </p:nvPr>
        </p:nvGraphicFramePr>
        <p:xfrm>
          <a:off x="539552" y="2852936"/>
          <a:ext cx="8065074" cy="1412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0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고객별로 고객이름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주문한 도서의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총 수량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총 판매액을 </a:t>
                      </a:r>
                      <a:r>
                        <a:rPr lang="ko-KR" altLang="en-US" sz="14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구하시오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ts val="2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SELECT   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C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.</a:t>
                      </a:r>
                      <a:r>
                        <a:rPr lang="en-US" altLang="ko-KR" sz="1400" dirty="0" err="1">
                          <a:solidFill>
                            <a:sysClr val="windowText" lastClr="000000"/>
                          </a:solidFill>
                        </a:rPr>
                        <a:t>custid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, C.name, COUNT(</a:t>
                      </a:r>
                      <a:r>
                        <a:rPr lang="en-US" altLang="ko-KR" sz="1400" dirty="0" err="1">
                          <a:solidFill>
                            <a:sysClr val="windowText" lastClr="000000"/>
                          </a:solidFill>
                        </a:rPr>
                        <a:t>O</a:t>
                      </a:r>
                      <a:r>
                        <a:rPr lang="en-US" altLang="ko-KR" sz="1400" err="1">
                          <a:solidFill>
                            <a:sysClr val="windowText" lastClr="000000"/>
                          </a:solidFill>
                        </a:rPr>
                        <a:t>.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orderid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) AS </a:t>
                      </a:r>
                      <a:r>
                        <a:rPr lang="ko-KR" altLang="en-US" sz="1400" dirty="0">
                          <a:solidFill>
                            <a:sysClr val="windowText" lastClr="000000"/>
                          </a:solidFill>
                        </a:rPr>
                        <a:t>도서수량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, SUM(</a:t>
                      </a:r>
                      <a:r>
                        <a:rPr lang="en-US" altLang="ko-KR" sz="1400" dirty="0" err="1">
                          <a:solidFill>
                            <a:sysClr val="windowText" lastClr="000000"/>
                          </a:solidFill>
                        </a:rPr>
                        <a:t>O.saleprice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) AS</a:t>
                      </a:r>
                      <a:r>
                        <a:rPr lang="ko-KR" altLang="en-US" sz="1400" dirty="0">
                          <a:solidFill>
                            <a:sysClr val="windowText" lastClr="000000"/>
                          </a:solidFill>
                        </a:rPr>
                        <a:t> 총액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ts val="2000"/>
                        </a:lnSpc>
                      </a:pP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FROM   </a:t>
                      </a:r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 Customer C JOIN Orders O ON </a:t>
                      </a:r>
                      <a:r>
                        <a:rPr lang="en-US" altLang="ko-KR" sz="1400" baseline="0" dirty="0" err="1">
                          <a:solidFill>
                            <a:sysClr val="windowText" lastClr="000000"/>
                          </a:solidFill>
                        </a:rPr>
                        <a:t>C.custid</a:t>
                      </a:r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 = </a:t>
                      </a:r>
                      <a:r>
                        <a:rPr lang="en-US" altLang="ko-KR" sz="1400" baseline="0" dirty="0" err="1">
                          <a:solidFill>
                            <a:sysClr val="windowText" lastClr="000000"/>
                          </a:solidFill>
                        </a:rPr>
                        <a:t>O.custid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ts val="2000"/>
                        </a:lnSpc>
                      </a:pP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GROUP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BY </a:t>
                      </a:r>
                      <a:r>
                        <a:rPr lang="en-US" altLang="ko-KR" sz="1400">
                          <a:solidFill>
                            <a:srgbClr val="00B050"/>
                          </a:solidFill>
                        </a:rPr>
                        <a:t>C.custid;</a:t>
                      </a:r>
                      <a:endParaRPr lang="en-US" altLang="ko-KR" sz="1400" dirty="0">
                        <a:solidFill>
                          <a:srgbClr val="00B05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내용 개체 틀 3">
            <a:extLst>
              <a:ext uri="{FF2B5EF4-FFF2-40B4-BE49-F238E27FC236}">
                <a16:creationId xmlns:a16="http://schemas.microsoft.com/office/drawing/2014/main" id="{BA054B5B-0D33-8EC7-0A68-56C26F5A5F0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90122295"/>
              </p:ext>
            </p:extLst>
          </p:nvPr>
        </p:nvGraphicFramePr>
        <p:xfrm>
          <a:off x="539374" y="4620022"/>
          <a:ext cx="8065252" cy="1412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도서를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권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이상 주문한 고객이름과 주문한 도서의 총 수량과 총 판매액을 </a:t>
                      </a:r>
                      <a:r>
                        <a:rPr lang="ko-KR" altLang="en-US" sz="14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구하시오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ts val="2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SELECT   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C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.</a:t>
                      </a:r>
                      <a:r>
                        <a:rPr lang="en-US" altLang="ko-KR" sz="1400" dirty="0" err="1">
                          <a:solidFill>
                            <a:sysClr val="windowText" lastClr="000000"/>
                          </a:solidFill>
                        </a:rPr>
                        <a:t>custid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, C.name, COUNT(</a:t>
                      </a:r>
                      <a:r>
                        <a:rPr lang="en-US" altLang="ko-KR" sz="1400" dirty="0" err="1">
                          <a:solidFill>
                            <a:sysClr val="windowText" lastClr="000000"/>
                          </a:solidFill>
                        </a:rPr>
                        <a:t>O</a:t>
                      </a:r>
                      <a:r>
                        <a:rPr lang="en-US" altLang="ko-KR" sz="1400" err="1">
                          <a:solidFill>
                            <a:sysClr val="windowText" lastClr="000000"/>
                          </a:solidFill>
                        </a:rPr>
                        <a:t>.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orderid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) AS </a:t>
                      </a:r>
                      <a:r>
                        <a:rPr lang="ko-KR" altLang="en-US" sz="1400" dirty="0">
                          <a:solidFill>
                            <a:sysClr val="windowText" lastClr="000000"/>
                          </a:solidFill>
                        </a:rPr>
                        <a:t>도서수량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, SUM(</a:t>
                      </a:r>
                      <a:r>
                        <a:rPr lang="en-US" altLang="ko-KR" sz="1400" dirty="0" err="1">
                          <a:solidFill>
                            <a:sysClr val="windowText" lastClr="000000"/>
                          </a:solidFill>
                        </a:rPr>
                        <a:t>O.saleprice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) AS</a:t>
                      </a:r>
                      <a:r>
                        <a:rPr lang="ko-KR" altLang="en-US" sz="1400" dirty="0">
                          <a:solidFill>
                            <a:sysClr val="windowText" lastClr="000000"/>
                          </a:solidFill>
                        </a:rPr>
                        <a:t> 총액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ts val="2000"/>
                        </a:lnSpc>
                      </a:pP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FROM   </a:t>
                      </a:r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 Customer </a:t>
                      </a:r>
                      <a:r>
                        <a:rPr lang="en-US" altLang="ko-KR" sz="1400" baseline="0">
                          <a:solidFill>
                            <a:sysClr val="windowText" lastClr="000000"/>
                          </a:solidFill>
                        </a:rPr>
                        <a:t>C LEFT JOIN </a:t>
                      </a:r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Orders O ON </a:t>
                      </a:r>
                      <a:r>
                        <a:rPr lang="en-US" altLang="ko-KR" sz="1400" baseline="0" dirty="0" err="1">
                          <a:solidFill>
                            <a:sysClr val="windowText" lastClr="000000"/>
                          </a:solidFill>
                        </a:rPr>
                        <a:t>C.custid</a:t>
                      </a:r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 = </a:t>
                      </a:r>
                      <a:r>
                        <a:rPr lang="en-US" altLang="ko-KR" sz="1400" baseline="0" dirty="0" err="1">
                          <a:solidFill>
                            <a:sysClr val="windowText" lastClr="000000"/>
                          </a:solidFill>
                        </a:rPr>
                        <a:t>O.custid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ts val="2000"/>
                        </a:lnSpc>
                      </a:pP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GROUP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BY 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C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.</a:t>
                      </a:r>
                      <a:r>
                        <a:rPr lang="en-US" altLang="ko-KR" sz="1400" dirty="0" err="1">
                          <a:solidFill>
                            <a:sysClr val="windowText" lastClr="000000"/>
                          </a:solidFill>
                        </a:rPr>
                        <a:t>custid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HAVING </a:t>
                      </a:r>
                      <a:r>
                        <a:rPr lang="en-US" altLang="ko-KR" sz="1400">
                          <a:solidFill>
                            <a:srgbClr val="00B050"/>
                          </a:solidFill>
                        </a:rPr>
                        <a:t>COUNT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(O.orderid) &gt;= </a:t>
                      </a:r>
                      <a:r>
                        <a:rPr lang="en-US" altLang="ko-KR" sz="1400">
                          <a:solidFill>
                            <a:srgbClr val="00B050"/>
                          </a:solidFill>
                        </a:rPr>
                        <a:t>3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83BE494-A0C3-C6D3-3615-22CDC5D995D2}"/>
              </a:ext>
            </a:extLst>
          </p:cNvPr>
          <p:cNvSpPr txBox="1"/>
          <p:nvPr/>
        </p:nvSpPr>
        <p:spPr>
          <a:xfrm>
            <a:off x="1360668" y="1715322"/>
            <a:ext cx="864096" cy="252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rtlCol="0" anchor="ctr">
            <a:normAutofit/>
          </a:bodyPr>
          <a:lstStyle/>
          <a:p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6DA337-08E3-FAD7-41FB-E1C27E3D9358}"/>
              </a:ext>
            </a:extLst>
          </p:cNvPr>
          <p:cNvSpPr txBox="1"/>
          <p:nvPr/>
        </p:nvSpPr>
        <p:spPr>
          <a:xfrm>
            <a:off x="1547664" y="4006618"/>
            <a:ext cx="864096" cy="252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rtlCol="0" anchor="ctr">
            <a:normAutofit/>
          </a:bodyPr>
          <a:lstStyle/>
          <a:p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CFAA33-67B1-547C-8458-704CA908A0CE}"/>
              </a:ext>
            </a:extLst>
          </p:cNvPr>
          <p:cNvSpPr txBox="1"/>
          <p:nvPr/>
        </p:nvSpPr>
        <p:spPr>
          <a:xfrm>
            <a:off x="3995936" y="3754618"/>
            <a:ext cx="1584176" cy="252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rtlCol="0" anchor="ctr">
            <a:normAutofit/>
          </a:bodyPr>
          <a:lstStyle/>
          <a:p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6F915B-FD5F-B7DD-8D5F-452CD75FBBAE}"/>
              </a:ext>
            </a:extLst>
          </p:cNvPr>
          <p:cNvSpPr txBox="1"/>
          <p:nvPr/>
        </p:nvSpPr>
        <p:spPr>
          <a:xfrm>
            <a:off x="2987824" y="5758310"/>
            <a:ext cx="1440160" cy="252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rtlCol="0" anchor="ctr">
            <a:normAutofit/>
          </a:bodyPr>
          <a:lstStyle/>
          <a:p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76939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SQL #3</a:t>
            </a:r>
            <a:endParaRPr lang="ko-KR" altLang="en-US" dirty="0"/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47750848"/>
              </p:ext>
            </p:extLst>
          </p:nvPr>
        </p:nvGraphicFramePr>
        <p:xfrm>
          <a:off x="539750" y="1085850"/>
          <a:ext cx="8065252" cy="2052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2023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년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7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~ 7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7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 사이에 주문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(Orders)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받은 도서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(book)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의 이름과 고객 이름 그리고 주문 일자를 </a:t>
                      </a:r>
                      <a:r>
                        <a:rPr lang="ko-KR" altLang="en-US" sz="14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찾으시오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ts val="2000"/>
                        </a:lnSpc>
                      </a:pP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SELECT   </a:t>
                      </a:r>
                      <a:r>
                        <a:rPr lang="en-US" altLang="ko-KR" sz="1400" dirty="0" err="1">
                          <a:solidFill>
                            <a:sysClr val="windowText" lastClr="000000"/>
                          </a:solidFill>
                        </a:rPr>
                        <a:t>B.bookname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,</a:t>
                      </a:r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 C.name, </a:t>
                      </a:r>
                      <a:r>
                        <a:rPr lang="en-US" altLang="ko-KR" sz="1400" baseline="0" dirty="0" err="1">
                          <a:solidFill>
                            <a:sysClr val="windowText" lastClr="000000"/>
                          </a:solidFill>
                        </a:rPr>
                        <a:t>O.orderdate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ts val="2000"/>
                        </a:lnSpc>
                      </a:pP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FROM   </a:t>
                      </a:r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 Orders O </a:t>
                      </a:r>
                      <a:r>
                        <a:rPr lang="en-US" altLang="ko-KR" sz="1400" baseline="0" dirty="0">
                          <a:solidFill>
                            <a:srgbClr val="00B050"/>
                          </a:solidFill>
                        </a:rPr>
                        <a:t>JOIN</a:t>
                      </a:r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 Book B ON </a:t>
                      </a:r>
                      <a:r>
                        <a:rPr lang="en-US" altLang="ko-KR" sz="1400" baseline="0" dirty="0" err="1">
                          <a:solidFill>
                            <a:sysClr val="windowText" lastClr="000000"/>
                          </a:solidFill>
                        </a:rPr>
                        <a:t>O.bookid</a:t>
                      </a:r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 = </a:t>
                      </a:r>
                      <a:r>
                        <a:rPr lang="en-US" altLang="ko-KR" sz="1400" baseline="0" dirty="0" err="1">
                          <a:solidFill>
                            <a:sysClr val="windowText" lastClr="000000"/>
                          </a:solidFill>
                        </a:rPr>
                        <a:t>B.</a:t>
                      </a:r>
                      <a:r>
                        <a:rPr lang="en-US" altLang="ko-KR" sz="1400" baseline="0" err="1">
                          <a:solidFill>
                            <a:sysClr val="windowText" lastClr="000000"/>
                          </a:solidFill>
                        </a:rPr>
                        <a:t>bookid</a:t>
                      </a:r>
                      <a:r>
                        <a:rPr lang="en-US" altLang="ko-KR" sz="1400" baseline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</a:p>
                    <a:p>
                      <a:pPr latinLnBrk="1">
                        <a:lnSpc>
                          <a:spcPts val="2000"/>
                        </a:lnSpc>
                      </a:pPr>
                      <a:r>
                        <a:rPr lang="en-US" altLang="ko-KR" sz="1400" baseline="0">
                          <a:solidFill>
                            <a:srgbClr val="00B050"/>
                          </a:solidFill>
                        </a:rPr>
                        <a:t>            JOIN</a:t>
                      </a:r>
                      <a:r>
                        <a:rPr lang="en-US" altLang="ko-KR" sz="1400" baseline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Customer C ON </a:t>
                      </a:r>
                      <a:r>
                        <a:rPr lang="en-US" altLang="ko-KR" sz="1400" baseline="0" dirty="0" err="1">
                          <a:solidFill>
                            <a:sysClr val="windowText" lastClr="000000"/>
                          </a:solidFill>
                        </a:rPr>
                        <a:t>O.custid</a:t>
                      </a:r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 = </a:t>
                      </a:r>
                      <a:r>
                        <a:rPr lang="en-US" altLang="ko-KR" sz="1400" baseline="0" dirty="0" err="1">
                          <a:solidFill>
                            <a:sysClr val="windowText" lastClr="000000"/>
                          </a:solidFill>
                        </a:rPr>
                        <a:t>C.</a:t>
                      </a:r>
                      <a:r>
                        <a:rPr lang="en-US" altLang="ko-KR" sz="1400" baseline="0" err="1">
                          <a:solidFill>
                            <a:sysClr val="windowText" lastClr="000000"/>
                          </a:solidFill>
                        </a:rPr>
                        <a:t>custid</a:t>
                      </a:r>
                      <a:r>
                        <a:rPr lang="en-US" altLang="ko-KR" sz="1400" baseline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</a:p>
                    <a:p>
                      <a:pPr latinLnBrk="1">
                        <a:lnSpc>
                          <a:spcPts val="2000"/>
                        </a:lnSpc>
                      </a:pPr>
                      <a:r>
                        <a:rPr lang="en-US" altLang="ko-KR" sz="1400" baseline="0">
                          <a:solidFill>
                            <a:sysClr val="windowText" lastClr="000000"/>
                          </a:solidFill>
                        </a:rPr>
                        <a:t>WHERE  O</a:t>
                      </a:r>
                      <a:r>
                        <a:rPr lang="en-US" altLang="ko-KR" sz="1400" baseline="0" dirty="0" err="1">
                          <a:solidFill>
                            <a:sysClr val="windowText" lastClr="000000"/>
                          </a:solidFill>
                        </a:rPr>
                        <a:t>.</a:t>
                      </a:r>
                      <a:r>
                        <a:rPr lang="en-US" altLang="ko-KR" sz="1400" baseline="0" err="1">
                          <a:solidFill>
                            <a:sysClr val="windowText" lastClr="000000"/>
                          </a:solidFill>
                        </a:rPr>
                        <a:t>orderdate</a:t>
                      </a:r>
                      <a:r>
                        <a:rPr lang="en-US" altLang="ko-KR" sz="1400" baseline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 baseline="0">
                          <a:solidFill>
                            <a:srgbClr val="00B050"/>
                          </a:solidFill>
                        </a:rPr>
                        <a:t>BETWEEN </a:t>
                      </a:r>
                      <a:r>
                        <a:rPr lang="en-US" altLang="ko-KR" sz="1400" baseline="0">
                          <a:solidFill>
                            <a:sysClr val="windowText" lastClr="000000"/>
                          </a:solidFill>
                        </a:rPr>
                        <a:t>‘2023-07-04</a:t>
                      </a:r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’ </a:t>
                      </a:r>
                      <a:r>
                        <a:rPr lang="en-US" altLang="ko-KR" sz="1400" baseline="0">
                          <a:solidFill>
                            <a:sysClr val="windowText" lastClr="000000"/>
                          </a:solidFill>
                        </a:rPr>
                        <a:t>AND ‘</a:t>
                      </a:r>
                      <a:r>
                        <a:rPr lang="en-US" altLang="ko-KR" sz="1400" baseline="0">
                          <a:solidFill>
                            <a:srgbClr val="00B050"/>
                          </a:solidFill>
                        </a:rPr>
                        <a:t>2023-07-07</a:t>
                      </a:r>
                      <a:r>
                        <a:rPr lang="en-US" altLang="ko-KR" sz="1400" baseline="0">
                          <a:solidFill>
                            <a:sysClr val="windowText" lastClr="000000"/>
                          </a:solidFill>
                        </a:rPr>
                        <a:t>’;</a:t>
                      </a:r>
                      <a:endParaRPr lang="en-US" altLang="ko-KR" sz="1400" baseline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827584" y="5233392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endParaRPr lang="ko-KR" altLang="en-US" sz="1400" b="1" dirty="0">
              <a:ea typeface="맑은 고딕" panose="020B0503020000020004" pitchFamily="50" charset="-127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graphicFrame>
        <p:nvGraphicFramePr>
          <p:cNvPr id="3" name="내용 개체 틀 3">
            <a:extLst>
              <a:ext uri="{FF2B5EF4-FFF2-40B4-BE49-F238E27FC236}">
                <a16:creationId xmlns:a16="http://schemas.microsoft.com/office/drawing/2014/main" id="{D12A22B5-B4FB-B1E6-DA02-2FF71FA6B3A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75044246"/>
              </p:ext>
            </p:extLst>
          </p:nvPr>
        </p:nvGraphicFramePr>
        <p:xfrm>
          <a:off x="538998" y="3101885"/>
          <a:ext cx="8065074" cy="16410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0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491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고객별로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주문한 도서의 개수와 총 판매액을 구하고 판매액이 높은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순서부터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4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정렬하시오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7261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ts val="2000"/>
                        </a:lnSpc>
                      </a:pP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SELECT   </a:t>
                      </a:r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C.name, COUNT(</a:t>
                      </a:r>
                      <a:r>
                        <a:rPr lang="en-US" altLang="ko-KR" sz="1400" baseline="0" dirty="0" err="1">
                          <a:solidFill>
                            <a:sysClr val="windowText" lastClr="000000"/>
                          </a:solidFill>
                        </a:rPr>
                        <a:t>O.bookid</a:t>
                      </a:r>
                      <a:r>
                        <a:rPr lang="en-US" altLang="ko-KR" sz="1400" baseline="0">
                          <a:solidFill>
                            <a:sysClr val="windowText" lastClr="000000"/>
                          </a:solidFill>
                        </a:rPr>
                        <a:t>), COALESCE(SUM</a:t>
                      </a:r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(</a:t>
                      </a:r>
                      <a:r>
                        <a:rPr lang="en-US" altLang="ko-KR" sz="1400" baseline="0" dirty="0" err="1">
                          <a:solidFill>
                            <a:sysClr val="windowText" lastClr="000000"/>
                          </a:solidFill>
                        </a:rPr>
                        <a:t>O.</a:t>
                      </a:r>
                      <a:r>
                        <a:rPr lang="en-US" altLang="ko-KR" sz="1400" baseline="0" err="1">
                          <a:solidFill>
                            <a:sysClr val="windowText" lastClr="000000"/>
                          </a:solidFill>
                        </a:rPr>
                        <a:t>saleprice</a:t>
                      </a:r>
                      <a:r>
                        <a:rPr lang="en-US" altLang="ko-KR" sz="1400" baseline="0">
                          <a:solidFill>
                            <a:sysClr val="windowText" lastClr="000000"/>
                          </a:solidFill>
                        </a:rPr>
                        <a:t>), 0)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ts val="2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FROM   </a:t>
                      </a:r>
                      <a:r>
                        <a:rPr lang="en-US" altLang="ko-KR" sz="1400" baseline="0">
                          <a:solidFill>
                            <a:sysClr val="windowText" lastClr="000000"/>
                          </a:solidFill>
                        </a:rPr>
                        <a:t> Customer C </a:t>
                      </a:r>
                      <a:r>
                        <a:rPr lang="en-US" altLang="ko-KR" sz="1400" baseline="0">
                          <a:solidFill>
                            <a:srgbClr val="00B050"/>
                          </a:solidFill>
                        </a:rPr>
                        <a:t>LEFT JOIN </a:t>
                      </a:r>
                      <a:r>
                        <a:rPr lang="en-US" altLang="ko-KR" sz="1400" baseline="0">
                          <a:solidFill>
                            <a:sysClr val="windowText" lastClr="000000"/>
                          </a:solidFill>
                        </a:rPr>
                        <a:t>Orders O ON C.custid = O.custid</a:t>
                      </a:r>
                    </a:p>
                    <a:p>
                      <a:pPr latinLnBrk="1">
                        <a:lnSpc>
                          <a:spcPts val="2000"/>
                        </a:lnSpc>
                      </a:pPr>
                      <a:r>
                        <a:rPr lang="en-US" altLang="ko-KR" sz="1400" baseline="0">
                          <a:solidFill>
                            <a:sysClr val="windowText" lastClr="000000"/>
                          </a:solidFill>
                        </a:rPr>
                        <a:t>            </a:t>
                      </a:r>
                      <a:r>
                        <a:rPr lang="en-US" altLang="ko-KR" sz="1400" baseline="0">
                          <a:solidFill>
                            <a:srgbClr val="00B050"/>
                          </a:solidFill>
                        </a:rPr>
                        <a:t>LEFT JOIN </a:t>
                      </a:r>
                      <a:r>
                        <a:rPr lang="en-US" altLang="ko-KR" sz="1400" baseline="0">
                          <a:solidFill>
                            <a:sysClr val="windowText" lastClr="000000"/>
                          </a:solidFill>
                        </a:rPr>
                        <a:t>Book </a:t>
                      </a:r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B ON </a:t>
                      </a:r>
                      <a:r>
                        <a:rPr lang="en-US" altLang="ko-KR" sz="1400" baseline="0" dirty="0" err="1">
                          <a:solidFill>
                            <a:sysClr val="windowText" lastClr="000000"/>
                          </a:solidFill>
                        </a:rPr>
                        <a:t>O.bookid</a:t>
                      </a:r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 = </a:t>
                      </a:r>
                      <a:r>
                        <a:rPr lang="en-US" altLang="ko-KR" sz="1400" baseline="0" dirty="0" err="1">
                          <a:solidFill>
                            <a:sysClr val="windowText" lastClr="000000"/>
                          </a:solidFill>
                        </a:rPr>
                        <a:t>B.</a:t>
                      </a:r>
                      <a:r>
                        <a:rPr lang="en-US" altLang="ko-KR" sz="1400" baseline="0" err="1">
                          <a:solidFill>
                            <a:sysClr val="windowText" lastClr="000000"/>
                          </a:solidFill>
                        </a:rPr>
                        <a:t>bookid</a:t>
                      </a:r>
                      <a:r>
                        <a:rPr lang="en-US" altLang="ko-KR" sz="1400" baseline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endParaRPr lang="en-US" altLang="ko-KR" sz="1400" baseline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ts val="2000"/>
                        </a:lnSpc>
                      </a:pPr>
                      <a:r>
                        <a:rPr lang="en-US" altLang="ko-KR" sz="1400" baseline="0">
                          <a:solidFill>
                            <a:sysClr val="windowText" lastClr="000000"/>
                          </a:solidFill>
                        </a:rPr>
                        <a:t>GROUP  BY </a:t>
                      </a:r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C.name ORDER BY </a:t>
                      </a:r>
                      <a:r>
                        <a:rPr lang="en-US" altLang="ko-KR" sz="1400" baseline="0">
                          <a:solidFill>
                            <a:sysClr val="windowText" lastClr="000000"/>
                          </a:solidFill>
                        </a:rPr>
                        <a:t>SUM(O.saleprice) </a:t>
                      </a:r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DESC</a:t>
                      </a: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내용 개체 틀 3">
            <a:extLst>
              <a:ext uri="{FF2B5EF4-FFF2-40B4-BE49-F238E27FC236}">
                <a16:creationId xmlns:a16="http://schemas.microsoft.com/office/drawing/2014/main" id="{BA054B5B-0D33-8EC7-0A68-56C26F5A5F0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95535101"/>
              </p:ext>
            </p:extLst>
          </p:nvPr>
        </p:nvGraphicFramePr>
        <p:xfrm>
          <a:off x="538998" y="4938680"/>
          <a:ext cx="8065252" cy="1666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위 쿼리에서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총 판매액의 </a:t>
                      </a:r>
                      <a:r>
                        <a:rPr lang="ko-KR" altLang="en-US" sz="14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컬럼명이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'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총 판매액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＇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으로 나오도록 하고 컬럼 번호로 </a:t>
                      </a:r>
                      <a:r>
                        <a:rPr lang="ko-KR" altLang="en-US" sz="14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정렬하시오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ts val="2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SELECT   </a:t>
                      </a:r>
                      <a:r>
                        <a:rPr lang="en-US" altLang="ko-KR" sz="1400" baseline="0">
                          <a:solidFill>
                            <a:sysClr val="windowText" lastClr="000000"/>
                          </a:solidFill>
                        </a:rPr>
                        <a:t>C.name, COUNT(O.bookid), COALESCE(SUM(O.saleprice), 0) [AS] '</a:t>
                      </a:r>
                      <a:r>
                        <a:rPr lang="ko-KR" altLang="en-US" sz="1400" baseline="0">
                          <a:solidFill>
                            <a:sysClr val="windowText" lastClr="000000"/>
                          </a:solidFill>
                        </a:rPr>
                        <a:t>총 판매액</a:t>
                      </a:r>
                      <a:r>
                        <a:rPr lang="en-US" altLang="ko-KR" sz="1400" baseline="0">
                          <a:solidFill>
                            <a:sysClr val="windowText" lastClr="000000"/>
                          </a:solidFill>
                        </a:rPr>
                        <a:t>'</a:t>
                      </a: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ts val="2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FROM   </a:t>
                      </a:r>
                      <a:r>
                        <a:rPr lang="en-US" altLang="ko-KR" sz="1400" baseline="0">
                          <a:solidFill>
                            <a:sysClr val="windowText" lastClr="000000"/>
                          </a:solidFill>
                        </a:rPr>
                        <a:t> Customer C </a:t>
                      </a:r>
                      <a:r>
                        <a:rPr lang="en-US" altLang="ko-KR" sz="1400" baseline="0">
                          <a:solidFill>
                            <a:srgbClr val="00B050"/>
                          </a:solidFill>
                        </a:rPr>
                        <a:t>LEFT JOIN </a:t>
                      </a:r>
                      <a:r>
                        <a:rPr lang="en-US" altLang="ko-KR" sz="1400" baseline="0">
                          <a:solidFill>
                            <a:sysClr val="windowText" lastClr="000000"/>
                          </a:solidFill>
                        </a:rPr>
                        <a:t>Orders O ON C.custid = O.custid</a:t>
                      </a:r>
                    </a:p>
                    <a:p>
                      <a:pPr latinLnBrk="1">
                        <a:lnSpc>
                          <a:spcPts val="2000"/>
                        </a:lnSpc>
                      </a:pPr>
                      <a:r>
                        <a:rPr lang="en-US" altLang="ko-KR" sz="1400" baseline="0">
                          <a:solidFill>
                            <a:sysClr val="windowText" lastClr="000000"/>
                          </a:solidFill>
                        </a:rPr>
                        <a:t>            </a:t>
                      </a:r>
                      <a:r>
                        <a:rPr lang="en-US" altLang="ko-KR" sz="1400" baseline="0">
                          <a:solidFill>
                            <a:srgbClr val="00B050"/>
                          </a:solidFill>
                        </a:rPr>
                        <a:t>LEFT JOIN </a:t>
                      </a:r>
                      <a:r>
                        <a:rPr lang="en-US" altLang="ko-KR" sz="1400" baseline="0">
                          <a:solidFill>
                            <a:sysClr val="windowText" lastClr="000000"/>
                          </a:solidFill>
                        </a:rPr>
                        <a:t>Book B ON O.bookid = B.bookid </a:t>
                      </a:r>
                    </a:p>
                    <a:p>
                      <a:pPr latinLnBrk="1">
                        <a:lnSpc>
                          <a:spcPts val="2000"/>
                        </a:lnSpc>
                      </a:pPr>
                      <a:r>
                        <a:rPr lang="en-US" altLang="ko-KR" sz="1400" baseline="0">
                          <a:solidFill>
                            <a:sysClr val="windowText" lastClr="000000"/>
                          </a:solidFill>
                        </a:rPr>
                        <a:t>GROUP  BY C.name ORDER BY SUM(O.saleprice) DESC</a:t>
                      </a:r>
                      <a:endParaRPr lang="en-US" altLang="ko-KR" sz="1400" baseline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A96328E-6AD2-CC8B-B4DA-FAC6126F25E4}"/>
              </a:ext>
            </a:extLst>
          </p:cNvPr>
          <p:cNvSpPr txBox="1"/>
          <p:nvPr/>
        </p:nvSpPr>
        <p:spPr>
          <a:xfrm>
            <a:off x="4716016" y="2636911"/>
            <a:ext cx="1008112" cy="2474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rtlCol="0" anchor="ctr">
            <a:normAutofit/>
          </a:bodyPr>
          <a:lstStyle/>
          <a:p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F30E7D-5F09-E114-917B-6608961C6ED8}"/>
              </a:ext>
            </a:extLst>
          </p:cNvPr>
          <p:cNvSpPr txBox="1"/>
          <p:nvPr/>
        </p:nvSpPr>
        <p:spPr>
          <a:xfrm>
            <a:off x="2159451" y="2119268"/>
            <a:ext cx="432048" cy="252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rtlCol="0" anchor="ctr">
            <a:normAutofit/>
          </a:bodyPr>
          <a:lstStyle/>
          <a:p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72021B-2AFE-D6BF-9A26-8D722415348A}"/>
              </a:ext>
            </a:extLst>
          </p:cNvPr>
          <p:cNvSpPr txBox="1"/>
          <p:nvPr/>
        </p:nvSpPr>
        <p:spPr>
          <a:xfrm>
            <a:off x="6239686" y="5571988"/>
            <a:ext cx="1224136" cy="252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rtlCol="0" anchor="ctr">
            <a:normAutofit/>
          </a:bodyPr>
          <a:lstStyle/>
          <a:p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BBFA16-1607-A520-D3B6-0F848301C9AC}"/>
              </a:ext>
            </a:extLst>
          </p:cNvPr>
          <p:cNvSpPr txBox="1"/>
          <p:nvPr/>
        </p:nvSpPr>
        <p:spPr>
          <a:xfrm>
            <a:off x="4067944" y="3945395"/>
            <a:ext cx="1872208" cy="2474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rtlCol="0" anchor="ctr">
            <a:normAutofit/>
          </a:bodyPr>
          <a:lstStyle/>
          <a:p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7F1F2F-DFA8-648A-B5CF-D35AE53EF507}"/>
              </a:ext>
            </a:extLst>
          </p:cNvPr>
          <p:cNvSpPr txBox="1"/>
          <p:nvPr/>
        </p:nvSpPr>
        <p:spPr>
          <a:xfrm>
            <a:off x="611560" y="4464285"/>
            <a:ext cx="936104" cy="2474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rtlCol="0" anchor="ctr">
            <a:normAutofit/>
          </a:bodyPr>
          <a:lstStyle/>
          <a:p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F9328C-EB83-CB54-E6E9-93505EEC6D89}"/>
              </a:ext>
            </a:extLst>
          </p:cNvPr>
          <p:cNvSpPr txBox="1"/>
          <p:nvPr/>
        </p:nvSpPr>
        <p:spPr>
          <a:xfrm>
            <a:off x="611560" y="6339316"/>
            <a:ext cx="936104" cy="2474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rtlCol="0" anchor="ctr">
            <a:normAutofit/>
          </a:bodyPr>
          <a:lstStyle/>
          <a:p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52659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SQL #3</a:t>
            </a:r>
            <a:endParaRPr lang="ko-KR" altLang="en-US" dirty="0"/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3569821"/>
              </p:ext>
            </p:extLst>
          </p:nvPr>
        </p:nvGraphicFramePr>
        <p:xfrm>
          <a:off x="539750" y="1085850"/>
          <a:ext cx="8065252" cy="152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괄호의 종류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aseline="0">
                          <a:solidFill>
                            <a:sysClr val="windowText" lastClr="000000"/>
                          </a:solidFill>
                        </a:rPr>
                        <a:t>() </a:t>
                      </a:r>
                      <a:r>
                        <a:rPr lang="ko-KR" altLang="en-US" sz="1400" baseline="0">
                          <a:solidFill>
                            <a:sysClr val="windowText" lastClr="000000"/>
                          </a:solidFill>
                        </a:rPr>
                        <a:t>소괄호 괄호 </a:t>
                      </a:r>
                      <a:r>
                        <a:rPr lang="en-US" altLang="ko-KR" sz="1400" baseline="0">
                          <a:solidFill>
                            <a:sysClr val="windowText" lastClr="000000"/>
                          </a:solidFill>
                        </a:rPr>
                        <a:t>parentheses =&gt; </a:t>
                      </a:r>
                      <a:r>
                        <a:rPr lang="ko-KR" altLang="en-US" sz="1400" baseline="0">
                          <a:solidFill>
                            <a:sysClr val="windowText" lastClr="000000"/>
                          </a:solidFill>
                        </a:rPr>
                        <a:t>함수 호출</a:t>
                      </a:r>
                      <a:endParaRPr lang="en-US" altLang="ko-KR" sz="1400" baseline="0">
                        <a:solidFill>
                          <a:sysClr val="windowText" lastClr="000000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aseline="0">
                          <a:solidFill>
                            <a:sysClr val="windowText" lastClr="000000"/>
                          </a:solidFill>
                        </a:rPr>
                        <a:t>{} </a:t>
                      </a:r>
                      <a:r>
                        <a:rPr lang="ko-KR" altLang="en-US" sz="1400" baseline="0">
                          <a:solidFill>
                            <a:sysClr val="windowText" lastClr="000000"/>
                          </a:solidFill>
                        </a:rPr>
                        <a:t>중괄호 </a:t>
                      </a:r>
                      <a:r>
                        <a:rPr lang="en-US" altLang="ko-KR" sz="1400" baseline="0">
                          <a:solidFill>
                            <a:sysClr val="windowText" lastClr="000000"/>
                          </a:solidFill>
                        </a:rPr>
                        <a:t>braces, curly brackets =&gt; </a:t>
                      </a:r>
                      <a:r>
                        <a:rPr lang="ko-KR" altLang="en-US" sz="1400" baseline="0">
                          <a:solidFill>
                            <a:sysClr val="windowText" lastClr="000000"/>
                          </a:solidFill>
                        </a:rPr>
                        <a:t>함수 블록</a:t>
                      </a:r>
                      <a:r>
                        <a:rPr lang="en-US" altLang="ko-KR" sz="1400" baseline="0">
                          <a:solidFill>
                            <a:sysClr val="windowText" lastClr="000000"/>
                          </a:solidFill>
                        </a:rPr>
                        <a:t>, </a:t>
                      </a:r>
                      <a:r>
                        <a:rPr lang="ko-KR" altLang="en-US" sz="1400" baseline="0">
                          <a:solidFill>
                            <a:sysClr val="windowText" lastClr="000000"/>
                          </a:solidFill>
                        </a:rPr>
                        <a:t>제어문 블록</a:t>
                      </a:r>
                      <a:endParaRPr lang="en-US" altLang="ko-KR" sz="1400" baseline="0">
                        <a:solidFill>
                          <a:sysClr val="windowText" lastClr="000000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aseline="0">
                          <a:solidFill>
                            <a:sysClr val="windowText" lastClr="000000"/>
                          </a:solidFill>
                        </a:rPr>
                        <a:t>[] </a:t>
                      </a:r>
                      <a:r>
                        <a:rPr lang="ko-KR" altLang="en-US" sz="1400" baseline="0">
                          <a:solidFill>
                            <a:sysClr val="windowText" lastClr="000000"/>
                          </a:solidFill>
                        </a:rPr>
                        <a:t>대괄호 </a:t>
                      </a:r>
                      <a:r>
                        <a:rPr lang="en-US" altLang="ko-KR" sz="1400" baseline="0">
                          <a:solidFill>
                            <a:sysClr val="windowText" lastClr="000000"/>
                          </a:solidFill>
                        </a:rPr>
                        <a:t>brackets</a:t>
                      </a:r>
                      <a:r>
                        <a:rPr lang="ko-KR" altLang="en-US" sz="1400" baseline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 baseline="0">
                          <a:solidFill>
                            <a:sysClr val="windowText" lastClr="000000"/>
                          </a:solidFill>
                        </a:rPr>
                        <a:t>=&gt; </a:t>
                      </a:r>
                      <a:r>
                        <a:rPr lang="ko-KR" altLang="en-US" sz="1400" baseline="0">
                          <a:solidFill>
                            <a:sysClr val="windowText" lastClr="000000"/>
                          </a:solidFill>
                        </a:rPr>
                        <a:t>옵션</a:t>
                      </a:r>
                      <a:r>
                        <a:rPr lang="en-US" altLang="ko-KR" sz="1400" baseline="0">
                          <a:solidFill>
                            <a:sysClr val="windowText" lastClr="000000"/>
                          </a:solidFill>
                        </a:rPr>
                        <a:t>, </a:t>
                      </a:r>
                      <a:r>
                        <a:rPr lang="ko-KR" altLang="en-US" sz="1400" baseline="0">
                          <a:solidFill>
                            <a:sysClr val="windowText" lastClr="000000"/>
                          </a:solidFill>
                        </a:rPr>
                        <a:t>있어거나 없거나 실행에 영향을 주지 않음</a:t>
                      </a:r>
                      <a:endParaRPr lang="en-US" altLang="ko-KR" sz="1400" baseline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827584" y="5233392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endParaRPr lang="ko-KR" altLang="en-US" sz="1400" b="1" dirty="0">
              <a:ea typeface="맑은 고딕" panose="020B0503020000020004" pitchFamily="50" charset="-127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graphicFrame>
        <p:nvGraphicFramePr>
          <p:cNvPr id="3" name="내용 개체 틀 3">
            <a:extLst>
              <a:ext uri="{FF2B5EF4-FFF2-40B4-BE49-F238E27FC236}">
                <a16:creationId xmlns:a16="http://schemas.microsoft.com/office/drawing/2014/main" id="{D12A22B5-B4FB-B1E6-DA02-2FF71FA6B3A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22821044"/>
              </p:ext>
            </p:extLst>
          </p:nvPr>
        </p:nvGraphicFramePr>
        <p:xfrm>
          <a:off x="539552" y="2852936"/>
          <a:ext cx="8065074" cy="145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04834">
                  <a:extLst>
                    <a:ext uri="{9D8B030D-6E8A-4147-A177-3AD203B41FA5}">
                      <a16:colId xmlns:a16="http://schemas.microsoft.com/office/drawing/2014/main" val="901196801"/>
                    </a:ext>
                  </a:extLst>
                </a:gridCol>
              </a:tblGrid>
              <a:tr h="344913"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주석의 종류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코드 메모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167">
                <a:tc>
                  <a:txBody>
                    <a:bodyPr/>
                    <a:lstStyle/>
                    <a:p>
                      <a:pPr marL="0" indent="0" latinLnBrk="1">
                        <a:buFont typeface="Wingdings" panose="05000000000000000000" pitchFamily="2" charset="2"/>
                        <a:buNone/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-- 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한줄 주석</a:t>
                      </a: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Wingdings" panose="05000000000000000000" pitchFamily="2" charset="2"/>
                        <a:buNone/>
                      </a:pP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한줄 주석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, -- 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다음에 빈칸이 있어야 함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latinLnBrk="1">
                        <a:buFont typeface="Wingdings" panose="05000000000000000000" pitchFamily="2" charset="2"/>
                        <a:buNone/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# 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한줄 주석</a:t>
                      </a: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Wingdings" panose="05000000000000000000" pitchFamily="2" charset="2"/>
                        <a:buNone/>
                      </a:pP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한줄 주석</a:t>
                      </a: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877691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latinLnBrk="1">
                        <a:buFont typeface="Wingdings" panose="05000000000000000000" pitchFamily="2" charset="2"/>
                        <a:buNone/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/* 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여러줄 주석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*/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Wingdings" panose="05000000000000000000" pitchFamily="2" charset="2"/>
                        <a:buNone/>
                      </a:pP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여러줄 주석</a:t>
                      </a: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86801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72287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영화 상영 시간 데이터베이스</a:t>
            </a:r>
            <a:endParaRPr lang="ko-KR" altLang="en-US" dirty="0"/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1982679"/>
              </p:ext>
            </p:extLst>
          </p:nvPr>
        </p:nvGraphicFramePr>
        <p:xfrm>
          <a:off x="539750" y="1085850"/>
          <a:ext cx="8065252" cy="88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영화 상영 시간 데이터베이스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827584" y="5233392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endParaRPr lang="ko-KR" altLang="en-US" sz="1400" b="1" dirty="0">
              <a:ea typeface="맑은 고딕" panose="020B0503020000020004" pitchFamily="50" charset="-127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6470DBF-3E11-3F14-3E5D-11DEE1705C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571362"/>
            <a:ext cx="6694393" cy="1201182"/>
          </a:xfrm>
          <a:prstGeom prst="rect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EA197D4-7C1A-4464-D173-66D68E12D6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3968" y="2999844"/>
            <a:ext cx="4392488" cy="1552172"/>
          </a:xfrm>
          <a:prstGeom prst="rect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30AE5D4-A7F5-DAE6-2764-5156D5F43C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560" y="2980560"/>
            <a:ext cx="2795421" cy="1524035"/>
          </a:xfrm>
          <a:prstGeom prst="rect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3ADC17DC-2354-70AB-18A3-ED851B20AC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8779" y="4889836"/>
            <a:ext cx="5744377" cy="1514686"/>
          </a:xfrm>
          <a:prstGeom prst="rect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C922F76-3EFA-A934-F10C-41AF3136690C}"/>
              </a:ext>
            </a:extLst>
          </p:cNvPr>
          <p:cNvSpPr txBox="1"/>
          <p:nvPr/>
        </p:nvSpPr>
        <p:spPr>
          <a:xfrm>
            <a:off x="683567" y="1614810"/>
            <a:ext cx="1728193" cy="37403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ko-KR" altLang="en-US" sz="1400">
                <a:latin typeface="나눔고딕" panose="020D0604000000000000" pitchFamily="50" charset="-127"/>
                <a:ea typeface="나눔고딕" panose="020D0604000000000000" pitchFamily="50" charset="-127"/>
              </a:rPr>
              <a:t>극장 테이블 </a:t>
            </a:r>
            <a:r>
              <a:rPr lang="en-US" altLang="ko-KR" sz="1400">
                <a:latin typeface="나눔고딕" panose="020D0604000000000000" pitchFamily="50" charset="-127"/>
                <a:ea typeface="나눔고딕" panose="020D0604000000000000" pitchFamily="50" charset="-127"/>
              </a:rPr>
              <a:t>theater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945B0A-B1BC-B035-FD81-7B89932549B3}"/>
              </a:ext>
            </a:extLst>
          </p:cNvPr>
          <p:cNvSpPr txBox="1"/>
          <p:nvPr/>
        </p:nvSpPr>
        <p:spPr>
          <a:xfrm>
            <a:off x="683568" y="3054970"/>
            <a:ext cx="1944216" cy="37403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ko-KR" altLang="en-US" sz="1400">
                <a:latin typeface="나눔고딕" panose="020D0604000000000000" pitchFamily="50" charset="-127"/>
                <a:ea typeface="나눔고딕" panose="020D0604000000000000" pitchFamily="50" charset="-127"/>
              </a:rPr>
              <a:t>상영관 테이블 </a:t>
            </a:r>
            <a:r>
              <a:rPr lang="en-US" altLang="ko-KR" sz="1400">
                <a:latin typeface="나눔고딕" panose="020D0604000000000000" pitchFamily="50" charset="-127"/>
                <a:ea typeface="나눔고딕" panose="020D0604000000000000" pitchFamily="50" charset="-127"/>
              </a:rPr>
              <a:t>screen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AF1560-1C30-7013-E28D-C83947B2C3DD}"/>
              </a:ext>
            </a:extLst>
          </p:cNvPr>
          <p:cNvSpPr txBox="1"/>
          <p:nvPr/>
        </p:nvSpPr>
        <p:spPr>
          <a:xfrm>
            <a:off x="4321300" y="3055118"/>
            <a:ext cx="1834875" cy="37403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ko-KR" altLang="en-US" sz="1400">
                <a:latin typeface="나눔고딕" panose="020D0604000000000000" pitchFamily="50" charset="-127"/>
                <a:ea typeface="나눔고딕" panose="020D0604000000000000" pitchFamily="50" charset="-127"/>
              </a:rPr>
              <a:t>영화 테이블 </a:t>
            </a:r>
            <a:r>
              <a:rPr lang="en-US" altLang="ko-KR" sz="1400">
                <a:latin typeface="나눔고딕" panose="020D0604000000000000" pitchFamily="50" charset="-127"/>
                <a:ea typeface="나눔고딕" panose="020D0604000000000000" pitchFamily="50" charset="-127"/>
              </a:rPr>
              <a:t>movie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BF3F2E9-6622-448B-4598-22F34E4FE0B5}"/>
              </a:ext>
            </a:extLst>
          </p:cNvPr>
          <p:cNvSpPr txBox="1"/>
          <p:nvPr/>
        </p:nvSpPr>
        <p:spPr>
          <a:xfrm>
            <a:off x="1835695" y="4941168"/>
            <a:ext cx="2304257" cy="37403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ko-KR" altLang="en-US" sz="1400">
                <a:latin typeface="나눔고딕" panose="020D0604000000000000" pitchFamily="50" charset="-127"/>
                <a:ea typeface="나눔고딕" panose="020D0604000000000000" pitchFamily="50" charset="-127"/>
              </a:rPr>
              <a:t>상영시간 테이블 </a:t>
            </a:r>
            <a:r>
              <a:rPr lang="en-US" altLang="ko-KR" sz="1400">
                <a:latin typeface="나눔고딕" panose="020D0604000000000000" pitchFamily="50" charset="-127"/>
                <a:ea typeface="나눔고딕" panose="020D0604000000000000" pitchFamily="50" charset="-127"/>
              </a:rPr>
              <a:t>screenhist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8588EE9-4511-56D2-A0BC-7366B0352760}"/>
              </a:ext>
            </a:extLst>
          </p:cNvPr>
          <p:cNvSpPr txBox="1"/>
          <p:nvPr/>
        </p:nvSpPr>
        <p:spPr>
          <a:xfrm>
            <a:off x="6293364" y="5204516"/>
            <a:ext cx="1080120" cy="37403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ko-KR" altLang="en-US" sz="1400">
                <a:latin typeface="나눔고딕" panose="020D0604000000000000" pitchFamily="50" charset="-127"/>
                <a:ea typeface="나눔고딕" panose="020D0604000000000000" pitchFamily="50" charset="-127"/>
              </a:rPr>
              <a:t>상영시간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F045781-89FE-1E0C-FA81-E4D3B1DD7445}"/>
              </a:ext>
            </a:extLst>
          </p:cNvPr>
          <p:cNvSpPr txBox="1"/>
          <p:nvPr/>
        </p:nvSpPr>
        <p:spPr>
          <a:xfrm>
            <a:off x="4321301" y="5190393"/>
            <a:ext cx="1080120" cy="37403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ko-KR" altLang="en-US" sz="1400">
                <a:latin typeface="나눔고딕" panose="020D0604000000000000" pitchFamily="50" charset="-127"/>
                <a:ea typeface="나눔고딕" panose="020D0604000000000000" pitchFamily="50" charset="-127"/>
              </a:rPr>
              <a:t>예약좌석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14C334F-8FB3-DAB1-5811-2F49CBCEB9B6}"/>
              </a:ext>
            </a:extLst>
          </p:cNvPr>
          <p:cNvSpPr txBox="1"/>
          <p:nvPr/>
        </p:nvSpPr>
        <p:spPr>
          <a:xfrm>
            <a:off x="4427984" y="1876976"/>
            <a:ext cx="1080120" cy="37403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ko-KR" altLang="en-US" sz="1400">
                <a:latin typeface="나눔고딕" panose="020D0604000000000000" pitchFamily="50" charset="-127"/>
                <a:ea typeface="나눔고딕" panose="020D0604000000000000" pitchFamily="50" charset="-127"/>
              </a:rPr>
              <a:t>상영관 수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B8436B7-AC02-14C5-0792-6F289979B23D}"/>
              </a:ext>
            </a:extLst>
          </p:cNvPr>
          <p:cNvSpPr txBox="1"/>
          <p:nvPr/>
        </p:nvSpPr>
        <p:spPr>
          <a:xfrm>
            <a:off x="7633668" y="3284984"/>
            <a:ext cx="1080120" cy="37403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ko-KR" altLang="en-US" sz="1400">
                <a:latin typeface="나눔고딕" panose="020D0604000000000000" pitchFamily="50" charset="-127"/>
                <a:ea typeface="나눔고딕" panose="020D0604000000000000" pitchFamily="50" charset="-127"/>
              </a:rPr>
              <a:t>개봉일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670264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내용 개체 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5387009"/>
              </p:ext>
            </p:extLst>
          </p:nvPr>
        </p:nvGraphicFramePr>
        <p:xfrm>
          <a:off x="539750" y="1085850"/>
          <a:ext cx="8065252" cy="10470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778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영화 상영 시간 데이터베이스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9226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6" name="그림 5">
            <a:extLst>
              <a:ext uri="{FF2B5EF4-FFF2-40B4-BE49-F238E27FC236}">
                <a16:creationId xmlns:a16="http://schemas.microsoft.com/office/drawing/2014/main" id="{36470DBF-3E11-3F14-3E5D-11DEE1705C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571362"/>
            <a:ext cx="6694393" cy="1201182"/>
          </a:xfrm>
          <a:prstGeom prst="rect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EA197D4-7C1A-4464-D173-66D68E12D6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3968" y="2999844"/>
            <a:ext cx="4392488" cy="1552172"/>
          </a:xfrm>
          <a:prstGeom prst="rect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30AE5D4-A7F5-DAE6-2764-5156D5F43C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560" y="2980560"/>
            <a:ext cx="2795421" cy="1524035"/>
          </a:xfrm>
          <a:prstGeom prst="rect">
            <a:avLst/>
          </a:prstGeom>
          <a:ln w="12700">
            <a:solidFill>
              <a:schemeClr val="accent1">
                <a:shade val="1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3ADC17DC-2354-70AB-18A3-ED851B20AC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9811" y="4917598"/>
            <a:ext cx="5744377" cy="1514686"/>
          </a:xfrm>
          <a:prstGeom prst="rect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영화 상영 시간 데이터베이스</a:t>
            </a:r>
            <a:endParaRPr lang="ko-KR" alt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827584" y="5233392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endParaRPr lang="ko-KR" altLang="en-US" sz="1400" b="1" dirty="0">
              <a:ea typeface="맑은 고딕" panose="020B0503020000020004" pitchFamily="50" charset="-127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29879C92-93EE-5B54-6190-594583CBDD60}"/>
              </a:ext>
            </a:extLst>
          </p:cNvPr>
          <p:cNvCxnSpPr>
            <a:cxnSpLocks/>
            <a:stCxn id="3" idx="0"/>
            <a:endCxn id="12" idx="2"/>
          </p:cNvCxnSpPr>
          <p:nvPr/>
        </p:nvCxnSpPr>
        <p:spPr>
          <a:xfrm rot="16200000" flipV="1">
            <a:off x="990249" y="3154506"/>
            <a:ext cx="1676629" cy="1849556"/>
          </a:xfrm>
          <a:prstGeom prst="bentConnector3">
            <a:avLst/>
          </a:prstGeom>
          <a:ln w="22225">
            <a:headEnd type="diamon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연결선: 꺾임 15">
            <a:extLst>
              <a:ext uri="{FF2B5EF4-FFF2-40B4-BE49-F238E27FC236}">
                <a16:creationId xmlns:a16="http://schemas.microsoft.com/office/drawing/2014/main" id="{8A7EA821-DE8C-7C98-38FB-2310F9998109}"/>
              </a:ext>
            </a:extLst>
          </p:cNvPr>
          <p:cNvCxnSpPr>
            <a:cxnSpLocks/>
            <a:stCxn id="10" idx="0"/>
            <a:endCxn id="14" idx="2"/>
          </p:cNvCxnSpPr>
          <p:nvPr/>
        </p:nvCxnSpPr>
        <p:spPr>
          <a:xfrm rot="16200000" flipV="1">
            <a:off x="638943" y="2048035"/>
            <a:ext cx="1097362" cy="720080"/>
          </a:xfrm>
          <a:prstGeom prst="bentConnector3">
            <a:avLst>
              <a:gd name="adj1" fmla="val 50000"/>
            </a:avLst>
          </a:prstGeom>
          <a:ln w="22225">
            <a:headEnd type="diamon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E4A133AE-CFF9-9278-462B-25879876C055}"/>
              </a:ext>
            </a:extLst>
          </p:cNvPr>
          <p:cNvCxnSpPr>
            <a:cxnSpLocks/>
            <a:stCxn id="5" idx="0"/>
            <a:endCxn id="23" idx="2"/>
          </p:cNvCxnSpPr>
          <p:nvPr/>
        </p:nvCxnSpPr>
        <p:spPr>
          <a:xfrm rot="5400000" flipH="1" flipV="1">
            <a:off x="3297436" y="3690031"/>
            <a:ext cx="1648548" cy="784598"/>
          </a:xfrm>
          <a:prstGeom prst="bentConnector3">
            <a:avLst/>
          </a:prstGeom>
          <a:ln w="22225">
            <a:headEnd type="diamon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44B16834-BE52-3CB9-1D88-F0D437EE6D6C}"/>
              </a:ext>
            </a:extLst>
          </p:cNvPr>
          <p:cNvSpPr/>
          <p:nvPr/>
        </p:nvSpPr>
        <p:spPr>
          <a:xfrm>
            <a:off x="2537317" y="4917598"/>
            <a:ext cx="432048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D63CA8A-0BF4-404F-9AFB-3E029CBC1946}"/>
              </a:ext>
            </a:extLst>
          </p:cNvPr>
          <p:cNvSpPr/>
          <p:nvPr/>
        </p:nvSpPr>
        <p:spPr>
          <a:xfrm>
            <a:off x="3513387" y="4906604"/>
            <a:ext cx="432048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AA84C77-22B1-39FE-3D29-763607C710B3}"/>
              </a:ext>
            </a:extLst>
          </p:cNvPr>
          <p:cNvSpPr/>
          <p:nvPr/>
        </p:nvSpPr>
        <p:spPr>
          <a:xfrm>
            <a:off x="1331640" y="2956756"/>
            <a:ext cx="432048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70BCAC8-C1AD-1B18-0A98-FBE50FC9C787}"/>
              </a:ext>
            </a:extLst>
          </p:cNvPr>
          <p:cNvSpPr/>
          <p:nvPr/>
        </p:nvSpPr>
        <p:spPr>
          <a:xfrm>
            <a:off x="687761" y="2952937"/>
            <a:ext cx="432048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D665816-EDA7-5C44-A320-F8A644AE2B74}"/>
              </a:ext>
            </a:extLst>
          </p:cNvPr>
          <p:cNvSpPr/>
          <p:nvPr/>
        </p:nvSpPr>
        <p:spPr>
          <a:xfrm>
            <a:off x="611560" y="1571362"/>
            <a:ext cx="432048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2E317B4-7506-F59C-F202-1A874D2058DC}"/>
              </a:ext>
            </a:extLst>
          </p:cNvPr>
          <p:cNvSpPr/>
          <p:nvPr/>
        </p:nvSpPr>
        <p:spPr>
          <a:xfrm>
            <a:off x="4297985" y="2970024"/>
            <a:ext cx="432048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63770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SQL #1</a:t>
            </a:r>
            <a:endParaRPr lang="ko-KR" altLang="en-US" dirty="0"/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81566582"/>
              </p:ext>
            </p:extLst>
          </p:nvPr>
        </p:nvGraphicFramePr>
        <p:xfrm>
          <a:off x="539750" y="1085850"/>
          <a:ext cx="8065252" cy="15196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월달에 개봉한 영화를 찾으시오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ts val="2000"/>
                        </a:lnSpc>
                      </a:pP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SELECT   *</a:t>
                      </a:r>
                    </a:p>
                    <a:p>
                      <a:pPr latinLnBrk="1">
                        <a:lnSpc>
                          <a:spcPts val="2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FROM   </a:t>
                      </a:r>
                      <a:r>
                        <a:rPr lang="en-US" altLang="ko-KR" sz="1400" baseline="0">
                          <a:solidFill>
                            <a:sysClr val="windowText" lastClr="000000"/>
                          </a:solidFill>
                        </a:rPr>
                        <a:t> Movie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ts val="2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WHERE  </a:t>
                      </a:r>
                      <a:r>
                        <a:rPr lang="en-US" altLang="ko-KR" sz="1400" baseline="0">
                          <a:solidFill>
                            <a:sysClr val="windowText" lastClr="000000"/>
                          </a:solidFill>
                        </a:rPr>
                        <a:t> release_date &gt;= '2024-04-01' and release_date &lt; '2024-05-01'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827584" y="5233392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endParaRPr lang="ko-KR" altLang="en-US" sz="1400" b="1" dirty="0">
              <a:ea typeface="맑은 고딕" panose="020B0503020000020004" pitchFamily="50" charset="-127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graphicFrame>
        <p:nvGraphicFramePr>
          <p:cNvPr id="3" name="내용 개체 틀 3">
            <a:extLst>
              <a:ext uri="{FF2B5EF4-FFF2-40B4-BE49-F238E27FC236}">
                <a16:creationId xmlns:a16="http://schemas.microsoft.com/office/drawing/2014/main" id="{D12A22B5-B4FB-B1E6-DA02-2FF71FA6B3A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93267324"/>
              </p:ext>
            </p:extLst>
          </p:nvPr>
        </p:nvGraphicFramePr>
        <p:xfrm>
          <a:off x="539374" y="2852936"/>
          <a:ext cx="8065252" cy="15196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극장별 운영중인 상영관 갯수를 찾으시오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.(screen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테이블에 등록된 상영관은 운영중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ts val="2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  <a:latin typeface="+mn-lt"/>
                        </a:rPr>
                        <a:t>SELECT t.name, count(s.id) AS '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  <a:latin typeface="+mn-lt"/>
                        </a:rPr>
                        <a:t>상영관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  <a:latin typeface="+mn-lt"/>
                        </a:rPr>
                        <a:t>' </a:t>
                      </a:r>
                    </a:p>
                    <a:p>
                      <a:pPr latinLnBrk="1">
                        <a:lnSpc>
                          <a:spcPts val="2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  <a:latin typeface="+mn-lt"/>
                        </a:rPr>
                        <a:t>FROM theater AS t  JOIN  screen AS s ON t.id = s.theater_id </a:t>
                      </a:r>
                    </a:p>
                    <a:p>
                      <a:pPr latinLnBrk="1">
                        <a:lnSpc>
                          <a:spcPts val="2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  <a:latin typeface="+mn-lt"/>
                        </a:rPr>
                        <a:t>GROUP BY s.theater_id;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524DEAC-3519-AAC8-B008-CD6F5BE99822}"/>
              </a:ext>
            </a:extLst>
          </p:cNvPr>
          <p:cNvSpPr txBox="1"/>
          <p:nvPr/>
        </p:nvSpPr>
        <p:spPr>
          <a:xfrm>
            <a:off x="2836551" y="2351203"/>
            <a:ext cx="864096" cy="252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rtlCol="0" anchor="ctr">
            <a:normAutofit/>
          </a:bodyPr>
          <a:lstStyle/>
          <a:p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B357FF-67E0-589B-690A-9A6B4D275841}"/>
              </a:ext>
            </a:extLst>
          </p:cNvPr>
          <p:cNvSpPr txBox="1"/>
          <p:nvPr/>
        </p:nvSpPr>
        <p:spPr>
          <a:xfrm>
            <a:off x="4211960" y="2354728"/>
            <a:ext cx="1008112" cy="252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rtlCol="0" anchor="ctr">
            <a:normAutofit/>
          </a:bodyPr>
          <a:lstStyle/>
          <a:p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E67340-BC96-585D-2FD5-33126A8F7C69}"/>
              </a:ext>
            </a:extLst>
          </p:cNvPr>
          <p:cNvSpPr txBox="1"/>
          <p:nvPr/>
        </p:nvSpPr>
        <p:spPr>
          <a:xfrm>
            <a:off x="611560" y="4098534"/>
            <a:ext cx="864096" cy="252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rtlCol="0" anchor="ctr">
            <a:normAutofit/>
          </a:bodyPr>
          <a:lstStyle/>
          <a:p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16FB13-B643-C606-308A-21E7724ED24B}"/>
              </a:ext>
            </a:extLst>
          </p:cNvPr>
          <p:cNvSpPr txBox="1"/>
          <p:nvPr/>
        </p:nvSpPr>
        <p:spPr>
          <a:xfrm>
            <a:off x="2267744" y="3846534"/>
            <a:ext cx="432048" cy="252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rtlCol="0" anchor="ctr">
            <a:normAutofit/>
          </a:bodyPr>
          <a:lstStyle/>
          <a:p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675801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SQL #2</a:t>
            </a:r>
            <a:endParaRPr lang="ko-KR" alt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827584" y="5233392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endParaRPr lang="ko-KR" altLang="en-US" sz="1400" b="1" dirty="0">
              <a:ea typeface="맑은 고딕" panose="020B0503020000020004" pitchFamily="50" charset="-127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graphicFrame>
        <p:nvGraphicFramePr>
          <p:cNvPr id="5" name="내용 개체 틀 3">
            <a:extLst>
              <a:ext uri="{FF2B5EF4-FFF2-40B4-BE49-F238E27FC236}">
                <a16:creationId xmlns:a16="http://schemas.microsoft.com/office/drawing/2014/main" id="{BA054B5B-0D33-8EC7-0A68-56C26F5A5F0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92130572"/>
              </p:ext>
            </p:extLst>
          </p:nvPr>
        </p:nvGraphicFramePr>
        <p:xfrm>
          <a:off x="539374" y="1055845"/>
          <a:ext cx="8065252" cy="17075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상영 시간표에 극장명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상영관명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영화 이름을 표시하시오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ts val="2000"/>
                        </a:lnSpc>
                      </a:pP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상영시간 테이블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(Screenhist) 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와 그외의 테이블의 조인</a:t>
                      </a: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ts val="2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SELECT Theater.name, Screen.name, Movie.title, Screenhist.screening_date</a:t>
                      </a:r>
                    </a:p>
                    <a:p>
                      <a:pPr latinLnBrk="1">
                        <a:lnSpc>
                          <a:spcPts val="2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FROM Screenhist JOIN Screen ON Screenhist.screen_id = Screen.id</a:t>
                      </a:r>
                    </a:p>
                    <a:p>
                      <a:pPr latinLnBrk="1">
                        <a:lnSpc>
                          <a:spcPts val="2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JOIN Theater ON Screen.theater_id = Theater.id </a:t>
                      </a:r>
                    </a:p>
                    <a:p>
                      <a:pPr latinLnBrk="1">
                        <a:lnSpc>
                          <a:spcPts val="2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JOIN Movie ON Screenhist.movie_id = Movie.id;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5B357FF-67E0-589B-690A-9A6B4D275841}"/>
              </a:ext>
            </a:extLst>
          </p:cNvPr>
          <p:cNvSpPr txBox="1"/>
          <p:nvPr/>
        </p:nvSpPr>
        <p:spPr>
          <a:xfrm>
            <a:off x="2057471" y="2231706"/>
            <a:ext cx="2520280" cy="252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rtlCol="0" anchor="ctr">
            <a:normAutofit/>
          </a:bodyPr>
          <a:lstStyle/>
          <a:p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2A2DE7-45B8-88B5-B120-732C0DE25E07}"/>
              </a:ext>
            </a:extLst>
          </p:cNvPr>
          <p:cNvSpPr txBox="1"/>
          <p:nvPr/>
        </p:nvSpPr>
        <p:spPr>
          <a:xfrm>
            <a:off x="3563888" y="1701676"/>
            <a:ext cx="3024336" cy="252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rtlCol="0" anchor="ctr">
            <a:normAutofit/>
          </a:bodyPr>
          <a:lstStyle/>
          <a:p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104E59E4-C7EC-219A-0E62-EA2B5FA192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2996952"/>
            <a:ext cx="6018326" cy="3384376"/>
          </a:xfrm>
          <a:prstGeom prst="rect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236606E-3712-6EE3-1185-AA8F24DD6DA4}"/>
              </a:ext>
            </a:extLst>
          </p:cNvPr>
          <p:cNvSpPr txBox="1"/>
          <p:nvPr/>
        </p:nvSpPr>
        <p:spPr>
          <a:xfrm>
            <a:off x="762833" y="5977657"/>
            <a:ext cx="6480720" cy="389157"/>
          </a:xfrm>
          <a:prstGeom prst="rect">
            <a:avLst/>
          </a:prstGeom>
          <a:solidFill>
            <a:schemeClr val="bg1"/>
          </a:solidFill>
        </p:spPr>
        <p:txBody>
          <a:bodyPr vert="eaVert" wrap="square" lIns="91440" tIns="45720" rIns="91440" bIns="45720" rtlCol="0" anchor="ctr">
            <a:noAutofit/>
          </a:bodyPr>
          <a:lstStyle/>
          <a:p>
            <a:endParaRPr lang="en-US" altLang="ko-KR" sz="3600"/>
          </a:p>
          <a:p>
            <a:pPr algn="ctr"/>
            <a:r>
              <a:rPr lang="en-US" altLang="ko-KR" sz="3600"/>
              <a:t>...</a:t>
            </a:r>
            <a:endParaRPr lang="ko-KR" altLang="en-US" sz="36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335ADAC-9E8C-6CAB-8403-31F52836E766}"/>
              </a:ext>
            </a:extLst>
          </p:cNvPr>
          <p:cNvSpPr txBox="1"/>
          <p:nvPr/>
        </p:nvSpPr>
        <p:spPr>
          <a:xfrm>
            <a:off x="611560" y="2496367"/>
            <a:ext cx="1008112" cy="252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rtlCol="0" anchor="ctr">
            <a:normAutofit/>
          </a:bodyPr>
          <a:lstStyle/>
          <a:p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371132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SQL #3</a:t>
            </a:r>
            <a:endParaRPr lang="ko-KR" alt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827584" y="5233392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endParaRPr lang="ko-KR" altLang="en-US" sz="1400" b="1" dirty="0">
              <a:ea typeface="맑은 고딕" panose="020B0503020000020004" pitchFamily="50" charset="-127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graphicFrame>
        <p:nvGraphicFramePr>
          <p:cNvPr id="5" name="내용 개체 틀 3">
            <a:extLst>
              <a:ext uri="{FF2B5EF4-FFF2-40B4-BE49-F238E27FC236}">
                <a16:creationId xmlns:a16="http://schemas.microsoft.com/office/drawing/2014/main" id="{BA054B5B-0D33-8EC7-0A68-56C26F5A5F0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83894779"/>
              </p:ext>
            </p:extLst>
          </p:nvPr>
        </p:nvGraphicFramePr>
        <p:xfrm>
          <a:off x="539374" y="1055845"/>
          <a:ext cx="8065252" cy="11995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아직 상영 계획이 없는 영화를 찾으시오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(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상영시간표에 없는 영화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ts val="2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SELECT M.*</a:t>
                      </a:r>
                    </a:p>
                    <a:p>
                      <a:pPr latinLnBrk="1">
                        <a:lnSpc>
                          <a:spcPts val="2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FROM Movie AS M LEFT JOIN Screenhist AS SH ON M.id = SH.movie_id</a:t>
                      </a:r>
                    </a:p>
                    <a:p>
                      <a:pPr latinLnBrk="1">
                        <a:lnSpc>
                          <a:spcPts val="2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WHERE SH.movie_id is NULL;</a:t>
                      </a: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5B357FF-67E0-589B-690A-9A6B4D275841}"/>
              </a:ext>
            </a:extLst>
          </p:cNvPr>
          <p:cNvSpPr txBox="1"/>
          <p:nvPr/>
        </p:nvSpPr>
        <p:spPr>
          <a:xfrm>
            <a:off x="2235650" y="1715069"/>
            <a:ext cx="4672699" cy="252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rtlCol="0" anchor="ctr">
            <a:normAutofit/>
          </a:bodyPr>
          <a:lstStyle/>
          <a:p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AC321F5-B56D-8A26-BCB9-139FC7CCB9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1" y="2314419"/>
            <a:ext cx="3442338" cy="600229"/>
          </a:xfrm>
          <a:prstGeom prst="rect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6" name="내용 개체 틀 3">
            <a:extLst>
              <a:ext uri="{FF2B5EF4-FFF2-40B4-BE49-F238E27FC236}">
                <a16:creationId xmlns:a16="http://schemas.microsoft.com/office/drawing/2014/main" id="{0E8A61E9-9BEF-2554-4235-B933CBEA9A3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79749729"/>
              </p:ext>
            </p:extLst>
          </p:nvPr>
        </p:nvGraphicFramePr>
        <p:xfrm>
          <a:off x="539373" y="3140968"/>
          <a:ext cx="8065252" cy="27235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19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일에 파묘를 상영하는 극장 이름을 찾으시오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ko-KR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SELECT DISTINCT T.name, S.name </a:t>
                      </a:r>
                    </a:p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ko-KR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FROM ScreenHist AS SH </a:t>
                      </a:r>
                    </a:p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ko-KR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    JOIN Screen AS S ON SH.screen_id = S.id </a:t>
                      </a:r>
                    </a:p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ko-KR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    JOIN Theater AS T ON S.theater_id = T.id</a:t>
                      </a:r>
                    </a:p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ko-KR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    JOIN movie AS M ON SH.movie_id = M.id</a:t>
                      </a:r>
                    </a:p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ko-KR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WHERE  M.title = '</a:t>
                      </a:r>
                      <a:r>
                        <a:rPr lang="ko-KR" altLang="en-US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파묘</a:t>
                      </a:r>
                      <a:r>
                        <a:rPr lang="en-US" altLang="ko-KR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'</a:t>
                      </a:r>
                      <a:r>
                        <a:rPr lang="ko-KR" altLang="en-US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lang="en-US" altLang="ko-KR" sz="1400" b="0" i="0" u="none" strike="noStrike" kern="1200" baseline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ko-KR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          AND screening_date &gt;= '2024-04-19 00:00:00' </a:t>
                      </a:r>
                    </a:p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ko-KR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          AND screening_date &lt; '2024-04-20 00:00:00';</a:t>
                      </a:r>
                    </a:p>
                    <a:p>
                      <a:pPr latinLnBrk="1">
                        <a:lnSpc>
                          <a:spcPts val="2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47B3ED7-7FB0-F593-3A12-95D0860E202F}"/>
              </a:ext>
            </a:extLst>
          </p:cNvPr>
          <p:cNvSpPr txBox="1"/>
          <p:nvPr/>
        </p:nvSpPr>
        <p:spPr>
          <a:xfrm>
            <a:off x="2123816" y="4819020"/>
            <a:ext cx="504056" cy="252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rtlCol="0" anchor="ctr">
            <a:normAutofit/>
          </a:bodyPr>
          <a:lstStyle/>
          <a:p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15D3C4-4CB0-B9AA-B75B-5A4D1D2F8E9F}"/>
              </a:ext>
            </a:extLst>
          </p:cNvPr>
          <p:cNvSpPr txBox="1"/>
          <p:nvPr/>
        </p:nvSpPr>
        <p:spPr>
          <a:xfrm>
            <a:off x="1755599" y="5082222"/>
            <a:ext cx="1224315" cy="252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rtlCol="0" anchor="ctr">
            <a:normAutofit/>
          </a:bodyPr>
          <a:lstStyle/>
          <a:p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685EE7-1146-CF7E-0F8D-746FCB0D86F6}"/>
              </a:ext>
            </a:extLst>
          </p:cNvPr>
          <p:cNvSpPr txBox="1"/>
          <p:nvPr/>
        </p:nvSpPr>
        <p:spPr>
          <a:xfrm>
            <a:off x="1767740" y="5370594"/>
            <a:ext cx="1216207" cy="252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rtlCol="0" anchor="ctr">
            <a:normAutofit/>
          </a:bodyPr>
          <a:lstStyle/>
          <a:p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57D29A5E-5A5B-C9DD-6FC0-7546634638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4128" y="4572010"/>
            <a:ext cx="2410161" cy="619211"/>
          </a:xfrm>
          <a:prstGeom prst="rect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27908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SQL #4</a:t>
            </a:r>
            <a:endParaRPr lang="ko-KR" alt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827584" y="5233392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endParaRPr lang="ko-KR" altLang="en-US" sz="1400" b="1" dirty="0">
              <a:ea typeface="맑은 고딕" panose="020B0503020000020004" pitchFamily="50" charset="-127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graphicFrame>
        <p:nvGraphicFramePr>
          <p:cNvPr id="5" name="내용 개체 틀 3">
            <a:extLst>
              <a:ext uri="{FF2B5EF4-FFF2-40B4-BE49-F238E27FC236}">
                <a16:creationId xmlns:a16="http://schemas.microsoft.com/office/drawing/2014/main" id="{BA054B5B-0D33-8EC7-0A68-56C26F5A5F0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23880627"/>
              </p:ext>
            </p:extLst>
          </p:nvPr>
        </p:nvGraphicFramePr>
        <p:xfrm>
          <a:off x="539374" y="1055845"/>
          <a:ext cx="8065252" cy="27235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24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일에 범죄도시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상영 시간표를 구하시오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ko-KR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SELECT T.name,</a:t>
                      </a:r>
                      <a:r>
                        <a:rPr lang="ko-KR" altLang="en-US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S.name,</a:t>
                      </a:r>
                      <a:r>
                        <a:rPr lang="ko-KR" altLang="en-US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M.title,</a:t>
                      </a:r>
                      <a:r>
                        <a:rPr lang="ko-KR" altLang="en-US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SH.screening_date </a:t>
                      </a:r>
                    </a:p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ko-KR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FROM ScreenHist AS SH </a:t>
                      </a:r>
                    </a:p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ko-KR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    JOIN Screen AS S ON SH.screen_id = S.id </a:t>
                      </a:r>
                    </a:p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ko-KR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    JOIN Theater AS T ON S.theater_id = T.id</a:t>
                      </a:r>
                    </a:p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ko-KR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    JOIN movie AS M ON SH.movie_id = M.id</a:t>
                      </a:r>
                    </a:p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ko-KR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WHERE  M.title = '</a:t>
                      </a:r>
                      <a:r>
                        <a:rPr lang="ko-KR" altLang="en-US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범죄도시</a:t>
                      </a:r>
                      <a:r>
                        <a:rPr lang="en-US" altLang="ko-KR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4'</a:t>
                      </a:r>
                      <a:r>
                        <a:rPr lang="ko-KR" altLang="en-US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lang="en-US" altLang="ko-KR" sz="1400" b="0" i="0" u="none" strike="noStrike" kern="1200" baseline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ko-KR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          AND screening_date &gt;= '2024-04-24 00:00:00' </a:t>
                      </a:r>
                    </a:p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ko-KR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          AND screening_date &lt; '2024-04-25 00:00:00';</a:t>
                      </a:r>
                    </a:p>
                    <a:p>
                      <a:pPr latinLnBrk="1">
                        <a:lnSpc>
                          <a:spcPts val="2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5B357FF-67E0-589B-690A-9A6B4D275841}"/>
              </a:ext>
            </a:extLst>
          </p:cNvPr>
          <p:cNvSpPr txBox="1"/>
          <p:nvPr/>
        </p:nvSpPr>
        <p:spPr>
          <a:xfrm>
            <a:off x="1331641" y="2734920"/>
            <a:ext cx="1728192" cy="252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rtlCol="0" anchor="ctr">
            <a:normAutofit/>
          </a:bodyPr>
          <a:lstStyle/>
          <a:p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15D3C4-4CB0-B9AA-B75B-5A4D1D2F8E9F}"/>
              </a:ext>
            </a:extLst>
          </p:cNvPr>
          <p:cNvSpPr txBox="1"/>
          <p:nvPr/>
        </p:nvSpPr>
        <p:spPr>
          <a:xfrm>
            <a:off x="2627785" y="1463306"/>
            <a:ext cx="2088231" cy="252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rtlCol="0" anchor="ctr">
            <a:normAutofit/>
          </a:bodyPr>
          <a:lstStyle/>
          <a:p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6208A2C1-D1AD-BB10-9BBF-567DFED72B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3861048"/>
            <a:ext cx="6306430" cy="2314898"/>
          </a:xfrm>
          <a:prstGeom prst="rect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609151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SQL #5</a:t>
            </a:r>
            <a:endParaRPr lang="ko-KR" alt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827584" y="5233392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endParaRPr lang="ko-KR" altLang="en-US" sz="1400" b="1" dirty="0">
              <a:ea typeface="맑은 고딕" panose="020B0503020000020004" pitchFamily="50" charset="-127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graphicFrame>
        <p:nvGraphicFramePr>
          <p:cNvPr id="5" name="내용 개체 틀 3">
            <a:extLst>
              <a:ext uri="{FF2B5EF4-FFF2-40B4-BE49-F238E27FC236}">
                <a16:creationId xmlns:a16="http://schemas.microsoft.com/office/drawing/2014/main" id="{BA054B5B-0D33-8EC7-0A68-56C26F5A5F0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92598377"/>
              </p:ext>
            </p:extLst>
          </p:nvPr>
        </p:nvGraphicFramePr>
        <p:xfrm>
          <a:off x="539374" y="1055845"/>
          <a:ext cx="8065252" cy="27235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24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일에 범죄도시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를 상영하는 상영관를 구하시오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ko-KR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SELECT DISTINCT T.name,</a:t>
                      </a:r>
                      <a:r>
                        <a:rPr lang="ko-KR" altLang="en-US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S.name,</a:t>
                      </a:r>
                      <a:r>
                        <a:rPr lang="ko-KR" altLang="en-US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M.title</a:t>
                      </a:r>
                    </a:p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ko-KR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FROM ScreenHist AS SH </a:t>
                      </a:r>
                    </a:p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ko-KR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    JOIN Screen AS S ON SH.screen_id = S.id </a:t>
                      </a:r>
                    </a:p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ko-KR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    JOIN Theater AS T ON S.theater_id = T.id</a:t>
                      </a:r>
                    </a:p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ko-KR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    JOIN movie AS M ON SH.movie_id = M.id</a:t>
                      </a:r>
                    </a:p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ko-KR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WHERE  M.title = '</a:t>
                      </a:r>
                      <a:r>
                        <a:rPr lang="ko-KR" altLang="en-US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범죄도시</a:t>
                      </a:r>
                      <a:r>
                        <a:rPr lang="en-US" altLang="ko-KR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4'</a:t>
                      </a:r>
                      <a:r>
                        <a:rPr lang="ko-KR" altLang="en-US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lang="en-US" altLang="ko-KR" sz="1400" b="0" i="0" u="none" strike="noStrike" kern="1200" baseline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ko-KR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          AND screening_date &gt;= '2024-04-24 00:00:00' </a:t>
                      </a:r>
                    </a:p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ko-KR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          AND screening_date &lt; '2024-04-25 00:00:00';</a:t>
                      </a:r>
                    </a:p>
                    <a:p>
                      <a:pPr latinLnBrk="1">
                        <a:lnSpc>
                          <a:spcPts val="2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5B357FF-67E0-589B-690A-9A6B4D275841}"/>
              </a:ext>
            </a:extLst>
          </p:cNvPr>
          <p:cNvSpPr txBox="1"/>
          <p:nvPr/>
        </p:nvSpPr>
        <p:spPr>
          <a:xfrm>
            <a:off x="1331641" y="2734920"/>
            <a:ext cx="1728192" cy="252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rtlCol="0" anchor="ctr">
            <a:normAutofit/>
          </a:bodyPr>
          <a:lstStyle/>
          <a:p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15D3C4-4CB0-B9AA-B75B-5A4D1D2F8E9F}"/>
              </a:ext>
            </a:extLst>
          </p:cNvPr>
          <p:cNvSpPr txBox="1"/>
          <p:nvPr/>
        </p:nvSpPr>
        <p:spPr>
          <a:xfrm>
            <a:off x="1259633" y="1467531"/>
            <a:ext cx="792088" cy="252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rtlCol="0" anchor="ctr">
            <a:normAutofit/>
          </a:bodyPr>
          <a:lstStyle/>
          <a:p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D9F0443-0C64-6BBA-B75C-5733123D60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3844144"/>
            <a:ext cx="4363059" cy="885949"/>
          </a:xfrm>
          <a:prstGeom prst="rect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753461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SQL #6</a:t>
            </a:r>
            <a:endParaRPr lang="ko-KR" alt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827584" y="5233392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endParaRPr lang="ko-KR" altLang="en-US" sz="1400" b="1" dirty="0">
              <a:ea typeface="맑은 고딕" panose="020B0503020000020004" pitchFamily="50" charset="-127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graphicFrame>
        <p:nvGraphicFramePr>
          <p:cNvPr id="5" name="내용 개체 틀 3">
            <a:extLst>
              <a:ext uri="{FF2B5EF4-FFF2-40B4-BE49-F238E27FC236}">
                <a16:creationId xmlns:a16="http://schemas.microsoft.com/office/drawing/2014/main" id="{BA054B5B-0D33-8EC7-0A68-56C26F5A5F0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289555"/>
              </p:ext>
            </p:extLst>
          </p:nvPr>
        </p:nvGraphicFramePr>
        <p:xfrm>
          <a:off x="539374" y="1055845"/>
          <a:ext cx="8065252" cy="29775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24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일에 범죄도시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를 상영하는 상영관과 상영 횟수를 구하시오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ko-KR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SELECT T.name,</a:t>
                      </a:r>
                      <a:r>
                        <a:rPr lang="ko-KR" altLang="en-US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S.name,</a:t>
                      </a:r>
                      <a:r>
                        <a:rPr lang="ko-KR" altLang="en-US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M.title, COUNT(SH.id)</a:t>
                      </a:r>
                    </a:p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ko-KR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FROM ScreenHist AS SH </a:t>
                      </a:r>
                    </a:p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ko-KR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    JOIN Screen AS S ON SH.screen_id = S.id </a:t>
                      </a:r>
                    </a:p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ko-KR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    JOIN Theater AS T ON S.theater_id = T.id</a:t>
                      </a:r>
                    </a:p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ko-KR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    JOIN movie AS M ON SH.movie_id = M.id</a:t>
                      </a:r>
                    </a:p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ko-KR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WHERE  M.title = '</a:t>
                      </a:r>
                      <a:r>
                        <a:rPr lang="ko-KR" altLang="en-US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범죄도시</a:t>
                      </a:r>
                      <a:r>
                        <a:rPr lang="en-US" altLang="ko-KR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4'</a:t>
                      </a:r>
                      <a:r>
                        <a:rPr lang="ko-KR" altLang="en-US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lang="en-US" altLang="ko-KR" sz="1400" b="0" i="0" u="none" strike="noStrike" kern="1200" baseline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ko-KR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          AND screening_date &gt;= '2024-04-24 00:00:00' </a:t>
                      </a:r>
                    </a:p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ko-KR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          AND screening_date &lt; '2024-04-25 00:00:00'</a:t>
                      </a:r>
                    </a:p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ko-KR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GROUP BY S.id;</a:t>
                      </a:r>
                    </a:p>
                    <a:p>
                      <a:pPr latinLnBrk="1">
                        <a:lnSpc>
                          <a:spcPts val="2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5B357FF-67E0-589B-690A-9A6B4D275841}"/>
              </a:ext>
            </a:extLst>
          </p:cNvPr>
          <p:cNvSpPr txBox="1"/>
          <p:nvPr/>
        </p:nvSpPr>
        <p:spPr>
          <a:xfrm>
            <a:off x="1331641" y="2734920"/>
            <a:ext cx="1728192" cy="252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rtlCol="0" anchor="ctr">
            <a:normAutofit/>
          </a:bodyPr>
          <a:lstStyle/>
          <a:p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1435560-5959-3915-0613-A8FDF3DEE8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4033424"/>
            <a:ext cx="5649113" cy="828791"/>
          </a:xfrm>
          <a:prstGeom prst="rect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3B3E4C1-2C0D-58A2-2F67-9ACE16AD6CD1}"/>
              </a:ext>
            </a:extLst>
          </p:cNvPr>
          <p:cNvSpPr txBox="1"/>
          <p:nvPr/>
        </p:nvSpPr>
        <p:spPr>
          <a:xfrm>
            <a:off x="1547664" y="3501008"/>
            <a:ext cx="1728192" cy="252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rtlCol="0" anchor="ctr">
            <a:normAutofit/>
          </a:bodyPr>
          <a:lstStyle/>
          <a:p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978632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SQL #7</a:t>
            </a:r>
            <a:endParaRPr lang="ko-KR" alt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827584" y="5233392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endParaRPr lang="ko-KR" altLang="en-US" sz="1400" b="1" dirty="0">
              <a:ea typeface="맑은 고딕" panose="020B0503020000020004" pitchFamily="50" charset="-127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graphicFrame>
        <p:nvGraphicFramePr>
          <p:cNvPr id="5" name="내용 개체 틀 3">
            <a:extLst>
              <a:ext uri="{FF2B5EF4-FFF2-40B4-BE49-F238E27FC236}">
                <a16:creationId xmlns:a16="http://schemas.microsoft.com/office/drawing/2014/main" id="{BA054B5B-0D33-8EC7-0A68-56C26F5A5F0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10775720"/>
              </p:ext>
            </p:extLst>
          </p:nvPr>
        </p:nvGraphicFramePr>
        <p:xfrm>
          <a:off x="539374" y="1055845"/>
          <a:ext cx="8065252" cy="27235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메가박스 대구신세계의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21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일자 상영시간표를 구하시오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ko-KR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SELECT T.name,</a:t>
                      </a:r>
                      <a:r>
                        <a:rPr lang="ko-KR" altLang="en-US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S.name,</a:t>
                      </a:r>
                      <a:r>
                        <a:rPr lang="ko-KR" altLang="en-US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M.title, SH.screening_date</a:t>
                      </a:r>
                    </a:p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ko-KR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FROM ScreenHist AS SH </a:t>
                      </a:r>
                    </a:p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ko-KR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    JOIN Screen AS S ON SH.screen_id = S.id </a:t>
                      </a:r>
                    </a:p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ko-KR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    JOIN Theater AS T ON S.theater_id = T.id</a:t>
                      </a:r>
                    </a:p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ko-KR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    JOIN movie AS M ON SH.movie_id = M.id</a:t>
                      </a:r>
                    </a:p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ko-KR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WHERE  T.name = '</a:t>
                      </a:r>
                      <a:r>
                        <a:rPr lang="ko-KR" altLang="en-US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메가박스 대구신세계</a:t>
                      </a:r>
                      <a:r>
                        <a:rPr lang="en-US" altLang="ko-KR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'</a:t>
                      </a:r>
                      <a:r>
                        <a:rPr lang="ko-KR" altLang="en-US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lang="en-US" altLang="ko-KR" sz="1400" b="0" i="0" u="none" strike="noStrike" kern="1200" baseline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ko-KR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          AND screening_date &gt;= '2024-04-21 00:00:00' </a:t>
                      </a:r>
                    </a:p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ko-KR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          AND screening_date &lt; '2024-04-22 00:00:00'</a:t>
                      </a:r>
                    </a:p>
                    <a:p>
                      <a:pPr latinLnBrk="1">
                        <a:lnSpc>
                          <a:spcPts val="2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5B357FF-67E0-589B-690A-9A6B4D275841}"/>
              </a:ext>
            </a:extLst>
          </p:cNvPr>
          <p:cNvSpPr txBox="1"/>
          <p:nvPr/>
        </p:nvSpPr>
        <p:spPr>
          <a:xfrm>
            <a:off x="3347864" y="2983079"/>
            <a:ext cx="1728192" cy="252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rtlCol="0" anchor="ctr">
            <a:normAutofit/>
          </a:bodyPr>
          <a:lstStyle/>
          <a:p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308582-C647-3C44-D46F-50ED30D45F1E}"/>
              </a:ext>
            </a:extLst>
          </p:cNvPr>
          <p:cNvSpPr txBox="1"/>
          <p:nvPr/>
        </p:nvSpPr>
        <p:spPr>
          <a:xfrm>
            <a:off x="2195736" y="2729927"/>
            <a:ext cx="1728192" cy="252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rtlCol="0" anchor="ctr">
            <a:normAutofit/>
          </a:bodyPr>
          <a:lstStyle/>
          <a:p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92E0BFA-A571-BD6C-4CFF-A96793C28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4144340"/>
            <a:ext cx="6211167" cy="1562318"/>
          </a:xfrm>
          <a:prstGeom prst="rect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669067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SQL #4</a:t>
            </a:r>
            <a:endParaRPr lang="ko-KR" alt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827584" y="5233392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endParaRPr lang="ko-KR" altLang="en-US" sz="1400" b="1" dirty="0">
              <a:ea typeface="맑은 고딕" panose="020B0503020000020004" pitchFamily="50" charset="-127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graphicFrame>
        <p:nvGraphicFramePr>
          <p:cNvPr id="5" name="내용 개체 틀 3">
            <a:extLst>
              <a:ext uri="{FF2B5EF4-FFF2-40B4-BE49-F238E27FC236}">
                <a16:creationId xmlns:a16="http://schemas.microsoft.com/office/drawing/2014/main" id="{BA054B5B-0D33-8EC7-0A68-56C26F5A5F0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18749808"/>
              </p:ext>
            </p:extLst>
          </p:nvPr>
        </p:nvGraphicFramePr>
        <p:xfrm>
          <a:off x="539374" y="1055845"/>
          <a:ext cx="8065252" cy="14535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ONLY_FULL GROUP BY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 제거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ts val="2000"/>
                        </a:lnSpc>
                      </a:pPr>
                      <a:r>
                        <a:rPr lang="en-US" altLang="ko-KR" sz="1400"/>
                        <a:t>SET SESSION sql_mode = 'STRICT_TRANS_TABLES,NO_ZERO_IN_DATE,NO_ZERO_DATE,ERROR_FOR_DIVISION_BY_ZERO,NO_ENGINE_SUBSTITUTION';</a:t>
                      </a:r>
                    </a:p>
                    <a:p>
                      <a:pPr latinLnBrk="1">
                        <a:lnSpc>
                          <a:spcPts val="2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select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@@sql_mode; </a:t>
                      </a: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22885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>
          <a:defRPr sz="36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8756</TotalTime>
  <Words>1355</Words>
  <Application>Microsoft Office PowerPoint</Application>
  <PresentationFormat>화면 슬라이드 쇼(4:3)</PresentationFormat>
  <Paragraphs>155</Paragraphs>
  <Slides>15</Slides>
  <Notes>0</Notes>
  <HiddenSlides>1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1" baseType="lpstr">
      <vt:lpstr>HY견고딕</vt:lpstr>
      <vt:lpstr>나눔고딕</vt:lpstr>
      <vt:lpstr>맑은 고딕</vt:lpstr>
      <vt:lpstr>Arial</vt:lpstr>
      <vt:lpstr>Wingdings</vt:lpstr>
      <vt:lpstr>Office 테마</vt:lpstr>
      <vt:lpstr>PowerPoint 프레젠테이션</vt:lpstr>
      <vt:lpstr>SQL #1</vt:lpstr>
      <vt:lpstr>SQL #2</vt:lpstr>
      <vt:lpstr>SQL #3</vt:lpstr>
      <vt:lpstr>SQL #3</vt:lpstr>
      <vt:lpstr>영화 상영 시간 데이터베이스</vt:lpstr>
      <vt:lpstr>영화 상영 시간 데이터베이스</vt:lpstr>
      <vt:lpstr>SQL #1</vt:lpstr>
      <vt:lpstr>SQL #2</vt:lpstr>
      <vt:lpstr>SQL #3</vt:lpstr>
      <vt:lpstr>SQL #4</vt:lpstr>
      <vt:lpstr>SQL #5</vt:lpstr>
      <vt:lpstr>SQL #6</vt:lpstr>
      <vt:lpstr>SQL #7</vt:lpstr>
      <vt:lpstr>SQL #4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김이화</dc:creator>
  <cp:lastModifiedBy>준영 장</cp:lastModifiedBy>
  <cp:revision>759</cp:revision>
  <dcterms:created xsi:type="dcterms:W3CDTF">2012-07-11T10:23:22Z</dcterms:created>
  <dcterms:modified xsi:type="dcterms:W3CDTF">2024-04-20T09:04:27Z</dcterms:modified>
</cp:coreProperties>
</file>
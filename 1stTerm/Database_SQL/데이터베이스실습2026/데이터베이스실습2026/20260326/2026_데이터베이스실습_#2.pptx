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1"/>
  </p:notesMasterIdLst>
  <p:handoutMasterIdLst>
    <p:handoutMasterId r:id="rId42"/>
  </p:handoutMasterIdLst>
  <p:sldIdLst>
    <p:sldId id="256" r:id="rId3"/>
    <p:sldId id="382" r:id="rId4"/>
    <p:sldId id="466" r:id="rId5"/>
    <p:sldId id="467" r:id="rId6"/>
    <p:sldId id="468" r:id="rId7"/>
    <p:sldId id="469" r:id="rId8"/>
    <p:sldId id="470" r:id="rId9"/>
    <p:sldId id="471" r:id="rId10"/>
    <p:sldId id="472" r:id="rId11"/>
    <p:sldId id="462" r:id="rId12"/>
    <p:sldId id="473" r:id="rId13"/>
    <p:sldId id="474" r:id="rId14"/>
    <p:sldId id="475" r:id="rId15"/>
    <p:sldId id="389" r:id="rId16"/>
    <p:sldId id="476" r:id="rId17"/>
    <p:sldId id="477" r:id="rId18"/>
    <p:sldId id="478" r:id="rId19"/>
    <p:sldId id="479" r:id="rId20"/>
    <p:sldId id="480" r:id="rId21"/>
    <p:sldId id="481" r:id="rId22"/>
    <p:sldId id="482" r:id="rId23"/>
    <p:sldId id="409" r:id="rId24"/>
    <p:sldId id="483" r:id="rId25"/>
    <p:sldId id="484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497" r:id="rId39"/>
    <p:sldId id="514" r:id="rId40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kumimoji="1" lang="ko-KR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관계 데이터 모델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4756430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관계 데이터 모델의 개념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릴레이션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릴레이션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스키마와 </a:t>
            </a:r>
            <a:r>
              <a:rPr kumimoji="0"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인스턴스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릴레이션의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특징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관계 데이터 모델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릴레이션</a:t>
            </a:r>
            <a:r>
              <a:rPr lang="en-US" altLang="ko-KR" dirty="0"/>
              <a:t>(relation) : </a:t>
            </a:r>
            <a:r>
              <a:rPr lang="ko-KR" altLang="en-US" dirty="0"/>
              <a:t>행과 열로 구성된 테이블</a:t>
            </a:r>
            <a:r>
              <a:rPr lang="en-US" altLang="ko-KR" dirty="0"/>
              <a:t>, </a:t>
            </a:r>
            <a:r>
              <a:rPr lang="ko-KR" altLang="en-US" dirty="0"/>
              <a:t>엑셀의 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Relation</a:t>
            </a:r>
            <a:r>
              <a:rPr lang="ko-KR" altLang="en-US" dirty="0"/>
              <a:t>은 사전적인 의미로 관계</a:t>
            </a:r>
            <a:r>
              <a:rPr lang="en-US" altLang="ko-KR" dirty="0"/>
              <a:t>, </a:t>
            </a:r>
            <a:r>
              <a:rPr lang="ko-KR" altLang="en-US" dirty="0"/>
              <a:t>친척 등을 의미하므로 이 모델을 사용하는 데이터 베이스는 관계 데이터베이스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대부분의 </a:t>
            </a:r>
            <a:r>
              <a:rPr lang="en-US" altLang="ko-KR" dirty="0"/>
              <a:t>DBMS</a:t>
            </a:r>
            <a:r>
              <a:rPr lang="ko-KR" altLang="en-US" dirty="0"/>
              <a:t>는 </a:t>
            </a:r>
            <a:r>
              <a:rPr lang="en-US" altLang="ko-KR" dirty="0"/>
              <a:t>Relation Database Management System(RDBMS)</a:t>
            </a:r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8D5E34-CB75-DD5E-6F20-6C9AEC55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4487045" cy="17131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v"/>
            </a:pPr>
            <a:endParaRPr lang="en-US" altLang="ko-KR" sz="2000" b="1" dirty="0">
              <a:solidFill>
                <a:schemeClr val="tx2"/>
              </a:solidFill>
              <a:latin typeface="+mn-ea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v"/>
            </a:pPr>
            <a:endParaRPr lang="en-US" altLang="ko-KR" sz="2000" b="1" dirty="0">
              <a:solidFill>
                <a:schemeClr val="tx2"/>
              </a:solidFill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  <a:p>
            <a:pPr marL="0" indent="0">
              <a:buNone/>
            </a:pPr>
            <a:endParaRPr lang="en-US" altLang="ko-KR" sz="2000" dirty="0">
              <a:latin typeface="+mn-ea"/>
            </a:endParaRPr>
          </a:p>
          <a:p>
            <a:pPr>
              <a:buNone/>
            </a:pPr>
            <a:r>
              <a:rPr lang="en-US" altLang="ko-KR" sz="1400" b="0" dirty="0">
                <a:latin typeface="+mn-ea"/>
              </a:rPr>
              <a:t>     </a:t>
            </a:r>
            <a:r>
              <a:rPr lang="ko-KR" altLang="en-US" sz="1400" dirty="0">
                <a:latin typeface="+mn-ea"/>
              </a:rPr>
              <a:t>도서번호 </a:t>
            </a:r>
            <a:r>
              <a:rPr lang="en-US" altLang="ko-KR" sz="1400" dirty="0">
                <a:latin typeface="+mn-ea"/>
              </a:rPr>
              <a:t>	= {1, 2, 3, 4, 5}</a:t>
            </a:r>
          </a:p>
          <a:p>
            <a:pPr marL="266700" indent="-266700">
              <a:buNone/>
            </a:pPr>
            <a:r>
              <a:rPr lang="en-US" altLang="ko-KR" sz="1400" dirty="0">
                <a:latin typeface="+mn-ea"/>
              </a:rPr>
              <a:t>     </a:t>
            </a:r>
            <a:r>
              <a:rPr lang="ko-KR" altLang="en-US" sz="1400" dirty="0">
                <a:latin typeface="+mn-ea"/>
              </a:rPr>
              <a:t>도서이름 </a:t>
            </a:r>
            <a:r>
              <a:rPr lang="en-US" altLang="ko-KR" sz="1400" dirty="0">
                <a:latin typeface="+mn-ea"/>
              </a:rPr>
              <a:t>	= {</a:t>
            </a:r>
            <a:r>
              <a:rPr lang="ko-KR" altLang="en-US" sz="1400" dirty="0">
                <a:latin typeface="+mn-ea"/>
              </a:rPr>
              <a:t>축구의 역사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축구아는</a:t>
            </a:r>
            <a:r>
              <a:rPr lang="ko-KR" altLang="en-US" sz="1400" dirty="0">
                <a:latin typeface="+mn-ea"/>
              </a:rPr>
              <a:t> 사람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축구의 이해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골프 바이블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피겨 교본</a:t>
            </a:r>
            <a:r>
              <a:rPr lang="en-US" altLang="ko-KR" sz="1400" dirty="0">
                <a:latin typeface="+mn-ea"/>
              </a:rPr>
              <a:t>}</a:t>
            </a:r>
          </a:p>
          <a:p>
            <a:pPr marL="266700" indent="-266700">
              <a:buNone/>
            </a:pPr>
            <a:r>
              <a:rPr lang="en-US" altLang="ko-KR" sz="1400" dirty="0">
                <a:latin typeface="+mn-ea"/>
              </a:rPr>
              <a:t>     </a:t>
            </a:r>
            <a:r>
              <a:rPr lang="ko-KR" altLang="en-US" sz="1400" dirty="0">
                <a:latin typeface="+mn-ea"/>
              </a:rPr>
              <a:t>출판사 </a:t>
            </a:r>
            <a:r>
              <a:rPr lang="en-US" altLang="ko-KR" sz="1400" dirty="0">
                <a:latin typeface="+mn-ea"/>
              </a:rPr>
              <a:t>		= {</a:t>
            </a:r>
            <a:r>
              <a:rPr lang="ko-KR" altLang="en-US" sz="1400" dirty="0" err="1">
                <a:latin typeface="+mn-ea"/>
              </a:rPr>
              <a:t>굿스포츠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나무수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대한미디어</a:t>
            </a:r>
            <a:r>
              <a:rPr lang="en-US" altLang="ko-KR" sz="1400" dirty="0">
                <a:latin typeface="+mn-ea"/>
              </a:rPr>
              <a:t>}</a:t>
            </a:r>
          </a:p>
          <a:p>
            <a:pPr marL="266700" indent="-266700">
              <a:buNone/>
            </a:pPr>
            <a:r>
              <a:rPr lang="en-US" altLang="ko-KR" sz="1400" dirty="0">
                <a:latin typeface="+mn-ea"/>
              </a:rPr>
              <a:t>     </a:t>
            </a:r>
            <a:r>
              <a:rPr lang="ko-KR" altLang="en-US" sz="1400" dirty="0">
                <a:latin typeface="+mn-ea"/>
              </a:rPr>
              <a:t>가격 </a:t>
            </a:r>
            <a:r>
              <a:rPr lang="en-US" altLang="ko-KR" sz="1400" dirty="0">
                <a:latin typeface="+mn-ea"/>
              </a:rPr>
              <a:t>		= {7000, 13000, 22000, 35000, 8000}</a:t>
            </a:r>
          </a:p>
          <a:p>
            <a:pPr>
              <a:buNone/>
            </a:pPr>
            <a:endParaRPr lang="en-US" altLang="ko-KR" sz="1200" b="0" dirty="0">
              <a:latin typeface="+mn-ea"/>
            </a:endParaRPr>
          </a:p>
          <a:p>
            <a:pPr>
              <a:buNone/>
            </a:pPr>
            <a:r>
              <a:rPr lang="ko-KR" altLang="en-US" sz="1200" b="0" dirty="0">
                <a:latin typeface="+mn-ea"/>
              </a:rPr>
              <a:t>     </a:t>
            </a:r>
            <a:r>
              <a:rPr lang="ko-KR" altLang="en-US" sz="1400" b="0" dirty="0">
                <a:latin typeface="+mn-ea"/>
              </a:rPr>
              <a:t>→ 첫 번째 행</a:t>
            </a:r>
            <a:r>
              <a:rPr lang="en-US" altLang="ko-KR" sz="1400" b="0" dirty="0">
                <a:latin typeface="+mn-ea"/>
              </a:rPr>
              <a:t>(1, </a:t>
            </a:r>
            <a:r>
              <a:rPr lang="ko-KR" altLang="en-US" sz="1400" b="0" dirty="0">
                <a:latin typeface="+mn-ea"/>
              </a:rPr>
              <a:t>축구의 역사</a:t>
            </a:r>
            <a:r>
              <a:rPr lang="en-US" altLang="ko-KR" sz="1400" b="0" dirty="0">
                <a:latin typeface="+mn-ea"/>
              </a:rPr>
              <a:t>, </a:t>
            </a:r>
            <a:r>
              <a:rPr lang="ko-KR" altLang="en-US" sz="1400" b="0" dirty="0" err="1">
                <a:latin typeface="+mn-ea"/>
              </a:rPr>
              <a:t>굿스포츠</a:t>
            </a:r>
            <a:r>
              <a:rPr lang="en-US" altLang="ko-KR" sz="1400" b="0" dirty="0">
                <a:latin typeface="+mn-ea"/>
              </a:rPr>
              <a:t>, 7000)</a:t>
            </a:r>
            <a:r>
              <a:rPr lang="ko-KR" altLang="en-US" sz="1400" b="0" dirty="0">
                <a:latin typeface="+mn-ea"/>
              </a:rPr>
              <a:t>의 경우 네 개의 집합에서 각각 원소 한 개씩      </a:t>
            </a:r>
            <a:endParaRPr lang="en-US" altLang="ko-KR" sz="1400" b="0" dirty="0">
              <a:latin typeface="+mn-ea"/>
            </a:endParaRPr>
          </a:p>
          <a:p>
            <a:pPr>
              <a:buNone/>
            </a:pPr>
            <a:r>
              <a:rPr lang="en-US" altLang="ko-KR" sz="1400" b="0" dirty="0"/>
              <a:t>        </a:t>
            </a:r>
            <a:r>
              <a:rPr lang="ko-KR" altLang="en-US" sz="1400" b="0" dirty="0">
                <a:latin typeface="+mn-ea"/>
              </a:rPr>
              <a:t>선택하여 만들어진 것으로 이 원소들이 관계</a:t>
            </a:r>
            <a:r>
              <a:rPr lang="en-US" altLang="ko-KR" sz="1400" b="0" dirty="0">
                <a:latin typeface="+mn-ea"/>
              </a:rPr>
              <a:t>(relationship)</a:t>
            </a:r>
            <a:r>
              <a:rPr lang="ko-KR" altLang="en-US" sz="1400" b="0" dirty="0">
                <a:latin typeface="+mn-ea"/>
              </a:rPr>
              <a:t>를</a:t>
            </a:r>
            <a:r>
              <a:rPr lang="en-US" altLang="ko-KR" sz="1400" b="0" dirty="0">
                <a:latin typeface="+mn-ea"/>
              </a:rPr>
              <a:t> </a:t>
            </a:r>
            <a:r>
              <a:rPr lang="ko-KR" altLang="en-US" sz="1400" b="0" dirty="0">
                <a:latin typeface="+mn-ea"/>
              </a:rPr>
              <a:t>맺고 있다</a:t>
            </a:r>
            <a:r>
              <a:rPr lang="en-US" altLang="ko-KR" sz="1400" b="0" dirty="0">
                <a:latin typeface="+mn-ea"/>
              </a:rPr>
              <a:t>.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pPr>
              <a:buNone/>
            </a:pPr>
            <a:endParaRPr lang="en-US" altLang="ko-KR" dirty="0">
              <a:latin typeface="+mn-ea"/>
            </a:endParaRPr>
          </a:p>
        </p:txBody>
      </p:sp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62574" y="2276872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5400000"/>
            </a:camera>
            <a:lightRig rig="threePt" dir="t"/>
          </a:scene3d>
        </p:spPr>
      </p:pic>
      <p:sp>
        <p:nvSpPr>
          <p:cNvPr id="10" name="TextBox 9"/>
          <p:cNvSpPr txBox="1"/>
          <p:nvPr/>
        </p:nvSpPr>
        <p:spPr>
          <a:xfrm>
            <a:off x="539552" y="32849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데이터와 테이블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139953" y="1556792"/>
          <a:ext cx="4464495" cy="165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572382" y="1700809"/>
            <a:ext cx="3135522" cy="1368152"/>
            <a:chOff x="296152" y="1844824"/>
            <a:chExt cx="3135522" cy="1368152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296152" y="2996952"/>
              <a:ext cx="3135522" cy="21602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도서 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5, 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피겨 교본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  </a:t>
              </a:r>
              <a:r>
                <a:rPr kumimoji="1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굿스포츠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  8000 </a:t>
              </a:r>
              <a:endPara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296152" y="2708920"/>
              <a:ext cx="3135522" cy="21602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도서 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4, 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골프 바이블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대한미디어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35000 </a:t>
              </a:r>
              <a:endPara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296152" y="2420888"/>
              <a:ext cx="3135522" cy="21602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도서 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3, 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축구의 이해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대한미디어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22000 </a:t>
              </a:r>
              <a:endPara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296152" y="2132856"/>
              <a:ext cx="3135522" cy="21602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도서 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2,  </a:t>
              </a:r>
              <a:r>
                <a:rPr kumimoji="1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축구아는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사람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나무수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13000 </a:t>
              </a:r>
              <a:endPara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296152" y="1844824"/>
              <a:ext cx="3135522" cy="216024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도서 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1,  </a:t>
              </a:r>
              <a:r>
                <a:rPr kumimoji="1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축구의 역사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굿스포츠</a:t>
              </a:r>
              <a:r>
                <a:rPr kumimoji="1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7000 </a:t>
              </a:r>
              <a:endPara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v"/>
            </a:pPr>
            <a:r>
              <a:rPr lang="ko-KR" altLang="en-US" sz="2000" b="1" dirty="0">
                <a:solidFill>
                  <a:schemeClr val="tx2"/>
                </a:solidFill>
                <a:latin typeface="+mn-ea"/>
              </a:rPr>
              <a:t>관계</a:t>
            </a:r>
            <a:r>
              <a:rPr lang="en-US" altLang="ko-KR" sz="2000" b="1" dirty="0">
                <a:solidFill>
                  <a:schemeClr val="tx2"/>
                </a:solidFill>
                <a:latin typeface="+mn-ea"/>
              </a:rPr>
              <a:t>(relationship)</a:t>
            </a:r>
          </a:p>
          <a:p>
            <a:pPr>
              <a:buNone/>
            </a:pPr>
            <a:r>
              <a:rPr lang="en-US" altLang="ko-KR" sz="1600" b="1" dirty="0">
                <a:latin typeface="+mn-ea"/>
              </a:rPr>
              <a:t>     </a:t>
            </a:r>
            <a:r>
              <a:rPr lang="en-US" altLang="ko-KR" sz="1600" b="1" dirty="0">
                <a:latin typeface="+mn-ea"/>
                <a:sym typeface="Wingdings"/>
              </a:rPr>
              <a:t> </a:t>
            </a:r>
            <a:r>
              <a:rPr lang="ko-KR" altLang="en-US" sz="1600" b="1" dirty="0" err="1">
                <a:latin typeface="+mn-ea"/>
              </a:rPr>
              <a:t>릴레이션</a:t>
            </a:r>
            <a:r>
              <a:rPr lang="ko-KR" altLang="en-US" sz="1600" b="1" dirty="0">
                <a:latin typeface="+mn-ea"/>
              </a:rPr>
              <a:t> 내에서 생성되는 관계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 err="1">
                <a:latin typeface="+mn-ea"/>
              </a:rPr>
              <a:t>릴레이션</a:t>
            </a:r>
            <a:r>
              <a:rPr lang="ko-KR" altLang="en-US" sz="1600" b="1" dirty="0">
                <a:latin typeface="+mn-ea"/>
              </a:rPr>
              <a:t> 내 데이터들의 관계</a:t>
            </a:r>
            <a:endParaRPr lang="en-US" altLang="ko-KR" sz="1600" b="1" dirty="0">
              <a:latin typeface="+mn-ea"/>
            </a:endParaRPr>
          </a:p>
          <a:p>
            <a:pPr>
              <a:buNone/>
            </a:pPr>
            <a:r>
              <a:rPr lang="en-US" altLang="ko-KR" sz="1600" b="1" dirty="0">
                <a:latin typeface="+mn-ea"/>
              </a:rPr>
              <a:t>     </a:t>
            </a:r>
            <a:r>
              <a:rPr lang="en-US" altLang="ko-KR" sz="1600" b="1" dirty="0">
                <a:latin typeface="+mn-ea"/>
                <a:sym typeface="Wingdings"/>
              </a:rPr>
              <a:t> </a:t>
            </a:r>
            <a:r>
              <a:rPr lang="ko-KR" altLang="en-US" sz="1600" b="1" dirty="0" err="1">
                <a:latin typeface="+mn-ea"/>
              </a:rPr>
              <a:t>릴레이션</a:t>
            </a:r>
            <a:r>
              <a:rPr lang="ko-KR" altLang="en-US" sz="1600" b="1" dirty="0">
                <a:latin typeface="+mn-ea"/>
              </a:rPr>
              <a:t> 간에 생성되는 관계 </a:t>
            </a:r>
            <a:r>
              <a:rPr lang="en-US" altLang="ko-KR" sz="1600" b="1" dirty="0">
                <a:latin typeface="+mn-ea"/>
              </a:rPr>
              <a:t>: </a:t>
            </a:r>
            <a:r>
              <a:rPr lang="ko-KR" altLang="en-US" sz="1600" b="1" dirty="0" err="1">
                <a:latin typeface="+mn-ea"/>
              </a:rPr>
              <a:t>릴레이션</a:t>
            </a:r>
            <a:r>
              <a:rPr lang="ko-KR" altLang="en-US" sz="1600" b="1" dirty="0">
                <a:latin typeface="+mn-ea"/>
              </a:rPr>
              <a:t> 간의 관계</a:t>
            </a:r>
            <a:r>
              <a:rPr lang="en-US" altLang="ko-KR" sz="1600" b="1" dirty="0">
                <a:latin typeface="+mn-ea"/>
              </a:rPr>
              <a:t> 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9592" y="465313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2-2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간의 관계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979984" y="3429000"/>
            <a:ext cx="3952056" cy="36004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판매가격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주문일자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979984" y="2708920"/>
            <a:ext cx="3952056" cy="36004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출판사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79984" y="4149080"/>
            <a:ext cx="3952056" cy="360040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주소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핸드폰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rot="5400000">
            <a:off x="1591258" y="3248980"/>
            <a:ext cx="504850" cy="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V="1">
            <a:off x="1844080" y="3717032"/>
            <a:ext cx="792088" cy="504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5896" y="1916832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애트리뷰트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(column)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이라고도 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차수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=4)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왼쪽 대괄호 7"/>
          <p:cNvSpPr/>
          <p:nvPr/>
        </p:nvSpPr>
        <p:spPr>
          <a:xfrm rot="5400000">
            <a:off x="4548536" y="930443"/>
            <a:ext cx="190944" cy="3456384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96" y="3427258"/>
            <a:ext cx="1893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(tuple), </a:t>
            </a: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(row)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이라고도 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카디날리티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=5)</a:t>
            </a:r>
          </a:p>
        </p:txBody>
      </p:sp>
      <p:sp>
        <p:nvSpPr>
          <p:cNvPr id="12" name="오른쪽 대괄호 11"/>
          <p:cNvSpPr/>
          <p:nvPr/>
        </p:nvSpPr>
        <p:spPr>
          <a:xfrm>
            <a:off x="7058372" y="3157299"/>
            <a:ext cx="144016" cy="12600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오른쪽 대괄호 6"/>
          <p:cNvSpPr/>
          <p:nvPr/>
        </p:nvSpPr>
        <p:spPr>
          <a:xfrm rot="10800000">
            <a:off x="1995887" y="3201710"/>
            <a:ext cx="144016" cy="12600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995887" y="3519223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995887" y="3836737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995887" y="4154250"/>
            <a:ext cx="1440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2267744" y="2794045"/>
          <a:ext cx="4752528" cy="1785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6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>
            <a:off x="7048847" y="2951778"/>
            <a:ext cx="648072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40352" y="2707179"/>
            <a:ext cx="125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스키마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내포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Schema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7226771" y="3859307"/>
            <a:ext cx="288032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58236" y="3643283"/>
            <a:ext cx="1259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인스턴스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외연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Instance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0834" y="486916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2-3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5736" y="24601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 err="1">
                <a:solidFill>
                  <a:schemeClr val="tx2"/>
                </a:solidFill>
              </a:rPr>
              <a:t>릴레이션</a:t>
            </a:r>
            <a:r>
              <a:rPr lang="ko-KR" altLang="en-US" sz="2000" dirty="0">
                <a:solidFill>
                  <a:schemeClr val="tx2"/>
                </a:solidFill>
              </a:rPr>
              <a:t> 스키마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819150" y="1745903"/>
            <a:ext cx="7907522" cy="1708497"/>
            <a:chOff x="819150" y="1745903"/>
            <a:chExt cx="7907522" cy="1708497"/>
          </a:xfrm>
        </p:grpSpPr>
        <p:sp>
          <p:nvSpPr>
            <p:cNvPr id="5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5900" marR="0" lvl="0" indent="-2159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Char char="n"/>
                <a:tabLst/>
                <a:defRPr/>
              </a:pP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스키마의 요소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내용 개체 틀 2"/>
            <p:cNvSpPr txBox="1">
              <a:spLocks/>
            </p:cNvSpPr>
            <p:nvPr/>
          </p:nvSpPr>
          <p:spPr bwMode="auto">
            <a:xfrm>
              <a:off x="933450" y="2203103"/>
              <a:ext cx="7793222" cy="1251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(attribute) :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스키마의 열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도메인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(domain) :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속성이 가질 수 있는 값의 집합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342900" marR="0" lvl="1" indent="-16510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차수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(degree) :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속성의 개수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819150" y="3587403"/>
            <a:ext cx="7793222" cy="578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스키마의 표현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933450" y="4044603"/>
            <a:ext cx="7793222" cy="1251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 이름만 표기 하거나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속성과 도메인을 같이 표기 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 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3, …)</a:t>
            </a: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 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3, …)</a:t>
            </a:r>
            <a:b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EX)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도서번호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도서이름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출판사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 err="1">
                <a:latin typeface="+mn-ea"/>
                <a:ea typeface="+mn-ea"/>
              </a:rPr>
              <a:t>릴레이션</a:t>
            </a:r>
            <a:r>
              <a:rPr lang="ko-KR" altLang="en-US" dirty="0">
                <a:latin typeface="+mn-ea"/>
                <a:ea typeface="+mn-ea"/>
              </a:rPr>
              <a:t> 스키마와 </a:t>
            </a:r>
            <a:r>
              <a:rPr lang="ko-KR" altLang="en-US" dirty="0" err="1">
                <a:latin typeface="+mn-ea"/>
                <a:ea typeface="+mn-ea"/>
              </a:rPr>
              <a:t>인스턴스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 err="1">
                <a:solidFill>
                  <a:schemeClr val="tx2"/>
                </a:solidFill>
              </a:rPr>
              <a:t>릴레이션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ko-KR" altLang="en-US" sz="2000" dirty="0" err="1">
                <a:solidFill>
                  <a:schemeClr val="tx2"/>
                </a:solidFill>
              </a:rPr>
              <a:t>인스턴스</a:t>
            </a:r>
            <a:endParaRPr lang="en-US" altLang="ko-KR" sz="2000" dirty="0">
              <a:solidFill>
                <a:schemeClr val="tx2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899592" y="3933056"/>
          <a:ext cx="7416825" cy="21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릴레이션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용어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같은 의미로 통용되는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파일 시스템 용어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(relation)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(table)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파일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(file)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스키마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(schema)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내포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(intension)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헤더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(header)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(instance)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외연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(extension)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(data)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투플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tuple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행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(row)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레코드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(record)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(attribute)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(column)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필드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(field)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35010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2-2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구조와 관련된 용어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0531" y="2852936"/>
            <a:ext cx="5495925" cy="64807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marL="0" marR="0" lvl="2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→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투플이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가지는 속성의 개수는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스키마의 차수와 동일하고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b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내의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모든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투플들은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서로 중복되지 않아야 함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811226" y="1745903"/>
            <a:ext cx="7793222" cy="578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인스턴스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요소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925526" y="2203103"/>
            <a:ext cx="3956050" cy="865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(tuple)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행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카디날리티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(cardinality)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수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 err="1">
                <a:latin typeface="+mn-ea"/>
                <a:ea typeface="+mn-ea"/>
              </a:rPr>
              <a:t>릴레이션의</a:t>
            </a:r>
            <a:r>
              <a:rPr lang="ko-KR" altLang="en-US" dirty="0">
                <a:latin typeface="+mn-ea"/>
                <a:ea typeface="+mn-ea"/>
              </a:rPr>
              <a:t> 특징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11560" y="1268760"/>
            <a:ext cx="7907522" cy="800596"/>
            <a:chOff x="819150" y="1745903"/>
            <a:chExt cx="7907522" cy="800596"/>
          </a:xfrm>
        </p:grpSpPr>
        <p:sp>
          <p:nvSpPr>
            <p:cNvPr id="6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  <a:sym typeface="Wingdings"/>
                </a:rPr>
                <a:t>➊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속성은 단일 값을 가진다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내용 개체 틀 2"/>
            <p:cNvSpPr txBox="1">
              <a:spLocks/>
            </p:cNvSpPr>
            <p:nvPr/>
          </p:nvSpPr>
          <p:spPr bwMode="auto">
            <a:xfrm>
              <a:off x="933450" y="2121967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각 속성의 값은 도메인에 정의된 값만을 가지며 그 값은 모두 단일 값이어야 함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11560" y="2370047"/>
            <a:ext cx="7907522" cy="800596"/>
            <a:chOff x="819150" y="1745903"/>
            <a:chExt cx="7907522" cy="800596"/>
          </a:xfrm>
        </p:grpSpPr>
        <p:sp>
          <p:nvSpPr>
            <p:cNvPr id="10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➋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속성은 서로 다른 이름을 가진다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내용 개체 틀 2"/>
            <p:cNvSpPr txBox="1">
              <a:spLocks/>
            </p:cNvSpPr>
            <p:nvPr/>
          </p:nvSpPr>
          <p:spPr bwMode="auto">
            <a:xfrm>
              <a:off x="933450" y="2121967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속성은 한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릴레이션에서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서로 다른 이름을 가져야만 함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611560" y="3471334"/>
            <a:ext cx="7907522" cy="800596"/>
            <a:chOff x="819150" y="1745903"/>
            <a:chExt cx="7907522" cy="800596"/>
          </a:xfrm>
        </p:grpSpPr>
        <p:sp>
          <p:nvSpPr>
            <p:cNvPr id="13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➌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한 속성의 값은 모두 같은 도메인 값을 가진다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내용 개체 틀 2"/>
            <p:cNvSpPr txBox="1">
              <a:spLocks/>
            </p:cNvSpPr>
            <p:nvPr/>
          </p:nvSpPr>
          <p:spPr bwMode="auto">
            <a:xfrm>
              <a:off x="933450" y="2121967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한 속성에 속한 열은 모두 그 속성에서 정의한 도메인 값만 가질 수 있음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611560" y="4572620"/>
            <a:ext cx="7907522" cy="800596"/>
            <a:chOff x="819150" y="1745903"/>
            <a:chExt cx="7907522" cy="800596"/>
          </a:xfrm>
        </p:grpSpPr>
        <p:sp>
          <p:nvSpPr>
            <p:cNvPr id="16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➍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속성의 순서는 상관없다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내용 개체 틀 2"/>
            <p:cNvSpPr txBox="1">
              <a:spLocks/>
            </p:cNvSpPr>
            <p:nvPr/>
          </p:nvSpPr>
          <p:spPr bwMode="auto">
            <a:xfrm>
              <a:off x="933450" y="2121967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속성의 순서가 달라도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스키마는 같음</a:t>
              </a:r>
              <a:b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예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스키마에서 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이름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주소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순으로 속성을 표시하거나 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주소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이름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순으로 </a:t>
              </a:r>
              <a:b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 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표시하여도 상관없음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3. </a:t>
            </a:r>
            <a:r>
              <a:rPr lang="ko-KR" altLang="en-US" dirty="0" err="1">
                <a:latin typeface="+mn-ea"/>
                <a:ea typeface="+mn-ea"/>
              </a:rPr>
              <a:t>릴레이션의</a:t>
            </a:r>
            <a:r>
              <a:rPr lang="ko-KR" altLang="en-US" dirty="0">
                <a:latin typeface="+mn-ea"/>
                <a:ea typeface="+mn-ea"/>
              </a:rPr>
              <a:t> 특징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11560" y="1268760"/>
            <a:ext cx="7907522" cy="790463"/>
            <a:chOff x="819150" y="1745903"/>
            <a:chExt cx="7907522" cy="790463"/>
          </a:xfrm>
        </p:grpSpPr>
        <p:sp>
          <p:nvSpPr>
            <p:cNvPr id="6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➎ </a:t>
              </a:r>
              <a:r>
                <a:rPr kumimoji="0" lang="ko-KR" altLang="en-US" sz="1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내의 중복된 </a:t>
              </a:r>
              <a:r>
                <a:rPr kumimoji="0" lang="ko-KR" altLang="en-US" sz="1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투플은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허용하지 않는다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내용 개체 틀 2"/>
            <p:cNvSpPr txBox="1">
              <a:spLocks/>
            </p:cNvSpPr>
            <p:nvPr/>
          </p:nvSpPr>
          <p:spPr bwMode="auto">
            <a:xfrm>
              <a:off x="933450" y="2111834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하나의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인스턴스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내에서는 서로 중복된 값을 가질 수 없음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b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즉 모든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투플은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서로 값이 달라야 함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집합과 같다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</a:p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축구의 역사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굿스포츠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7000)</a:t>
              </a:r>
            </a:p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축구의 역사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굿스포츠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7000)</a:t>
              </a:r>
            </a:p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11560" y="3140968"/>
            <a:ext cx="7907522" cy="800596"/>
            <a:chOff x="819150" y="1745903"/>
            <a:chExt cx="7907522" cy="800596"/>
          </a:xfrm>
        </p:grpSpPr>
        <p:sp>
          <p:nvSpPr>
            <p:cNvPr id="10" name="내용 개체 틀 2"/>
            <p:cNvSpPr txBox="1">
              <a:spLocks/>
            </p:cNvSpPr>
            <p:nvPr/>
          </p:nvSpPr>
          <p:spPr bwMode="auto">
            <a:xfrm>
              <a:off x="819150" y="1745903"/>
              <a:ext cx="7793222" cy="578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➏ </a:t>
              </a:r>
              <a:r>
                <a:rPr kumimoji="0" lang="ko-KR" altLang="en-US" sz="1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투플의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순서는 상관없다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내용 개체 틀 2"/>
            <p:cNvSpPr txBox="1">
              <a:spLocks/>
            </p:cNvSpPr>
            <p:nvPr/>
          </p:nvSpPr>
          <p:spPr bwMode="auto">
            <a:xfrm>
              <a:off x="933450" y="2121967"/>
              <a:ext cx="7793222" cy="424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0ABCC"/>
                </a:buClr>
                <a:buFont typeface="Wingdings" pitchFamily="2" charset="2"/>
                <a:buChar char="n"/>
                <a:defRPr sz="1600" b="1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447675" indent="-180975" algn="l" rtl="0" eaLnBrk="0" fontAlgn="base" latinLnBrk="1" hangingPunct="0">
                <a:spcBef>
                  <a:spcPct val="20000"/>
                </a:spcBef>
                <a:spcAft>
                  <a:spcPts val="400"/>
                </a:spcAft>
                <a:buClr>
                  <a:schemeClr val="bg1">
                    <a:lumMod val="50000"/>
                  </a:schemeClr>
                </a:buClr>
                <a:buFont typeface="Wingdings" pitchFamily="2" charset="2"/>
                <a:buChar char="§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28650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Clr>
                  <a:schemeClr val="bg1">
                    <a:lumMod val="50000"/>
                  </a:schemeClr>
                </a:buClr>
                <a:buFont typeface="Arial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9625" indent="-180975" algn="l" rtl="0" eaLnBrk="0" fontAlgn="base" latinLnBrk="1" hangingPunct="0">
                <a:spcBef>
                  <a:spcPct val="20000"/>
                </a:spcBef>
                <a:spcAft>
                  <a:spcPts val="300"/>
                </a:spcAft>
                <a:buSzPct val="96000"/>
                <a:buFont typeface="Arial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600" indent="-180975" algn="l" rtl="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rgbClr val="50ABCC"/>
                </a:buClr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1" indent="0" algn="l" defTabSz="914400" rtl="0" eaLnBrk="0" fontAlgn="base" latinLnBrk="1" hangingPunct="0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투플의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순서가 달라도 같은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릴레이션임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관계 데이터 모델의 </a:t>
              </a:r>
              <a:r>
                <a:rPr kumimoji="1" lang="ko-KR" alt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투플은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실제적인 값을 가지고 있으며 이 값은 시간이 지남에 따라 데이터의 삭제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수정</a:t>
              </a:r>
              <a:r>
                <a:rPr kumimoji="1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1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삽입에 따라 순서가 바뀔 수 있음</a:t>
              </a:r>
              <a:endPara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820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릴레이션의</a:t>
            </a:r>
            <a:r>
              <a:rPr lang="ko-KR" altLang="en-US" dirty="0"/>
              <a:t> 특징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136576" y="2060848"/>
          <a:ext cx="5112568" cy="238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 아는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기초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6576" y="3553966"/>
            <a:ext cx="5112568" cy="595114"/>
          </a:xfrm>
          <a:prstGeom prst="rect">
            <a:avLst/>
          </a:prstGeom>
          <a:solidFill>
            <a:schemeClr val="accent3">
              <a:lumMod val="50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91730" y="4149080"/>
            <a:ext cx="1656184" cy="288032"/>
          </a:xfrm>
          <a:prstGeom prst="rect">
            <a:avLst/>
          </a:prstGeom>
          <a:solidFill>
            <a:schemeClr val="tx2">
              <a:lumMod val="40000"/>
              <a:lumOff val="60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249144" y="3841998"/>
            <a:ext cx="288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792760" y="4581128"/>
            <a:ext cx="288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none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36576" y="50851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2-4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특징에 위배된 경우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릴레이션의</a:t>
            </a:r>
            <a:r>
              <a:rPr lang="ko-KR" altLang="en-US" dirty="0"/>
              <a:t> 특징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136576" y="2060848"/>
          <a:ext cx="5112568" cy="238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7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 아는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기초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6576" y="3553966"/>
            <a:ext cx="5112568" cy="595114"/>
          </a:xfrm>
          <a:prstGeom prst="rect">
            <a:avLst/>
          </a:prstGeom>
          <a:solidFill>
            <a:schemeClr val="accent3">
              <a:lumMod val="50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91730" y="4149080"/>
            <a:ext cx="1656184" cy="288032"/>
          </a:xfrm>
          <a:prstGeom prst="rect">
            <a:avLst/>
          </a:prstGeom>
          <a:solidFill>
            <a:schemeClr val="tx2">
              <a:lumMod val="40000"/>
              <a:lumOff val="60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249144" y="3841998"/>
            <a:ext cx="288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37176" y="3699490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동일한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투플이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중복되면 안 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792760" y="4581128"/>
            <a:ext cx="2880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none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56656" y="4725144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속성의 값은 단일 값이어야 함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6576" y="50851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2-4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특징에 위배된 경우</a:t>
            </a:r>
          </a:p>
        </p:txBody>
      </p:sp>
    </p:spTree>
    <p:extLst>
      <p:ext uri="{BB962C8B-B14F-4D97-AF65-F5344CB8AC3E}">
        <p14:creationId xmlns:p14="http://schemas.microsoft.com/office/powerpoint/2010/main" val="327167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관계 데이터 모델</a:t>
            </a:r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971600" y="2852936"/>
          <a:ext cx="7128791" cy="1512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2168"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관계 데이터 모델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릴레이션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제약조건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관계대수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관계 데이터베이스 시스템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릴레이션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(SQL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 및 관리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제약조건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(SQL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제약 선언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관계대수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(SQL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연산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오른쪽 화살표 4"/>
          <p:cNvSpPr/>
          <p:nvPr/>
        </p:nvSpPr>
        <p:spPr>
          <a:xfrm>
            <a:off x="3813892" y="3400425"/>
            <a:ext cx="648000" cy="17859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3848" y="361644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컴퓨터 시스템에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592" y="443711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2-5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관계 데이터베이스 시스템</a:t>
            </a:r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611560" y="1268760"/>
            <a:ext cx="7793222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00" marR="0" lvl="0" indent="-215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관계 데이터 모델은 데이터를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차원 테이블 형태인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릴레이션으로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표현함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15900" marR="0" lvl="0" indent="-215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릴레이션에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대한 제약조건과 관계 연산을 위한 관계대수를 정의함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3236784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l" defTabSz="914400" rtl="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400" b="1" i="0" u="none" strike="noStrike" kern="1200" cap="none" spc="-150" normalizeH="0" baseline="0" noProof="0" dirty="0">
                <a:ln>
                  <a:noFill/>
                </a:ln>
                <a:solidFill>
                  <a:srgbClr val="8064A2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무결성 제약조건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제약조건의 수행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64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ko-KR" altLang="en-US" dirty="0"/>
              <a:t>특정 </a:t>
            </a:r>
            <a:r>
              <a:rPr lang="ko-KR" altLang="en-US" dirty="0" err="1"/>
              <a:t>투플을</a:t>
            </a:r>
            <a:r>
              <a:rPr lang="ko-KR" altLang="en-US" dirty="0"/>
              <a:t> 식별할 때 사용하는 속성 혹은 속성의 집합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 err="1"/>
              <a:t>릴레이션은</a:t>
            </a:r>
            <a:r>
              <a:rPr lang="ko-KR" altLang="en-US" dirty="0"/>
              <a:t> 중복된 </a:t>
            </a:r>
            <a:r>
              <a:rPr lang="ko-KR" altLang="en-US" dirty="0" err="1"/>
              <a:t>투플을</a:t>
            </a:r>
            <a:r>
              <a:rPr lang="ko-KR" altLang="en-US" dirty="0"/>
              <a:t> 허용하지 않음 → 각각의 </a:t>
            </a:r>
            <a:r>
              <a:rPr lang="ko-KR" altLang="en-US" dirty="0" err="1"/>
              <a:t>투플에</a:t>
            </a:r>
            <a:r>
              <a:rPr lang="ko-KR" altLang="en-US" dirty="0"/>
              <a:t> 포함된 속성들 중 어느 하나</a:t>
            </a:r>
            <a:r>
              <a:rPr lang="en-US" altLang="ko-KR" dirty="0"/>
              <a:t>(</a:t>
            </a:r>
            <a:r>
              <a:rPr lang="ko-KR" altLang="en-US" dirty="0"/>
              <a:t>혹은 하나 이상</a:t>
            </a:r>
            <a:r>
              <a:rPr lang="en-US" altLang="ko-KR" dirty="0"/>
              <a:t>)</a:t>
            </a:r>
            <a:r>
              <a:rPr lang="ko-KR" altLang="en-US" dirty="0"/>
              <a:t>는 값이 달라야 함</a:t>
            </a:r>
            <a:r>
              <a:rPr lang="en-US" altLang="ko-KR" dirty="0"/>
              <a:t>. </a:t>
            </a:r>
            <a:r>
              <a:rPr lang="ko-KR" altLang="en-US" dirty="0"/>
              <a:t>즉 키가 되는 속성</a:t>
            </a:r>
            <a:r>
              <a:rPr lang="en-US" altLang="ko-KR" dirty="0"/>
              <a:t>(</a:t>
            </a:r>
            <a:r>
              <a:rPr lang="ko-KR" altLang="en-US" dirty="0"/>
              <a:t>혹은 속성의 집합</a:t>
            </a:r>
            <a:r>
              <a:rPr lang="en-US" altLang="ko-KR" dirty="0"/>
              <a:t>)</a:t>
            </a:r>
            <a:r>
              <a:rPr lang="ko-KR" altLang="en-US" dirty="0"/>
              <a:t>은 반드시 값이 달라서 투플들을 서로 구별할 수 있어야 함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키는 </a:t>
            </a:r>
            <a:r>
              <a:rPr lang="ko-KR" altLang="en-US" dirty="0" err="1"/>
              <a:t>릴레이션</a:t>
            </a:r>
            <a:r>
              <a:rPr lang="ko-KR" altLang="en-US" dirty="0"/>
              <a:t> 간의 관계를 맺는 데도 사용됨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592" y="60212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2-6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자동차 한 대당 키는 단 하나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3789040"/>
            <a:ext cx="2363556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6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altLang="ko-KR" dirty="0">
              <a:solidFill>
                <a:srgbClr val="FF0000"/>
              </a:solidFill>
            </a:endParaRPr>
          </a:p>
          <a:p>
            <a:pPr>
              <a:buNone/>
            </a:pP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177891" y="2648920"/>
          <a:ext cx="498223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굿스포츠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/>
                        <a:t>7000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축구아는</a:t>
                      </a:r>
                      <a:r>
                        <a:rPr lang="ko-KR" altLang="en-US" sz="1200" dirty="0"/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나무수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/>
                        <a:t>13000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/>
                        <a:t>22000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/>
                        <a:t>35000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굿스포츠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/>
                        <a:t>8000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177891" y="1052736"/>
          <a:ext cx="569836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고객번호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주민번호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핸드폰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810101-1111111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영국 </a:t>
                      </a:r>
                      <a:r>
                        <a:rPr lang="ko-KR" altLang="en-US" sz="1200" dirty="0" err="1"/>
                        <a:t>맨체스타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000-5000-0001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900101-2222222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대한민국 서울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000-6000-0001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장미란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830101-2333333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대한민국 강원도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000-7000-0001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추신수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820101-1444444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미국 </a:t>
                      </a:r>
                      <a:r>
                        <a:rPr lang="ko-KR" altLang="en-US" sz="1200" dirty="0" err="1"/>
                        <a:t>클리블랜드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000-8000-0001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3568" y="105273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177891" y="4519424"/>
          <a:ext cx="496625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고객번호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도서번호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판매가격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주문일자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7000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5181" y="265596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181" y="451864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176" y="610099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2-7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마당서점 데이터베이스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340768"/>
            <a:ext cx="8064896" cy="5472608"/>
          </a:xfrm>
        </p:spPr>
        <p:txBody>
          <a:bodyPr/>
          <a:lstStyle/>
          <a:p>
            <a:r>
              <a:rPr lang="ko-KR" altLang="en-US" dirty="0" err="1"/>
              <a:t>투플을</a:t>
            </a:r>
            <a:r>
              <a:rPr lang="ko-KR" altLang="en-US" dirty="0"/>
              <a:t> 유일하게 식별할 수 있는 하나의 속성 혹은 속성의 집합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1400" b="0" dirty="0"/>
              <a:t>     </a:t>
            </a:r>
            <a:r>
              <a:rPr lang="ko-KR" altLang="en-US" sz="1400" b="0" dirty="0" err="1"/>
              <a:t>투플을</a:t>
            </a:r>
            <a:r>
              <a:rPr lang="ko-KR" altLang="en-US" sz="1400" b="0" dirty="0"/>
              <a:t> 유일하게 식별할 수 있는 값이면 모두 </a:t>
            </a:r>
            <a:r>
              <a:rPr lang="ko-KR" altLang="en-US" sz="1400" b="0" dirty="0" err="1"/>
              <a:t>슈퍼키가</a:t>
            </a:r>
            <a:r>
              <a:rPr lang="ko-KR" altLang="en-US" sz="1400" b="0" dirty="0"/>
              <a:t> 될 수 있음</a:t>
            </a:r>
            <a:endParaRPr lang="en-US" altLang="ko-KR" sz="1400" b="0" dirty="0"/>
          </a:p>
          <a:p>
            <a:pPr marL="0" indent="0">
              <a:buNone/>
            </a:pPr>
            <a:r>
              <a:rPr lang="en-US" altLang="ko-KR" sz="600" b="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     (</a:t>
            </a:r>
            <a:r>
              <a:rPr lang="ko-KR" altLang="en-US" sz="1400" dirty="0"/>
              <a:t>고객 </a:t>
            </a:r>
            <a:r>
              <a:rPr lang="ko-KR" altLang="en-US" sz="1400" dirty="0" err="1"/>
              <a:t>릴레이션</a:t>
            </a:r>
            <a:r>
              <a:rPr lang="ko-KR" altLang="en-US" sz="1400" dirty="0"/>
              <a:t> 예</a:t>
            </a:r>
            <a:r>
              <a:rPr lang="en-US" altLang="ko-KR" sz="1400" dirty="0"/>
              <a:t>) </a:t>
            </a:r>
          </a:p>
          <a:p>
            <a:pPr lvl="1"/>
            <a:r>
              <a:rPr lang="ko-KR" altLang="en-US" dirty="0">
                <a:latin typeface="+mn-ea"/>
              </a:rPr>
              <a:t>고객번호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고객별로 유일한 값이 부여되어 있기 때문에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식별할 수 있음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이름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동명이인이 있을 경우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유일하게 식별할 수 없음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주민번호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개인별로 유일한 값이 부여되어 있기 때문에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식별할 수 있음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주소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가족끼리는 같은 정보를 사용하므로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식별할 수 없음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핸드폰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한 사람이 여러 개의 핸드폰을 사용할 수 있고 반대로 핸드폰을 사용하지 않는 사람이 있을 수 있기  </a:t>
            </a:r>
            <a:endParaRPr lang="en-US" altLang="ko-KR" dirty="0">
              <a:latin typeface="+mn-ea"/>
            </a:endParaRPr>
          </a:p>
          <a:p>
            <a:pPr lvl="1">
              <a:buNone/>
            </a:pPr>
            <a:r>
              <a:rPr lang="en-US" altLang="ko-KR" dirty="0">
                <a:latin typeface="+mn-ea"/>
              </a:rPr>
              <a:t>              </a:t>
            </a:r>
            <a:r>
              <a:rPr lang="ko-KR" altLang="en-US" dirty="0">
                <a:latin typeface="+mn-ea"/>
              </a:rPr>
              <a:t>때문에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식별할 수 없음</a:t>
            </a:r>
            <a:endParaRPr lang="en-US" altLang="ko-KR" dirty="0">
              <a:latin typeface="+mn-ea"/>
            </a:endParaRPr>
          </a:p>
          <a:p>
            <a:pPr lvl="1">
              <a:buNone/>
            </a:pPr>
            <a:endParaRPr lang="en-US" altLang="ko-KR" sz="1600" dirty="0">
              <a:latin typeface="+mn-ea"/>
            </a:endParaRPr>
          </a:p>
          <a:p>
            <a:r>
              <a:rPr lang="ko-KR" altLang="en-US" dirty="0"/>
              <a:t>고객 </a:t>
            </a:r>
            <a:r>
              <a:rPr lang="ko-KR" altLang="en-US" dirty="0" err="1"/>
              <a:t>릴레이션은</a:t>
            </a:r>
            <a:r>
              <a:rPr lang="ko-KR" altLang="en-US" dirty="0"/>
              <a:t> 고객번호와 주민번호를 포함한 모든 속성의 집합이 </a:t>
            </a:r>
            <a:r>
              <a:rPr lang="ko-KR" altLang="en-US" dirty="0" err="1"/>
              <a:t>슈퍼키가</a:t>
            </a:r>
            <a:r>
              <a:rPr lang="ko-KR" altLang="en-US" dirty="0"/>
              <a:t> 됨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en-US" altLang="ko-KR" sz="1200" b="0" dirty="0"/>
              <a:t>EX)  (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), (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), (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주소</a:t>
            </a:r>
            <a:r>
              <a:rPr lang="en-US" altLang="ko-KR" sz="1200" b="0" dirty="0"/>
              <a:t>), (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핸드폰</a:t>
            </a:r>
            <a:r>
              <a:rPr lang="en-US" altLang="ko-KR" sz="1200" b="0" dirty="0"/>
              <a:t>),</a:t>
            </a:r>
          </a:p>
          <a:p>
            <a:pPr>
              <a:buNone/>
            </a:pPr>
            <a:r>
              <a:rPr lang="en-US" altLang="ko-KR" sz="1200" b="0" dirty="0"/>
              <a:t>	      (</a:t>
            </a:r>
            <a:r>
              <a:rPr lang="ko-KR" altLang="en-US" sz="1200" b="0" dirty="0"/>
              <a:t>고객번호</a:t>
            </a:r>
            <a:r>
              <a:rPr lang="en-US" altLang="ko-KR" sz="1200" b="0" dirty="0"/>
              <a:t>), (</a:t>
            </a:r>
            <a:r>
              <a:rPr lang="ko-KR" altLang="en-US" sz="1200" b="0" dirty="0"/>
              <a:t>고객번호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주소</a:t>
            </a:r>
            <a:r>
              <a:rPr lang="en-US" altLang="ko-KR" sz="1200" b="0" dirty="0"/>
              <a:t>), (</a:t>
            </a:r>
            <a:r>
              <a:rPr lang="ko-KR" altLang="en-US" sz="1200" b="0" dirty="0"/>
              <a:t>고객번호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주소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핸드폰</a:t>
            </a:r>
            <a:r>
              <a:rPr lang="en-US" altLang="ko-KR" sz="1200" b="0" dirty="0"/>
              <a:t>) </a:t>
            </a:r>
            <a:r>
              <a:rPr lang="ko-KR" altLang="en-US" sz="1200" b="0" dirty="0"/>
              <a:t>등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323528" y="908720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슈퍼키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412776"/>
            <a:ext cx="8064896" cy="5472608"/>
          </a:xfrm>
        </p:spPr>
        <p:txBody>
          <a:bodyPr/>
          <a:lstStyle/>
          <a:p>
            <a:r>
              <a:rPr lang="ko-KR" altLang="en-US" dirty="0" err="1"/>
              <a:t>투플을</a:t>
            </a:r>
            <a:r>
              <a:rPr lang="ko-KR" altLang="en-US" dirty="0"/>
              <a:t> 유일하게 식별할 수 있는 속성의 </a:t>
            </a:r>
            <a:r>
              <a:rPr lang="ko-KR" altLang="en-US"/>
              <a:t>최소 집합</a:t>
            </a:r>
            <a:endParaRPr lang="en-US" altLang="ko-KR" sz="1000"/>
          </a:p>
          <a:p>
            <a:pPr marL="0" indent="0">
              <a:buNone/>
            </a:pPr>
            <a:r>
              <a:rPr lang="en-US" altLang="ko-KR" sz="1000"/>
              <a:t>     </a:t>
            </a:r>
            <a:r>
              <a:rPr lang="en-US" altLang="ko-KR" sz="1200"/>
              <a:t>(</a:t>
            </a:r>
            <a:r>
              <a:rPr lang="ko-KR" altLang="en-US" sz="1200"/>
              <a:t>고객 릴레이션 예</a:t>
            </a:r>
            <a:r>
              <a:rPr lang="en-US" altLang="ko-KR" sz="1200"/>
              <a:t>) </a:t>
            </a:r>
          </a:p>
          <a:p>
            <a:pPr lvl="1" algn="just"/>
            <a:r>
              <a:rPr lang="ko-KR" altLang="en-US">
                <a:latin typeface="+mn-ea"/>
              </a:rPr>
              <a:t>고객번호 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고객번호는 고객 테이블에서 고객 한명 당 유일한 값</a:t>
            </a:r>
            <a:r>
              <a:rPr lang="en-US" altLang="ko-KR">
                <a:latin typeface="+mn-ea"/>
              </a:rPr>
              <a:t>                         </a:t>
            </a:r>
          </a:p>
          <a:p>
            <a:pPr lvl="1" algn="just"/>
            <a:r>
              <a:rPr lang="ko-KR" altLang="en-US">
                <a:latin typeface="+mn-ea"/>
              </a:rPr>
              <a:t>주민번호 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주민번호는 나라에서 부여한 유일한 값이므로 고객 테이블내에서도 유일함</a:t>
            </a:r>
            <a:r>
              <a:rPr lang="en-US" altLang="ko-KR">
                <a:latin typeface="+mn-ea"/>
              </a:rPr>
              <a:t>(Unique)</a:t>
            </a:r>
          </a:p>
          <a:p>
            <a:pPr marL="0" indent="0">
              <a:buNone/>
            </a:pPr>
            <a:endParaRPr lang="en-US" altLang="ko-KR" sz="1000"/>
          </a:p>
          <a:p>
            <a:pPr marL="0" indent="0">
              <a:buNone/>
            </a:pPr>
            <a:r>
              <a:rPr lang="en-US" altLang="ko-KR" sz="1200"/>
              <a:t>     (</a:t>
            </a:r>
            <a:r>
              <a:rPr lang="ko-KR" altLang="en-US" sz="1200" dirty="0"/>
              <a:t>주문 </a:t>
            </a:r>
            <a:r>
              <a:rPr lang="ko-KR" altLang="en-US" sz="1200" dirty="0" err="1"/>
              <a:t>릴레이션</a:t>
            </a:r>
            <a:r>
              <a:rPr lang="ko-KR" altLang="en-US" sz="1200" dirty="0"/>
              <a:t> 예</a:t>
            </a:r>
            <a:r>
              <a:rPr lang="en-US" altLang="ko-KR" sz="1200" dirty="0"/>
              <a:t>) </a:t>
            </a:r>
          </a:p>
          <a:p>
            <a:pPr lvl="1" algn="just"/>
            <a:r>
              <a:rPr lang="ko-KR" altLang="en-US" dirty="0">
                <a:latin typeface="+mn-ea"/>
              </a:rPr>
              <a:t>고객번호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한 명의 고객이 여러 권의 도서를 구입할 수 있으므로 </a:t>
            </a:r>
            <a:r>
              <a:rPr lang="ko-KR" altLang="en-US" dirty="0" err="1">
                <a:latin typeface="+mn-ea"/>
              </a:rPr>
              <a:t>후보키가</a:t>
            </a:r>
            <a:r>
              <a:rPr lang="ko-KR" altLang="en-US" dirty="0">
                <a:latin typeface="+mn-ea"/>
              </a:rPr>
              <a:t> 될 수 없고</a:t>
            </a:r>
            <a:r>
              <a:rPr lang="en-US" altLang="ko-KR" dirty="0">
                <a:latin typeface="+mn-ea"/>
              </a:rPr>
              <a:t>,                                 </a:t>
            </a:r>
          </a:p>
          <a:p>
            <a:pPr marL="266700" lvl="1" indent="0" algn="just">
              <a:buNone/>
            </a:pPr>
            <a:r>
              <a:rPr lang="en-US" altLang="ko-KR" dirty="0">
                <a:latin typeface="+mn-ea"/>
              </a:rPr>
              <a:t>                 </a:t>
            </a:r>
            <a:r>
              <a:rPr lang="ko-KR" altLang="en-US" dirty="0">
                <a:latin typeface="+mn-ea"/>
              </a:rPr>
              <a:t>고객번호가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인 박지성 고객은 세 번의 주문 기록이 있으므로 투플을 유일하게 식별할 수 없음</a:t>
            </a:r>
            <a:r>
              <a:rPr lang="en-US" altLang="ko-KR" dirty="0">
                <a:latin typeface="+mn-ea"/>
              </a:rPr>
              <a:t>  </a:t>
            </a:r>
          </a:p>
          <a:p>
            <a:pPr lvl="1" algn="just"/>
            <a:r>
              <a:rPr lang="ko-KR" altLang="en-US" dirty="0">
                <a:latin typeface="+mn-ea"/>
              </a:rPr>
              <a:t>도서번호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도서번호가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인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 err="1">
                <a:latin typeface="+mn-ea"/>
              </a:rPr>
              <a:t>축구아는</a:t>
            </a:r>
            <a:r>
              <a:rPr lang="ko-KR" altLang="en-US" dirty="0">
                <a:latin typeface="+mn-ea"/>
              </a:rPr>
              <a:t> 사람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는 두 번의 주문 기록이 있으므로 투플을 유일하게 식별할 수 없음</a:t>
            </a:r>
            <a:endParaRPr lang="en-US" altLang="ko-KR" dirty="0">
              <a:latin typeface="+mn-ea"/>
            </a:endParaRPr>
          </a:p>
          <a:p>
            <a:endParaRPr lang="en-US" altLang="ko-KR" dirty="0"/>
          </a:p>
          <a:p>
            <a:r>
              <a:rPr lang="ko-KR" altLang="en-US" dirty="0"/>
              <a:t>주문 </a:t>
            </a:r>
            <a:r>
              <a:rPr lang="ko-KR" altLang="en-US" dirty="0" err="1"/>
              <a:t>릴레이션의</a:t>
            </a:r>
            <a:r>
              <a:rPr lang="ko-KR" altLang="en-US" dirty="0"/>
              <a:t> </a:t>
            </a:r>
            <a:r>
              <a:rPr lang="ko-KR" altLang="en-US" dirty="0" err="1"/>
              <a:t>후보키는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개의 속성을 합한 </a:t>
            </a:r>
            <a:r>
              <a:rPr lang="en-US" altLang="ko-KR" dirty="0"/>
              <a:t>(</a:t>
            </a:r>
            <a:r>
              <a:rPr lang="ko-KR" altLang="en-US" dirty="0"/>
              <a:t>고객번호</a:t>
            </a:r>
            <a:r>
              <a:rPr lang="en-US" altLang="ko-KR" dirty="0"/>
              <a:t>, </a:t>
            </a:r>
            <a:r>
              <a:rPr lang="ko-KR" altLang="en-US" dirty="0"/>
              <a:t>도서번호</a:t>
            </a:r>
            <a:r>
              <a:rPr lang="en-US" altLang="ko-KR" dirty="0"/>
              <a:t>)</a:t>
            </a:r>
            <a:r>
              <a:rPr lang="ko-KR" altLang="en-US" dirty="0"/>
              <a:t>가 됨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개 이상의 속성으로 이루어진 키를 </a:t>
            </a:r>
            <a:r>
              <a:rPr lang="ko-KR" altLang="en-US" dirty="0" err="1"/>
              <a:t>복합키</a:t>
            </a:r>
            <a:r>
              <a:rPr lang="en-US" altLang="ko-KR" dirty="0"/>
              <a:t>(composite key)</a:t>
            </a:r>
            <a:r>
              <a:rPr lang="ko-KR" altLang="en-US" dirty="0"/>
              <a:t>라고 함</a:t>
            </a:r>
            <a:endParaRPr lang="en-US" altLang="ko-KR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95536" y="908720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후보키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362335"/>
            <a:ext cx="8064896" cy="5472608"/>
          </a:xfrm>
        </p:spPr>
        <p:txBody>
          <a:bodyPr/>
          <a:lstStyle/>
          <a:p>
            <a:r>
              <a:rPr lang="ko-KR" altLang="en-US" dirty="0"/>
              <a:t>여러 후보키 중 하나를 선정하여 대표로 삼는 키</a:t>
            </a:r>
            <a:endParaRPr lang="en-US" altLang="ko-KR" dirty="0"/>
          </a:p>
          <a:p>
            <a:r>
              <a:rPr lang="ko-KR" altLang="en-US" dirty="0" err="1"/>
              <a:t>후보키가</a:t>
            </a:r>
            <a:r>
              <a:rPr lang="ko-KR" altLang="en-US" dirty="0"/>
              <a:t> 하나뿐이라면 그 </a:t>
            </a:r>
            <a:r>
              <a:rPr lang="ko-KR" altLang="en-US" dirty="0" err="1"/>
              <a:t>후보키를</a:t>
            </a:r>
            <a:r>
              <a:rPr lang="ko-KR" altLang="en-US" dirty="0"/>
              <a:t> </a:t>
            </a:r>
            <a:r>
              <a:rPr lang="ko-KR" altLang="en-US" dirty="0" err="1"/>
              <a:t>기본키로</a:t>
            </a:r>
            <a:r>
              <a:rPr lang="ko-KR" altLang="en-US" dirty="0"/>
              <a:t> 사용하면 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여러 개라면 </a:t>
            </a:r>
            <a:r>
              <a:rPr lang="ko-KR" altLang="en-US" dirty="0" err="1"/>
              <a:t>릴레이션의</a:t>
            </a:r>
            <a:r>
              <a:rPr lang="ko-KR" altLang="en-US" dirty="0"/>
              <a:t> 특성을 반영하여 하나를 선택하면 됨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ko-KR" altLang="en-US" dirty="0" err="1"/>
              <a:t>기본키</a:t>
            </a:r>
            <a:r>
              <a:rPr lang="ko-KR" altLang="en-US" dirty="0"/>
              <a:t> 선정 시 고려사항</a:t>
            </a:r>
            <a:endParaRPr lang="en-US" altLang="ko-KR" sz="800" dirty="0"/>
          </a:p>
          <a:p>
            <a:pPr lvl="1"/>
            <a:r>
              <a:rPr lang="ko-KR" altLang="en-US" dirty="0" err="1">
                <a:latin typeface="+mn-ea"/>
              </a:rPr>
              <a:t>릴레이션</a:t>
            </a:r>
            <a:r>
              <a:rPr lang="ko-KR" altLang="en-US" dirty="0">
                <a:latin typeface="+mn-ea"/>
              </a:rPr>
              <a:t> 내 </a:t>
            </a:r>
            <a:r>
              <a:rPr lang="ko-KR" altLang="en-US" dirty="0" err="1">
                <a:latin typeface="+mn-ea"/>
              </a:rPr>
              <a:t>투플을</a:t>
            </a:r>
            <a:r>
              <a:rPr lang="ko-KR" altLang="en-US" dirty="0">
                <a:latin typeface="+mn-ea"/>
              </a:rPr>
              <a:t> 식별할 수 있는 고유한 값을 가져야 함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r>
              <a:rPr lang="en-US" altLang="ko-KR" dirty="0">
                <a:latin typeface="+mn-ea"/>
              </a:rPr>
              <a:t>NULL </a:t>
            </a:r>
            <a:r>
              <a:rPr lang="ko-KR" altLang="en-US" dirty="0">
                <a:latin typeface="+mn-ea"/>
              </a:rPr>
              <a:t>값은 허용하지 않음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키 값의 변동이 일어나지 않아야 함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최대한 적은 수의 속성을 가진 것이라야 함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r>
              <a:rPr lang="ko-KR" altLang="en-US" dirty="0">
                <a:latin typeface="+mn-ea"/>
              </a:rPr>
              <a:t>향후 키를 사용하는 데 있어서 문제 발생 소지가 없어야 함</a:t>
            </a:r>
            <a:r>
              <a:rPr lang="en-US" altLang="ko-KR" dirty="0">
                <a:latin typeface="+mn-ea"/>
              </a:rPr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 err="1"/>
              <a:t>릴레이션</a:t>
            </a:r>
            <a:r>
              <a:rPr lang="ko-KR" altLang="en-US" dirty="0"/>
              <a:t> 스키마를 표현할 때 </a:t>
            </a:r>
            <a:r>
              <a:rPr lang="ko-KR" altLang="en-US" dirty="0" err="1"/>
              <a:t>기본키는</a:t>
            </a:r>
            <a:r>
              <a:rPr lang="ko-KR" altLang="en-US" dirty="0"/>
              <a:t> 밑줄을 그어 표시함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이름</a:t>
            </a:r>
            <a:r>
              <a:rPr lang="en-US" altLang="ko-KR" sz="1400" b="0" dirty="0"/>
              <a:t>(</a:t>
            </a:r>
            <a:r>
              <a:rPr lang="ko-KR" altLang="en-US" sz="1400" b="0" u="sng" dirty="0"/>
              <a:t>속성</a:t>
            </a:r>
            <a:r>
              <a:rPr lang="en-US" altLang="ko-KR" sz="1400" b="0" u="sng" dirty="0"/>
              <a:t>1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속성</a:t>
            </a:r>
            <a:r>
              <a:rPr lang="en-US" altLang="ko-KR" sz="1400" b="0" dirty="0"/>
              <a:t>2, …. </a:t>
            </a:r>
            <a:r>
              <a:rPr lang="ko-KR" altLang="en-US" sz="1400" b="0" dirty="0"/>
              <a:t>속성</a:t>
            </a:r>
            <a:r>
              <a:rPr lang="en-US" altLang="ko-KR" sz="1400" b="0" dirty="0"/>
              <a:t>N)</a:t>
            </a:r>
          </a:p>
          <a:p>
            <a:pPr>
              <a:buNone/>
            </a:pPr>
            <a:r>
              <a:rPr lang="en-US" altLang="ko-KR" dirty="0"/>
              <a:t>	</a:t>
            </a:r>
            <a:r>
              <a:rPr lang="en-US" altLang="ko-KR" sz="1200" b="0" dirty="0"/>
              <a:t>EX) </a:t>
            </a:r>
            <a:r>
              <a:rPr lang="ko-KR" altLang="en-US" sz="1200" b="0" dirty="0"/>
              <a:t>고객</a:t>
            </a:r>
            <a:r>
              <a:rPr lang="en-US" altLang="ko-KR" sz="1200" b="0" dirty="0"/>
              <a:t>(</a:t>
            </a:r>
            <a:r>
              <a:rPr lang="ko-KR" altLang="en-US" sz="1200" b="0" u="sng" dirty="0"/>
              <a:t>고객번호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주민번호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주소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핸드폰</a:t>
            </a:r>
            <a:r>
              <a:rPr lang="en-US" altLang="ko-KR" sz="1200" b="0" dirty="0"/>
              <a:t>)</a:t>
            </a:r>
          </a:p>
          <a:p>
            <a:pPr>
              <a:buNone/>
            </a:pPr>
            <a:r>
              <a:rPr lang="en-US" altLang="ko-KR" sz="1200" b="0" dirty="0"/>
              <a:t>           </a:t>
            </a:r>
            <a:r>
              <a:rPr lang="ko-KR" altLang="en-US" sz="1200" b="0" dirty="0"/>
              <a:t>도서</a:t>
            </a:r>
            <a:r>
              <a:rPr lang="en-US" altLang="ko-KR" sz="1200" b="0" dirty="0"/>
              <a:t>(</a:t>
            </a:r>
            <a:r>
              <a:rPr lang="ko-KR" altLang="en-US" sz="1200" b="0" u="sng" dirty="0"/>
              <a:t>도서번호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도서이름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출판사</a:t>
            </a:r>
            <a:r>
              <a:rPr lang="en-US" altLang="ko-KR" sz="1200" b="0" dirty="0"/>
              <a:t>, </a:t>
            </a:r>
            <a:r>
              <a:rPr lang="ko-KR" altLang="en-US" sz="1200" b="0" dirty="0"/>
              <a:t>가격</a:t>
            </a:r>
            <a:r>
              <a:rPr lang="en-US" altLang="ko-KR" sz="1200" b="0" dirty="0"/>
              <a:t>)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323528" y="873038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368237"/>
            <a:ext cx="8064896" cy="5472608"/>
          </a:xfrm>
        </p:spPr>
        <p:txBody>
          <a:bodyPr/>
          <a:lstStyle/>
          <a:p>
            <a:pPr latinLnBrk="0"/>
            <a:r>
              <a:rPr lang="ko-KR" altLang="en-US" dirty="0" err="1"/>
              <a:t>기본키가</a:t>
            </a:r>
            <a:r>
              <a:rPr lang="ko-KR" altLang="en-US" dirty="0"/>
              <a:t> 보안을 요하거나</a:t>
            </a:r>
            <a:r>
              <a:rPr lang="en-US" altLang="ko-KR" dirty="0"/>
              <a:t>, </a:t>
            </a:r>
            <a:r>
              <a:rPr lang="ko-KR" altLang="en-US" dirty="0"/>
              <a:t>여러 개의 속성으로 구성되어 복잡하거나</a:t>
            </a:r>
            <a:r>
              <a:rPr lang="en-US" altLang="ko-KR" dirty="0"/>
              <a:t>, </a:t>
            </a:r>
            <a:r>
              <a:rPr lang="ko-KR" altLang="en-US" dirty="0"/>
              <a:t>마땅한 </a:t>
            </a:r>
            <a:r>
              <a:rPr lang="ko-KR" altLang="en-US" dirty="0" err="1"/>
              <a:t>기본키가</a:t>
            </a:r>
            <a:r>
              <a:rPr lang="ko-KR" altLang="en-US" dirty="0"/>
              <a:t> 없을 때는 일련번호 같은 가상의 속성을 만들어 </a:t>
            </a:r>
            <a:r>
              <a:rPr lang="ko-KR" altLang="en-US" dirty="0" err="1"/>
              <a:t>기본키로</a:t>
            </a:r>
            <a:r>
              <a:rPr lang="ko-KR" altLang="en-US" dirty="0"/>
              <a:t> 삼는 경우가 있음</a:t>
            </a:r>
            <a:r>
              <a:rPr lang="en-US" altLang="ko-KR" dirty="0"/>
              <a:t> </a:t>
            </a:r>
            <a:r>
              <a:rPr lang="ko-KR" altLang="en-US" dirty="0"/>
              <a:t>이러한 키를 대리키</a:t>
            </a:r>
            <a:r>
              <a:rPr lang="en-US" altLang="ko-KR" dirty="0"/>
              <a:t>(surrogate key) </a:t>
            </a:r>
            <a:r>
              <a:rPr lang="ko-KR" altLang="en-US" dirty="0"/>
              <a:t>혹은 </a:t>
            </a:r>
            <a:r>
              <a:rPr lang="ko-KR" altLang="en-US" dirty="0" err="1"/>
              <a:t>인조키</a:t>
            </a:r>
            <a:r>
              <a:rPr lang="en-US" altLang="ko-KR" dirty="0"/>
              <a:t>(artificial key)</a:t>
            </a:r>
            <a:r>
              <a:rPr lang="ko-KR" altLang="en-US" dirty="0"/>
              <a:t>라고 함</a:t>
            </a:r>
            <a:r>
              <a:rPr lang="en-US" altLang="ko-KR" dirty="0"/>
              <a:t> </a:t>
            </a:r>
          </a:p>
          <a:p>
            <a:pPr latinLnBrk="0"/>
            <a:endParaRPr lang="en-US" altLang="ko-KR" sz="600" dirty="0"/>
          </a:p>
          <a:p>
            <a:pPr latinLnBrk="0"/>
            <a:r>
              <a:rPr lang="ko-KR" altLang="en-US" dirty="0"/>
              <a:t>대리키는 </a:t>
            </a:r>
            <a:r>
              <a:rPr lang="en-US" altLang="ko-KR" dirty="0"/>
              <a:t>DBMS</a:t>
            </a:r>
            <a:r>
              <a:rPr lang="ko-KR" altLang="en-US" dirty="0"/>
              <a:t>나 관련 소프트웨어에서 임의로 생성하는 값으로 사용자가 직관적으로 그 값의 의미를 알 수 없음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2267744" y="4149614"/>
          <a:ext cx="48405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주문번호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고객번호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도서번호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판매가격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주문일자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23728" y="38147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5736" y="652534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2-8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대리키를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사용하도록 변경된 주문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912652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대리키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268760"/>
            <a:ext cx="8064896" cy="5472608"/>
          </a:xfrm>
        </p:spPr>
        <p:txBody>
          <a:bodyPr/>
          <a:lstStyle/>
          <a:p>
            <a:r>
              <a:rPr lang="ko-KR" altLang="en-US" dirty="0" err="1"/>
              <a:t>기본키로</a:t>
            </a:r>
            <a:r>
              <a:rPr lang="ko-KR" altLang="en-US" dirty="0"/>
              <a:t> 선정되지 않은 </a:t>
            </a:r>
            <a:r>
              <a:rPr lang="ko-KR" altLang="en-US" dirty="0" err="1"/>
              <a:t>후보키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ko-KR" altLang="en-US" dirty="0"/>
              <a:t>고객 </a:t>
            </a:r>
            <a:r>
              <a:rPr lang="ko-KR" altLang="en-US" dirty="0" err="1"/>
              <a:t>릴레이션의</a:t>
            </a:r>
            <a:r>
              <a:rPr lang="ko-KR" altLang="en-US" dirty="0"/>
              <a:t> 경우 고객번호와 주민번호 중 고객번호를 </a:t>
            </a:r>
            <a:r>
              <a:rPr lang="ko-KR" altLang="en-US" dirty="0" err="1"/>
              <a:t>기본키로</a:t>
            </a:r>
            <a:r>
              <a:rPr lang="ko-KR" altLang="en-US" dirty="0"/>
              <a:t> 정하면 주민번호가 대체키가 됨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95536" y="840854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대체키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323283"/>
            <a:ext cx="8064896" cy="5472608"/>
          </a:xfrm>
        </p:spPr>
        <p:txBody>
          <a:bodyPr/>
          <a:lstStyle/>
          <a:p>
            <a:r>
              <a:rPr lang="ko-KR" altLang="en-US" dirty="0"/>
              <a:t>다른 릴레이션의 </a:t>
            </a:r>
            <a:r>
              <a:rPr lang="ko-KR" altLang="en-US" dirty="0" err="1"/>
              <a:t>기본키를</a:t>
            </a:r>
            <a:r>
              <a:rPr lang="ko-KR" altLang="en-US" dirty="0"/>
              <a:t> 참조하는 속성을 말함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다른 </a:t>
            </a:r>
            <a:r>
              <a:rPr lang="ko-KR" altLang="en-US" dirty="0" err="1"/>
              <a:t>릴레이션의</a:t>
            </a:r>
            <a:r>
              <a:rPr lang="ko-KR" altLang="en-US" dirty="0"/>
              <a:t> </a:t>
            </a:r>
            <a:r>
              <a:rPr lang="ko-KR" altLang="en-US" dirty="0" err="1"/>
              <a:t>기본키를</a:t>
            </a:r>
            <a:r>
              <a:rPr lang="ko-KR" altLang="en-US" dirty="0"/>
              <a:t> 참조하여 관계 데이터 모델의 특징인 </a:t>
            </a:r>
            <a:r>
              <a:rPr lang="ko-KR" altLang="en-US" dirty="0" err="1"/>
              <a:t>릴레이션</a:t>
            </a:r>
            <a:r>
              <a:rPr lang="ko-KR" altLang="en-US" dirty="0"/>
              <a:t> 간의 관계</a:t>
            </a:r>
            <a:r>
              <a:rPr lang="en-US" altLang="ko-KR" dirty="0"/>
              <a:t>(relationship)</a:t>
            </a:r>
            <a:r>
              <a:rPr lang="ko-KR" altLang="en-US" dirty="0"/>
              <a:t>를 표현함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ko-KR" altLang="en-US" dirty="0" err="1"/>
              <a:t>외래키의</a:t>
            </a:r>
            <a:r>
              <a:rPr lang="ko-KR" altLang="en-US" dirty="0"/>
              <a:t> 특징</a:t>
            </a:r>
            <a:endParaRPr lang="en-US" altLang="ko-KR" sz="800" b="0" dirty="0"/>
          </a:p>
          <a:p>
            <a:pPr lvl="1"/>
            <a:r>
              <a:rPr lang="ko-KR" altLang="en-US" dirty="0">
                <a:latin typeface="+mn-ea"/>
              </a:rPr>
              <a:t>관계 데이터 모델의 </a:t>
            </a:r>
            <a:r>
              <a:rPr lang="ko-KR" altLang="en-US" dirty="0" err="1">
                <a:latin typeface="+mn-ea"/>
              </a:rPr>
              <a:t>릴레이션</a:t>
            </a:r>
            <a:r>
              <a:rPr lang="ko-KR" altLang="en-US" dirty="0">
                <a:latin typeface="+mn-ea"/>
              </a:rPr>
              <a:t> 간의 관계를 표현함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다른 </a:t>
            </a:r>
            <a:r>
              <a:rPr lang="ko-KR" altLang="en-US" dirty="0" err="1">
                <a:latin typeface="+mn-ea"/>
              </a:rPr>
              <a:t>릴레이션의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기본키를</a:t>
            </a:r>
            <a:r>
              <a:rPr lang="ko-KR" altLang="en-US" dirty="0">
                <a:latin typeface="+mn-ea"/>
              </a:rPr>
              <a:t> 참조하는 속성임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참조하고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외래키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참조되는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기본키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양쪽 </a:t>
            </a:r>
            <a:r>
              <a:rPr lang="ko-KR" altLang="en-US" dirty="0" err="1">
                <a:latin typeface="+mn-ea"/>
              </a:rPr>
              <a:t>릴레이션의</a:t>
            </a:r>
            <a:r>
              <a:rPr lang="ko-KR" altLang="en-US" dirty="0">
                <a:latin typeface="+mn-ea"/>
              </a:rPr>
              <a:t> 도메인은 서로 같아야 함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참조되는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기본키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값이 변경되면 참조하는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외래키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값도 변경됨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>
                <a:latin typeface="+mn-ea"/>
              </a:rPr>
              <a:t>NULL </a:t>
            </a:r>
            <a:r>
              <a:rPr lang="ko-KR" altLang="en-US" dirty="0">
                <a:latin typeface="+mn-ea"/>
              </a:rPr>
              <a:t>값과 중복 값 등이 허용됨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자기 자신의 </a:t>
            </a:r>
            <a:r>
              <a:rPr lang="ko-KR" altLang="en-US" dirty="0" err="1">
                <a:latin typeface="+mn-ea"/>
              </a:rPr>
              <a:t>기본키를</a:t>
            </a:r>
            <a:r>
              <a:rPr lang="ko-KR" altLang="en-US" dirty="0">
                <a:latin typeface="+mn-ea"/>
              </a:rPr>
              <a:t> 참조하는 </a:t>
            </a:r>
            <a:r>
              <a:rPr lang="ko-KR" altLang="en-US" dirty="0" err="1">
                <a:latin typeface="+mn-ea"/>
              </a:rPr>
              <a:t>외래키도</a:t>
            </a:r>
            <a:r>
              <a:rPr lang="ko-KR" altLang="en-US" dirty="0">
                <a:latin typeface="+mn-ea"/>
              </a:rPr>
              <a:t> 가능함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 err="1">
                <a:latin typeface="+mn-ea"/>
              </a:rPr>
              <a:t>외래키가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기본키의</a:t>
            </a:r>
            <a:r>
              <a:rPr lang="ko-KR" altLang="en-US" dirty="0">
                <a:latin typeface="+mn-ea"/>
              </a:rPr>
              <a:t> 일부가 될 수 있음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95536" y="840854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614060"/>
              </p:ext>
            </p:extLst>
          </p:nvPr>
        </p:nvGraphicFramePr>
        <p:xfrm>
          <a:off x="342578" y="1520546"/>
          <a:ext cx="4949502" cy="143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30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 dirty="0">
                          <a:solidFill>
                            <a:schemeClr val="tx1"/>
                          </a:solidFill>
                        </a:rPr>
                        <a:t>고객번호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주민번호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핸드폰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810101-1111111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영국 맨체스타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000-5000-0001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900101-2222222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대한민국 서울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000-6000-0001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장미란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830101-2333333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대한민국 강원도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000-7000-0001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추신수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820101-1444444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미국 </a:t>
                      </a:r>
                      <a:r>
                        <a:rPr lang="ko-KR" altLang="en-US" sz="1000" dirty="0" err="1"/>
                        <a:t>클리블랜드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000-8000-0001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490134"/>
              </p:ext>
            </p:extLst>
          </p:nvPr>
        </p:nvGraphicFramePr>
        <p:xfrm>
          <a:off x="5396577" y="1472723"/>
          <a:ext cx="342292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 dirty="0">
                          <a:solidFill>
                            <a:schemeClr val="tx1"/>
                          </a:solidFill>
                        </a:rPr>
                        <a:t>도서번호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도서이름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출판사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굿스포츠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/>
                        <a:t>7000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축구아는</a:t>
                      </a:r>
                      <a:r>
                        <a:rPr lang="ko-KR" altLang="en-US" sz="1000" dirty="0"/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나무수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/>
                        <a:t>13000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/>
                        <a:t>22000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/>
                        <a:t>35000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굿스포츠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/>
                        <a:t>8000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75856" y="3813423"/>
          <a:ext cx="4036764" cy="205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고객번호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도서번호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판매가격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주문일자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23"/>
          <p:cNvSpPr txBox="1"/>
          <p:nvPr/>
        </p:nvSpPr>
        <p:spPr>
          <a:xfrm>
            <a:off x="251520" y="1230660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</a:t>
            </a:r>
          </a:p>
        </p:txBody>
      </p:sp>
      <p:sp>
        <p:nvSpPr>
          <p:cNvPr id="13" name="TextBox 23"/>
          <p:cNvSpPr txBox="1"/>
          <p:nvPr/>
        </p:nvSpPr>
        <p:spPr>
          <a:xfrm>
            <a:off x="5292080" y="1196752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도서</a:t>
            </a:r>
          </a:p>
        </p:txBody>
      </p:sp>
      <p:sp>
        <p:nvSpPr>
          <p:cNvPr id="14" name="TextBox 23"/>
          <p:cNvSpPr txBox="1"/>
          <p:nvPr/>
        </p:nvSpPr>
        <p:spPr>
          <a:xfrm>
            <a:off x="3207433" y="3525391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42578" y="1509167"/>
            <a:ext cx="720080" cy="1440160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97996" y="1484784"/>
            <a:ext cx="758180" cy="1449685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75856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067944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60032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2949327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64088" y="2949327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47864" y="5901655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왼쪽 대괄호 25"/>
          <p:cNvSpPr/>
          <p:nvPr/>
        </p:nvSpPr>
        <p:spPr>
          <a:xfrm rot="5400000">
            <a:off x="4716016" y="3290317"/>
            <a:ext cx="144016" cy="864096"/>
          </a:xfrm>
          <a:prstGeom prst="leftBracket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61892" y="3381375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 rot="5400000" flipH="1" flipV="1">
            <a:off x="5256076" y="3633403"/>
            <a:ext cx="36004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5436096" y="3453383"/>
            <a:ext cx="5040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5940152" y="3453383"/>
            <a:ext cx="72008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rot="5400000" flipH="1" flipV="1">
            <a:off x="5760132" y="3201355"/>
            <a:ext cx="5040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77941" y="3468241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 rot="5400000">
            <a:off x="3887924" y="3561395"/>
            <a:ext cx="5040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rot="10800000">
            <a:off x="971600" y="3309367"/>
            <a:ext cx="316835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rot="5400000" flipH="1" flipV="1">
            <a:off x="791580" y="3129347"/>
            <a:ext cx="36004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160240" y="3309367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53344" y="624251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2-9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간의 참조 관계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0479" y="1352452"/>
            <a:ext cx="8064896" cy="5472608"/>
          </a:xfrm>
        </p:spPr>
        <p:txBody>
          <a:bodyPr/>
          <a:lstStyle/>
          <a:p>
            <a:pPr latinLnBrk="0"/>
            <a:r>
              <a:rPr lang="ko-KR" altLang="en-US" dirty="0" err="1"/>
              <a:t>외래키</a:t>
            </a:r>
            <a:r>
              <a:rPr lang="ko-KR" altLang="en-US" dirty="0"/>
              <a:t> 사용 시 참조하는 </a:t>
            </a:r>
            <a:r>
              <a:rPr lang="ko-KR" altLang="en-US" dirty="0" err="1"/>
              <a:t>릴레이션과</a:t>
            </a:r>
            <a:r>
              <a:rPr lang="ko-KR" altLang="en-US" dirty="0"/>
              <a:t> 참조되는 </a:t>
            </a:r>
            <a:r>
              <a:rPr lang="ko-KR" altLang="en-US" dirty="0" err="1"/>
              <a:t>릴레이션이</a:t>
            </a:r>
            <a:r>
              <a:rPr lang="ko-KR" altLang="en-US" dirty="0"/>
              <a:t> 꼭 다른 </a:t>
            </a:r>
            <a:r>
              <a:rPr lang="ko-KR" altLang="en-US" dirty="0" err="1"/>
              <a:t>릴레이션일</a:t>
            </a:r>
            <a:r>
              <a:rPr lang="ko-KR" altLang="en-US" dirty="0"/>
              <a:t> 필요는 없음</a:t>
            </a:r>
            <a:r>
              <a:rPr lang="en-US" altLang="ko-KR" dirty="0"/>
              <a:t>. </a:t>
            </a:r>
            <a:r>
              <a:rPr lang="ko-KR" altLang="en-US" dirty="0"/>
              <a:t>즉 자기 자신의 </a:t>
            </a:r>
            <a:r>
              <a:rPr lang="ko-KR" altLang="en-US" dirty="0" err="1"/>
              <a:t>기본키를</a:t>
            </a:r>
            <a:r>
              <a:rPr lang="ko-KR" altLang="en-US" dirty="0"/>
              <a:t> 참조할 수도 있음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411760" y="3717032"/>
          <a:ext cx="394277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8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u="none" dirty="0">
                          <a:solidFill>
                            <a:schemeClr val="tx1"/>
                          </a:solidFill>
                        </a:rPr>
                        <a:t>선수번호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멘토번호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영국 </a:t>
                      </a:r>
                      <a:r>
                        <a:rPr lang="ko-KR" altLang="en-US" sz="1200" dirty="0" err="1"/>
                        <a:t>맨체스타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NULL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대한민국 서울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장미란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대한민국 강원도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1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추신수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미국 </a:t>
                      </a:r>
                      <a:r>
                        <a:rPr lang="ko-KR" altLang="en-US" sz="1200" dirty="0" err="1"/>
                        <a:t>클리블랜드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NULL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11760" y="3429000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24128" y="3429000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왼쪽 대괄호 7"/>
          <p:cNvSpPr/>
          <p:nvPr/>
        </p:nvSpPr>
        <p:spPr>
          <a:xfrm rot="5400000">
            <a:off x="4283968" y="2420888"/>
            <a:ext cx="216024" cy="2376264"/>
          </a:xfrm>
          <a:prstGeom prst="leftBracket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99570" y="3212976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67744" y="516064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2-10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멘토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</a:p>
        </p:txBody>
      </p: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350697" y="852462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키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636644" y="2162076"/>
            <a:ext cx="5819301" cy="2150321"/>
          </a:xfrm>
          <a:prstGeom prst="roundRect">
            <a:avLst>
              <a:gd name="adj" fmla="val 4264"/>
            </a:avLst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                    </a:t>
            </a:r>
            <a:r>
              <a:rPr kumimoji="1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슈퍼키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                                      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내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식별할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                                      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 있는 속성의 집합 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819276" y="2333738"/>
            <a:ext cx="1285884" cy="178595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후보키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중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선정된 키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105160" y="2333738"/>
            <a:ext cx="1285884" cy="178595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대체키</a:t>
            </a:r>
            <a:endParaRPr kumimoji="1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기본키로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선정되지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않은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후보키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왼쪽 대괄호 6"/>
          <p:cNvSpPr/>
          <p:nvPr/>
        </p:nvSpPr>
        <p:spPr>
          <a:xfrm rot="5400000">
            <a:off x="2932788" y="3458220"/>
            <a:ext cx="432048" cy="1728192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triangle"/>
            <a:tailEnd type="triangle"/>
          </a:ln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 rot="5400000">
            <a:off x="3069375" y="4646352"/>
            <a:ext cx="21602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23"/>
          <p:cNvSpPr txBox="1"/>
          <p:nvPr/>
        </p:nvSpPr>
        <p:spPr>
          <a:xfrm>
            <a:off x="2868556" y="4754364"/>
            <a:ext cx="3736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후보키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식별할 수 있는 속성의 최소 집합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9672" y="53012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2-11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키의 포함 관계</a:t>
            </a:r>
          </a:p>
        </p:txBody>
      </p: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요약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무결성</a:t>
            </a:r>
            <a:r>
              <a:rPr lang="en-US" altLang="ko-KR" dirty="0"/>
              <a:t>(integrity, </a:t>
            </a:r>
            <a:r>
              <a:rPr lang="ko-KR" altLang="en-US" dirty="0" err="1"/>
              <a:t>無缺性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sz="1400" b="0" dirty="0"/>
              <a:t>     </a:t>
            </a:r>
            <a:r>
              <a:rPr lang="ko-KR" altLang="en-US" sz="1400" b="0" dirty="0"/>
              <a:t>데이터베이스에 저장된 데이터의 일관성과 정확성을 </a:t>
            </a:r>
            <a:r>
              <a:rPr lang="ko-KR" altLang="en-US" sz="1400" b="0"/>
              <a:t>지키는 것</a:t>
            </a:r>
            <a:r>
              <a:rPr lang="en-US" altLang="ko-KR" sz="1400" b="0"/>
              <a:t>, </a:t>
            </a:r>
            <a:r>
              <a:rPr lang="ko-KR" altLang="en-US" sz="1400" b="0"/>
              <a:t>여러가지 제약조건으로 지켜짐</a:t>
            </a:r>
            <a:endParaRPr lang="en-US" altLang="ko-KR" sz="1400" b="0" dirty="0"/>
          </a:p>
          <a:p>
            <a:endParaRPr lang="en-US" altLang="ko-KR" sz="1050" dirty="0"/>
          </a:p>
          <a:p>
            <a:r>
              <a:rPr lang="ko-KR" altLang="en-US" dirty="0"/>
              <a:t>도메인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sz="1400" dirty="0"/>
              <a:t>	</a:t>
            </a:r>
            <a:r>
              <a:rPr lang="ko-KR" altLang="en-US" sz="1400" b="0" dirty="0"/>
              <a:t>도메인 제약</a:t>
            </a:r>
            <a:r>
              <a:rPr lang="en-US" altLang="ko-KR" sz="1400" b="0" dirty="0"/>
              <a:t>(domain constraint)</a:t>
            </a:r>
            <a:r>
              <a:rPr lang="ko-KR" altLang="en-US" sz="1400" b="0" dirty="0"/>
              <a:t>이라고도 하며</a:t>
            </a:r>
            <a:r>
              <a:rPr lang="en-US" altLang="ko-KR" sz="1400" b="0" dirty="0"/>
              <a:t>,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내의 </a:t>
            </a:r>
            <a:r>
              <a:rPr lang="ko-KR" altLang="en-US" sz="1400" b="0" dirty="0" err="1"/>
              <a:t>투플들이</a:t>
            </a:r>
            <a:r>
              <a:rPr lang="ko-KR" altLang="en-US" sz="1400" b="0" dirty="0"/>
              <a:t> 각 속성의 도메인에 지정된 값만을 가져야 한다는 조건</a:t>
            </a:r>
            <a:r>
              <a:rPr lang="en-US" altLang="ko-KR" sz="1400" b="0" dirty="0"/>
              <a:t>. SQL </a:t>
            </a:r>
            <a:r>
              <a:rPr lang="ko-KR" altLang="en-US" sz="1400" b="0" dirty="0"/>
              <a:t>문에서 데이터 형식</a:t>
            </a:r>
            <a:r>
              <a:rPr lang="en-US" altLang="ko-KR" sz="1400" b="0" dirty="0"/>
              <a:t>(type), </a:t>
            </a:r>
            <a:r>
              <a:rPr lang="ko-KR" altLang="en-US" sz="1400" b="0" dirty="0"/>
              <a:t>널</a:t>
            </a:r>
            <a:r>
              <a:rPr lang="en-US" altLang="ko-KR" sz="1400" b="0" dirty="0"/>
              <a:t>(null/not null), </a:t>
            </a:r>
            <a:r>
              <a:rPr lang="ko-KR" altLang="en-US" sz="1400" b="0" dirty="0"/>
              <a:t>기본 값</a:t>
            </a:r>
            <a:r>
              <a:rPr lang="en-US" altLang="ko-KR" sz="1400" b="0" dirty="0"/>
              <a:t>(default), </a:t>
            </a:r>
            <a:r>
              <a:rPr lang="ko-KR" altLang="en-US" sz="1400" b="0" dirty="0"/>
              <a:t>체크</a:t>
            </a:r>
            <a:r>
              <a:rPr lang="en-US" altLang="ko-KR" sz="1400" b="0" dirty="0"/>
              <a:t>(check) </a:t>
            </a:r>
            <a:r>
              <a:rPr lang="ko-KR" altLang="en-US" sz="1400" b="0" dirty="0"/>
              <a:t>등을 사용하여 지정할 수 있음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00" b="0" dirty="0"/>
          </a:p>
          <a:p>
            <a:r>
              <a:rPr lang="ko-KR" altLang="en-US" dirty="0"/>
              <a:t>개체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ko-KR" altLang="en-US" sz="1400" b="0" dirty="0" err="1"/>
              <a:t>기본키</a:t>
            </a:r>
            <a:r>
              <a:rPr lang="ko-KR" altLang="en-US" sz="1400" b="0" dirty="0"/>
              <a:t> 제약</a:t>
            </a:r>
            <a:r>
              <a:rPr lang="en-US" altLang="ko-KR" sz="1400" b="0" dirty="0"/>
              <a:t>(primary key constraint)</a:t>
            </a:r>
            <a:r>
              <a:rPr lang="ko-KR" altLang="en-US" sz="1400" b="0" dirty="0"/>
              <a:t>이라고도 함</a:t>
            </a:r>
            <a:r>
              <a:rPr lang="en-US" altLang="ko-KR" sz="1400" b="0" dirty="0"/>
              <a:t>. </a:t>
            </a:r>
            <a:r>
              <a:rPr lang="ko-KR" altLang="en-US" sz="1400" b="0" dirty="0" err="1"/>
              <a:t>릴레이션은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기본키를</a:t>
            </a:r>
            <a:r>
              <a:rPr lang="ko-KR" altLang="en-US" sz="1400" b="0" dirty="0"/>
              <a:t> 지정하고 그에 따른 </a:t>
            </a:r>
            <a:r>
              <a:rPr lang="ko-KR" altLang="en-US" sz="1400" b="0" dirty="0" err="1"/>
              <a:t>무결성</a:t>
            </a:r>
            <a:r>
              <a:rPr lang="ko-KR" altLang="en-US" sz="1400" b="0" dirty="0"/>
              <a:t> 원칙</a:t>
            </a:r>
            <a:r>
              <a:rPr lang="en-US" altLang="ko-KR" sz="1400" b="0" dirty="0"/>
              <a:t>,</a:t>
            </a:r>
            <a:r>
              <a:rPr lang="ko-KR" altLang="en-US" sz="1400" b="0" dirty="0"/>
              <a:t> 즉</a:t>
            </a:r>
            <a:r>
              <a:rPr lang="en-US" altLang="ko-KR" sz="1400" b="0" dirty="0"/>
              <a:t> </a:t>
            </a:r>
            <a:r>
              <a:rPr lang="ko-KR" altLang="en-US" sz="1400" b="0" dirty="0" err="1"/>
              <a:t>기본키는</a:t>
            </a:r>
            <a:r>
              <a:rPr lang="ko-KR" altLang="en-US" sz="1400" b="0" dirty="0"/>
              <a:t> </a:t>
            </a:r>
            <a:r>
              <a:rPr lang="en-US" altLang="ko-KR" sz="1400" b="0" dirty="0"/>
              <a:t>NULL </a:t>
            </a:r>
            <a:r>
              <a:rPr lang="ko-KR" altLang="en-US" sz="1400" b="0" dirty="0"/>
              <a:t>값을 가져서는 안 되며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내에 오직 하나의 값만 존재해야 한다는 조건임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50" b="0" dirty="0"/>
          </a:p>
          <a:p>
            <a:r>
              <a:rPr lang="ko-KR" altLang="en-US" dirty="0"/>
              <a:t>참조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	</a:t>
            </a:r>
            <a:r>
              <a:rPr lang="ko-KR" altLang="en-US" sz="1400" b="0" dirty="0" err="1"/>
              <a:t>외래키</a:t>
            </a:r>
            <a:r>
              <a:rPr lang="ko-KR" altLang="en-US" sz="1400" b="0" dirty="0"/>
              <a:t> 제약</a:t>
            </a:r>
            <a:r>
              <a:rPr lang="en-US" altLang="ko-KR" sz="1400" b="0" dirty="0"/>
              <a:t>(foreign key constraint)</a:t>
            </a:r>
            <a:r>
              <a:rPr lang="ko-KR" altLang="en-US" sz="1400" b="0" dirty="0"/>
              <a:t>이라고도 하며</a:t>
            </a:r>
            <a:r>
              <a:rPr lang="en-US" altLang="ko-KR" sz="1400" b="0" dirty="0"/>
              <a:t>, </a:t>
            </a:r>
            <a:r>
              <a:rPr lang="ko-KR" altLang="en-US" sz="1400" b="0" dirty="0" err="1"/>
              <a:t>릴레이션</a:t>
            </a:r>
            <a:r>
              <a:rPr lang="ko-KR" altLang="en-US" sz="1400" b="0" dirty="0"/>
              <a:t> 간의 참조 관계를 선언하는 제약조건임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자식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외래키는</a:t>
            </a:r>
            <a:r>
              <a:rPr lang="ko-KR" altLang="en-US" sz="1400" b="0" dirty="0"/>
              <a:t> 부모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</a:t>
            </a:r>
            <a:r>
              <a:rPr lang="ko-KR" altLang="en-US" sz="1400" b="0" dirty="0" err="1"/>
              <a:t>기본키와</a:t>
            </a:r>
            <a:r>
              <a:rPr lang="ko-KR" altLang="en-US" sz="1400" b="0" dirty="0"/>
              <a:t> 도메인이 동일해야 하며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자식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값이 변경될 때 부모 </a:t>
            </a:r>
            <a:r>
              <a:rPr lang="ko-KR" altLang="en-US" sz="1400" b="0" dirty="0" err="1"/>
              <a:t>릴레이션의</a:t>
            </a:r>
            <a:r>
              <a:rPr lang="ko-KR" altLang="en-US" sz="1400" b="0" dirty="0"/>
              <a:t> 제약을 받는다는 것임</a:t>
            </a:r>
            <a:endParaRPr lang="en-US" altLang="ko-KR" sz="1800" dirty="0"/>
          </a:p>
          <a:p>
            <a:pPr>
              <a:buNone/>
            </a:pPr>
            <a:endParaRPr lang="en-US" altLang="ko-K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61AB-BE2B-97FF-FC40-ACB2E8C7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무결성 제약조건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4ADCF-DDE6-951C-1317-698762D0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무결성 제약 조건의 수행 시점</a:t>
            </a:r>
            <a:endParaRPr lang="en-US" altLang="ko-KR" dirty="0"/>
          </a:p>
          <a:p>
            <a:pPr lvl="1"/>
            <a:r>
              <a:rPr lang="ko-KR" altLang="en-US" dirty="0"/>
              <a:t>데이터 변경의 종류</a:t>
            </a:r>
            <a:endParaRPr lang="en-US" altLang="ko-KR" dirty="0"/>
          </a:p>
          <a:p>
            <a:pPr lvl="1"/>
            <a:r>
              <a:rPr lang="en-US" altLang="ko-KR" dirty="0"/>
              <a:t>CRUD, </a:t>
            </a:r>
            <a:r>
              <a:rPr lang="en-US" altLang="ko-KR" dirty="0" err="1"/>
              <a:t>ABCD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A1D3DFB0-E0B5-C7EB-4ACE-277897CDBF3C}"/>
              </a:ext>
            </a:extLst>
          </p:cNvPr>
          <p:cNvGraphicFramePr>
            <a:graphicFrameLocks noGrp="1"/>
          </p:cNvGraphicFramePr>
          <p:nvPr/>
        </p:nvGraphicFramePr>
        <p:xfrm>
          <a:off x="899592" y="2276872"/>
          <a:ext cx="69127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300926654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30868652"/>
                    </a:ext>
                  </a:extLst>
                </a:gridCol>
                <a:gridCol w="1481302">
                  <a:extLst>
                    <a:ext uri="{9D8B030D-6E8A-4147-A177-3AD203B41FA5}">
                      <a16:colId xmlns:a16="http://schemas.microsoft.com/office/drawing/2014/main" val="3569198023"/>
                    </a:ext>
                  </a:extLst>
                </a:gridCol>
                <a:gridCol w="1687050">
                  <a:extLst>
                    <a:ext uri="{9D8B030D-6E8A-4147-A177-3AD203B41FA5}">
                      <a16:colId xmlns:a16="http://schemas.microsoft.com/office/drawing/2014/main" val="1429170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 </a:t>
                      </a:r>
                      <a:r>
                        <a:rPr lang="en-US" altLang="ko-KR" dirty="0"/>
                        <a:t>(CRUD)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이름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ABCD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SQL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048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Create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INSERT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20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Read, Retrieve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Browse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SELECT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35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Change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갱신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31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Destroy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030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524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098266"/>
              </p:ext>
            </p:extLst>
          </p:nvPr>
        </p:nvGraphicFramePr>
        <p:xfrm>
          <a:off x="611188" y="1557763"/>
          <a:ext cx="8064498" cy="4424095"/>
        </p:xfrm>
        <a:graphic>
          <a:graphicData uri="http://schemas.openxmlformats.org/drawingml/2006/table">
            <a:tbl>
              <a:tblPr/>
              <a:tblGrid>
                <a:gridCol w="1728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75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구분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도메인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키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도메인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무결성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제약조건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개체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무결성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제약조건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참조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무결성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제약조건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제약 대상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속성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속성과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7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같은 용어 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도메인 제약</a:t>
                      </a:r>
                    </a:p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Domain Constraint)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기본키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제약</a:t>
                      </a:r>
                    </a:p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Primary Key</a:t>
                      </a:r>
                      <a:r>
                        <a:rPr lang="en-US" sz="12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Constraint)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외래키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제약</a:t>
                      </a:r>
                    </a:p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Foreign Key</a:t>
                      </a:r>
                      <a:r>
                        <a:rPr lang="en-US" sz="12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Constraint)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4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해당되는 키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기본키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외래키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 허용 여부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내 </a:t>
                      </a:r>
                      <a:endParaRPr lang="en-US" altLang="ko-KR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제약조건의 개수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속성의 개수와 동일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0~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여러 개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78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삽입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 시 제약사항 우선 확인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삽입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 시 제약사항 우선 확인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삽입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 시 제약사항 우선 확인 </a:t>
                      </a:r>
                    </a:p>
                    <a:p>
                      <a:pPr marL="171450" marR="0" indent="-17145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수정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 시 제약사항 우선 확인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188" y="123735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2-3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제약조건의 정리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무결성 제약조건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endParaRPr lang="en-US" altLang="ko-KR" sz="2000" dirty="0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800" dirty="0">
              <a:latin typeface="+mj-lt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51701D1-2739-80DF-7DF7-79068CF0D654}"/>
              </a:ext>
            </a:extLst>
          </p:cNvPr>
          <p:cNvSpPr txBox="1">
            <a:spLocks/>
          </p:cNvSpPr>
          <p:nvPr/>
        </p:nvSpPr>
        <p:spPr bwMode="auto">
          <a:xfrm>
            <a:off x="572105" y="1085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 무결성 제약조건 위반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D5FA1CE-E7A5-3925-09BD-137A0F6446E1}"/>
              </a:ext>
            </a:extLst>
          </p:cNvPr>
          <p:cNvSpPr txBox="1">
            <a:spLocks/>
          </p:cNvSpPr>
          <p:nvPr/>
        </p:nvSpPr>
        <p:spPr bwMode="auto">
          <a:xfrm>
            <a:off x="899592" y="1574800"/>
            <a:ext cx="8064896" cy="156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0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시험점수가 최대값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점을 넘어서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150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 인 경우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주민번호가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자리인 경우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230316-3698019 -&gt; 6 + 7 = 13</a:t>
            </a:r>
          </a:p>
          <a:p>
            <a:pPr marL="266700" marR="0" lvl="0" indent="-266700" algn="l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주문일자가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2023-03-34 or 2023-13-01</a:t>
            </a:r>
          </a:p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757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701030" y="4149080"/>
          <a:ext cx="2448272" cy="11184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90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추신수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653358" y="4149080"/>
          <a:ext cx="2314996" cy="11184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5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추신수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134670" y="4149080"/>
          <a:ext cx="2343224" cy="11184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추신수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5046" y="5373216"/>
            <a:ext cx="1872208" cy="5040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2-12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4624213" y="3861048"/>
            <a:ext cx="288032" cy="17259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48149" y="3501008"/>
            <a:ext cx="1572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(501,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남슬찬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1001)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7036592" y="3861048"/>
            <a:ext cx="288032" cy="17259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0528" y="3501008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(NULL,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남슬찬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1001)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83670" y="3789040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삽입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거부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72808" y="3789040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삽입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거부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13398" y="5445224"/>
            <a:ext cx="3918248" cy="6210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901700" marR="0" lvl="0" indent="-9017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2-13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개체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제약조건의 수행 예</a:t>
            </a:r>
            <a:b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충돌 및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NULL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값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삽입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내용 개체 틀 2"/>
          <p:cNvSpPr txBox="1">
            <a:spLocks/>
          </p:cNvSpPr>
          <p:nvPr/>
        </p:nvSpPr>
        <p:spPr bwMode="auto">
          <a:xfrm>
            <a:off x="412998" y="1080030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개체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  <p:sp>
        <p:nvSpPr>
          <p:cNvPr id="17" name="내용 개체 틀 2"/>
          <p:cNvSpPr txBox="1">
            <a:spLocks/>
          </p:cNvSpPr>
          <p:nvPr/>
        </p:nvSpPr>
        <p:spPr bwMode="auto">
          <a:xfrm>
            <a:off x="539552" y="1700808"/>
            <a:ext cx="8064896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0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삽입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값이 같으면 삽입이 금지됨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수정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값이 같거나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NULL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로도 수정이 금지됨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특별한 확인이 필요하지 않으며 즉시 수행함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835696" y="3789040"/>
          <a:ext cx="2664296" cy="11184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51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추신수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004048" y="3789040"/>
          <a:ext cx="2088232" cy="6475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5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8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 err="1">
                          <a:solidFill>
                            <a:schemeClr val="tx1"/>
                          </a:solidFill>
                        </a:rPr>
                        <a:t>학과명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/>
                        <a:t>1001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컴퓨터학과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/>
                        <a:t>2001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체육학과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63688" y="3501008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자식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32040" y="3501008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학과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rot="5400000">
            <a:off x="3887924" y="5049180"/>
            <a:ext cx="21602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995936" y="5157192"/>
            <a:ext cx="144016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rot="5400000" flipH="1" flipV="1">
            <a:off x="5076056" y="4797152"/>
            <a:ext cx="72008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99992" y="5168225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63688" y="551723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2-14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학생관리 데이터베이스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3539504" y="3779515"/>
            <a:ext cx="960487" cy="1152128"/>
          </a:xfrm>
          <a:prstGeom prst="rect">
            <a:avLst/>
          </a:prstGeom>
          <a:solidFill>
            <a:schemeClr val="accent3">
              <a:lumMod val="50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4048" y="3789040"/>
            <a:ext cx="864096" cy="648072"/>
          </a:xfrm>
          <a:prstGeom prst="rect">
            <a:avLst/>
          </a:prstGeom>
          <a:solidFill>
            <a:schemeClr val="accent3">
              <a:lumMod val="75000"/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  <p:sp>
        <p:nvSpPr>
          <p:cNvPr id="16" name="내용 개체 틀 2"/>
          <p:cNvSpPr txBox="1">
            <a:spLocks/>
          </p:cNvSpPr>
          <p:nvPr/>
        </p:nvSpPr>
        <p:spPr bwMode="auto">
          <a:xfrm>
            <a:off x="539552" y="1700808"/>
            <a:ext cx="8064896" cy="4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0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삽입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내용 개체 틀 2"/>
          <p:cNvSpPr txBox="1">
            <a:spLocks/>
          </p:cNvSpPr>
          <p:nvPr/>
        </p:nvSpPr>
        <p:spPr bwMode="auto">
          <a:xfrm>
            <a:off x="725860" y="2212380"/>
            <a:ext cx="7793222" cy="424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학과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삽입한 후 수행하면 정상적으로 진행된다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342900" marR="0" lvl="1" indent="-1651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자식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: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참조받는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테이블에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값이 없으므로 삽입이 금지된다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39552" y="1700808"/>
            <a:ext cx="8064896" cy="4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0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725860" y="2212380"/>
            <a:ext cx="7793222" cy="424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학과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참조하는 테이블을 같이 삭제할 수 있어서 금지하거나 </a:t>
            </a:r>
            <a:b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다른 추가 작업이 필요함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1" indent="-1651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학생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자식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 :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바로 삭제 가능함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899592" y="3292500"/>
            <a:ext cx="7490382" cy="424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릴레이션에서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삭제할 경우 참조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조건을 수행하기 위한 고려사항</a:t>
            </a:r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117600" y="3933056"/>
            <a:ext cx="6870700" cy="119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/>
              </a:rPr>
              <a:t>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즉시 작업을 중지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/>
              </a:rPr>
              <a:t>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자식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관련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삭제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/>
              </a:rPr>
              <a:t>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초기에 설정된 다른 어떤 값으로 변경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/>
              </a:rPr>
              <a:t>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NULL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값으로 설정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39552" y="1700808"/>
            <a:ext cx="8064896" cy="407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0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0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수정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725860" y="2212380"/>
            <a:ext cx="7793222" cy="424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1651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삭제와 삽입 명령이 연속해서 수행됨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342900" marR="0" lvl="1" indent="-1651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수정이 일어날 경우 삭제 옵션에 따라 처리된 후 문제가 없으면 다시 삽입 제약조건에 따라 처리됨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148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39552" y="2785244"/>
          <a:ext cx="7943561" cy="3202553"/>
        </p:xfrm>
        <a:graphic>
          <a:graphicData uri="http://schemas.openxmlformats.org/drawingml/2006/table">
            <a:tbl>
              <a:tblPr/>
              <a:tblGrid>
                <a:gridCol w="1371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명령어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51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RESTRICTED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릴레이션에서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참조하고 있을 경우 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삭제 작업을 거부함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학과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삭제 거부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51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CASCADE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투플을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같이 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삭제 처리함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투플을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삭제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51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DEFAULT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투플을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미리 설정해둔 값으로 변경함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학과가 다른 학과로 자동 배정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518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자식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관련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투플을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값으로 설정함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(NULL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값을 허가한 경우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학과 </a:t>
                      </a:r>
                      <a:r>
                        <a:rPr lang="ko-KR" altLang="en-US" sz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릴레이션의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학과가 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값으로 변경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7544" y="239755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표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2-4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제약조건의 옵션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부모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릴레이션에서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삭제할 경우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무결성</a:t>
            </a:r>
            <a:r>
              <a:rPr lang="ko-KR" altLang="en-US" dirty="0"/>
              <a:t> 제약조건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547664" y="2492896"/>
          <a:ext cx="2664296" cy="11184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51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학번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6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402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latin typeface="+mn-ea"/>
                          <a:ea typeface="+mn-ea"/>
                        </a:rPr>
                        <a:t>502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추신수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1001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716016" y="2492896"/>
          <a:ext cx="2088232" cy="6475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5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8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학과코드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 err="1">
                          <a:solidFill>
                            <a:schemeClr val="tx1"/>
                          </a:solidFill>
                        </a:rPr>
                        <a:t>학과명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/>
                        <a:t>1001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chemeClr val="dk1"/>
                          </a:solidFill>
                          <a:latin typeface="+mn-lt"/>
                        </a:rPr>
                        <a:t>컴퓨터학과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/>
                        <a:t>2001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체육학과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75656" y="220486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학생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008" y="220486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학과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8184" y="2132856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①삭제 요청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75656" y="567825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2-15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제약조건에서 부모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삭제할 경우</a:t>
            </a:r>
          </a:p>
        </p:txBody>
      </p:sp>
      <p:cxnSp>
        <p:nvCxnSpPr>
          <p:cNvPr id="26" name="직선 연결선 25"/>
          <p:cNvCxnSpPr/>
          <p:nvPr/>
        </p:nvCxnSpPr>
        <p:spPr>
          <a:xfrm rot="5400000">
            <a:off x="3491880" y="2276872"/>
            <a:ext cx="43204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707904" y="2060848"/>
            <a:ext cx="144016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rot="5400000">
            <a:off x="4932040" y="2276872"/>
            <a:ext cx="43204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4211960" y="3040385"/>
            <a:ext cx="21602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4211960" y="3284984"/>
            <a:ext cx="21602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rot="5400000">
            <a:off x="3959932" y="3537012"/>
            <a:ext cx="93610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94332" y="1855857"/>
            <a:ext cx="1362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(2001,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체육학과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오른쪽 화살표 40"/>
          <p:cNvSpPr/>
          <p:nvPr/>
        </p:nvSpPr>
        <p:spPr>
          <a:xfrm>
            <a:off x="6021685" y="2229247"/>
            <a:ext cx="288032" cy="17259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31865" y="1772816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②참조 확인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83968" y="4005064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③옵션 선택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547664" y="4437112"/>
            <a:ext cx="563482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RESTRICTED :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요청한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삭제 작업중지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에러 처리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CASCADE :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학생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릴레이션의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해당 </a:t>
            </a:r>
            <a:r>
              <a:rPr kumimoji="1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투플을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같이 연쇄적으로 삭제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(CASCADE)</a:t>
            </a:r>
          </a:p>
          <a:p>
            <a:pPr marL="342900" marR="0" lvl="0" indent="-34290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기본값으로 변경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미리 설정한 값</a:t>
            </a: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, DEFAULT)</a:t>
            </a:r>
          </a:p>
          <a:p>
            <a:pPr marL="342900" marR="0" lvl="0" indent="-34290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NULL 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값으로 설정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내용 개체 틀 2"/>
          <p:cNvSpPr txBox="1">
            <a:spLocks/>
          </p:cNvSpPr>
          <p:nvPr/>
        </p:nvSpPr>
        <p:spPr bwMode="auto">
          <a:xfrm>
            <a:off x="395536" y="1139503"/>
            <a:ext cx="8064896" cy="48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SzTx/>
              <a:buFont typeface="Wingdings" pitchFamily="2" charset="2"/>
              <a:buChar char="v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무결성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제약조건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무결성 </a:t>
            </a:r>
            <a:r>
              <a:rPr lang="ko-KR" altLang="en-US" dirty="0"/>
              <a:t>제약조건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436903"/>
              </p:ext>
            </p:extLst>
          </p:nvPr>
        </p:nvGraphicFramePr>
        <p:xfrm>
          <a:off x="365064" y="1515269"/>
          <a:ext cx="4999021" cy="143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30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u="none" dirty="0">
                          <a:solidFill>
                            <a:schemeClr val="tx1"/>
                          </a:solidFill>
                        </a:rPr>
                        <a:t>고객번호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주민번호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주소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핸드폰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810101-1111111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영국 맨체스타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000-5000-0001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900101-2222222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/>
                        <a:t>대한민국 서울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000-6000-0001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장미란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830101-2333333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대한민국 강원도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000-7000-0001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추신수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820101-1444444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미국 </a:t>
                      </a:r>
                      <a:r>
                        <a:rPr lang="ko-KR" altLang="en-US" sz="1000" dirty="0" err="1"/>
                        <a:t>클리블랜드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000-8000-0001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275856" y="3813423"/>
          <a:ext cx="4036764" cy="205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고객번호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도서번호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판매가격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주문일자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13000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0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2014-07-07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23"/>
          <p:cNvSpPr txBox="1"/>
          <p:nvPr/>
        </p:nvSpPr>
        <p:spPr>
          <a:xfrm>
            <a:off x="251520" y="1230660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고객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(customer)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23"/>
          <p:cNvSpPr txBox="1"/>
          <p:nvPr/>
        </p:nvSpPr>
        <p:spPr>
          <a:xfrm>
            <a:off x="3207433" y="3525391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42578" y="1509167"/>
            <a:ext cx="720080" cy="1440160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75856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067944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60032" y="3803898"/>
            <a:ext cx="792088" cy="2088232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2949327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47864" y="5901655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기본키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왼쪽 대괄호 25"/>
          <p:cNvSpPr/>
          <p:nvPr/>
        </p:nvSpPr>
        <p:spPr>
          <a:xfrm rot="5400000">
            <a:off x="4716016" y="3290317"/>
            <a:ext cx="144016" cy="864096"/>
          </a:xfrm>
          <a:prstGeom prst="leftBracket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61892" y="3381375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외래키</a:t>
            </a:r>
            <a:r>
              <a:rPr kumimoji="1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 rot="5400000">
            <a:off x="3887924" y="3561395"/>
            <a:ext cx="50405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rot="10800000">
            <a:off x="971600" y="3309367"/>
            <a:ext cx="3168352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rot="5400000" flipH="1" flipV="1">
            <a:off x="791580" y="3129347"/>
            <a:ext cx="36004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160240" y="3309367"/>
            <a:ext cx="12596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참조 </a:t>
            </a:r>
            <a:endParaRPr kumimoji="1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53344" y="624251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그림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2-9 </a:t>
            </a:r>
            <a:r>
              <a:rPr kumimoji="1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릴레이션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간의 참조 관계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EE639F-0509-267E-1386-00A40F8A6906}"/>
              </a:ext>
            </a:extLst>
          </p:cNvPr>
          <p:cNvSpPr/>
          <p:nvPr/>
        </p:nvSpPr>
        <p:spPr>
          <a:xfrm>
            <a:off x="251519" y="1987729"/>
            <a:ext cx="5112569" cy="428650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B5C934-0946-C949-E7BA-D1242E21E4EA}"/>
              </a:ext>
            </a:extLst>
          </p:cNvPr>
          <p:cNvSpPr/>
          <p:nvPr/>
        </p:nvSpPr>
        <p:spPr>
          <a:xfrm>
            <a:off x="3207433" y="4234438"/>
            <a:ext cx="4244888" cy="428650"/>
          </a:xfrm>
          <a:prstGeom prst="rect">
            <a:avLst/>
          </a:prstGeom>
          <a:solidFill>
            <a:schemeClr val="accent3">
              <a:alpha val="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9CE9792D-5A5C-81F2-F0D4-5340F9E5DE3C}"/>
              </a:ext>
            </a:extLst>
          </p:cNvPr>
          <p:cNvSpPr/>
          <p:nvPr/>
        </p:nvSpPr>
        <p:spPr>
          <a:xfrm>
            <a:off x="5505500" y="2029964"/>
            <a:ext cx="432048" cy="2891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02176-C569-FF55-3312-49AC84270988}"/>
              </a:ext>
            </a:extLst>
          </p:cNvPr>
          <p:cNvSpPr txBox="1"/>
          <p:nvPr/>
        </p:nvSpPr>
        <p:spPr>
          <a:xfrm>
            <a:off x="6078959" y="1916832"/>
            <a:ext cx="2813521" cy="5486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10000"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DELETE</a:t>
            </a:r>
            <a:r>
              <a:rPr kumimoji="1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 시도</a:t>
            </a:r>
          </a:p>
        </p:txBody>
      </p:sp>
    </p:spTree>
    <p:extLst>
      <p:ext uri="{BB962C8B-B14F-4D97-AF65-F5344CB8AC3E}">
        <p14:creationId xmlns:p14="http://schemas.microsoft.com/office/powerpoint/2010/main" val="3817662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A7107-FBDE-195C-8F83-7CF49A09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무결성 제약 조건 위반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7C7E41-D4E4-CEA8-95DA-99BE8807B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1214224"/>
            <a:ext cx="8064500" cy="521536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CF4A1-2932-EEBF-80AD-F12644664E28}"/>
              </a:ext>
            </a:extLst>
          </p:cNvPr>
          <p:cNvSpPr txBox="1"/>
          <p:nvPr/>
        </p:nvSpPr>
        <p:spPr>
          <a:xfrm>
            <a:off x="3115412" y="4725144"/>
            <a:ext cx="5544616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cannot delete or update a parent row: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a foreign key constraint fails</a:t>
            </a: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B64B5-4600-2594-8130-F783CBB32A8E}"/>
              </a:ext>
            </a:extLst>
          </p:cNvPr>
          <p:cNvSpPr txBox="1"/>
          <p:nvPr/>
        </p:nvSpPr>
        <p:spPr>
          <a:xfrm>
            <a:off x="654733" y="1556792"/>
            <a:ext cx="7330478" cy="124928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DELETE FROM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customer 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WHERE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 </a:t>
            </a:r>
            <a:r>
              <a:rPr kumimoji="1" lang="en-US" altLang="ko-K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custid</a:t>
            </a:r>
            <a:r>
              <a:rPr kumimoji="1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굴림" charset="-127"/>
                <a:cs typeface="+mn-cs"/>
              </a:rPr>
              <a:t> = 2;</a:t>
            </a:r>
          </a:p>
        </p:txBody>
      </p:sp>
    </p:spTree>
    <p:extLst>
      <p:ext uri="{BB962C8B-B14F-4D97-AF65-F5344CB8AC3E}">
        <p14:creationId xmlns:p14="http://schemas.microsoft.com/office/powerpoint/2010/main" val="32611232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MySQL</a:t>
            </a:r>
            <a:r>
              <a:rPr lang="ko-KR" altLang="en-US"/>
              <a:t>과 </a:t>
            </a:r>
            <a:r>
              <a:rPr lang="en-US" altLang="ko-KR" err="1"/>
              <a:t>MariaDB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dirty="0"/>
              <a:t>MySQL</a:t>
            </a:r>
            <a:r>
              <a:rPr lang="ko-KR" altLang="en-US" dirty="0"/>
              <a:t>은 </a:t>
            </a:r>
            <a:r>
              <a:rPr lang="en-US" altLang="ko-KR" dirty="0"/>
              <a:t>1995</a:t>
            </a:r>
            <a:r>
              <a:rPr lang="ko-KR" altLang="en-US" dirty="0"/>
              <a:t>년 발표된 오픈소스 </a:t>
            </a:r>
            <a:r>
              <a:rPr lang="en-US" altLang="ko-KR" dirty="0"/>
              <a:t>DBMS</a:t>
            </a:r>
            <a:r>
              <a:rPr lang="ko-KR" altLang="en-US" dirty="0"/>
              <a:t>로 스웨덴의 </a:t>
            </a:r>
            <a:r>
              <a:rPr lang="en-US" altLang="ko-KR" dirty="0"/>
              <a:t>MySQL AB</a:t>
            </a:r>
            <a:r>
              <a:rPr lang="ko-KR" altLang="en-US" dirty="0"/>
              <a:t>사 제품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이후 썬 </a:t>
            </a:r>
            <a:r>
              <a:rPr lang="ko-KR" altLang="en-US" dirty="0" err="1"/>
              <a:t>마이크로시스템사에</a:t>
            </a:r>
            <a:r>
              <a:rPr lang="ko-KR" altLang="en-US" dirty="0"/>
              <a:t> 인수 그 이후 </a:t>
            </a:r>
            <a:r>
              <a:rPr lang="ko-KR" altLang="en-US" dirty="0" err="1"/>
              <a:t>오라클사에</a:t>
            </a:r>
            <a:r>
              <a:rPr lang="ko-KR" altLang="en-US" dirty="0"/>
              <a:t> 인수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인수 이후 오픈소스 </a:t>
            </a:r>
            <a:r>
              <a:rPr lang="ko-KR" altLang="en-US" dirty="0" err="1"/>
              <a:t>기반이였으나</a:t>
            </a:r>
            <a:r>
              <a:rPr lang="ko-KR" altLang="en-US" dirty="0"/>
              <a:t> </a:t>
            </a:r>
            <a:r>
              <a:rPr lang="en-US" altLang="ko-KR" dirty="0"/>
              <a:t>MySQL</a:t>
            </a:r>
            <a:r>
              <a:rPr lang="ko-KR" altLang="en-US" dirty="0"/>
              <a:t>에 비호의적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주 개발자였던 마이클 </a:t>
            </a:r>
            <a:r>
              <a:rPr lang="ko-KR" altLang="en-US" dirty="0" err="1"/>
              <a:t>몬티</a:t>
            </a:r>
            <a:r>
              <a:rPr lang="ko-KR" altLang="en-US" dirty="0"/>
              <a:t> </a:t>
            </a:r>
            <a:r>
              <a:rPr lang="ko-KR" altLang="en-US" dirty="0" err="1"/>
              <a:t>와이드니우스</a:t>
            </a:r>
            <a:r>
              <a:rPr lang="en-US" altLang="ko-KR" dirty="0"/>
              <a:t>(Michael Monty </a:t>
            </a:r>
            <a:r>
              <a:rPr lang="en-US" altLang="ko-KR" dirty="0" err="1"/>
              <a:t>Widenius</a:t>
            </a:r>
            <a:r>
              <a:rPr lang="en-US" altLang="ko-KR" dirty="0"/>
              <a:t>)</a:t>
            </a:r>
            <a:r>
              <a:rPr lang="ko-KR" altLang="en-US" dirty="0"/>
              <a:t>가 회사를 나와서 </a:t>
            </a:r>
            <a:r>
              <a:rPr lang="en-US" altLang="ko-KR" dirty="0"/>
              <a:t>MySQL 5.5 </a:t>
            </a:r>
            <a:r>
              <a:rPr lang="ko-KR" altLang="en-US" dirty="0"/>
              <a:t>기반에서 </a:t>
            </a:r>
            <a:r>
              <a:rPr lang="en-US" altLang="ko-KR" dirty="0"/>
              <a:t>MariaDB</a:t>
            </a:r>
            <a:r>
              <a:rPr lang="ko-KR" altLang="en-US" dirty="0"/>
              <a:t>라는 오픈소스 버전을 출시</a:t>
            </a:r>
            <a:endParaRPr lang="en-US" altLang="ko-KR" dirty="0"/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814" y="3573015"/>
            <a:ext cx="2755616" cy="29357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573016"/>
            <a:ext cx="3437735" cy="293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1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8155</TotalTime>
  <Words>2937</Words>
  <Application>Microsoft Office PowerPoint</Application>
  <PresentationFormat>화면 슬라이드 쇼(4:3)</PresentationFormat>
  <Paragraphs>921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1. 릴레이션</vt:lpstr>
      <vt:lpstr>1. 릴레이션</vt:lpstr>
      <vt:lpstr>1. 릴레이션</vt:lpstr>
      <vt:lpstr>2. 릴레이션 스키마와 인스턴스</vt:lpstr>
      <vt:lpstr>2. 릴레이션 스키마와 인스턴스</vt:lpstr>
      <vt:lpstr>2. 릴레이션 스키마와 인스턴스</vt:lpstr>
      <vt:lpstr>3. 릴레이션의 특징</vt:lpstr>
      <vt:lpstr>3. 릴레이션의 특징</vt:lpstr>
      <vt:lpstr>3. 릴레이션의 특징</vt:lpstr>
      <vt:lpstr>3. 릴레이션의 특징</vt:lpstr>
      <vt:lpstr>4. 관계 데이터 모델</vt:lpstr>
      <vt:lpstr>PowerPoint 프레젠테이션</vt:lpstr>
      <vt:lpstr>1. 키</vt:lpstr>
      <vt:lpstr>1. 키</vt:lpstr>
      <vt:lpstr>1. 키</vt:lpstr>
      <vt:lpstr>1. 키</vt:lpstr>
      <vt:lpstr>1. 키</vt:lpstr>
      <vt:lpstr>1. 키</vt:lpstr>
      <vt:lpstr>1. 키</vt:lpstr>
      <vt:lpstr>1. 키</vt:lpstr>
      <vt:lpstr>1. 키</vt:lpstr>
      <vt:lpstr>1. 키</vt:lpstr>
      <vt:lpstr>1. 키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2. 무결성 제약조건</vt:lpstr>
      <vt:lpstr>무결성 제약조건</vt:lpstr>
      <vt:lpstr>무결성 제약 조건 위반</vt:lpstr>
      <vt:lpstr>MySQL과 MariaDB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608</cp:revision>
  <cp:lastPrinted>2023-02-19T06:43:06Z</cp:lastPrinted>
  <dcterms:created xsi:type="dcterms:W3CDTF">2012-07-11T10:23:22Z</dcterms:created>
  <dcterms:modified xsi:type="dcterms:W3CDTF">2026-03-02T10:17:32Z</dcterms:modified>
</cp:coreProperties>
</file>
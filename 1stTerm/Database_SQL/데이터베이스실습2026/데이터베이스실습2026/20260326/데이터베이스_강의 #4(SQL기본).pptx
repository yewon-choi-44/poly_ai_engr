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482" r:id="rId3"/>
    <p:sldId id="394" r:id="rId4"/>
    <p:sldId id="480" r:id="rId5"/>
    <p:sldId id="422" r:id="rId6"/>
    <p:sldId id="423" r:id="rId7"/>
    <p:sldId id="496" r:id="rId8"/>
    <p:sldId id="424" r:id="rId9"/>
    <p:sldId id="425" r:id="rId10"/>
    <p:sldId id="473" r:id="rId11"/>
    <p:sldId id="426" r:id="rId12"/>
    <p:sldId id="427" r:id="rId13"/>
    <p:sldId id="474" r:id="rId14"/>
    <p:sldId id="487" r:id="rId15"/>
    <p:sldId id="488" r:id="rId16"/>
    <p:sldId id="489" r:id="rId17"/>
    <p:sldId id="490" r:id="rId18"/>
    <p:sldId id="495" r:id="rId19"/>
    <p:sldId id="485" r:id="rId20"/>
    <p:sldId id="491" r:id="rId21"/>
    <p:sldId id="492" r:id="rId22"/>
    <p:sldId id="498" r:id="rId23"/>
    <p:sldId id="497" r:id="rId24"/>
    <p:sldId id="428" r:id="rId25"/>
    <p:sldId id="429" r:id="rId26"/>
    <p:sldId id="430" r:id="rId27"/>
    <p:sldId id="431" r:id="rId28"/>
    <p:sldId id="432" r:id="rId29"/>
    <p:sldId id="433" r:id="rId30"/>
    <p:sldId id="434" r:id="rId31"/>
    <p:sldId id="494" r:id="rId32"/>
    <p:sldId id="493" r:id="rId33"/>
    <p:sldId id="435" r:id="rId34"/>
    <p:sldId id="436" r:id="rId35"/>
    <p:sldId id="466" r:id="rId36"/>
    <p:sldId id="484" r:id="rId37"/>
    <p:sldId id="437" r:id="rId38"/>
    <p:sldId id="438" r:id="rId39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pos="4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E6"/>
    <a:srgbClr val="CDF1FF"/>
    <a:srgbClr val="99CCFF"/>
    <a:srgbClr val="0000CC"/>
    <a:srgbClr val="FF5050"/>
    <a:srgbClr val="97E1FF"/>
    <a:srgbClr val="5BD0FF"/>
    <a:srgbClr val="29C2FF"/>
    <a:srgbClr val="11BBFF"/>
    <a:srgbClr val="21C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2" autoAdjust="0"/>
    <p:restoredTop sz="98901" autoAdjust="0"/>
  </p:normalViewPr>
  <p:slideViewPr>
    <p:cSldViewPr>
      <p:cViewPr varScale="1">
        <p:scale>
          <a:sx n="108" d="100"/>
          <a:sy n="108" d="100"/>
        </p:scale>
        <p:origin x="918" y="114"/>
      </p:cViewPr>
      <p:guideLst>
        <p:guide orient="horz" pos="119"/>
        <p:guide pos="158"/>
        <p:guide orient="horz" pos="1162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>
                <a:ea typeface="맑은 고딕" panose="020B0503020000020004" pitchFamily="50" charset="-127"/>
              </a:rPr>
              <a:pPr/>
              <a:t>2023-03-28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3140B-A455-4A59-916C-960D4A936015}" type="datetimeFigureOut">
              <a:rPr lang="ko-KR" altLang="en-US" smtClean="0"/>
              <a:t>2023-03-28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E1D51-9158-4745-94AC-4FA4FE8FC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5724128" y="93663"/>
            <a:ext cx="3380100" cy="523220"/>
            <a:chOff x="6752029" y="188640"/>
            <a:chExt cx="3381457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1796645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800" b="1" kern="1200" spc="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SQL</a:t>
              </a:r>
              <a:r>
                <a:rPr kumimoji="1" lang="en-US" altLang="ko-KR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기본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4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4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1049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2023-03-28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1" r:id="rId2"/>
    <p:sldLayoutId id="2147483692" r:id="rId3"/>
    <p:sldLayoutId id="2147483693" r:id="rId4"/>
    <p:sldLayoutId id="2147483690" r:id="rId5"/>
    <p:sldLayoutId id="2147483679" r:id="rId6"/>
    <p:sldLayoutId id="2147483680" r:id="rId7"/>
    <p:sldLayoutId id="2147483686" r:id="rId8"/>
    <p:sldLayoutId id="2147483688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br>
              <a:rPr kumimoji="0" lang="en-US" altLang="ko-KR" dirty="0">
                <a:solidFill>
                  <a:schemeClr val="bg1"/>
                </a:solidFill>
              </a:rPr>
            </a:br>
            <a:r>
              <a:rPr lang="en-US" altLang="ko-KR" sz="4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SQL </a:t>
            </a:r>
            <a:r>
              <a:rPr lang="ko-KR" altLang="en-US" sz="4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31B3E-4D5A-5064-A870-263330FB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 링크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7A12C0-6EA6-A63A-744D-7C0AEE0C6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85503"/>
            <a:ext cx="8136904" cy="5472608"/>
          </a:xfrm>
        </p:spPr>
        <p:txBody>
          <a:bodyPr/>
          <a:lstStyle/>
          <a:p>
            <a:r>
              <a:rPr lang="en-US" altLang="ko-KR" dirty="0"/>
              <a:t>https://drive.google.com/drive/folders/19xU4OS1h8qYpbGgcatJ5C91FI0USjJ3h?usp=share_link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3417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구성요소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기본 문법</a:t>
            </a: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806" y="4067919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20280" y="1998365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SELECT   </a:t>
            </a:r>
            <a:r>
              <a:rPr lang="en-US" altLang="ko-KR" sz="1400" dirty="0" err="1">
                <a:solidFill>
                  <a:sysClr val="windowText" lastClr="000000"/>
                </a:solidFill>
                <a:latin typeface="+mn-ea"/>
                <a:ea typeface="+mn-ea"/>
              </a:rPr>
              <a:t>bookname</a:t>
            </a:r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, publisher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FROM    Book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WHERE   price &gt;= 10000;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5" y="218511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키워드</a:t>
            </a:r>
          </a:p>
        </p:txBody>
      </p:sp>
      <p:cxnSp>
        <p:nvCxnSpPr>
          <p:cNvPr id="11" name="직선 화살표 연결선 10"/>
          <p:cNvCxnSpPr>
            <a:stCxn id="7" idx="3"/>
          </p:cNvCxnSpPr>
          <p:nvPr/>
        </p:nvCxnSpPr>
        <p:spPr>
          <a:xfrm>
            <a:off x="1619673" y="2339008"/>
            <a:ext cx="936103" cy="987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3"/>
          </p:cNvCxnSpPr>
          <p:nvPr/>
        </p:nvCxnSpPr>
        <p:spPr>
          <a:xfrm flipV="1">
            <a:off x="1619673" y="2132856"/>
            <a:ext cx="936103" cy="2061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3"/>
          </p:cNvCxnSpPr>
          <p:nvPr/>
        </p:nvCxnSpPr>
        <p:spPr>
          <a:xfrm>
            <a:off x="1619673" y="2339008"/>
            <a:ext cx="936103" cy="2979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995936" y="2348880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5400000" flipH="1" flipV="1">
            <a:off x="3671900" y="188082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779912" y="1772816"/>
            <a:ext cx="2088232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rot="5400000" flipH="1" flipV="1">
            <a:off x="4569110" y="1880034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rot="5400000" flipH="1" flipV="1">
            <a:off x="3887129" y="281613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995936" y="2924944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0152" y="162346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속성</a:t>
            </a:r>
            <a:r>
              <a:rPr lang="en-US" altLang="ko-KR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이름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0152" y="2204169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테이블 이름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0152" y="277070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검색 조건</a:t>
            </a:r>
          </a:p>
        </p:txBody>
      </p:sp>
    </p:spTree>
    <p:extLst>
      <p:ext uri="{BB962C8B-B14F-4D97-AF65-F5344CB8AC3E}">
        <p14:creationId xmlns:p14="http://schemas.microsoft.com/office/powerpoint/2010/main" val="177659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503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309720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Customer,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4480" y="638132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3-16 </a:t>
            </a:r>
            <a:r>
              <a:rPr lang="en-US" altLang="ko-KR" sz="1400" b="1" dirty="0">
                <a:ea typeface="맑은 고딕" panose="020B0503020000020004" pitchFamily="50" charset="-127"/>
              </a:rPr>
              <a:t>Customer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테이블의 합체 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20000"/>
              </a:lnSpc>
            </a:pPr>
            <a:r>
              <a:rPr lang="en-US" altLang="ko-KR" dirty="0"/>
              <a:t>Customer </a:t>
            </a:r>
            <a:r>
              <a:rPr lang="ko-KR" altLang="en-US" dirty="0"/>
              <a:t>테이블을 </a:t>
            </a:r>
            <a:r>
              <a:rPr lang="en-US" altLang="ko-KR" dirty="0"/>
              <a:t>Orders </a:t>
            </a:r>
            <a:r>
              <a:rPr lang="ko-KR" altLang="en-US" dirty="0"/>
              <a:t>테이블과 조건 없이 연결해보자</a:t>
            </a:r>
            <a:r>
              <a:rPr lang="en-US" altLang="ko-KR" dirty="0"/>
              <a:t>. 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Customer</a:t>
            </a:r>
            <a:r>
              <a:rPr lang="ko-KR" altLang="en-US" dirty="0"/>
              <a:t>와 </a:t>
            </a:r>
            <a:r>
              <a:rPr lang="en-US" altLang="ko-KR" dirty="0"/>
              <a:t>Orders </a:t>
            </a:r>
            <a:r>
              <a:rPr lang="ko-KR" altLang="en-US" dirty="0"/>
              <a:t>테이블의 합체 결과 </a:t>
            </a:r>
            <a:r>
              <a:rPr lang="ko-KR" altLang="en-US" dirty="0" err="1"/>
              <a:t>투플의</a:t>
            </a:r>
            <a:r>
              <a:rPr lang="ko-KR" altLang="en-US" dirty="0"/>
              <a:t> 개수는 고객이 다섯 명이고  </a:t>
            </a:r>
            <a:endParaRPr lang="en-US" altLang="ko-KR" dirty="0"/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주문이 열 개이므로 </a:t>
            </a:r>
            <a:r>
              <a:rPr lang="en-US" altLang="ko-KR" dirty="0"/>
              <a:t>5×10 </a:t>
            </a:r>
            <a:r>
              <a:rPr lang="ko-KR" altLang="en-US" dirty="0"/>
              <a:t>해서 </a:t>
            </a:r>
            <a:r>
              <a:rPr lang="en-US" altLang="ko-KR" dirty="0"/>
              <a:t>50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132856"/>
            <a:ext cx="5121209" cy="4143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20ADE8-9056-8FBA-305A-2E8319B30C35}"/>
              </a:ext>
            </a:extLst>
          </p:cNvPr>
          <p:cNvSpPr txBox="1"/>
          <p:nvPr/>
        </p:nvSpPr>
        <p:spPr>
          <a:xfrm>
            <a:off x="946054" y="3095117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 JOIN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44824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84984"/>
            <a:ext cx="7424911" cy="25434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CA987-1F17-358D-9C9C-1F1B1517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CF4A955-547B-0B6A-BC0A-8765103188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1252453"/>
              </p:ext>
            </p:extLst>
          </p:nvPr>
        </p:nvGraphicFramePr>
        <p:xfrm>
          <a:off x="539551" y="1839218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WHERE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21527025-AAFE-2AB5-B010-C908AFD890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3551860"/>
              </p:ext>
            </p:extLst>
          </p:nvPr>
        </p:nvGraphicFramePr>
        <p:xfrm>
          <a:off x="539551" y="3573016"/>
          <a:ext cx="781913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#2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JOIN ON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ON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BB62359-6424-7415-D585-79B25CFE70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628305"/>
              </p:ext>
            </p:extLst>
          </p:nvPr>
        </p:nvGraphicFramePr>
        <p:xfrm>
          <a:off x="539551" y="5182076"/>
          <a:ext cx="781913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#3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JOIN USING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USING(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C6D75F9-777F-0430-67D3-7BB4129D1D36}"/>
              </a:ext>
            </a:extLst>
          </p:cNvPr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 3</a:t>
            </a:r>
            <a:r>
              <a:rPr kumimoji="0" lang="ko-KR" altLang="en-US" sz="2000" dirty="0">
                <a:solidFill>
                  <a:schemeClr val="tx2"/>
                </a:solidFill>
              </a:rPr>
              <a:t>가지 타입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1945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39819"/>
          <a:ext cx="7579791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3-22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고객번호 순으로 정렬하여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73016"/>
            <a:ext cx="7344816" cy="25873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275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3-23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이름과 고객이 주문한 도서의 판매가격을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345234"/>
            <a:ext cx="1349973" cy="2379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39436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3-24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주문한 모든 도서의 총 판매액을 구하고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정렬하시오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GROUP BY	Customer.name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Customer.name;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348880"/>
            <a:ext cx="181394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43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07244" y="621826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3-20 </a:t>
            </a:r>
            <a:r>
              <a:rPr lang="ko-KR" altLang="en-US" sz="1400" b="1" dirty="0">
                <a:ea typeface="맑은 고딕" panose="020B0503020000020004" pitchFamily="50" charset="-127"/>
              </a:rPr>
              <a:t>마당서점 데이터 간의 연결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45" y="1792833"/>
            <a:ext cx="5704655" cy="4337542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4482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3-25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이름과 고객이 주문한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4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2420888"/>
            <a:ext cx="1942902" cy="2263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4489385"/>
              </p:ext>
            </p:extLst>
          </p:nvPr>
        </p:nvGraphicFramePr>
        <p:xfrm>
          <a:off x="735807" y="1844000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3-26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28" y="3510468"/>
            <a:ext cx="1534096" cy="489711"/>
          </a:xfrm>
          <a:prstGeom prst="rect">
            <a:avLst/>
          </a:prstGeom>
        </p:spPr>
      </p:pic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06DC8EE-2CA7-6FEA-297F-1F520D3BB6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5641905"/>
              </p:ext>
            </p:extLst>
          </p:nvPr>
        </p:nvGraphicFramePr>
        <p:xfrm>
          <a:off x="735806" y="4293096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3-26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JOIN Book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504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898117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SELECT * FROM Orders O JOIN Customer C ON </a:t>
            </a:r>
            <a:r>
              <a:rPr lang="en-US" altLang="ko-KR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= </a:t>
            </a:r>
            <a:r>
              <a:rPr lang="en-US" altLang="ko-KR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C.custid</a:t>
            </a:r>
            <a:endParaRPr lang="en-US" altLang="ko-KR" sz="14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  <a:p>
            <a:pPr latinLnBrk="0">
              <a:buFont typeface="Wingdings" pitchFamily="2" charset="2"/>
              <a:buChar char="v"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Orders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1D29C8-25FE-AF50-326B-EFF42FCD4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2" y="1656089"/>
            <a:ext cx="3168352" cy="211424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1A62138-0C02-F633-B697-D2616C444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772816"/>
            <a:ext cx="4782217" cy="181952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75B96D-6D7B-8C42-48DD-8C5B5FAF3D6D}"/>
              </a:ext>
            </a:extLst>
          </p:cNvPr>
          <p:cNvSpPr/>
          <p:nvPr/>
        </p:nvSpPr>
        <p:spPr>
          <a:xfrm>
            <a:off x="719571" y="1844824"/>
            <a:ext cx="3160969" cy="2880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4E4CF2-1D87-586D-19CE-02F7A12770AE}"/>
              </a:ext>
            </a:extLst>
          </p:cNvPr>
          <p:cNvSpPr/>
          <p:nvPr/>
        </p:nvSpPr>
        <p:spPr>
          <a:xfrm>
            <a:off x="4255347" y="2092469"/>
            <a:ext cx="4594814" cy="15268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CB4650-8F4B-2829-D543-E8DEB97FB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1" y="3852027"/>
            <a:ext cx="5734995" cy="2850327"/>
          </a:xfrm>
          <a:prstGeom prst="rect">
            <a:avLst/>
          </a:prstGeom>
        </p:spPr>
      </p:pic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9C998211-934B-77A9-DD1F-F306C9353C86}"/>
              </a:ext>
            </a:extLst>
          </p:cNvPr>
          <p:cNvSpPr txBox="1">
            <a:spLocks/>
          </p:cNvSpPr>
          <p:nvPr/>
        </p:nvSpPr>
        <p:spPr>
          <a:xfrm>
            <a:off x="6414641" y="3938967"/>
            <a:ext cx="2729359" cy="15891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Orders O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DD212542-2BDE-7039-61AD-96BAA12FEE0C}"/>
              </a:ext>
            </a:extLst>
          </p:cNvPr>
          <p:cNvSpPr txBox="1">
            <a:spLocks/>
          </p:cNvSpPr>
          <p:nvPr/>
        </p:nvSpPr>
        <p:spPr>
          <a:xfrm>
            <a:off x="1511526" y="2540579"/>
            <a:ext cx="2729359" cy="38436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 anchorCtr="0"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Orders 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287FD0E8-5C77-29FC-3E59-3E8943F69063}"/>
              </a:ext>
            </a:extLst>
          </p:cNvPr>
          <p:cNvSpPr txBox="1">
            <a:spLocks/>
          </p:cNvSpPr>
          <p:nvPr/>
        </p:nvSpPr>
        <p:spPr>
          <a:xfrm>
            <a:off x="5904810" y="3373133"/>
            <a:ext cx="2887042" cy="433567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 anchorCtr="0"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Customer 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B12D39-6F4B-CABB-EAFD-7C5D0194292C}"/>
              </a:ext>
            </a:extLst>
          </p:cNvPr>
          <p:cNvSpPr/>
          <p:nvPr/>
        </p:nvSpPr>
        <p:spPr>
          <a:xfrm>
            <a:off x="750748" y="4001303"/>
            <a:ext cx="5595808" cy="9398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753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631272" y="1033934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anose="05000000000000000000" pitchFamily="2" charset="2"/>
              <a:buChar char="v"/>
            </a:pPr>
            <a:r>
              <a:rPr lang="en-US" altLang="ko-KR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SELECT * FROM Orders O JOIN Customer C ON </a:t>
            </a:r>
            <a:r>
              <a:rPr lang="en-US" altLang="ko-KR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C.custid</a:t>
            </a:r>
            <a:endParaRPr lang="en-US" altLang="ko-KR" sz="18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CB4650-8F4B-2829-D543-E8DEB97F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19101"/>
            <a:ext cx="5734995" cy="2850327"/>
          </a:xfrm>
          <a:prstGeom prst="rect">
            <a:avLst/>
          </a:prstGeom>
        </p:spPr>
      </p:pic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9C998211-934B-77A9-DD1F-F306C9353C86}"/>
              </a:ext>
            </a:extLst>
          </p:cNvPr>
          <p:cNvSpPr txBox="1">
            <a:spLocks/>
          </p:cNvSpPr>
          <p:nvPr/>
        </p:nvSpPr>
        <p:spPr>
          <a:xfrm>
            <a:off x="6706595" y="1719101"/>
            <a:ext cx="1973783" cy="15891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Orders O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1429AD-8234-C370-20D5-0BD20802AB49}"/>
              </a:ext>
            </a:extLst>
          </p:cNvPr>
          <p:cNvSpPr/>
          <p:nvPr/>
        </p:nvSpPr>
        <p:spPr>
          <a:xfrm>
            <a:off x="1115615" y="1902155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6F4008-AFD2-4025-08B0-62232AAFEF62}"/>
              </a:ext>
            </a:extLst>
          </p:cNvPr>
          <p:cNvSpPr/>
          <p:nvPr/>
        </p:nvSpPr>
        <p:spPr>
          <a:xfrm>
            <a:off x="1115615" y="2776893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DCC93F-BDBC-482C-A300-1D6E57D25D07}"/>
              </a:ext>
            </a:extLst>
          </p:cNvPr>
          <p:cNvSpPr/>
          <p:nvPr/>
        </p:nvSpPr>
        <p:spPr>
          <a:xfrm>
            <a:off x="1115614" y="3856684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FEA9B4-1A63-6AB6-3190-86740D3CD3AE}"/>
              </a:ext>
            </a:extLst>
          </p:cNvPr>
          <p:cNvSpPr/>
          <p:nvPr/>
        </p:nvSpPr>
        <p:spPr>
          <a:xfrm>
            <a:off x="1619672" y="1719101"/>
            <a:ext cx="360040" cy="2912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1D14C5-A466-18A6-4A0A-777D572FF99A}"/>
              </a:ext>
            </a:extLst>
          </p:cNvPr>
          <p:cNvSpPr/>
          <p:nvPr/>
        </p:nvSpPr>
        <p:spPr>
          <a:xfrm>
            <a:off x="3948721" y="1719101"/>
            <a:ext cx="360040" cy="2912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FAFE54-2FC3-032A-0179-170272FE1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10" y="4631686"/>
            <a:ext cx="5734995" cy="2028161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62783C1-1A26-4C3B-F140-1B0844EA24B3}"/>
              </a:ext>
            </a:extLst>
          </p:cNvPr>
          <p:cNvCxnSpPr/>
          <p:nvPr/>
        </p:nvCxnSpPr>
        <p:spPr>
          <a:xfrm>
            <a:off x="3059832" y="2060848"/>
            <a:ext cx="144016" cy="2880320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44D6348-6D2B-10BD-F264-7453C6FB576C}"/>
              </a:ext>
            </a:extLst>
          </p:cNvPr>
          <p:cNvCxnSpPr/>
          <p:nvPr/>
        </p:nvCxnSpPr>
        <p:spPr>
          <a:xfrm>
            <a:off x="2411760" y="2913007"/>
            <a:ext cx="177710" cy="2198266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281002F-F7F6-6474-627F-C64FA5460485}"/>
              </a:ext>
            </a:extLst>
          </p:cNvPr>
          <p:cNvCxnSpPr/>
          <p:nvPr/>
        </p:nvCxnSpPr>
        <p:spPr>
          <a:xfrm>
            <a:off x="1907704" y="3998088"/>
            <a:ext cx="216022" cy="1303120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506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953195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Orders O JOIN Customer ON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800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C.custid</a:t>
            </a:r>
            <a:endParaRPr lang="en-US" altLang="ko-KR" sz="1800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JOIN Book B ON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O.bookid</a:t>
            </a:r>
            <a:r>
              <a:rPr lang="en-US" altLang="ko-KR" sz="1800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B.bookid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FAFE54-2FC3-032A-0179-170272FE1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81" y="1723977"/>
            <a:ext cx="5167548" cy="18274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46D3E96-CC3C-4482-6A00-E2A3003C6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1723977"/>
            <a:ext cx="2868306" cy="2116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706420-DF5E-F536-6FF4-25ADC7F46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63" y="3770915"/>
            <a:ext cx="4691028" cy="283789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F5FD6-ABC0-B341-0848-473E985B77F5}"/>
              </a:ext>
            </a:extLst>
          </p:cNvPr>
          <p:cNvSpPr/>
          <p:nvPr/>
        </p:nvSpPr>
        <p:spPr>
          <a:xfrm>
            <a:off x="719571" y="1872356"/>
            <a:ext cx="5016571" cy="260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E6AF05-BEF8-2FCE-0247-26C027380A94}"/>
              </a:ext>
            </a:extLst>
          </p:cNvPr>
          <p:cNvSpPr/>
          <p:nvPr/>
        </p:nvSpPr>
        <p:spPr>
          <a:xfrm>
            <a:off x="6094676" y="1872356"/>
            <a:ext cx="2845823" cy="195706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FA75D-90A5-EF11-2F00-5E9BA7BC3767}"/>
              </a:ext>
            </a:extLst>
          </p:cNvPr>
          <p:cNvSpPr/>
          <p:nvPr/>
        </p:nvSpPr>
        <p:spPr>
          <a:xfrm>
            <a:off x="539552" y="3933056"/>
            <a:ext cx="4691028" cy="15181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B53DFF37-1B73-BE37-B82B-91675CB54A72}"/>
              </a:ext>
            </a:extLst>
          </p:cNvPr>
          <p:cNvSpPr txBox="1">
            <a:spLocks/>
          </p:cNvSpPr>
          <p:nvPr/>
        </p:nvSpPr>
        <p:spPr>
          <a:xfrm>
            <a:off x="5255402" y="4007850"/>
            <a:ext cx="3924963" cy="25851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(Orders O JOIN Customer C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C.custid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)</a:t>
            </a: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JOIN Book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3023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953195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Orders O JOIN Customer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C.custid</a:t>
            </a: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JOIN Book B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O.bookid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B.bookid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C706420-DF5E-F536-6FF4-25ADC7F46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29995"/>
            <a:ext cx="5400600" cy="326715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FA75D-90A5-EF11-2F00-5E9BA7BC3767}"/>
              </a:ext>
            </a:extLst>
          </p:cNvPr>
          <p:cNvSpPr/>
          <p:nvPr/>
        </p:nvSpPr>
        <p:spPr>
          <a:xfrm>
            <a:off x="559280" y="1695639"/>
            <a:ext cx="5452879" cy="2211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896F61-B03C-D6F4-8641-C176F0F674E3}"/>
              </a:ext>
            </a:extLst>
          </p:cNvPr>
          <p:cNvSpPr/>
          <p:nvPr/>
        </p:nvSpPr>
        <p:spPr>
          <a:xfrm>
            <a:off x="539552" y="3784273"/>
            <a:ext cx="5452879" cy="2211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88E63E-C79E-8E78-5179-808CD9EBB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650157"/>
            <a:ext cx="6284425" cy="20045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83A05B8-E7AA-1A71-E3A3-BA7993AFA789}"/>
              </a:ext>
            </a:extLst>
          </p:cNvPr>
          <p:cNvSpPr/>
          <p:nvPr/>
        </p:nvSpPr>
        <p:spPr>
          <a:xfrm>
            <a:off x="1475656" y="1468261"/>
            <a:ext cx="432048" cy="31201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8BF55C-B499-C17F-9E66-C755F7649E47}"/>
              </a:ext>
            </a:extLst>
          </p:cNvPr>
          <p:cNvSpPr/>
          <p:nvPr/>
        </p:nvSpPr>
        <p:spPr>
          <a:xfrm>
            <a:off x="3965989" y="1475645"/>
            <a:ext cx="360040" cy="31127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80D45CB-02A1-6E78-CC9B-4D37DBD1D5E1}"/>
              </a:ext>
            </a:extLst>
          </p:cNvPr>
          <p:cNvCxnSpPr>
            <a:cxnSpLocks/>
          </p:cNvCxnSpPr>
          <p:nvPr/>
        </p:nvCxnSpPr>
        <p:spPr>
          <a:xfrm flipH="1">
            <a:off x="2900842" y="1844824"/>
            <a:ext cx="230998" cy="3175840"/>
          </a:xfrm>
          <a:prstGeom prst="straightConnector1">
            <a:avLst/>
          </a:prstGeom>
          <a:ln w="15875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928620E-2180-41ED-FCED-4BD516FA7747}"/>
              </a:ext>
            </a:extLst>
          </p:cNvPr>
          <p:cNvCxnSpPr>
            <a:cxnSpLocks/>
          </p:cNvCxnSpPr>
          <p:nvPr/>
        </p:nvCxnSpPr>
        <p:spPr>
          <a:xfrm>
            <a:off x="2015716" y="3912955"/>
            <a:ext cx="108012" cy="1280039"/>
          </a:xfrm>
          <a:prstGeom prst="straightConnector1">
            <a:avLst/>
          </a:prstGeom>
          <a:ln w="15875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400A8C-2419-95D3-EAC9-D8D9167DA4E5}"/>
              </a:ext>
            </a:extLst>
          </p:cNvPr>
          <p:cNvSpPr/>
          <p:nvPr/>
        </p:nvSpPr>
        <p:spPr>
          <a:xfrm>
            <a:off x="755576" y="4851502"/>
            <a:ext cx="6284425" cy="221193"/>
          </a:xfrm>
          <a:prstGeom prst="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72588B-B5C0-1D4F-A5FA-C08E5A96EF84}"/>
              </a:ext>
            </a:extLst>
          </p:cNvPr>
          <p:cNvSpPr/>
          <p:nvPr/>
        </p:nvSpPr>
        <p:spPr>
          <a:xfrm>
            <a:off x="755576" y="5082398"/>
            <a:ext cx="6284425" cy="221193"/>
          </a:xfrm>
          <a:prstGeom prst="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6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SELECT </a:t>
            </a:r>
            <a:r>
              <a:rPr lang="en-US" altLang="ko-KR" dirty="0" err="1"/>
              <a:t>group_concat</a:t>
            </a:r>
            <a:r>
              <a:rPr lang="en-US" altLang="ko-KR" dirty="0"/>
              <a:t>(c.name), </a:t>
            </a:r>
            <a:r>
              <a:rPr lang="en-US" altLang="ko-KR" dirty="0" err="1"/>
              <a:t>group_concat</a:t>
            </a:r>
            <a:r>
              <a:rPr lang="en-US" altLang="ko-KR" dirty="0"/>
              <a:t>(</a:t>
            </a:r>
            <a:r>
              <a:rPr lang="en-US" altLang="ko-KR" dirty="0" err="1"/>
              <a:t>o.bookid</a:t>
            </a:r>
            <a:r>
              <a:rPr lang="en-US" altLang="ko-KR" dirty="0"/>
              <a:t>), sum(</a:t>
            </a:r>
            <a:r>
              <a:rPr lang="en-US" altLang="ko-KR" dirty="0" err="1"/>
              <a:t>saleprice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   FROM practice2.orders as o JOIN customer as c ON </a:t>
            </a:r>
            <a:r>
              <a:rPr lang="en-US" altLang="ko-KR" dirty="0" err="1"/>
              <a:t>o.custid</a:t>
            </a:r>
            <a:r>
              <a:rPr lang="en-US" altLang="ko-KR" dirty="0"/>
              <a:t> = </a:t>
            </a:r>
            <a:r>
              <a:rPr lang="en-US" altLang="ko-KR" dirty="0" err="1"/>
              <a:t>c.custid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GROUP BY </a:t>
            </a:r>
            <a:r>
              <a:rPr lang="en-US" altLang="ko-KR" dirty="0" err="1"/>
              <a:t>o.custid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24757" y="980728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집계 함수의 실행 순서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B67DDF-24C2-5AA9-D2B8-6DC397A9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30" y="3140968"/>
            <a:ext cx="3312368" cy="1184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2896925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827583" y="3140968"/>
            <a:ext cx="4536505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553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SELECT </a:t>
            </a:r>
            <a:r>
              <a:rPr lang="en-US" altLang="ko-KR" dirty="0" err="1"/>
              <a:t>group_concat</a:t>
            </a:r>
            <a:r>
              <a:rPr lang="en-US" altLang="ko-KR" dirty="0"/>
              <a:t>(c.name), </a:t>
            </a:r>
            <a:r>
              <a:rPr lang="en-US" altLang="ko-KR" dirty="0" err="1"/>
              <a:t>group_concat</a:t>
            </a:r>
            <a:r>
              <a:rPr lang="en-US" altLang="ko-KR" dirty="0"/>
              <a:t>(</a:t>
            </a:r>
            <a:r>
              <a:rPr lang="en-US" altLang="ko-KR" dirty="0" err="1"/>
              <a:t>o.bookid</a:t>
            </a:r>
            <a:r>
              <a:rPr lang="en-US" altLang="ko-KR" dirty="0"/>
              <a:t>), sum(</a:t>
            </a:r>
            <a:r>
              <a:rPr lang="en-US" altLang="ko-KR" dirty="0" err="1"/>
              <a:t>saleprice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   FROM orders as o JOIN customer as c ON </a:t>
            </a:r>
            <a:r>
              <a:rPr lang="en-US" altLang="ko-KR" dirty="0" err="1"/>
              <a:t>o.custid</a:t>
            </a:r>
            <a:r>
              <a:rPr lang="en-US" altLang="ko-KR" dirty="0"/>
              <a:t> = </a:t>
            </a:r>
            <a:r>
              <a:rPr lang="en-US" altLang="ko-KR" dirty="0" err="1"/>
              <a:t>c.custid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GROUP BY </a:t>
            </a:r>
            <a:r>
              <a:rPr lang="en-US" altLang="ko-KR" dirty="0" err="1"/>
              <a:t>o.custid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24757" y="980728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집계 함수를 사용할 때 </a:t>
            </a:r>
            <a:r>
              <a:rPr kumimoji="0" lang="en-US" altLang="ko-KR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orders </a:t>
            </a: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에 있는 </a:t>
            </a:r>
            <a:r>
              <a:rPr kumimoji="0" lang="en-US" altLang="ko-KR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bookid</a:t>
            </a: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를 사용할 수 없다</a:t>
            </a:r>
            <a:r>
              <a:rPr kumimoji="0" lang="en-US" altLang="ko-KR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B67DDF-24C2-5AA9-D2B8-6DC397A9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30" y="3140968"/>
            <a:ext cx="3312368" cy="1184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2896925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827583" y="3140968"/>
            <a:ext cx="4536505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45D263C-F377-81BA-ABB0-E1A8B148B36F}"/>
              </a:ext>
            </a:extLst>
          </p:cNvPr>
          <p:cNvCxnSpPr>
            <a:cxnSpLocks/>
          </p:cNvCxnSpPr>
          <p:nvPr/>
        </p:nvCxnSpPr>
        <p:spPr>
          <a:xfrm>
            <a:off x="2411760" y="3429000"/>
            <a:ext cx="5040560" cy="110094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5A4105-827E-BE11-A27F-C3FF707A62BC}"/>
              </a:ext>
            </a:extLst>
          </p:cNvPr>
          <p:cNvSpPr/>
          <p:nvPr/>
        </p:nvSpPr>
        <p:spPr>
          <a:xfrm>
            <a:off x="1979712" y="2896925"/>
            <a:ext cx="648072" cy="892115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3C720E-3CF2-165F-2D89-5106B76E5BA1}"/>
              </a:ext>
            </a:extLst>
          </p:cNvPr>
          <p:cNvSpPr/>
          <p:nvPr/>
        </p:nvSpPr>
        <p:spPr>
          <a:xfrm>
            <a:off x="853227" y="4867583"/>
            <a:ext cx="4536505" cy="4781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54F675C-FEA9-2FBF-DD06-9B88976F27CE}"/>
              </a:ext>
            </a:extLst>
          </p:cNvPr>
          <p:cNvCxnSpPr>
            <a:cxnSpLocks/>
          </p:cNvCxnSpPr>
          <p:nvPr/>
        </p:nvCxnSpPr>
        <p:spPr>
          <a:xfrm flipV="1">
            <a:off x="2411760" y="4262255"/>
            <a:ext cx="5004557" cy="840834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7B9E28-50C6-1BA0-DC16-45E5899C5CBE}"/>
              </a:ext>
            </a:extLst>
          </p:cNvPr>
          <p:cNvSpPr/>
          <p:nvPr/>
        </p:nvSpPr>
        <p:spPr>
          <a:xfrm>
            <a:off x="1979712" y="4827395"/>
            <a:ext cx="648072" cy="60124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BFB162-E17A-AEF8-8355-EA3653148FD7}"/>
              </a:ext>
            </a:extLst>
          </p:cNvPr>
          <p:cNvSpPr/>
          <p:nvPr/>
        </p:nvSpPr>
        <p:spPr>
          <a:xfrm>
            <a:off x="7452320" y="4094275"/>
            <a:ext cx="648072" cy="264042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36F776-6B6C-92AB-F348-80CCC43D6F7B}"/>
              </a:ext>
            </a:extLst>
          </p:cNvPr>
          <p:cNvSpPr/>
          <p:nvPr/>
        </p:nvSpPr>
        <p:spPr>
          <a:xfrm>
            <a:off x="7467115" y="3375749"/>
            <a:ext cx="648072" cy="26404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28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8268AE5-9228-195C-C06B-0500FD9D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39" y="4776043"/>
            <a:ext cx="6228184" cy="16646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dirty="0"/>
              <a:t>SELECT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endParaRPr lang="en-US" altLang="ko-KR" sz="1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9" y="2132856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749739" y="2606714"/>
            <a:ext cx="4675593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3C720E-3CF2-165F-2D89-5106B76E5BA1}"/>
              </a:ext>
            </a:extLst>
          </p:cNvPr>
          <p:cNvSpPr/>
          <p:nvPr/>
        </p:nvSpPr>
        <p:spPr>
          <a:xfrm>
            <a:off x="781173" y="3671339"/>
            <a:ext cx="4675593" cy="888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C60EA0F-4DAA-3C5E-051C-CE4CCA3928FC}"/>
              </a:ext>
            </a:extLst>
          </p:cNvPr>
          <p:cNvCxnSpPr>
            <a:cxnSpLocks/>
          </p:cNvCxnSpPr>
          <p:nvPr/>
        </p:nvCxnSpPr>
        <p:spPr>
          <a:xfrm>
            <a:off x="2627784" y="4077072"/>
            <a:ext cx="503285" cy="145022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C0C06696-026B-ECE6-8601-7CDC57FC2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400" y="3353776"/>
            <a:ext cx="3333670" cy="1081363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CAB9C77-CA79-8B2F-A2B1-5CFF8FC08A60}"/>
              </a:ext>
            </a:extLst>
          </p:cNvPr>
          <p:cNvCxnSpPr>
            <a:cxnSpLocks/>
          </p:cNvCxnSpPr>
          <p:nvPr/>
        </p:nvCxnSpPr>
        <p:spPr>
          <a:xfrm flipV="1">
            <a:off x="4572000" y="3728644"/>
            <a:ext cx="1872208" cy="148737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C6132E-F5EE-BA29-929A-C9B0C0BD3C2D}"/>
              </a:ext>
            </a:extLst>
          </p:cNvPr>
          <p:cNvSpPr/>
          <p:nvPr/>
        </p:nvSpPr>
        <p:spPr>
          <a:xfrm>
            <a:off x="862817" y="4996053"/>
            <a:ext cx="6115106" cy="436214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48926B5-2174-8D2E-C7A0-331D9E5004B6}"/>
              </a:ext>
            </a:extLst>
          </p:cNvPr>
          <p:cNvCxnSpPr>
            <a:cxnSpLocks/>
          </p:cNvCxnSpPr>
          <p:nvPr/>
        </p:nvCxnSpPr>
        <p:spPr>
          <a:xfrm flipV="1">
            <a:off x="5241128" y="4363745"/>
            <a:ext cx="1707909" cy="1731138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2F573FE-AE32-D0D1-9B0A-C1C9F54AC110}"/>
              </a:ext>
            </a:extLst>
          </p:cNvPr>
          <p:cNvSpPr/>
          <p:nvPr/>
        </p:nvSpPr>
        <p:spPr>
          <a:xfrm>
            <a:off x="860299" y="6011916"/>
            <a:ext cx="6115106" cy="436214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762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0C06696-026B-ECE6-8601-7CDC57FC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49" y="2212716"/>
            <a:ext cx="3333670" cy="108136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dirty="0"/>
              <a:t>SELECT c.name,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HAVING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&gt;= 10000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930373" y="2400588"/>
            <a:ext cx="3333670" cy="2623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279770-9CC7-D93A-B56B-114E2175B5B6}"/>
              </a:ext>
            </a:extLst>
          </p:cNvPr>
          <p:cNvSpPr/>
          <p:nvPr/>
        </p:nvSpPr>
        <p:spPr>
          <a:xfrm>
            <a:off x="954833" y="2791075"/>
            <a:ext cx="3309210" cy="5030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46723C-6092-3EBE-0B5C-C28FF96F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79" y="3485927"/>
            <a:ext cx="7278116" cy="1324160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48926B5-2174-8D2E-C7A0-331D9E5004B6}"/>
              </a:ext>
            </a:extLst>
          </p:cNvPr>
          <p:cNvCxnSpPr>
            <a:cxnSpLocks/>
          </p:cNvCxnSpPr>
          <p:nvPr/>
        </p:nvCxnSpPr>
        <p:spPr>
          <a:xfrm>
            <a:off x="3758682" y="3171267"/>
            <a:ext cx="429057" cy="1250025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CAB9C77-CA79-8B2F-A2B1-5CFF8FC08A60}"/>
              </a:ext>
            </a:extLst>
          </p:cNvPr>
          <p:cNvCxnSpPr>
            <a:cxnSpLocks/>
          </p:cNvCxnSpPr>
          <p:nvPr/>
        </p:nvCxnSpPr>
        <p:spPr>
          <a:xfrm>
            <a:off x="4139952" y="2599227"/>
            <a:ext cx="709431" cy="154878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201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 sz="1400" dirty="0"/>
              <a:t>SELECT c.name,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HAVING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&gt;= 10000</a:t>
            </a:r>
          </a:p>
          <a:p>
            <a:pPr marL="0" indent="0">
              <a:buNone/>
            </a:pPr>
            <a:r>
              <a:rPr lang="en-US" altLang="ko-KR" sz="1400" dirty="0"/>
              <a:t>     ORDER BY c.name DESC;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46723C-6092-3EBE-0B5C-C28FF96F9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20" y="2444417"/>
            <a:ext cx="7278116" cy="13241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9BDDDE-632B-FF8E-46D6-D3AD4563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20" y="4293096"/>
            <a:ext cx="7569104" cy="1304075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BDA6D786-4168-C26A-34AC-710916BAE282}"/>
              </a:ext>
            </a:extLst>
          </p:cNvPr>
          <p:cNvSpPr/>
          <p:nvPr/>
        </p:nvSpPr>
        <p:spPr>
          <a:xfrm>
            <a:off x="4458378" y="3717032"/>
            <a:ext cx="329646" cy="353691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76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8019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683073"/>
            <a:ext cx="8064896" cy="11877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외부조인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5337" y="2276138"/>
          <a:ext cx="7579071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3-27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구매하지 않은 고객을 포함하여 고객의 이름과 고객이 주문한 도서의 판매가격을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LEFT [OUTER] JOIN Orders </a:t>
                      </a: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        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3072705"/>
            <a:ext cx="1458107" cy="273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11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2984" y="2276872"/>
          <a:ext cx="7949456" cy="3456384"/>
        </p:xfrm>
        <a:graphic>
          <a:graphicData uri="http://schemas.openxmlformats.org/drawingml/2006/table">
            <a:tbl>
              <a:tblPr/>
              <a:tblGrid>
                <a:gridCol w="110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111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명령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74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 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 AND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문에서는 주로 동등조인을 사용함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 가지 문법 중 하나를 사용할 수 있음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1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INNER JOIN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08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외부조인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{LEFT |RIGHT |FULL [OUTER]} JOIN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외부조인은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조인 종류를 </a:t>
                      </a:r>
                      <a:b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적고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이용하여 조인조건을 명시함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1560" y="19168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3-9 </a:t>
            </a:r>
            <a:r>
              <a:rPr lang="ko-KR" altLang="en-US" sz="1400" b="1" dirty="0">
                <a:ea typeface="맑은 고딕" panose="020B0503020000020004" pitchFamily="50" charset="-127"/>
              </a:rPr>
              <a:t>조인 문법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  <p:extLst>
      <p:ext uri="{BB962C8B-B14F-4D97-AF65-F5344CB8AC3E}">
        <p14:creationId xmlns:p14="http://schemas.microsoft.com/office/powerpoint/2010/main" val="3649669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97706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3-21 </a:t>
            </a:r>
            <a:r>
              <a:rPr lang="ko-KR" altLang="en-US" sz="1400" b="1" dirty="0">
                <a:ea typeface="맑은 고딕" panose="020B0503020000020004" pitchFamily="50" charset="-127"/>
              </a:rPr>
              <a:t>부속질의의 실행 순서</a:t>
            </a:r>
          </a:p>
        </p:txBody>
      </p:sp>
      <p:graphicFrame>
        <p:nvGraphicFramePr>
          <p:cNvPr id="1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2621244"/>
              </p:ext>
            </p:extLst>
          </p:nvPr>
        </p:nvGraphicFramePr>
        <p:xfrm>
          <a:off x="827584" y="1831876"/>
          <a:ext cx="7579071" cy="160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5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3-28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가장 비싼 도서의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7671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price = ( SELECT</a:t>
                      </a:r>
                      <a:r>
                        <a:rPr lang="en-US" altLang="ko-KR" sz="1400" baseline="0" dirty="0">
                          <a:solidFill>
                            <a:schemeClr val="dk1"/>
                          </a:solidFill>
                        </a:rPr>
                        <a:t> MAX(price)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</a:t>
                      </a:r>
                      <a:r>
                        <a:rPr lang="en-US" altLang="ko-KR" sz="1400" baseline="0" dirty="0">
                          <a:solidFill>
                            <a:schemeClr val="dk1"/>
                          </a:solidFill>
                        </a:rPr>
                        <a:t>            FROM Book)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169" name="_x977192200" descr="EMB000024782f9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706" y="3436142"/>
            <a:ext cx="6902686" cy="235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12" y="2420888"/>
            <a:ext cx="1015554" cy="5438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90949"/>
              </p:ext>
            </p:extLst>
          </p:nvPr>
        </p:nvGraphicFramePr>
        <p:xfrm>
          <a:off x="735807" y="183590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3-29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구매한 적이 있는 고객의 이름을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/>
                        <a:t>SELECT	name</a:t>
                      </a:r>
                    </a:p>
                    <a:p>
                      <a:r>
                        <a:rPr lang="en-US" altLang="ko-KR" sz="1400" dirty="0"/>
                        <a:t>FROM     	Customer</a:t>
                      </a:r>
                    </a:p>
                    <a:p>
                      <a:r>
                        <a:rPr lang="en-US" altLang="ko-KR" sz="1400" dirty="0"/>
                        <a:t>WHERE    	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IN (SELECT    </a:t>
                      </a:r>
                      <a:r>
                        <a:rPr lang="en-US" altLang="ko-KR" sz="1400" dirty="0" err="1"/>
                        <a:t>custid</a:t>
                      </a:r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                           	FROM  </a:t>
                      </a:r>
                      <a:r>
                        <a:rPr lang="en-US" altLang="ko-KR" sz="1400" baseline="0" dirty="0"/>
                        <a:t>  </a:t>
                      </a:r>
                      <a:r>
                        <a:rPr lang="en-US" altLang="ko-KR" sz="1400" dirty="0"/>
                        <a:t>Orders);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3767489"/>
              </p:ext>
            </p:extLst>
          </p:nvPr>
        </p:nvGraphicFramePr>
        <p:xfrm>
          <a:off x="735807" y="4005064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3-30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대한미디어에서 출판한 도서를 구매한 고객의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     	Customer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  <a:latin typeface="+mn-ea"/>
                        </a:rPr>
                        <a:t>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667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200" dirty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Orders</a:t>
                      </a:r>
                    </a:p>
                    <a:p>
                      <a:pPr marL="1438275" indent="2667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WHERE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0574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Book</a:t>
                      </a:r>
                    </a:p>
                    <a:p>
                      <a:pPr marL="1438275" indent="20574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WHERE    publisher='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6" y="2376488"/>
            <a:ext cx="751938" cy="12685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344" y="4581128"/>
            <a:ext cx="681608" cy="5378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47" y="1864358"/>
            <a:ext cx="6264696" cy="382766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23728" y="594928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3-22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부속질의의 실행 순서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755576" y="17195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AFCBCE-B3F8-BD84-4204-EF5D106E5933}"/>
              </a:ext>
            </a:extLst>
          </p:cNvPr>
          <p:cNvSpPr/>
          <p:nvPr/>
        </p:nvSpPr>
        <p:spPr>
          <a:xfrm>
            <a:off x="5004048" y="3474963"/>
            <a:ext cx="2736304" cy="2392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C8354-5143-E421-34C5-B211E9110E57}"/>
              </a:ext>
            </a:extLst>
          </p:cNvPr>
          <p:cNvSpPr txBox="1"/>
          <p:nvPr/>
        </p:nvSpPr>
        <p:spPr>
          <a:xfrm>
            <a:off x="6228184" y="3861048"/>
            <a:ext cx="504056" cy="698376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ko-KR" altLang="en-US" sz="3600" b="1" dirty="0">
                <a:solidFill>
                  <a:schemeClr val="accent6"/>
                </a:solidFill>
              </a:rPr>
              <a:t>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67704" y="652534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3-23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부속질의의 실행 순서와 데이터 예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781366"/>
            <a:ext cx="6264696" cy="474397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700" y="1700808"/>
            <a:ext cx="7956748" cy="417646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상관 부속질의</a:t>
            </a:r>
            <a:r>
              <a:rPr lang="en-US" altLang="ko-KR" dirty="0"/>
              <a:t>(correlated </a:t>
            </a:r>
            <a:r>
              <a:rPr lang="en-US" altLang="ko-KR" dirty="0" err="1"/>
              <a:t>subquery</a:t>
            </a:r>
            <a:r>
              <a:rPr lang="en-US" altLang="ko-KR" dirty="0"/>
              <a:t>)</a:t>
            </a:r>
            <a:r>
              <a:rPr lang="ko-KR" altLang="en-US" dirty="0"/>
              <a:t>는 상위 부속질의의 투플을 이용하여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하위 부속질의를 계산함</a:t>
            </a:r>
            <a:r>
              <a:rPr lang="en-US" altLang="ko-KR" dirty="0"/>
              <a:t>. </a:t>
            </a:r>
            <a:r>
              <a:rPr lang="ko-KR" altLang="en-US" dirty="0"/>
              <a:t>즉 상위 부속질의와 하위 부속질의가 독립적이지 않고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서로 관련을 맺고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1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3359420"/>
              </p:ext>
            </p:extLst>
          </p:nvPr>
        </p:nvGraphicFramePr>
        <p:xfrm>
          <a:off x="807815" y="3252217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출판사별로 출판사의 평균 도서 가격보다 비싼 도서를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827584" y="3900289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20" y="3789040"/>
            <a:ext cx="1039366" cy="101725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2C44-9F45-4C41-DA32-1311D0E6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B40469-E0C4-B648-D91C-0FF1E105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95" y="1187735"/>
            <a:ext cx="4537253" cy="331236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8A1E3AC-7CBB-BEB0-5C93-B180DB98E3B8}"/>
              </a:ext>
            </a:extLst>
          </p:cNvPr>
          <p:cNvSpPr txBox="1">
            <a:spLocks/>
          </p:cNvSpPr>
          <p:nvPr/>
        </p:nvSpPr>
        <p:spPr>
          <a:xfrm>
            <a:off x="5209308" y="1255764"/>
            <a:ext cx="3637661" cy="25071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	publisher, avg(b2.price)	FROM 	Book b2		WHERE 	b2.publisher='</a:t>
            </a:r>
            <a:r>
              <a:rPr lang="ko-KR" altLang="en-US" dirty="0">
                <a:latin typeface="+mj-lt"/>
                <a:ea typeface="+mj-ea"/>
                <a:cs typeface="+mj-cs"/>
              </a:rPr>
              <a:t>대한미디어</a:t>
            </a:r>
            <a:r>
              <a:rPr lang="en-US" altLang="ko-KR" dirty="0">
                <a:latin typeface="+mj-lt"/>
                <a:ea typeface="+mj-ea"/>
                <a:cs typeface="+mj-cs"/>
              </a:rPr>
              <a:t>’;</a:t>
            </a: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publisher, avg(b2.price)	FROM 	Book b2		WHERE 	b2.publisher='</a:t>
            </a:r>
            <a:r>
              <a:rPr lang="ko-KR" altLang="en-US" dirty="0">
                <a:latin typeface="+mj-lt"/>
                <a:ea typeface="+mj-ea"/>
                <a:cs typeface="+mj-cs"/>
              </a:rPr>
              <a:t>굿스포츠</a:t>
            </a:r>
            <a:r>
              <a:rPr lang="en-US" altLang="ko-KR" dirty="0">
                <a:latin typeface="+mj-lt"/>
                <a:ea typeface="+mj-ea"/>
                <a:cs typeface="+mj-cs"/>
              </a:rPr>
              <a:t>';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3836F9-4737-DB2F-7425-7A19171971CB}"/>
              </a:ext>
            </a:extLst>
          </p:cNvPr>
          <p:cNvSpPr/>
          <p:nvPr/>
        </p:nvSpPr>
        <p:spPr>
          <a:xfrm>
            <a:off x="421403" y="4563705"/>
            <a:ext cx="51125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 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85C8DE-92EA-9B64-2DAB-7EFACDB2FF98}"/>
              </a:ext>
            </a:extLst>
          </p:cNvPr>
          <p:cNvCxnSpPr/>
          <p:nvPr/>
        </p:nvCxnSpPr>
        <p:spPr>
          <a:xfrm>
            <a:off x="683568" y="2564904"/>
            <a:ext cx="4176464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C3B0B0-2DE1-0AD8-B9E1-E297856E5FE1}"/>
              </a:ext>
            </a:extLst>
          </p:cNvPr>
          <p:cNvCxnSpPr/>
          <p:nvPr/>
        </p:nvCxnSpPr>
        <p:spPr>
          <a:xfrm>
            <a:off x="683568" y="3429000"/>
            <a:ext cx="4176464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38290E-89F5-9D4A-D0AD-FBF0CA043889}"/>
              </a:ext>
            </a:extLst>
          </p:cNvPr>
          <p:cNvCxnSpPr/>
          <p:nvPr/>
        </p:nvCxnSpPr>
        <p:spPr>
          <a:xfrm>
            <a:off x="683568" y="2847618"/>
            <a:ext cx="4176464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8769253A-8F72-8565-05BC-0E53E1CD6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326" y="2348880"/>
            <a:ext cx="2791215" cy="75258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A0582A1-10E1-E0CC-9580-77FC9B0A1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326" y="4331483"/>
            <a:ext cx="2829320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92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2C44-9F45-4C41-DA32-1311D0E6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0DCCF16-F345-3389-3E78-92910125E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8064" y="1187735"/>
            <a:ext cx="2638793" cy="2429214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B40469-E0C4-B648-D91C-0FF1E105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95" y="1187735"/>
            <a:ext cx="4537253" cy="331236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8A1E3AC-7CBB-BEB0-5C93-B180DB98E3B8}"/>
              </a:ext>
            </a:extLst>
          </p:cNvPr>
          <p:cNvSpPr txBox="1">
            <a:spLocks/>
          </p:cNvSpPr>
          <p:nvPr/>
        </p:nvSpPr>
        <p:spPr>
          <a:xfrm>
            <a:off x="5076056" y="3730196"/>
            <a:ext cx="3637661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publisher, avg(price) </a:t>
            </a: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FROM Book GROUP BY publisher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3836F9-4737-DB2F-7425-7A19171971CB}"/>
              </a:ext>
            </a:extLst>
          </p:cNvPr>
          <p:cNvSpPr/>
          <p:nvPr/>
        </p:nvSpPr>
        <p:spPr>
          <a:xfrm>
            <a:off x="421403" y="4563705"/>
            <a:ext cx="51125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 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DDB8AC9-CF80-63CE-9B5F-64F7F747A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937" y="4797152"/>
            <a:ext cx="1409897" cy="1238423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85C8DE-92EA-9B64-2DAB-7EFACDB2FF98}"/>
              </a:ext>
            </a:extLst>
          </p:cNvPr>
          <p:cNvCxnSpPr/>
          <p:nvPr/>
        </p:nvCxnSpPr>
        <p:spPr>
          <a:xfrm>
            <a:off x="683568" y="2564904"/>
            <a:ext cx="4176464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D2A2E59-8EDE-B756-D5B7-FC4188C559AB}"/>
              </a:ext>
            </a:extLst>
          </p:cNvPr>
          <p:cNvCxnSpPr>
            <a:cxnSpLocks/>
          </p:cNvCxnSpPr>
          <p:nvPr/>
        </p:nvCxnSpPr>
        <p:spPr>
          <a:xfrm>
            <a:off x="5148064" y="2402342"/>
            <a:ext cx="3024336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C3B0B0-2DE1-0AD8-B9E1-E297856E5FE1}"/>
              </a:ext>
            </a:extLst>
          </p:cNvPr>
          <p:cNvCxnSpPr/>
          <p:nvPr/>
        </p:nvCxnSpPr>
        <p:spPr>
          <a:xfrm>
            <a:off x="683568" y="3429000"/>
            <a:ext cx="4176464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C5FD85D-9BC8-1463-3349-504291EE94D7}"/>
              </a:ext>
            </a:extLst>
          </p:cNvPr>
          <p:cNvCxnSpPr>
            <a:cxnSpLocks/>
          </p:cNvCxnSpPr>
          <p:nvPr/>
        </p:nvCxnSpPr>
        <p:spPr>
          <a:xfrm>
            <a:off x="5148064" y="2708920"/>
            <a:ext cx="3024336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38290E-89F5-9D4A-D0AD-FBF0CA043889}"/>
              </a:ext>
            </a:extLst>
          </p:cNvPr>
          <p:cNvCxnSpPr/>
          <p:nvPr/>
        </p:nvCxnSpPr>
        <p:spPr>
          <a:xfrm>
            <a:off x="683568" y="2847618"/>
            <a:ext cx="4176464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C7D4A90-3E2E-855F-64D0-C39636B780A5}"/>
              </a:ext>
            </a:extLst>
          </p:cNvPr>
          <p:cNvCxnSpPr>
            <a:cxnSpLocks/>
          </p:cNvCxnSpPr>
          <p:nvPr/>
        </p:nvCxnSpPr>
        <p:spPr>
          <a:xfrm>
            <a:off x="5148064" y="1844824"/>
            <a:ext cx="3024336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3485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9552" y="515250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3-24 </a:t>
            </a:r>
            <a:r>
              <a:rPr lang="ko-KR" altLang="en-US" sz="1400" b="1" dirty="0">
                <a:ea typeface="맑은 고딕" panose="020B0503020000020004" pitchFamily="50" charset="-127"/>
              </a:rPr>
              <a:t>상관 부속질의의 데이터 예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88840"/>
            <a:ext cx="8280920" cy="30603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1200" y="1682403"/>
            <a:ext cx="7893248" cy="41595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합집합 </a:t>
            </a:r>
            <a:r>
              <a:rPr lang="en-US" altLang="ko-KR" dirty="0"/>
              <a:t>UNION, </a:t>
            </a:r>
            <a:r>
              <a:rPr lang="ko-KR" altLang="en-US" dirty="0" err="1"/>
              <a:t>차집합</a:t>
            </a:r>
            <a:r>
              <a:rPr lang="ko-KR" altLang="en-US" dirty="0"/>
              <a:t> </a:t>
            </a:r>
            <a:r>
              <a:rPr lang="en-US" altLang="ko-KR" dirty="0"/>
              <a:t>MINUS, </a:t>
            </a:r>
            <a:r>
              <a:rPr lang="ko-KR" altLang="en-US" dirty="0"/>
              <a:t>교집합 </a:t>
            </a:r>
            <a:r>
              <a:rPr lang="en-US" altLang="ko-KR" dirty="0"/>
              <a:t>INTERSECT </a:t>
            </a:r>
          </a:p>
          <a:p>
            <a:pPr>
              <a:buNone/>
            </a:pPr>
            <a:r>
              <a:rPr lang="en-US" altLang="ko-KR" dirty="0"/>
              <a:t>	</a:t>
            </a:r>
            <a:endParaRPr lang="ko-KR" altLang="en-US" sz="1200" b="0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8772883"/>
              </p:ext>
            </p:extLst>
          </p:nvPr>
        </p:nvGraphicFramePr>
        <p:xfrm>
          <a:off x="899592" y="2415540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3-32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고객의 이름과 도서를 주문한 고객의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99592" y="2881601"/>
            <a:ext cx="511256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UNION 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99592" y="4624934"/>
            <a:ext cx="5471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ea typeface="맑은 고딕" panose="020B0503020000020004" pitchFamily="50" charset="-127"/>
              </a:rPr>
              <a:t>{</a:t>
            </a:r>
            <a:r>
              <a:rPr lang="ko-KR" altLang="en-US" sz="1200" dirty="0">
                <a:ea typeface="맑은 고딕" panose="020B0503020000020004" pitchFamily="50" charset="-127"/>
              </a:rPr>
              <a:t>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 = {</a:t>
            </a:r>
            <a:r>
              <a:rPr lang="ko-KR" altLang="en-US" sz="1200" dirty="0">
                <a:ea typeface="맑은 고딕" panose="020B0503020000020004" pitchFamily="50" charset="-127"/>
              </a:rPr>
              <a:t>대한민국에 거주하는 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 ∪ {</a:t>
            </a:r>
            <a:r>
              <a:rPr lang="ko-KR" altLang="en-US" sz="1200" dirty="0">
                <a:ea typeface="맑은 고딕" panose="020B0503020000020004" pitchFamily="50" charset="-127"/>
              </a:rPr>
              <a:t>도서를 주문한 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</a:t>
            </a:r>
            <a:endParaRPr lang="ko-KR" altLang="en-US" sz="1200" dirty="0">
              <a:ea typeface="맑은 고딕" panose="020B0503020000020004" pitchFamily="50" charset="-127"/>
            </a:endParaRPr>
          </a:p>
          <a:p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집합 연산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주문한 고객을 알고 싶다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360" y="2924944"/>
            <a:ext cx="758148" cy="148284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여기서 잠깐</a:t>
            </a:r>
            <a:r>
              <a:rPr lang="en-US" altLang="ko-KR" dirty="0"/>
              <a:t>&gt; MINUS, INTERSECT </a:t>
            </a:r>
            <a:r>
              <a:rPr lang="ko-KR" altLang="en-US" dirty="0"/>
              <a:t>연산자</a:t>
            </a:r>
          </a:p>
          <a:p>
            <a:pPr marL="0" indent="0">
              <a:buNone/>
            </a:pPr>
            <a:r>
              <a:rPr lang="en-US" altLang="ko-KR" b="0" dirty="0"/>
              <a:t>     MySQL</a:t>
            </a:r>
            <a:r>
              <a:rPr lang="ko-KR" altLang="en-US" b="0" dirty="0"/>
              <a:t>에는 </a:t>
            </a:r>
            <a:r>
              <a:rPr lang="en-US" altLang="ko-KR" b="0" dirty="0"/>
              <a:t>MINUS, INTERSECT </a:t>
            </a:r>
            <a:r>
              <a:rPr lang="ko-KR" altLang="en-US" b="0" dirty="0"/>
              <a:t>연산자가 없으므로 다음과 같이 표현한다</a:t>
            </a:r>
            <a:r>
              <a:rPr lang="en-US" altLang="ko-KR" b="0" dirty="0"/>
              <a:t>.	</a:t>
            </a:r>
            <a:endParaRPr lang="ko-KR" altLang="en-US" sz="1200" b="0" dirty="0"/>
          </a:p>
        </p:txBody>
      </p:sp>
      <p:sp>
        <p:nvSpPr>
          <p:cNvPr id="6" name="직사각형 5"/>
          <p:cNvSpPr/>
          <p:nvPr/>
        </p:nvSpPr>
        <p:spPr>
          <a:xfrm>
            <a:off x="894412" y="1965931"/>
            <a:ext cx="7422003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[</a:t>
            </a:r>
            <a:r>
              <a:rPr lang="ko-KR" altLang="en-US" sz="1400" dirty="0">
                <a:ea typeface="맑은 고딕" panose="020B0503020000020004" pitchFamily="50" charset="-127"/>
              </a:rPr>
              <a:t>질의 </a:t>
            </a:r>
            <a:r>
              <a:rPr lang="en-US" altLang="ko-KR" sz="1400" dirty="0">
                <a:ea typeface="맑은 고딕" panose="020B0503020000020004" pitchFamily="50" charset="-127"/>
              </a:rPr>
              <a:t>3-32]</a:t>
            </a:r>
            <a:r>
              <a:rPr lang="ko-KR" altLang="en-US" sz="1400" dirty="0">
                <a:ea typeface="맑은 고딕" panose="020B0503020000020004" pitchFamily="50" charset="-127"/>
              </a:rPr>
              <a:t>에서 </a:t>
            </a:r>
            <a:r>
              <a:rPr lang="en-US" altLang="ko-KR" sz="1400" dirty="0">
                <a:solidFill>
                  <a:srgbClr val="0000CC"/>
                </a:solidFill>
                <a:ea typeface="맑은 고딕" panose="020B0503020000020004" pitchFamily="50" charset="-127"/>
              </a:rPr>
              <a:t>MINUS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연산을 수행한 “대한민국에서 거주하는 고객의 이름에서 도서를 주문한 고객의 이름 빼고 보이시오</a:t>
            </a:r>
            <a:r>
              <a:rPr lang="en-US" altLang="ko-KR" sz="1400" dirty="0">
                <a:ea typeface="맑은 고딕" panose="020B0503020000020004" pitchFamily="50" charset="-127"/>
              </a:rPr>
              <a:t>.” </a:t>
            </a:r>
            <a:r>
              <a:rPr lang="ko-KR" altLang="en-US" sz="1400" dirty="0">
                <a:ea typeface="맑은 고딕" panose="020B0503020000020004" pitchFamily="50" charset="-127"/>
              </a:rPr>
              <a:t>질의를 </a:t>
            </a:r>
            <a:r>
              <a:rPr lang="en-US" altLang="ko-KR" sz="1400" dirty="0">
                <a:ea typeface="맑은 고딕" panose="020B0503020000020004" pitchFamily="50" charset="-127"/>
              </a:rPr>
              <a:t>NOT IN </a:t>
            </a:r>
            <a:r>
              <a:rPr lang="ko-KR" altLang="en-US" sz="1400" dirty="0">
                <a:ea typeface="맑은 고딕" panose="020B0503020000020004" pitchFamily="50" charset="-127"/>
              </a:rPr>
              <a:t>연산자를 사용하면 다음과 같다</a:t>
            </a:r>
            <a:r>
              <a:rPr lang="en-US" altLang="ko-KR" sz="1400" dirty="0"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 AND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name NOT IN (SELECT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Orders));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[</a:t>
            </a:r>
            <a:r>
              <a:rPr lang="ko-KR" altLang="en-US" sz="1400" dirty="0">
                <a:ea typeface="맑은 고딕" panose="020B0503020000020004" pitchFamily="50" charset="-127"/>
              </a:rPr>
              <a:t>질의 </a:t>
            </a:r>
            <a:r>
              <a:rPr lang="en-US" altLang="ko-KR" sz="1400" dirty="0">
                <a:ea typeface="맑은 고딕" panose="020B0503020000020004" pitchFamily="50" charset="-127"/>
              </a:rPr>
              <a:t>3-32]</a:t>
            </a:r>
            <a:r>
              <a:rPr lang="ko-KR" altLang="en-US" sz="1400" dirty="0">
                <a:ea typeface="맑은 고딕" panose="020B0503020000020004" pitchFamily="50" charset="-127"/>
              </a:rPr>
              <a:t>에서 </a:t>
            </a:r>
            <a:r>
              <a:rPr lang="en-US" altLang="ko-KR" sz="1400" dirty="0">
                <a:solidFill>
                  <a:srgbClr val="0000CC"/>
                </a:solidFill>
                <a:ea typeface="맑은 고딕" panose="020B0503020000020004" pitchFamily="50" charset="-127"/>
              </a:rPr>
              <a:t>INTERSECT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연산을 수행한 “대한민국에서 거주하는 고객 중 도서를 주문한 고객의 이름 보이시오</a:t>
            </a:r>
            <a:r>
              <a:rPr lang="en-US" altLang="ko-KR" sz="1400" dirty="0">
                <a:ea typeface="맑은 고딕" panose="020B0503020000020004" pitchFamily="50" charset="-127"/>
              </a:rPr>
              <a:t>.” </a:t>
            </a:r>
            <a:r>
              <a:rPr lang="ko-KR" altLang="en-US" sz="1400" dirty="0">
                <a:ea typeface="맑은 고딕" panose="020B0503020000020004" pitchFamily="50" charset="-127"/>
              </a:rPr>
              <a:t>질의를 </a:t>
            </a:r>
            <a:r>
              <a:rPr lang="en-US" altLang="ko-KR" sz="1400" dirty="0">
                <a:ea typeface="맑은 고딕" panose="020B0503020000020004" pitchFamily="50" charset="-127"/>
              </a:rPr>
              <a:t>IN </a:t>
            </a:r>
            <a:r>
              <a:rPr lang="ko-KR" altLang="en-US" sz="1400" dirty="0">
                <a:ea typeface="맑은 고딕" panose="020B0503020000020004" pitchFamily="50" charset="-127"/>
              </a:rPr>
              <a:t>연산자를 사용하면 다음과 같다</a:t>
            </a:r>
            <a:r>
              <a:rPr lang="en-US" altLang="ko-KR" sz="1400" dirty="0">
                <a:ea typeface="맑은 고딕" panose="020B0503020000020004" pitchFamily="50" charset="-127"/>
              </a:rPr>
              <a:t>.  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 AND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name IN (SELECT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192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1CFD4-7397-A260-734D-771E0599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6B1A1-9370-43ED-5863-7BD6276D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A2CD589-B2D5-5089-A3D6-ADE2AE9DED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9522984"/>
              </p:ext>
            </p:extLst>
          </p:nvPr>
        </p:nvGraphicFramePr>
        <p:xfrm>
          <a:off x="539552" y="1107192"/>
          <a:ext cx="7652617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고객의 이름에서 도서를 주문한 고객의 이름 빼고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차집합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ea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FROM	Customer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WHERE address LIKE '</a:t>
                      </a:r>
                      <a:r>
                        <a:rPr lang="ko-KR" altLang="en-US" sz="1400" dirty="0">
                          <a:ea typeface="+mn-ea"/>
                        </a:rPr>
                        <a:t>대한민국</a:t>
                      </a:r>
                      <a:r>
                        <a:rPr lang="en-US" altLang="ko-KR" sz="1400" dirty="0">
                          <a:ea typeface="+mn-ea"/>
                        </a:rPr>
                        <a:t>%’ 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AND name NOT IN (SELECT name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FROM Customer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WHERE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IN (SELECT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FROM Orders));</a:t>
                      </a: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EXCEPT (SELECT name FROM Customer WHERE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IN (SELECT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FROM Orders));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85525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AD6C17AA-7309-6ACD-6F3A-D1C22ADCB5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8011984"/>
              </p:ext>
            </p:extLst>
          </p:nvPr>
        </p:nvGraphicFramePr>
        <p:xfrm>
          <a:off x="544491" y="3832651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 중 도서를 주문한 고객의 이름을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교집합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ea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FROM	Customer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WHERE address LIKE '</a:t>
                      </a:r>
                      <a:r>
                        <a:rPr lang="ko-KR" altLang="en-US" sz="1400" dirty="0">
                          <a:ea typeface="+mn-ea"/>
                        </a:rPr>
                        <a:t>대한민국</a:t>
                      </a:r>
                      <a:r>
                        <a:rPr lang="en-US" altLang="ko-KR" sz="1400" dirty="0">
                          <a:ea typeface="+mn-ea"/>
                        </a:rPr>
                        <a:t>%’ 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AND name  IN (SELECT name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FROM Customer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WHERE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IN (SELECT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FROM Orders));</a:t>
                      </a:r>
                    </a:p>
                    <a:p>
                      <a:endParaRPr lang="en-US" altLang="ko-KR" sz="1400" dirty="0">
                        <a:highlight>
                          <a:srgbClr val="00FF00"/>
                        </a:highlight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INTERSECT (SELECT name FROM Customer WHERE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IN (SELECT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FROM Orders));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721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84003"/>
            <a:ext cx="8064896" cy="4261197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EXISTS</a:t>
            </a:r>
            <a:r>
              <a:rPr lang="ko-KR" altLang="en-US" dirty="0"/>
              <a:t>는 원래 단어에서 의미하는 것과 같이 조건에 맞는 튜플이 존재하면 결과에 포함시킴</a:t>
            </a:r>
            <a:r>
              <a:rPr lang="en-US" altLang="ko-KR" dirty="0"/>
              <a:t>. </a:t>
            </a:r>
            <a:r>
              <a:rPr lang="ko-KR" altLang="en-US" dirty="0"/>
              <a:t>즉 부속질의문의 어떤 행이 조건에 만족하면 참임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NOT EXISTS</a:t>
            </a:r>
            <a:r>
              <a:rPr lang="ko-KR" altLang="en-US" dirty="0"/>
              <a:t>는 부속질의문의 모든 행이 조건에 만족하지 않을 때만 참임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7268733"/>
              </p:ext>
            </p:extLst>
          </p:nvPr>
        </p:nvGraphicFramePr>
        <p:xfrm>
          <a:off x="879823" y="3263404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3-33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주문이 있는 고객의 이름과 주소를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99592" y="3911476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name, address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Customer </a:t>
            </a:r>
            <a:r>
              <a:rPr lang="en-US" altLang="ko-KR" sz="1400" dirty="0" err="1">
                <a:ea typeface="맑은 고딕" panose="020B0503020000020004" pitchFamily="50" charset="-127"/>
              </a:rPr>
              <a:t>cs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EXISTS (SELECT 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          FROM  Orders </a:t>
            </a:r>
            <a:r>
              <a:rPr lang="en-US" altLang="ko-KR" sz="1400" dirty="0" err="1">
                <a:ea typeface="맑은 고딕" panose="020B0503020000020004" pitchFamily="50" charset="-127"/>
              </a:rPr>
              <a:t>od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          WHERE </a:t>
            </a:r>
            <a:r>
              <a:rPr lang="en-US" altLang="ko-KR" sz="14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400" dirty="0">
                <a:ea typeface="맑은 고딕" panose="020B0503020000020004" pitchFamily="50" charset="-127"/>
              </a:rPr>
              <a:t> =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EXISTS_</a:t>
            </a:r>
            <a:r>
              <a:rPr kumimoji="0"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주문이 있는 고객을 알고 싶다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3789040"/>
            <a:ext cx="2024027" cy="124996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7920880" cy="28855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568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3-25 </a:t>
            </a:r>
            <a:r>
              <a:rPr lang="en-US" altLang="ko-KR" sz="1400" b="1" dirty="0">
                <a:ea typeface="맑은 고딕" panose="020B0503020000020004" pitchFamily="50" charset="-127"/>
              </a:rPr>
              <a:t>EXISTS </a:t>
            </a:r>
            <a:r>
              <a:rPr lang="ko-KR" altLang="en-US" sz="1400" b="1" dirty="0">
                <a:ea typeface="맑은 고딕" panose="020B0503020000020004" pitchFamily="50" charset="-127"/>
              </a:rPr>
              <a:t>상관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부속질의문</a:t>
            </a:r>
            <a:r>
              <a:rPr lang="ko-KR" altLang="en-US" sz="1400" b="1" dirty="0">
                <a:ea typeface="맑은 고딕" panose="020B0503020000020004" pitchFamily="50" charset="-127"/>
              </a:rPr>
              <a:t> 데이터 예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633387" y="5067027"/>
            <a:ext cx="511256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SELECT 	name, address</a:t>
            </a:r>
          </a:p>
          <a:p>
            <a:r>
              <a:rPr lang="en-US" altLang="ko-KR" sz="1000" dirty="0">
                <a:ea typeface="맑은 고딕" panose="020B0503020000020004" pitchFamily="50" charset="-127"/>
              </a:rPr>
              <a:t>FROM 	Customer </a:t>
            </a:r>
            <a:r>
              <a:rPr lang="en-US" altLang="ko-KR" sz="1000" dirty="0" err="1">
                <a:ea typeface="맑은 고딕" panose="020B0503020000020004" pitchFamily="50" charset="-127"/>
              </a:rPr>
              <a:t>cs</a:t>
            </a:r>
            <a:endParaRPr lang="en-US" altLang="ko-KR" sz="1000" dirty="0"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</a:rPr>
              <a:t>WHERE 	EXISTS (SELECT *</a:t>
            </a:r>
          </a:p>
          <a:p>
            <a:r>
              <a:rPr lang="en-US" altLang="ko-KR" sz="1000" dirty="0">
                <a:ea typeface="맑은 고딕" panose="020B0503020000020004" pitchFamily="50" charset="-127"/>
              </a:rPr>
              <a:t>	           FROM  Orders </a:t>
            </a:r>
            <a:r>
              <a:rPr lang="en-US" altLang="ko-KR" sz="1000" dirty="0" err="1">
                <a:ea typeface="맑은 고딕" panose="020B0503020000020004" pitchFamily="50" charset="-127"/>
              </a:rPr>
              <a:t>od</a:t>
            </a:r>
            <a:endParaRPr lang="en-US" altLang="ko-KR" sz="1000" dirty="0"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</a:rPr>
              <a:t>	           WHERE </a:t>
            </a:r>
            <a:r>
              <a:rPr lang="en-US" altLang="ko-KR" sz="10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000" dirty="0">
                <a:ea typeface="맑은 고딕" panose="020B0503020000020004" pitchFamily="50" charset="-127"/>
              </a:rPr>
              <a:t> =</a:t>
            </a:r>
            <a:r>
              <a:rPr lang="en-US" altLang="ko-KR" sz="10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000" dirty="0">
                <a:ea typeface="맑은 고딕" panose="020B0503020000020004" pitchFamily="50" charset="-127"/>
              </a:rPr>
              <a:t>);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EXISTS_</a:t>
            </a:r>
            <a:r>
              <a:rPr kumimoji="0"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주문이 있는 고객을 알고 싶다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8050</TotalTime>
  <Words>2464</Words>
  <Application>Microsoft Office PowerPoint</Application>
  <PresentationFormat>화면 슬라이드 쇼(4:3)</PresentationFormat>
  <Paragraphs>410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4" baseType="lpstr">
      <vt:lpstr>HY견고딕</vt:lpstr>
      <vt:lpstr>HY엽서L</vt:lpstr>
      <vt:lpstr>맑은 고딕</vt:lpstr>
      <vt:lpstr>Arial</vt:lpstr>
      <vt:lpstr>Wingdings</vt:lpstr>
      <vt:lpstr>Office 테마</vt:lpstr>
      <vt:lpstr>PowerPoint 프레젠테이션</vt:lpstr>
      <vt:lpstr>실습 자료 링크</vt:lpstr>
      <vt:lpstr>SELECT 문</vt:lpstr>
      <vt:lpstr>SELECT 문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JOIN 내부 처리 과정</vt:lpstr>
      <vt:lpstr>JOIN 내부 처리 과정</vt:lpstr>
      <vt:lpstr>JOIN 내부 처리 과정</vt:lpstr>
      <vt:lpstr>JOIN 내부 처리 과정</vt:lpstr>
      <vt:lpstr>SELECT 쿼리 실행 순서</vt:lpstr>
      <vt:lpstr>SELECT 쿼리 실행 순서</vt:lpstr>
      <vt:lpstr>SELECT 쿼리 실행 순서</vt:lpstr>
      <vt:lpstr>SELECT 쿼리 실행 순서</vt:lpstr>
      <vt:lpstr>SELECT 쿼리 실행 순서</vt:lpstr>
      <vt:lpstr>SELECT 문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crazysky</cp:lastModifiedBy>
  <cp:revision>757</cp:revision>
  <dcterms:created xsi:type="dcterms:W3CDTF">2012-07-11T10:23:22Z</dcterms:created>
  <dcterms:modified xsi:type="dcterms:W3CDTF">2023-03-28T08:06:26Z</dcterms:modified>
</cp:coreProperties>
</file>
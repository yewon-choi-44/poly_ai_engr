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17"/>
  </p:notesMasterIdLst>
  <p:handoutMasterIdLst>
    <p:handoutMasterId r:id="rId18"/>
  </p:handoutMasterIdLst>
  <p:sldIdLst>
    <p:sldId id="465" r:id="rId3"/>
    <p:sldId id="516" r:id="rId4"/>
    <p:sldId id="509" r:id="rId5"/>
    <p:sldId id="510" r:id="rId6"/>
    <p:sldId id="422" r:id="rId7"/>
    <p:sldId id="423" r:id="rId8"/>
    <p:sldId id="424" r:id="rId9"/>
    <p:sldId id="425" r:id="rId10"/>
    <p:sldId id="511" r:id="rId11"/>
    <p:sldId id="426" r:id="rId12"/>
    <p:sldId id="427" r:id="rId13"/>
    <p:sldId id="512" r:id="rId14"/>
    <p:sldId id="428" r:id="rId15"/>
    <p:sldId id="513" r:id="rId16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32EEA-EC04-421A-90A3-B5595832F797}" v="8" dt="2024-03-11T12:40:14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132" y="57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6594236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02725084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5070117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639669927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0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0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0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0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0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0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0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0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0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0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0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0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0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0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0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0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0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0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0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0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0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0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0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0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0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0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0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0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0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0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0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61198807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16353001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353001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16353001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16353001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219665896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9665896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219665896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219665896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252498115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2498115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252498115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260952116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0952116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260952116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260952116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2125198982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25198982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2125198982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1480262368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80262368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1480262368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3405355212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405355212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3405355212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358934387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58934387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358934387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94504553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2670110645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2670110645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1844723029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844723029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1844723029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2026-03-17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2026-03-17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2026-03-17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6810" y="3501008"/>
            <a:ext cx="6143382" cy="1902073"/>
          </a:xfrm>
        </p:spPr>
        <p:txBody>
          <a:bodyPr/>
          <a:lstStyle/>
          <a:p>
            <a:pPr algn="l"/>
            <a:br>
              <a:rPr lang="en-US" altLang="ko-KR" sz="4000" b="1" dirty="0">
                <a:solidFill>
                  <a:srgbClr val="215968"/>
                </a:solidFill>
              </a:rPr>
            </a:br>
            <a:br>
              <a:rPr lang="en-US" altLang="ko-KR" sz="800"/>
            </a:b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 연습 </a:t>
            </a: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#3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3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2904-A219-4098-03C4-C41B6FBF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CD194-A045-34A5-15B7-B677A3F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DC530D-73F9-DBD2-B306-311AF3325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/>
              <a:t>https://syntaxwiki.com:3026</a:t>
            </a:r>
          </a:p>
          <a:p>
            <a:pPr>
              <a:lnSpc>
                <a:spcPct val="200000"/>
              </a:lnSpc>
            </a:pPr>
            <a:r>
              <a:rPr lang="en-US" altLang="ko-KR"/>
              <a:t>practice2.sql</a:t>
            </a:r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472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마당서점의 데이터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A32D1A-882D-C5E1-DCF8-1054015CB767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4400"/>
          <a:ext cx="3681440" cy="2933395"/>
        </p:xfrm>
        <a:graphic>
          <a:graphicData uri="http://schemas.openxmlformats.org/drawingml/2006/table">
            <a:tbl>
              <a:tblPr/>
              <a:tblGrid>
                <a:gridCol w="7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bookname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publisher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역사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축구아는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사람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나무수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이해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골프 바이블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피겨 교본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역도 단계별기술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야구의 추억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야구를 부탁해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올림픽 이야기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삼성당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7500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Olympic Champions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Pearson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6862482-CCFC-8DB4-7FF1-75935CBD9E98}"/>
              </a:ext>
            </a:extLst>
          </p:cNvPr>
          <p:cNvGraphicFramePr>
            <a:graphicFrameLocks noGrp="1"/>
          </p:cNvGraphicFramePr>
          <p:nvPr/>
        </p:nvGraphicFramePr>
        <p:xfrm>
          <a:off x="451474" y="4748614"/>
          <a:ext cx="3697510" cy="1578964"/>
        </p:xfrm>
        <a:graphic>
          <a:graphicData uri="http://schemas.openxmlformats.org/drawingml/2006/table">
            <a:tbl>
              <a:tblPr/>
              <a:tblGrid>
                <a:gridCol w="60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address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phone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영국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맨체스타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000-5000-0001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서울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000-6000-0001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강원도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000-7000-0001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추신수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미국 클리블랜드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000-8000-0001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박세리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대전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34089D-4014-F02A-4C03-C6AF1041ECFD}"/>
              </a:ext>
            </a:extLst>
          </p:cNvPr>
          <p:cNvGraphicFramePr>
            <a:graphicFrameLocks noGrp="1"/>
          </p:cNvGraphicFramePr>
          <p:nvPr/>
        </p:nvGraphicFramePr>
        <p:xfrm>
          <a:off x="4562949" y="1134400"/>
          <a:ext cx="4104456" cy="2765875"/>
        </p:xfrm>
        <a:graphic>
          <a:graphicData uri="http://schemas.openxmlformats.org/drawingml/2006/table">
            <a:tbl>
              <a:tblPr/>
              <a:tblGrid>
                <a:gridCol w="68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1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saleprice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orderdate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EC2F12-800F-2955-BA88-A1FDD27803A8}"/>
              </a:ext>
            </a:extLst>
          </p:cNvPr>
          <p:cNvSpPr txBox="1"/>
          <p:nvPr/>
        </p:nvSpPr>
        <p:spPr>
          <a:xfrm>
            <a:off x="367928" y="42283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5AE42-9C32-28B6-FE41-BACB143F2DFD}"/>
              </a:ext>
            </a:extLst>
          </p:cNvPr>
          <p:cNvSpPr txBox="1"/>
          <p:nvPr/>
        </p:nvSpPr>
        <p:spPr>
          <a:xfrm>
            <a:off x="367928" y="647530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Customer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C6D51-D3E9-42D8-A22D-DA60FA768E62}"/>
              </a:ext>
            </a:extLst>
          </p:cNvPr>
          <p:cNvSpPr txBox="1"/>
          <p:nvPr/>
        </p:nvSpPr>
        <p:spPr>
          <a:xfrm>
            <a:off x="4562949" y="415723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148026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마당서점의 데이터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36E1F-0356-2068-8213-35C54705047B}"/>
              </a:ext>
            </a:extLst>
          </p:cNvPr>
          <p:cNvSpPr txBox="1"/>
          <p:nvPr/>
        </p:nvSpPr>
        <p:spPr>
          <a:xfrm>
            <a:off x="2529804" y="4944194"/>
            <a:ext cx="3698379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ea typeface="맑은 고딕" panose="020B0503020000020004" pitchFamily="50" charset="-127"/>
              </a:rPr>
              <a:t>마당서점의 데이터 테이블 관계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AFD2BE8-D815-E766-27DB-F2A559A0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1844824"/>
            <a:ext cx="4274989" cy="30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5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309720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Customer,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4480" y="638132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3-16 </a:t>
            </a:r>
            <a:r>
              <a:rPr lang="en-US" altLang="ko-KR" sz="1400" b="1" dirty="0">
                <a:ea typeface="맑은 고딕" panose="020B0503020000020004" pitchFamily="50" charset="-127"/>
              </a:rPr>
              <a:t>Customer</a:t>
            </a:r>
            <a:r>
              <a:rPr lang="ko-KR" altLang="en-US" sz="1400" b="1" dirty="0">
                <a:ea typeface="맑은 고딕" panose="020B0503020000020004" pitchFamily="50" charset="-127"/>
              </a:rPr>
              <a:t>와 </a:t>
            </a:r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테이블의 합체 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20000"/>
              </a:lnSpc>
            </a:pPr>
            <a:r>
              <a:rPr lang="en-US" altLang="ko-KR" dirty="0"/>
              <a:t>Customer </a:t>
            </a:r>
            <a:r>
              <a:rPr lang="ko-KR" altLang="en-US" dirty="0"/>
              <a:t>테이블을 </a:t>
            </a:r>
            <a:r>
              <a:rPr lang="en-US" altLang="ko-KR" dirty="0"/>
              <a:t>Orders </a:t>
            </a:r>
            <a:r>
              <a:rPr lang="ko-KR" altLang="en-US" dirty="0"/>
              <a:t>테이블과 조건 없이 연결해보자</a:t>
            </a:r>
            <a:r>
              <a:rPr lang="en-US" altLang="ko-KR" dirty="0"/>
              <a:t>. </a:t>
            </a:r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Customer</a:t>
            </a:r>
            <a:r>
              <a:rPr lang="ko-KR" altLang="en-US" dirty="0"/>
              <a:t>와 </a:t>
            </a:r>
            <a:r>
              <a:rPr lang="en-US" altLang="ko-KR" dirty="0"/>
              <a:t>Orders </a:t>
            </a:r>
            <a:r>
              <a:rPr lang="ko-KR" altLang="en-US" dirty="0"/>
              <a:t>테이블의 합체 결과 </a:t>
            </a:r>
            <a:r>
              <a:rPr lang="ko-KR" altLang="en-US" dirty="0" err="1"/>
              <a:t>투플의</a:t>
            </a:r>
            <a:r>
              <a:rPr lang="ko-KR" altLang="en-US" dirty="0"/>
              <a:t> 개수는 고객이 다섯 명이고  </a:t>
            </a:r>
            <a:endParaRPr lang="en-US" altLang="ko-KR" dirty="0"/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주문이 열 개이므로 </a:t>
            </a:r>
            <a:r>
              <a:rPr lang="en-US" altLang="ko-KR" dirty="0"/>
              <a:t>5×10 </a:t>
            </a:r>
            <a:r>
              <a:rPr lang="ko-KR" altLang="en-US" dirty="0"/>
              <a:t>해서 </a:t>
            </a:r>
            <a:r>
              <a:rPr lang="en-US" altLang="ko-KR" dirty="0"/>
              <a:t>50</a:t>
            </a:r>
            <a:r>
              <a:rPr lang="ko-KR" altLang="en-US" dirty="0"/>
              <a:t>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132856"/>
            <a:ext cx="5121209" cy="4143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44824"/>
          <a:ext cx="781913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주문에 관한 데이터를 모두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284984"/>
            <a:ext cx="7424911" cy="25434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39819"/>
          <a:ext cx="7579791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주문에 관한 데이터를 고객번호 순으로 정렬하여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</a:t>
                      </a:r>
                      <a:r>
                        <a:rPr lang="en-US" altLang="ko-KR" sz="1400" err="1">
                          <a:solidFill>
                            <a:schemeClr val="dk1"/>
                          </a:solidFill>
                        </a:rPr>
                        <a:t>custid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 = Orders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573016"/>
            <a:ext cx="7344816" cy="25873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275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이름과 고객이 주문한 도서의 판매가격을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345234"/>
            <a:ext cx="1349973" cy="2379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39436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모든 도서의 총 판매액을 구하고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정렬하시오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GROUP BY	Customer.name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Customer.name;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2348880"/>
            <a:ext cx="181394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43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07244" y="621826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3-20 </a:t>
            </a:r>
            <a:r>
              <a:rPr lang="ko-KR" altLang="en-US" sz="1400" b="1" dirty="0">
                <a:ea typeface="맑은 고딕" panose="020B0503020000020004" pitchFamily="50" charset="-127"/>
              </a:rPr>
              <a:t>마당서점 데이터 간의 연결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845" y="1792833"/>
            <a:ext cx="5704655" cy="4337542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44824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이름과 고객이 주문한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4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2420888"/>
            <a:ext cx="1942902" cy="22633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44000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도서를 주문한 고객의 이름과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28" y="3510468"/>
            <a:ext cx="1534096" cy="48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04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683073"/>
            <a:ext cx="8064896" cy="11877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외부조인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665337" y="2276138"/>
          <a:ext cx="7579071" cy="154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구매하지 않은 고객을 포함하여 고객의 이름과 고객이 주문한 도서의 판매가격을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LEFT OUTER JOIN Orders </a:t>
                      </a: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           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3072705"/>
            <a:ext cx="1458107" cy="27325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82984" y="2276872"/>
          <a:ext cx="7949456" cy="3456384"/>
        </p:xfrm>
        <a:graphic>
          <a:graphicData uri="http://schemas.openxmlformats.org/drawingml/2006/table">
            <a:tbl>
              <a:tblPr/>
              <a:tblGrid>
                <a:gridCol w="110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111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명령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774"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 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 AND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문에서는 주로 동등조인을 사용함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두 가지 문법 중 하나를 사용할 수 있음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419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INNER JOIN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5080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외부조인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{LEFT |RIGHT |FULL [OUTER]} JOIN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외부조인은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 조인 종류를 </a:t>
                      </a:r>
                      <a:b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적고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이용하여 조인조건을 명시함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1560" y="191683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3-9 </a:t>
            </a:r>
            <a:r>
              <a:rPr lang="ko-KR" altLang="en-US" sz="1400" b="1" dirty="0">
                <a:ea typeface="맑은 고딕" panose="020B0503020000020004" pitchFamily="50" charset="-127"/>
              </a:rPr>
              <a:t>조인 문법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8158</TotalTime>
  <Words>708</Words>
  <Application>Microsoft Office PowerPoint</Application>
  <PresentationFormat>화면 슬라이드 쇼(4:3)</PresentationFormat>
  <Paragraphs>236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Wingdings</vt:lpstr>
      <vt:lpstr>Office 테마</vt:lpstr>
      <vt:lpstr>2_Office 테마</vt:lpstr>
      <vt:lpstr>  SQL 연습 #3</vt:lpstr>
      <vt:lpstr>실습 자료</vt:lpstr>
      <vt:lpstr>마당서점의 데이터</vt:lpstr>
      <vt:lpstr>마당서점의 데이터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611</cp:revision>
  <cp:lastPrinted>2023-02-19T06:43:06Z</cp:lastPrinted>
  <dcterms:created xsi:type="dcterms:W3CDTF">2012-07-11T10:23:22Z</dcterms:created>
  <dcterms:modified xsi:type="dcterms:W3CDTF">2026-03-17T07:06:29Z</dcterms:modified>
</cp:coreProperties>
</file>
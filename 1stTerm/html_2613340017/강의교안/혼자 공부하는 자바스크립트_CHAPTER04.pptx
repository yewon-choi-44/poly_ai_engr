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4" r:id="rId1"/>
  </p:sldMasterIdLst>
  <p:notesMasterIdLst>
    <p:notesMasterId r:id="rId39"/>
  </p:notesMasterIdLst>
  <p:handoutMasterIdLst>
    <p:handoutMasterId r:id="rId40"/>
  </p:handoutMasterIdLst>
  <p:sldIdLst>
    <p:sldId id="2333" r:id="rId2"/>
    <p:sldId id="2101" r:id="rId3"/>
    <p:sldId id="2334" r:id="rId4"/>
    <p:sldId id="2345" r:id="rId5"/>
    <p:sldId id="2341" r:id="rId6"/>
    <p:sldId id="2383" r:id="rId7"/>
    <p:sldId id="2385" r:id="rId8"/>
    <p:sldId id="2386" r:id="rId9"/>
    <p:sldId id="2387" r:id="rId10"/>
    <p:sldId id="2388" r:id="rId11"/>
    <p:sldId id="2389" r:id="rId12"/>
    <p:sldId id="2390" r:id="rId13"/>
    <p:sldId id="2391" r:id="rId14"/>
    <p:sldId id="2392" r:id="rId15"/>
    <p:sldId id="2393" r:id="rId16"/>
    <p:sldId id="2394" r:id="rId17"/>
    <p:sldId id="2415" r:id="rId18"/>
    <p:sldId id="2395" r:id="rId19"/>
    <p:sldId id="2397" r:id="rId20"/>
    <p:sldId id="2398" r:id="rId21"/>
    <p:sldId id="2399" r:id="rId22"/>
    <p:sldId id="2400" r:id="rId23"/>
    <p:sldId id="2401" r:id="rId24"/>
    <p:sldId id="2402" r:id="rId25"/>
    <p:sldId id="2403" r:id="rId26"/>
    <p:sldId id="2404" r:id="rId27"/>
    <p:sldId id="2405" r:id="rId28"/>
    <p:sldId id="2406" r:id="rId29"/>
    <p:sldId id="2407" r:id="rId30"/>
    <p:sldId id="2408" r:id="rId31"/>
    <p:sldId id="2409" r:id="rId32"/>
    <p:sldId id="2410" r:id="rId33"/>
    <p:sldId id="2411" r:id="rId34"/>
    <p:sldId id="2384" r:id="rId35"/>
    <p:sldId id="2412" r:id="rId36"/>
    <p:sldId id="2413" r:id="rId37"/>
    <p:sldId id="2414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18" userDrawn="1">
          <p15:clr>
            <a:srgbClr val="A4A3A4"/>
          </p15:clr>
        </p15:guide>
        <p15:guide id="2" pos="3839" userDrawn="1">
          <p15:clr>
            <a:srgbClr val="A4A3A4"/>
          </p15:clr>
        </p15:guide>
        <p15:guide id="3" pos="3998" userDrawn="1">
          <p15:clr>
            <a:srgbClr val="A4A3A4"/>
          </p15:clr>
        </p15:guide>
        <p15:guide id="5" orient="horz" pos="2567" userDrawn="1">
          <p15:clr>
            <a:srgbClr val="A4A3A4"/>
          </p15:clr>
        </p15:guide>
        <p15:guide id="6" pos="959" userDrawn="1">
          <p15:clr>
            <a:srgbClr val="A4A3A4"/>
          </p15:clr>
        </p15:guide>
        <p15:guide id="7" orient="horz" pos="1773" userDrawn="1">
          <p15:clr>
            <a:srgbClr val="A4A3A4"/>
          </p15:clr>
        </p15:guide>
        <p15:guide id="8" orient="horz" pos="549" userDrawn="1">
          <p15:clr>
            <a:srgbClr val="A4A3A4"/>
          </p15:clr>
        </p15:guide>
        <p15:guide id="9" pos="505" userDrawn="1">
          <p15:clr>
            <a:srgbClr val="A4A3A4"/>
          </p15:clr>
        </p15:guide>
        <p15:guide id="10" pos="71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2318">
          <p15:clr>
            <a:srgbClr val="A4A3A4"/>
          </p15:clr>
        </p15:guide>
        <p15:guide id="4" pos="3839">
          <p15:clr>
            <a:srgbClr val="A4A3A4"/>
          </p15:clr>
        </p15:guide>
        <p15:guide id="5" pos="3998">
          <p15:clr>
            <a:srgbClr val="A4A3A4"/>
          </p15:clr>
        </p15:guide>
        <p15:guide id="6" orient="horz" pos="2567">
          <p15:clr>
            <a:srgbClr val="A4A3A4"/>
          </p15:clr>
        </p15:guide>
        <p15:guide id="7" pos="959">
          <p15:clr>
            <a:srgbClr val="A4A3A4"/>
          </p15:clr>
        </p15:guide>
        <p15:guide id="8" orient="horz" pos="1773">
          <p15:clr>
            <a:srgbClr val="A4A3A4"/>
          </p15:clr>
        </p15:guide>
        <p15:guide id="9" orient="horz" pos="549">
          <p15:clr>
            <a:srgbClr val="A4A3A4"/>
          </p15:clr>
        </p15:guide>
        <p15:guide id="10" pos="505">
          <p15:clr>
            <a:srgbClr val="A4A3A4"/>
          </p15:clr>
        </p15:guide>
        <p15:guide id="11" pos="717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436"/>
    <a:srgbClr val="A50021"/>
    <a:srgbClr val="4BB0A0"/>
    <a:srgbClr val="43B0A0"/>
    <a:srgbClr val="52AEE1"/>
    <a:srgbClr val="F89074"/>
    <a:srgbClr val="4285F4"/>
    <a:srgbClr val="72B945"/>
    <a:srgbClr val="FA9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27" autoAdjust="0"/>
    <p:restoredTop sz="50000" autoAdjust="0"/>
  </p:normalViewPr>
  <p:slideViewPr>
    <p:cSldViewPr snapToGrid="0" snapToObjects="1">
      <p:cViewPr varScale="1">
        <p:scale>
          <a:sx n="62" d="100"/>
          <a:sy n="62" d="100"/>
        </p:scale>
        <p:origin x="102" y="942"/>
      </p:cViewPr>
      <p:guideLst>
        <p:guide orient="horz" pos="2318"/>
        <p:guide pos="3839"/>
        <p:guide pos="3998"/>
        <p:guide orient="horz" pos="2567"/>
        <p:guide pos="959"/>
        <p:guide orient="horz" pos="1773"/>
        <p:guide orient="horz" pos="549"/>
        <p:guide pos="505"/>
        <p:guide pos="7173"/>
      </p:guideLst>
    </p:cSldViewPr>
  </p:slideViewPr>
  <p:outlineViewPr>
    <p:cViewPr>
      <p:scale>
        <a:sx n="33" d="100"/>
        <a:sy n="33" d="100"/>
      </p:scale>
      <p:origin x="0" y="249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342" y="90"/>
      </p:cViewPr>
      <p:guideLst>
        <p:guide orient="horz" pos="2880"/>
        <p:guide pos="2160"/>
        <p:guide orient="horz" pos="2318"/>
        <p:guide pos="3839"/>
        <p:guide pos="3998"/>
        <p:guide orient="horz" pos="2567"/>
        <p:guide pos="959"/>
        <p:guide orient="horz" pos="1773"/>
        <p:guide orient="horz" pos="549"/>
        <p:guide pos="505"/>
        <p:guide pos="717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F00D5-8D61-463B-A24D-AA343CDEF1C1}" type="datetimeFigureOut">
              <a:rPr lang="ko-KR" altLang="en-US" smtClean="0"/>
              <a:pPr/>
              <a:t>2026-06-12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7927B-07B9-470A-A6C7-2E21D055E10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5280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FE79A2-9499-4165-85CA-D3B599A71D6E}" type="datetimeFigureOut">
              <a:rPr lang="ko-KR" altLang="en-US" smtClean="0"/>
              <a:pPr/>
              <a:t>2026-06-12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F56FB-8B4C-4940-9CA8-BCB6BA92FB7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391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0;p2">
            <a:extLst>
              <a:ext uri="{FF2B5EF4-FFF2-40B4-BE49-F238E27FC236}">
                <a16:creationId xmlns:a16="http://schemas.microsoft.com/office/drawing/2014/main" id="{915EBAC6-B986-0141-9A3D-A1153FD2C8C9}"/>
              </a:ext>
            </a:extLst>
          </p:cNvPr>
          <p:cNvSpPr/>
          <p:nvPr userDrawn="1"/>
        </p:nvSpPr>
        <p:spPr>
          <a:xfrm rot="10800000">
            <a:off x="-3" y="-3"/>
            <a:ext cx="8697688" cy="5529945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2;p2">
            <a:extLst>
              <a:ext uri="{FF2B5EF4-FFF2-40B4-BE49-F238E27FC236}">
                <a16:creationId xmlns:a16="http://schemas.microsoft.com/office/drawing/2014/main" id="{32DFD919-D29D-FC47-AD9F-0D1B2F5A8862}"/>
              </a:ext>
            </a:extLst>
          </p:cNvPr>
          <p:cNvSpPr/>
          <p:nvPr userDrawn="1"/>
        </p:nvSpPr>
        <p:spPr>
          <a:xfrm rot="10800000">
            <a:off x="3799114" y="2286000"/>
            <a:ext cx="8392886" cy="4572000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9" name="Google Shape;13;p2">
            <a:extLst>
              <a:ext uri="{FF2B5EF4-FFF2-40B4-BE49-F238E27FC236}">
                <a16:creationId xmlns:a16="http://schemas.microsoft.com/office/drawing/2014/main" id="{42C43ECF-BBCB-1C42-93A8-68CF3572DDB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03254" y="1780334"/>
            <a:ext cx="7009510" cy="3591827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20" name="Google Shape;14;p2">
            <a:extLst>
              <a:ext uri="{FF2B5EF4-FFF2-40B4-BE49-F238E27FC236}">
                <a16:creationId xmlns:a16="http://schemas.microsoft.com/office/drawing/2014/main" id="{5AF3B145-1035-874A-A46A-1DC2137AFDA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202127" y="5077666"/>
            <a:ext cx="3268457" cy="1072418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cxnSp>
        <p:nvCxnSpPr>
          <p:cNvPr id="121" name="Google Shape;183;p28">
            <a:extLst>
              <a:ext uri="{FF2B5EF4-FFF2-40B4-BE49-F238E27FC236}">
                <a16:creationId xmlns:a16="http://schemas.microsoft.com/office/drawing/2014/main" id="{FF7B25AF-63DA-4A4A-BE7C-3EEF77663F0C}"/>
              </a:ext>
            </a:extLst>
          </p:cNvPr>
          <p:cNvCxnSpPr/>
          <p:nvPr userDrawn="1"/>
        </p:nvCxnSpPr>
        <p:spPr>
          <a:xfrm>
            <a:off x="708848" y="662121"/>
            <a:ext cx="0" cy="872100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82551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3DCB54EF-6F8F-C14C-AEAB-339A6ADFE958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4632325" y="3242853"/>
            <a:ext cx="7559675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ko-KR" altLang="en-US" dirty="0"/>
              <a:t>목차 내용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4632324" y="4074122"/>
            <a:ext cx="7559675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ko-KR" altLang="en-US"/>
              <a:t>목차 내용 입력하세요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7" name="텍스트 개체 틀 2"/>
          <p:cNvSpPr>
            <a:spLocks noGrp="1"/>
          </p:cNvSpPr>
          <p:nvPr>
            <p:ph type="body" sz="quarter" idx="12" hasCustomPrompt="1"/>
          </p:nvPr>
        </p:nvSpPr>
        <p:spPr>
          <a:xfrm>
            <a:off x="4632323" y="4910800"/>
            <a:ext cx="7559675" cy="703262"/>
          </a:xfrm>
        </p:spPr>
        <p:txBody>
          <a:bodyPr lIns="0" tIns="0" rIns="0" bIns="0" anchor="ctr" anchorCtr="0">
            <a:noAutofit/>
          </a:bodyPr>
          <a:lstStyle>
            <a:lvl1pPr marL="0" indent="0">
              <a:buNone/>
              <a:defRPr sz="28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457200" indent="0">
              <a:buNone/>
              <a:defRPr sz="3600"/>
            </a:lvl2pPr>
            <a:lvl3pPr marL="914400" indent="0">
              <a:buNone/>
              <a:defRPr sz="36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ko-KR" altLang="en-US" dirty="0"/>
              <a:t>목차 내용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Google Shape;10;p2">
            <a:extLst>
              <a:ext uri="{FF2B5EF4-FFF2-40B4-BE49-F238E27FC236}">
                <a16:creationId xmlns:a16="http://schemas.microsoft.com/office/drawing/2014/main" id="{9C20880E-B3DE-A94F-9214-F288AB8F2288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1530;p73">
            <a:extLst>
              <a:ext uri="{FF2B5EF4-FFF2-40B4-BE49-F238E27FC236}">
                <a16:creationId xmlns:a16="http://schemas.microsoft.com/office/drawing/2014/main" id="{C53AD8B5-FE39-6A42-9005-EC4F1FB81112}"/>
              </a:ext>
            </a:extLst>
          </p:cNvPr>
          <p:cNvGrpSpPr/>
          <p:nvPr userDrawn="1"/>
        </p:nvGrpSpPr>
        <p:grpSpPr>
          <a:xfrm>
            <a:off x="11568567" y="267121"/>
            <a:ext cx="320022" cy="359778"/>
            <a:chOff x="3567553" y="1499912"/>
            <a:chExt cx="320022" cy="359778"/>
          </a:xfrm>
          <a:solidFill>
            <a:srgbClr val="4BB0A0"/>
          </a:solidFill>
        </p:grpSpPr>
        <p:sp>
          <p:nvSpPr>
            <p:cNvPr id="18" name="Google Shape;11531;p73">
              <a:extLst>
                <a:ext uri="{FF2B5EF4-FFF2-40B4-BE49-F238E27FC236}">
                  <a16:creationId xmlns:a16="http://schemas.microsoft.com/office/drawing/2014/main" id="{0F0D93FF-7196-E64A-BC21-F016A3016471}"/>
                </a:ext>
              </a:extLst>
            </p:cNvPr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532;p73">
              <a:extLst>
                <a:ext uri="{FF2B5EF4-FFF2-40B4-BE49-F238E27FC236}">
                  <a16:creationId xmlns:a16="http://schemas.microsoft.com/office/drawing/2014/main" id="{10A6EBD0-21AA-BE4F-B25E-B9EBF7C939C3}"/>
                </a:ext>
              </a:extLst>
            </p:cNvPr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533;p73">
              <a:extLst>
                <a:ext uri="{FF2B5EF4-FFF2-40B4-BE49-F238E27FC236}">
                  <a16:creationId xmlns:a16="http://schemas.microsoft.com/office/drawing/2014/main" id="{E593C3FB-9816-9C4E-A8CE-F5E3D23AAB7D}"/>
                </a:ext>
              </a:extLst>
            </p:cNvPr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534;p73">
              <a:extLst>
                <a:ext uri="{FF2B5EF4-FFF2-40B4-BE49-F238E27FC236}">
                  <a16:creationId xmlns:a16="http://schemas.microsoft.com/office/drawing/2014/main" id="{751E997F-17D4-3240-BBFB-AD0DA992726B}"/>
                </a:ext>
              </a:extLst>
            </p:cNvPr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535;p73">
              <a:extLst>
                <a:ext uri="{FF2B5EF4-FFF2-40B4-BE49-F238E27FC236}">
                  <a16:creationId xmlns:a16="http://schemas.microsoft.com/office/drawing/2014/main" id="{70D7634B-5347-1147-9507-F00A80D6AF28}"/>
                </a:ext>
              </a:extLst>
            </p:cNvPr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536;p73">
              <a:extLst>
                <a:ext uri="{FF2B5EF4-FFF2-40B4-BE49-F238E27FC236}">
                  <a16:creationId xmlns:a16="http://schemas.microsoft.com/office/drawing/2014/main" id="{C9854E3F-9BBE-614D-B3B5-7F73F17A13CD}"/>
                </a:ext>
              </a:extLst>
            </p:cNvPr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" name="제목 24">
            <a:extLst>
              <a:ext uri="{FF2B5EF4-FFF2-40B4-BE49-F238E27FC236}">
                <a16:creationId xmlns:a16="http://schemas.microsoft.com/office/drawing/2014/main" id="{3A2259E1-D3D4-A445-8D39-5015AB031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00256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691375" y="2932204"/>
            <a:ext cx="10267121" cy="993592"/>
          </a:xfrm>
          <a:noFill/>
        </p:spPr>
        <p:txBody>
          <a:bodyPr wrap="none" lIns="0" tIns="0" rIns="0" bIns="0" anchor="ctr" anchorCtr="0">
            <a:noAutofit/>
          </a:bodyPr>
          <a:lstStyle>
            <a:lvl1pPr marL="0" indent="0">
              <a:buNone/>
              <a:defRPr sz="4800">
                <a:solidFill>
                  <a:srgbClr val="F06436"/>
                </a:solidFill>
              </a:defRPr>
            </a:lvl1pPr>
            <a:lvl2pPr marL="457200" indent="0">
              <a:buNone/>
              <a:defRPr sz="4000"/>
            </a:lvl2pPr>
            <a:lvl3pPr marL="914400" indent="0">
              <a:buNone/>
              <a:defRPr sz="4000"/>
            </a:lvl3pPr>
            <a:lvl4pPr marL="1371600" indent="0">
              <a:buNone/>
              <a:defRPr sz="4000"/>
            </a:lvl4pPr>
            <a:lvl5pPr marL="1828800" indent="0">
              <a:buNone/>
              <a:defRPr sz="4000"/>
            </a:lvl5pPr>
          </a:lstStyle>
          <a:p>
            <a:pPr lvl="0"/>
            <a:r>
              <a:rPr lang="ko-KR" altLang="en-US" dirty="0"/>
              <a:t>목차 내용을 입력하세요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Google Shape;12;p2">
            <a:extLst>
              <a:ext uri="{FF2B5EF4-FFF2-40B4-BE49-F238E27FC236}">
                <a16:creationId xmlns:a16="http://schemas.microsoft.com/office/drawing/2014/main" id="{C0ABDC55-C9AE-1C41-A2A0-AA873EDB6BD8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10;p2">
            <a:extLst>
              <a:ext uri="{FF2B5EF4-FFF2-40B4-BE49-F238E27FC236}">
                <a16:creationId xmlns:a16="http://schemas.microsoft.com/office/drawing/2014/main" id="{28B67903-E1CF-534B-A2D3-E7597F24B72F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" name="Google Shape;11530;p73">
            <a:extLst>
              <a:ext uri="{FF2B5EF4-FFF2-40B4-BE49-F238E27FC236}">
                <a16:creationId xmlns:a16="http://schemas.microsoft.com/office/drawing/2014/main" id="{A10FFA0E-16C5-4244-887B-59CEA3799C19}"/>
              </a:ext>
            </a:extLst>
          </p:cNvPr>
          <p:cNvGrpSpPr/>
          <p:nvPr userDrawn="1"/>
        </p:nvGrpSpPr>
        <p:grpSpPr>
          <a:xfrm>
            <a:off x="11379724" y="208758"/>
            <a:ext cx="320022" cy="359778"/>
            <a:chOff x="3567553" y="1499912"/>
            <a:chExt cx="320022" cy="359778"/>
          </a:xfrm>
          <a:solidFill>
            <a:srgbClr val="4BB0A0"/>
          </a:solidFill>
        </p:grpSpPr>
        <p:sp>
          <p:nvSpPr>
            <p:cNvPr id="9" name="Google Shape;11531;p73">
              <a:extLst>
                <a:ext uri="{FF2B5EF4-FFF2-40B4-BE49-F238E27FC236}">
                  <a16:creationId xmlns:a16="http://schemas.microsoft.com/office/drawing/2014/main" id="{3BC7373A-BF17-5949-8F1D-CB2BBEEEEEA6}"/>
                </a:ext>
              </a:extLst>
            </p:cNvPr>
            <p:cNvSpPr/>
            <p:nvPr/>
          </p:nvSpPr>
          <p:spPr>
            <a:xfrm>
              <a:off x="3567553" y="1502933"/>
              <a:ext cx="263218" cy="356757"/>
            </a:xfrm>
            <a:custGeom>
              <a:avLst/>
              <a:gdLst/>
              <a:ahLst/>
              <a:cxnLst/>
              <a:rect l="l" t="t" r="r" b="b"/>
              <a:pathLst>
                <a:path w="8276" h="11217" extrusionOk="0">
                  <a:moveTo>
                    <a:pt x="1738" y="0"/>
                  </a:moveTo>
                  <a:cubicBezTo>
                    <a:pt x="1718" y="0"/>
                    <a:pt x="1698" y="4"/>
                    <a:pt x="1679" y="12"/>
                  </a:cubicBezTo>
                  <a:cubicBezTo>
                    <a:pt x="1227" y="179"/>
                    <a:pt x="905" y="632"/>
                    <a:pt x="905" y="1120"/>
                  </a:cubicBezTo>
                  <a:lnTo>
                    <a:pt x="905" y="8275"/>
                  </a:lnTo>
                  <a:lnTo>
                    <a:pt x="167" y="8275"/>
                  </a:lnTo>
                  <a:cubicBezTo>
                    <a:pt x="72" y="8275"/>
                    <a:pt x="1" y="8359"/>
                    <a:pt x="1" y="8442"/>
                  </a:cubicBezTo>
                  <a:lnTo>
                    <a:pt x="1" y="10145"/>
                  </a:lnTo>
                  <a:cubicBezTo>
                    <a:pt x="1" y="10716"/>
                    <a:pt x="477" y="11216"/>
                    <a:pt x="1072" y="11216"/>
                  </a:cubicBezTo>
                  <a:lnTo>
                    <a:pt x="7156" y="11216"/>
                  </a:lnTo>
                  <a:cubicBezTo>
                    <a:pt x="7775" y="11216"/>
                    <a:pt x="8275" y="10716"/>
                    <a:pt x="8275" y="10097"/>
                  </a:cubicBezTo>
                  <a:lnTo>
                    <a:pt x="8275" y="4930"/>
                  </a:lnTo>
                  <a:cubicBezTo>
                    <a:pt x="8252" y="4835"/>
                    <a:pt x="8168" y="4751"/>
                    <a:pt x="8073" y="4751"/>
                  </a:cubicBezTo>
                  <a:cubicBezTo>
                    <a:pt x="7978" y="4751"/>
                    <a:pt x="7906" y="4835"/>
                    <a:pt x="7906" y="4918"/>
                  </a:cubicBezTo>
                  <a:lnTo>
                    <a:pt x="7906" y="10085"/>
                  </a:lnTo>
                  <a:cubicBezTo>
                    <a:pt x="7906" y="10514"/>
                    <a:pt x="7561" y="10859"/>
                    <a:pt x="7132" y="10859"/>
                  </a:cubicBezTo>
                  <a:lnTo>
                    <a:pt x="7061" y="10859"/>
                  </a:lnTo>
                  <a:cubicBezTo>
                    <a:pt x="6680" y="10811"/>
                    <a:pt x="6406" y="10502"/>
                    <a:pt x="6406" y="10133"/>
                  </a:cubicBezTo>
                  <a:lnTo>
                    <a:pt x="6406" y="9609"/>
                  </a:lnTo>
                  <a:cubicBezTo>
                    <a:pt x="6406" y="9514"/>
                    <a:pt x="6323" y="9442"/>
                    <a:pt x="6239" y="9442"/>
                  </a:cubicBezTo>
                  <a:cubicBezTo>
                    <a:pt x="6144" y="9442"/>
                    <a:pt x="6073" y="9514"/>
                    <a:pt x="6073" y="9609"/>
                  </a:cubicBezTo>
                  <a:lnTo>
                    <a:pt x="6073" y="10133"/>
                  </a:lnTo>
                  <a:cubicBezTo>
                    <a:pt x="6073" y="10407"/>
                    <a:pt x="6180" y="10680"/>
                    <a:pt x="6370" y="10871"/>
                  </a:cubicBezTo>
                  <a:cubicBezTo>
                    <a:pt x="3459" y="10871"/>
                    <a:pt x="2120" y="10874"/>
                    <a:pt x="1492" y="10874"/>
                  </a:cubicBezTo>
                  <a:cubicBezTo>
                    <a:pt x="864" y="10874"/>
                    <a:pt x="947" y="10871"/>
                    <a:pt x="882" y="10859"/>
                  </a:cubicBezTo>
                  <a:cubicBezTo>
                    <a:pt x="548" y="10788"/>
                    <a:pt x="298" y="10490"/>
                    <a:pt x="298" y="10145"/>
                  </a:cubicBezTo>
                  <a:lnTo>
                    <a:pt x="298" y="8609"/>
                  </a:lnTo>
                  <a:lnTo>
                    <a:pt x="6073" y="8609"/>
                  </a:lnTo>
                  <a:lnTo>
                    <a:pt x="6073" y="8954"/>
                  </a:lnTo>
                  <a:cubicBezTo>
                    <a:pt x="6073" y="9037"/>
                    <a:pt x="6144" y="9121"/>
                    <a:pt x="6239" y="9121"/>
                  </a:cubicBezTo>
                  <a:cubicBezTo>
                    <a:pt x="6323" y="9121"/>
                    <a:pt x="6406" y="9037"/>
                    <a:pt x="6406" y="8954"/>
                  </a:cubicBezTo>
                  <a:lnTo>
                    <a:pt x="6406" y="8442"/>
                  </a:lnTo>
                  <a:cubicBezTo>
                    <a:pt x="6406" y="8359"/>
                    <a:pt x="6323" y="8275"/>
                    <a:pt x="6239" y="8275"/>
                  </a:cubicBezTo>
                  <a:lnTo>
                    <a:pt x="1227" y="8275"/>
                  </a:lnTo>
                  <a:lnTo>
                    <a:pt x="1227" y="1120"/>
                  </a:lnTo>
                  <a:cubicBezTo>
                    <a:pt x="1227" y="763"/>
                    <a:pt x="1441" y="441"/>
                    <a:pt x="1786" y="322"/>
                  </a:cubicBezTo>
                  <a:cubicBezTo>
                    <a:pt x="1882" y="286"/>
                    <a:pt x="1917" y="179"/>
                    <a:pt x="1894" y="108"/>
                  </a:cubicBezTo>
                  <a:cubicBezTo>
                    <a:pt x="1866" y="44"/>
                    <a:pt x="1803" y="0"/>
                    <a:pt x="17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532;p73">
              <a:extLst>
                <a:ext uri="{FF2B5EF4-FFF2-40B4-BE49-F238E27FC236}">
                  <a16:creationId xmlns:a16="http://schemas.microsoft.com/office/drawing/2014/main" id="{CC6EA4CC-1703-7449-B7BC-4483CFF9F966}"/>
                </a:ext>
              </a:extLst>
            </p:cNvPr>
            <p:cNvSpPr/>
            <p:nvPr/>
          </p:nvSpPr>
          <p:spPr>
            <a:xfrm>
              <a:off x="3638001" y="1499912"/>
              <a:ext cx="249574" cy="142773"/>
            </a:xfrm>
            <a:custGeom>
              <a:avLst/>
              <a:gdLst/>
              <a:ahLst/>
              <a:cxnLst/>
              <a:rect l="l" t="t" r="r" b="b"/>
              <a:pathLst>
                <a:path w="7847" h="4489" extrusionOk="0">
                  <a:moveTo>
                    <a:pt x="6787" y="322"/>
                  </a:moveTo>
                  <a:cubicBezTo>
                    <a:pt x="7191" y="322"/>
                    <a:pt x="7537" y="655"/>
                    <a:pt x="7537" y="1072"/>
                  </a:cubicBezTo>
                  <a:lnTo>
                    <a:pt x="7525" y="2608"/>
                  </a:lnTo>
                  <a:lnTo>
                    <a:pt x="6037" y="2608"/>
                  </a:lnTo>
                  <a:lnTo>
                    <a:pt x="6037" y="1417"/>
                  </a:lnTo>
                  <a:lnTo>
                    <a:pt x="6037" y="1072"/>
                  </a:lnTo>
                  <a:cubicBezTo>
                    <a:pt x="6037" y="643"/>
                    <a:pt x="6370" y="322"/>
                    <a:pt x="6775" y="322"/>
                  </a:cubicBezTo>
                  <a:close/>
                  <a:moveTo>
                    <a:pt x="167" y="0"/>
                  </a:moveTo>
                  <a:cubicBezTo>
                    <a:pt x="83" y="0"/>
                    <a:pt x="0" y="72"/>
                    <a:pt x="0" y="167"/>
                  </a:cubicBezTo>
                  <a:cubicBezTo>
                    <a:pt x="0" y="250"/>
                    <a:pt x="83" y="322"/>
                    <a:pt x="167" y="322"/>
                  </a:cubicBezTo>
                  <a:lnTo>
                    <a:pt x="5989" y="322"/>
                  </a:lnTo>
                  <a:cubicBezTo>
                    <a:pt x="5894" y="417"/>
                    <a:pt x="5810" y="548"/>
                    <a:pt x="5763" y="667"/>
                  </a:cubicBezTo>
                  <a:cubicBezTo>
                    <a:pt x="5715" y="798"/>
                    <a:pt x="5691" y="917"/>
                    <a:pt x="5691" y="1060"/>
                  </a:cubicBezTo>
                  <a:lnTo>
                    <a:pt x="5691" y="1393"/>
                  </a:lnTo>
                  <a:lnTo>
                    <a:pt x="5691" y="4334"/>
                  </a:lnTo>
                  <a:cubicBezTo>
                    <a:pt x="5691" y="4418"/>
                    <a:pt x="5763" y="4489"/>
                    <a:pt x="5858" y="4489"/>
                  </a:cubicBezTo>
                  <a:cubicBezTo>
                    <a:pt x="5941" y="4489"/>
                    <a:pt x="6013" y="4418"/>
                    <a:pt x="6013" y="4334"/>
                  </a:cubicBezTo>
                  <a:lnTo>
                    <a:pt x="6013" y="2929"/>
                  </a:lnTo>
                  <a:lnTo>
                    <a:pt x="7668" y="2929"/>
                  </a:lnTo>
                  <a:cubicBezTo>
                    <a:pt x="7763" y="2929"/>
                    <a:pt x="7834" y="2858"/>
                    <a:pt x="7834" y="2763"/>
                  </a:cubicBezTo>
                  <a:lnTo>
                    <a:pt x="7834" y="1072"/>
                  </a:lnTo>
                  <a:cubicBezTo>
                    <a:pt x="7846" y="488"/>
                    <a:pt x="7370" y="0"/>
                    <a:pt x="67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533;p73">
              <a:extLst>
                <a:ext uri="{FF2B5EF4-FFF2-40B4-BE49-F238E27FC236}">
                  <a16:creationId xmlns:a16="http://schemas.microsoft.com/office/drawing/2014/main" id="{B5E6808C-1FA3-4B4B-B0FE-9EE183DD349C}"/>
                </a:ext>
              </a:extLst>
            </p:cNvPr>
            <p:cNvSpPr/>
            <p:nvPr/>
          </p:nvSpPr>
          <p:spPr>
            <a:xfrm>
              <a:off x="3641786" y="1594563"/>
              <a:ext cx="141659" cy="10273"/>
            </a:xfrm>
            <a:custGeom>
              <a:avLst/>
              <a:gdLst/>
              <a:ahLst/>
              <a:cxnLst/>
              <a:rect l="l" t="t" r="r" b="b"/>
              <a:pathLst>
                <a:path w="4454" h="323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51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1"/>
                    <a:pt x="4453" y="168"/>
                  </a:cubicBezTo>
                  <a:cubicBezTo>
                    <a:pt x="4453" y="72"/>
                    <a:pt x="4382" y="1"/>
                    <a:pt x="42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534;p73">
              <a:extLst>
                <a:ext uri="{FF2B5EF4-FFF2-40B4-BE49-F238E27FC236}">
                  <a16:creationId xmlns:a16="http://schemas.microsoft.com/office/drawing/2014/main" id="{69AF36EF-ECD4-AC48-816B-145DAB86BB7E}"/>
                </a:ext>
              </a:extLst>
            </p:cNvPr>
            <p:cNvSpPr/>
            <p:nvPr/>
          </p:nvSpPr>
          <p:spPr>
            <a:xfrm>
              <a:off x="3641786" y="1638136"/>
              <a:ext cx="141659" cy="10241"/>
            </a:xfrm>
            <a:custGeom>
              <a:avLst/>
              <a:gdLst/>
              <a:ahLst/>
              <a:cxnLst/>
              <a:rect l="l" t="t" r="r" b="b"/>
              <a:pathLst>
                <a:path w="4454" h="322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67" y="322"/>
                  </a:cubicBezTo>
                  <a:lnTo>
                    <a:pt x="4286" y="322"/>
                  </a:lnTo>
                  <a:cubicBezTo>
                    <a:pt x="4382" y="322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535;p73">
              <a:extLst>
                <a:ext uri="{FF2B5EF4-FFF2-40B4-BE49-F238E27FC236}">
                  <a16:creationId xmlns:a16="http://schemas.microsoft.com/office/drawing/2014/main" id="{36271C18-068C-3049-B5A3-CC3DE160731F}"/>
                </a:ext>
              </a:extLst>
            </p:cNvPr>
            <p:cNvSpPr/>
            <p:nvPr/>
          </p:nvSpPr>
          <p:spPr>
            <a:xfrm>
              <a:off x="3641786" y="1682059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536;p73">
              <a:extLst>
                <a:ext uri="{FF2B5EF4-FFF2-40B4-BE49-F238E27FC236}">
                  <a16:creationId xmlns:a16="http://schemas.microsoft.com/office/drawing/2014/main" id="{3BA77610-2275-C74C-A5B8-D24FF49A3670}"/>
                </a:ext>
              </a:extLst>
            </p:cNvPr>
            <p:cNvSpPr/>
            <p:nvPr/>
          </p:nvSpPr>
          <p:spPr>
            <a:xfrm>
              <a:off x="3641786" y="1725600"/>
              <a:ext cx="141659" cy="10623"/>
            </a:xfrm>
            <a:custGeom>
              <a:avLst/>
              <a:gdLst/>
              <a:ahLst/>
              <a:cxnLst/>
              <a:rect l="l" t="t" r="r" b="b"/>
              <a:pathLst>
                <a:path w="4454" h="334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34"/>
                    <a:pt x="167" y="334"/>
                  </a:cubicBezTo>
                  <a:lnTo>
                    <a:pt x="4286" y="334"/>
                  </a:lnTo>
                  <a:cubicBezTo>
                    <a:pt x="4382" y="334"/>
                    <a:pt x="4453" y="250"/>
                    <a:pt x="4453" y="167"/>
                  </a:cubicBezTo>
                  <a:cubicBezTo>
                    <a:pt x="4453" y="72"/>
                    <a:pt x="4382" y="0"/>
                    <a:pt x="42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9420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2;p2">
            <a:extLst>
              <a:ext uri="{FF2B5EF4-FFF2-40B4-BE49-F238E27FC236}">
                <a16:creationId xmlns:a16="http://schemas.microsoft.com/office/drawing/2014/main" id="{31C819E8-8DB3-D241-86AD-39FA357B79F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0;p2">
            <a:extLst>
              <a:ext uri="{FF2B5EF4-FFF2-40B4-BE49-F238E27FC236}">
                <a16:creationId xmlns:a16="http://schemas.microsoft.com/office/drawing/2014/main" id="{4CA2C0CC-49CB-CE45-A055-1E87B9A38FE4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346A3901-6E4C-0B40-9CF8-E7ECAB46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83194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40" name="제목 24">
            <a:extLst>
              <a:ext uri="{FF2B5EF4-FFF2-40B4-BE49-F238E27FC236}">
                <a16:creationId xmlns:a16="http://schemas.microsoft.com/office/drawing/2014/main" id="{677C8BD8-495D-D94A-A820-9FD4BA20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E6C44-E913-45F1-A690-E52E071D50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0287" y="1415600"/>
            <a:ext cx="10080625" cy="46307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</p:txBody>
      </p:sp>
      <p:sp>
        <p:nvSpPr>
          <p:cNvPr id="8" name="바닥글 개체 틀 36">
            <a:extLst>
              <a:ext uri="{FF2B5EF4-FFF2-40B4-BE49-F238E27FC236}">
                <a16:creationId xmlns:a16="http://schemas.microsoft.com/office/drawing/2014/main" id="{3F2E6A11-E23E-4E32-B9A2-7BA8A7427DA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9057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;p2">
            <a:extLst>
              <a:ext uri="{FF2B5EF4-FFF2-40B4-BE49-F238E27FC236}">
                <a16:creationId xmlns:a16="http://schemas.microsoft.com/office/drawing/2014/main" id="{AE169226-6326-4B42-BA01-A07503F9BF4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0;p2">
            <a:extLst>
              <a:ext uri="{FF2B5EF4-FFF2-40B4-BE49-F238E27FC236}">
                <a16:creationId xmlns:a16="http://schemas.microsoft.com/office/drawing/2014/main" id="{F2128D78-98D0-1946-ABC0-DD3E32D4D519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제목 24">
            <a:extLst>
              <a:ext uri="{FF2B5EF4-FFF2-40B4-BE49-F238E27FC236}">
                <a16:creationId xmlns:a16="http://schemas.microsoft.com/office/drawing/2014/main" id="{18E4D7E8-082F-3947-ACDC-CCB90F65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x-none" dirty="0"/>
          </a:p>
        </p:txBody>
      </p:sp>
      <p:sp>
        <p:nvSpPr>
          <p:cNvPr id="33" name="슬라이드 번호 개체 틀 20">
            <a:extLst>
              <a:ext uri="{FF2B5EF4-FFF2-40B4-BE49-F238E27FC236}">
                <a16:creationId xmlns:a16="http://schemas.microsoft.com/office/drawing/2014/main" id="{5D8DE216-E2D2-0946-B519-359B6A0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72308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7706D100-A296-AA47-8D59-127D7B2E0C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2186609"/>
          </a:xfrm>
        </p:spPr>
        <p:txBody>
          <a:bodyPr/>
          <a:lstStyle>
            <a:lvl1pPr marL="228600" indent="-228600">
              <a:lnSpc>
                <a:spcPct val="120000"/>
              </a:lnSpc>
              <a:buClr>
                <a:srgbClr val="4BB0A0"/>
              </a:buClr>
              <a:buFont typeface="시스템 서체"/>
              <a:buChar char="◦"/>
              <a:defRPr sz="2000"/>
            </a:lvl1pPr>
            <a:lvl2pPr marL="685800" indent="-228600">
              <a:lnSpc>
                <a:spcPct val="120000"/>
              </a:lnSpc>
              <a:buFont typeface="시스템 서체"/>
              <a:buChar char="⁃"/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x-none" dirty="0"/>
          </a:p>
        </p:txBody>
      </p:sp>
      <p:sp>
        <p:nvSpPr>
          <p:cNvPr id="9" name="바닥글 개체 틀 36">
            <a:extLst>
              <a:ext uri="{FF2B5EF4-FFF2-40B4-BE49-F238E27FC236}">
                <a16:creationId xmlns:a16="http://schemas.microsoft.com/office/drawing/2014/main" id="{0FCC723C-E12E-4134-80CF-8ADAED2921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200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2;p2">
            <a:extLst>
              <a:ext uri="{FF2B5EF4-FFF2-40B4-BE49-F238E27FC236}">
                <a16:creationId xmlns:a16="http://schemas.microsoft.com/office/drawing/2014/main" id="{AE169226-6326-4B42-BA01-A07503F9BF4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Google Shape;10;p2">
            <a:extLst>
              <a:ext uri="{FF2B5EF4-FFF2-40B4-BE49-F238E27FC236}">
                <a16:creationId xmlns:a16="http://schemas.microsoft.com/office/drawing/2014/main" id="{F2128D78-98D0-1946-ABC0-DD3E32D4D519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제목 24">
            <a:extLst>
              <a:ext uri="{FF2B5EF4-FFF2-40B4-BE49-F238E27FC236}">
                <a16:creationId xmlns:a16="http://schemas.microsoft.com/office/drawing/2014/main" id="{18E4D7E8-082F-3947-ACDC-CCB90F658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x-none" dirty="0"/>
          </a:p>
        </p:txBody>
      </p:sp>
      <p:sp>
        <p:nvSpPr>
          <p:cNvPr id="33" name="슬라이드 번호 개체 틀 20">
            <a:extLst>
              <a:ext uri="{FF2B5EF4-FFF2-40B4-BE49-F238E27FC236}">
                <a16:creationId xmlns:a16="http://schemas.microsoft.com/office/drawing/2014/main" id="{5D8DE216-E2D2-0946-B519-359B6A0D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72308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7706D100-A296-AA47-8D59-127D7B2E0C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9"/>
            <a:ext cx="11281052" cy="781242"/>
          </a:xfrm>
        </p:spPr>
        <p:txBody>
          <a:bodyPr/>
          <a:lstStyle>
            <a:lvl1pPr marL="228600" indent="-228600">
              <a:lnSpc>
                <a:spcPct val="120000"/>
              </a:lnSpc>
              <a:buClr>
                <a:srgbClr val="4BB0A0"/>
              </a:buClr>
              <a:buFont typeface="시스템 서체"/>
              <a:buChar char="◦"/>
              <a:defRPr sz="2000"/>
            </a:lvl1pPr>
            <a:lvl2pPr marL="685800" indent="-228600">
              <a:lnSpc>
                <a:spcPct val="120000"/>
              </a:lnSpc>
              <a:buFont typeface="시스템 서체"/>
              <a:buChar char="⁃"/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x-none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275B08-16F4-4F25-831A-6EFC327B83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1375" y="2233552"/>
            <a:ext cx="5254625" cy="31956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/>
            </a:lvl1pPr>
            <a:lvl2pPr>
              <a:defRPr sz="1800"/>
            </a:lvl2pPr>
            <a:lvl3pPr>
              <a:defRPr sz="1400"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1A56FDB1-DA14-41CF-A4C6-4FEEB24F66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106" y="2233552"/>
            <a:ext cx="5254625" cy="3195638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 sz="1800"/>
            </a:lvl1pPr>
            <a:lvl2pPr>
              <a:defRPr sz="1800"/>
            </a:lvl2pPr>
            <a:lvl3pPr>
              <a:defRPr sz="1400"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바닥글 개체 틀 36">
            <a:extLst>
              <a:ext uri="{FF2B5EF4-FFF2-40B4-BE49-F238E27FC236}">
                <a16:creationId xmlns:a16="http://schemas.microsoft.com/office/drawing/2014/main" id="{12D54CD0-D251-442B-89E6-AE3B9602AE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423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흰색 배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바닥글 개체 틀 36">
            <a:extLst>
              <a:ext uri="{FF2B5EF4-FFF2-40B4-BE49-F238E27FC236}">
                <a16:creationId xmlns:a16="http://schemas.microsoft.com/office/drawing/2014/main" id="{06254993-0E3E-4DD1-B5D1-E7E9E2205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4850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챕터 순서 안내 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2;p2">
            <a:extLst>
              <a:ext uri="{FF2B5EF4-FFF2-40B4-BE49-F238E27FC236}">
                <a16:creationId xmlns:a16="http://schemas.microsoft.com/office/drawing/2014/main" id="{31C819E8-8DB3-D241-86AD-39FA357B79F1}"/>
              </a:ext>
            </a:extLst>
          </p:cNvPr>
          <p:cNvSpPr/>
          <p:nvPr userDrawn="1"/>
        </p:nvSpPr>
        <p:spPr>
          <a:xfrm>
            <a:off x="-9939" y="-19878"/>
            <a:ext cx="1402629" cy="671349"/>
          </a:xfrm>
          <a:custGeom>
            <a:avLst/>
            <a:gdLst/>
            <a:ahLst/>
            <a:cxnLst/>
            <a:rect l="l" t="t" r="r" b="b"/>
            <a:pathLst>
              <a:path w="106741" h="62325" extrusionOk="0">
                <a:moveTo>
                  <a:pt x="106740" y="0"/>
                </a:moveTo>
                <a:lnTo>
                  <a:pt x="1" y="83"/>
                </a:lnTo>
                <a:lnTo>
                  <a:pt x="1" y="61346"/>
                </a:lnTo>
                <a:cubicBezTo>
                  <a:pt x="1" y="61346"/>
                  <a:pt x="3546" y="62324"/>
                  <a:pt x="8431" y="62324"/>
                </a:cubicBezTo>
                <a:cubicBezTo>
                  <a:pt x="17345" y="62324"/>
                  <a:pt x="30721" y="59067"/>
                  <a:pt x="35169" y="40668"/>
                </a:cubicBezTo>
                <a:cubicBezTo>
                  <a:pt x="39815" y="21454"/>
                  <a:pt x="48059" y="15875"/>
                  <a:pt x="55684" y="15875"/>
                </a:cubicBezTo>
                <a:cubicBezTo>
                  <a:pt x="59361" y="15875"/>
                  <a:pt x="62895" y="17173"/>
                  <a:pt x="65811" y="18864"/>
                </a:cubicBezTo>
                <a:cubicBezTo>
                  <a:pt x="71333" y="22067"/>
                  <a:pt x="77411" y="23685"/>
                  <a:pt x="83155" y="23685"/>
                </a:cubicBezTo>
                <a:cubicBezTo>
                  <a:pt x="95750" y="23685"/>
                  <a:pt x="106740" y="15906"/>
                  <a:pt x="106740" y="0"/>
                </a:cubicBez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52AEE1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10;p2">
            <a:extLst>
              <a:ext uri="{FF2B5EF4-FFF2-40B4-BE49-F238E27FC236}">
                <a16:creationId xmlns:a16="http://schemas.microsoft.com/office/drawing/2014/main" id="{4CA2C0CC-49CB-CE45-A055-1E87B9A38FE4}"/>
              </a:ext>
            </a:extLst>
          </p:cNvPr>
          <p:cNvSpPr/>
          <p:nvPr userDrawn="1"/>
        </p:nvSpPr>
        <p:spPr>
          <a:xfrm>
            <a:off x="10555357" y="5655364"/>
            <a:ext cx="1648441" cy="1209683"/>
          </a:xfrm>
          <a:custGeom>
            <a:avLst/>
            <a:gdLst/>
            <a:ahLst/>
            <a:cxnLst/>
            <a:rect l="l" t="t" r="r" b="b"/>
            <a:pathLst>
              <a:path w="113764" h="66545" extrusionOk="0">
                <a:moveTo>
                  <a:pt x="113763" y="1"/>
                </a:moveTo>
                <a:cubicBezTo>
                  <a:pt x="113763" y="1"/>
                  <a:pt x="94363" y="5103"/>
                  <a:pt x="77775" y="33272"/>
                </a:cubicBezTo>
                <a:cubicBezTo>
                  <a:pt x="67864" y="50104"/>
                  <a:pt x="57286" y="53491"/>
                  <a:pt x="45819" y="53491"/>
                </a:cubicBezTo>
                <a:cubicBezTo>
                  <a:pt x="38095" y="53491"/>
                  <a:pt x="29967" y="51954"/>
                  <a:pt x="21367" y="51954"/>
                </a:cubicBezTo>
                <a:cubicBezTo>
                  <a:pt x="0" y="51954"/>
                  <a:pt x="792" y="66545"/>
                  <a:pt x="792" y="66545"/>
                </a:cubicBezTo>
                <a:lnTo>
                  <a:pt x="113763" y="66545"/>
                </a:lnTo>
                <a:lnTo>
                  <a:pt x="113763" y="1"/>
                </a:lnTo>
                <a:close/>
              </a:path>
            </a:pathLst>
          </a:custGeom>
          <a:gradFill>
            <a:gsLst>
              <a:gs pos="0">
                <a:srgbClr val="4BB0A0"/>
              </a:gs>
              <a:gs pos="100000">
                <a:srgbClr val="4BB0A0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346A3901-6E4C-0B40-9CF8-E7ECAB46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731" y="6483194"/>
            <a:ext cx="40087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40" name="제목 24">
            <a:extLst>
              <a:ext uri="{FF2B5EF4-FFF2-40B4-BE49-F238E27FC236}">
                <a16:creationId xmlns:a16="http://schemas.microsoft.com/office/drawing/2014/main" id="{677C8BD8-495D-D94A-A820-9FD4BA20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15" y="107957"/>
            <a:ext cx="11281052" cy="671349"/>
          </a:xfrm>
        </p:spPr>
        <p:txBody>
          <a:bodyPr>
            <a:normAutofit/>
          </a:bodyPr>
          <a:lstStyle>
            <a:lvl1pPr>
              <a:defRPr sz="3000" b="1">
                <a:solidFill>
                  <a:srgbClr val="F06436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x-none" dirty="0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3A06B168-836F-4E64-80CE-16BDB7CE93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8" name="텍스트 개체 틀 34">
            <a:extLst>
              <a:ext uri="{FF2B5EF4-FFF2-40B4-BE49-F238E27FC236}">
                <a16:creationId xmlns:a16="http://schemas.microsoft.com/office/drawing/2014/main" id="{7E4D1FAF-1A2D-466E-9891-8D941F5FBE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2186609"/>
          </a:xfrm>
        </p:spPr>
        <p:txBody>
          <a:bodyPr/>
          <a:lstStyle>
            <a:lvl1pPr marL="457200" indent="-457200">
              <a:lnSpc>
                <a:spcPct val="120000"/>
              </a:lnSpc>
              <a:buClr>
                <a:srgbClr val="4BB0A0"/>
              </a:buClr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120000"/>
              </a:lnSpc>
              <a:buFont typeface="시스템 서체"/>
              <a:buChar char="⁃"/>
              <a:defRPr sz="20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9439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en-US" altLang="ko-KR"/>
              <a:t>〉 〉 </a:t>
            </a:r>
            <a:r>
              <a:rPr lang="ko-KR" altLang="en-US"/>
              <a:t>창업의 과학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6353835A-5E09-4503-B599-6DF340CA398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567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7" r:id="rId3"/>
    <p:sldLayoutId id="2147483676" r:id="rId4"/>
    <p:sldLayoutId id="2147483690" r:id="rId5"/>
    <p:sldLayoutId id="2147483691" r:id="rId6"/>
    <p:sldLayoutId id="2147483686" r:id="rId7"/>
    <p:sldLayoutId id="2147483692" r:id="rId8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21B375EC-8E0D-AF4C-8EB4-CA7CFBEAC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253" y="1780334"/>
            <a:ext cx="7772532" cy="3591827"/>
          </a:xfrm>
        </p:spPr>
        <p:txBody>
          <a:bodyPr/>
          <a:lstStyle/>
          <a:p>
            <a:r>
              <a:rPr lang="ko-KR" altLang="en-US" sz="4400" dirty="0"/>
              <a:t>혼자 공부하는 자바스크립트</a:t>
            </a:r>
            <a:endParaRPr lang="x-none" sz="4400" b="1" dirty="0"/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53F71AE8-5B44-374B-BBDF-875DE08427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ㅇㅇ대학교</a:t>
            </a:r>
            <a:r>
              <a:rPr lang="ko-KR" altLang="en-US" dirty="0"/>
              <a:t> </a:t>
            </a:r>
            <a:r>
              <a:rPr lang="ko-KR" altLang="en-US" dirty="0" err="1"/>
              <a:t>ㅇㅇ학과</a:t>
            </a:r>
            <a:endParaRPr lang="en-US" altLang="ko-KR" dirty="0"/>
          </a:p>
          <a:p>
            <a:r>
              <a:rPr lang="ko-KR" altLang="en-US" dirty="0"/>
              <a:t>홍길동</a:t>
            </a:r>
            <a:endParaRPr lang="en-US" altLang="ko-KR" dirty="0"/>
          </a:p>
        </p:txBody>
      </p:sp>
      <p:sp>
        <p:nvSpPr>
          <p:cNvPr id="7" name="Google Shape;1312;p63">
            <a:extLst>
              <a:ext uri="{FF2B5EF4-FFF2-40B4-BE49-F238E27FC236}">
                <a16:creationId xmlns:a16="http://schemas.microsoft.com/office/drawing/2014/main" id="{0A78F3EB-266D-144F-9E96-77FD19D36541}"/>
              </a:ext>
            </a:extLst>
          </p:cNvPr>
          <p:cNvSpPr/>
          <p:nvPr/>
        </p:nvSpPr>
        <p:spPr>
          <a:xfrm>
            <a:off x="917697" y="973492"/>
            <a:ext cx="86159" cy="130781"/>
          </a:xfrm>
          <a:custGeom>
            <a:avLst/>
            <a:gdLst/>
            <a:ahLst/>
            <a:cxnLst/>
            <a:rect l="l" t="t" r="r" b="b"/>
            <a:pathLst>
              <a:path w="1415" h="2148" extrusionOk="0">
                <a:moveTo>
                  <a:pt x="308" y="0"/>
                </a:moveTo>
                <a:cubicBezTo>
                  <a:pt x="152" y="0"/>
                  <a:pt x="1" y="123"/>
                  <a:pt x="1" y="308"/>
                </a:cubicBezTo>
                <a:lnTo>
                  <a:pt x="8" y="1844"/>
                </a:lnTo>
                <a:cubicBezTo>
                  <a:pt x="8" y="2026"/>
                  <a:pt x="158" y="2148"/>
                  <a:pt x="316" y="2148"/>
                </a:cubicBezTo>
                <a:cubicBezTo>
                  <a:pt x="390" y="2148"/>
                  <a:pt x="465" y="2121"/>
                  <a:pt x="527" y="2061"/>
                </a:cubicBezTo>
                <a:lnTo>
                  <a:pt x="1292" y="1296"/>
                </a:lnTo>
                <a:cubicBezTo>
                  <a:pt x="1414" y="1181"/>
                  <a:pt x="1414" y="986"/>
                  <a:pt x="1292" y="864"/>
                </a:cubicBezTo>
                <a:lnTo>
                  <a:pt x="520" y="92"/>
                </a:lnTo>
                <a:cubicBezTo>
                  <a:pt x="459" y="29"/>
                  <a:pt x="383" y="0"/>
                  <a:pt x="308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9525" cap="flat" cmpd="sng">
            <a:solidFill>
              <a:srgbClr val="869F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41BC3-2D2C-354F-BE20-6B615EF877A6}"/>
              </a:ext>
            </a:extLst>
          </p:cNvPr>
          <p:cNvSpPr txBox="1"/>
          <p:nvPr/>
        </p:nvSpPr>
        <p:spPr>
          <a:xfrm>
            <a:off x="1020350" y="866451"/>
            <a:ext cx="88160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Chapter 04 </a:t>
            </a:r>
            <a:r>
              <a:rPr lang="ko-KR" altLang="en-US" dirty="0"/>
              <a:t>반복문</a:t>
            </a:r>
            <a:endParaRPr lang="en-US" altLang="ko-K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FDB7C0-AFF4-4C8E-B02F-6D4EF72A6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0699" y="1066888"/>
            <a:ext cx="2611058" cy="359182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58431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19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E82F3270-274A-4FFA-9FC4-DAF65E0A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vl="0" algn="r" latinLnBrk="0">
              <a:defRPr/>
            </a:pPr>
            <a:r>
              <a:rPr lang="ko-KR" altLang="en-US" sz="4100" b="1" kern="1200" dirty="0">
                <a:solidFill>
                  <a:srgbClr val="4BB0A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시작하기전에</a:t>
            </a:r>
            <a:endParaRPr lang="en-US" altLang="ko-KR" sz="4100" b="1" kern="1200" dirty="0">
              <a:solidFill>
                <a:srgbClr val="4BB0A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cxnSp>
        <p:nvCxnSpPr>
          <p:cNvPr id="32" name="Straight Connector 21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3868AD-5FB7-A947-B715-20B0C9396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7502D5-0DE6-43F9-8F2E-D2C7BA7481E7}"/>
              </a:ext>
            </a:extLst>
          </p:cNvPr>
          <p:cNvSpPr/>
          <p:nvPr/>
        </p:nvSpPr>
        <p:spPr>
          <a:xfrm>
            <a:off x="4976031" y="963877"/>
            <a:ext cx="6500853" cy="4930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altLang="ko-KR" dirty="0"/>
          </a:p>
          <a:p>
            <a:r>
              <a:rPr lang="ko-KR" altLang="en-US" b="1" dirty="0"/>
              <a:t>예제 다운로드 및 동영상 강의</a:t>
            </a:r>
            <a:endParaRPr lang="en-US" altLang="ko-KR" b="1" dirty="0"/>
          </a:p>
          <a:p>
            <a:r>
              <a:rPr lang="en-US" altLang="ko-KR" sz="1600" dirty="0"/>
              <a:t>https://hanbit.co.kr/store/books/look.php?p_code=B8393055290</a:t>
            </a:r>
          </a:p>
          <a:p>
            <a:endParaRPr lang="en-US" altLang="ko-KR" sz="1600" dirty="0"/>
          </a:p>
          <a:p>
            <a:pPr lvl="0"/>
            <a:r>
              <a:rPr lang="ko-KR" altLang="en-US" b="1" dirty="0">
                <a:solidFill>
                  <a:prstClr val="black"/>
                </a:solidFill>
              </a:rPr>
              <a:t>저자 </a:t>
            </a:r>
            <a:r>
              <a:rPr lang="en-US" altLang="ko-KR" b="1" dirty="0">
                <a:solidFill>
                  <a:prstClr val="black"/>
                </a:solidFill>
              </a:rPr>
              <a:t>: </a:t>
            </a:r>
            <a:r>
              <a:rPr lang="ko-KR" altLang="en-US" b="1" dirty="0">
                <a:solidFill>
                  <a:prstClr val="black"/>
                </a:solidFill>
              </a:rPr>
              <a:t>윤인성</a:t>
            </a:r>
            <a:endParaRPr lang="en-US" altLang="ko-KR" b="1" dirty="0">
              <a:solidFill>
                <a:prstClr val="black"/>
              </a:solidFill>
            </a:endParaRPr>
          </a:p>
          <a:p>
            <a:pPr lvl="0"/>
            <a:endParaRPr lang="ko-KR" altLang="en-US" sz="1600" dirty="0">
              <a:solidFill>
                <a:prstClr val="black"/>
              </a:solidFill>
            </a:endParaRPr>
          </a:p>
          <a:p>
            <a:pPr lvl="0"/>
            <a:r>
              <a:rPr lang="ko-KR" altLang="en-US" sz="1600" dirty="0">
                <a:solidFill>
                  <a:prstClr val="black"/>
                </a:solidFill>
              </a:rPr>
              <a:t>출근하는 게 싫어서 책을 집필하기 시작했다</a:t>
            </a:r>
            <a:r>
              <a:rPr lang="en-US" altLang="ko-KR" sz="1600" dirty="0">
                <a:solidFill>
                  <a:prstClr val="black"/>
                </a:solidFill>
              </a:rPr>
              <a:t>. </a:t>
            </a:r>
            <a:r>
              <a:rPr lang="ko-KR" altLang="en-US" sz="1600" dirty="0">
                <a:solidFill>
                  <a:prstClr val="black"/>
                </a:solidFill>
              </a:rPr>
              <a:t>현재 직업 특성상 집에서 나갈 이유가 별로 없다는 것에 굉장히 만족하는 성격이기도 하다</a:t>
            </a:r>
            <a:r>
              <a:rPr lang="en-US" altLang="ko-KR" sz="1600" dirty="0">
                <a:solidFill>
                  <a:prstClr val="black"/>
                </a:solidFill>
              </a:rPr>
              <a:t>. </a:t>
            </a:r>
            <a:r>
              <a:rPr lang="ko-KR" altLang="en-US" sz="1600" dirty="0">
                <a:solidFill>
                  <a:prstClr val="black"/>
                </a:solidFill>
              </a:rPr>
              <a:t>홍차와 커피를 좋아하며 기타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>
                <a:solidFill>
                  <a:prstClr val="black"/>
                </a:solidFill>
              </a:rPr>
              <a:t>가야금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>
                <a:solidFill>
                  <a:prstClr val="black"/>
                </a:solidFill>
              </a:rPr>
              <a:t>그림 그리기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>
                <a:solidFill>
                  <a:prstClr val="black"/>
                </a:solidFill>
              </a:rPr>
              <a:t>스컬핑 등이 취미이다</a:t>
            </a:r>
            <a:r>
              <a:rPr lang="en-US" altLang="ko-KR" sz="1600" dirty="0">
                <a:solidFill>
                  <a:prstClr val="black"/>
                </a:solidFill>
              </a:rPr>
              <a:t>. </a:t>
            </a:r>
            <a:r>
              <a:rPr lang="ko-KR" altLang="en-US" sz="1600" dirty="0">
                <a:solidFill>
                  <a:prstClr val="black"/>
                </a:solidFill>
              </a:rPr>
              <a:t>저서로는 </a:t>
            </a:r>
            <a:r>
              <a:rPr lang="en-US" altLang="ko-KR" sz="1600" dirty="0">
                <a:solidFill>
                  <a:prstClr val="black"/>
                </a:solidFill>
              </a:rPr>
              <a:t>『</a:t>
            </a:r>
            <a:r>
              <a:rPr lang="ko-KR" altLang="en-US" sz="1600" dirty="0">
                <a:solidFill>
                  <a:prstClr val="black"/>
                </a:solidFill>
              </a:rPr>
              <a:t>혼자 공부하는 파이썬</a:t>
            </a:r>
            <a:r>
              <a:rPr lang="en-US" altLang="ko-KR" sz="1600" dirty="0">
                <a:solidFill>
                  <a:prstClr val="black"/>
                </a:solidFill>
              </a:rPr>
              <a:t>』, 『IT </a:t>
            </a:r>
            <a:r>
              <a:rPr lang="en-US" altLang="ko-KR" sz="1600" dirty="0" err="1">
                <a:solidFill>
                  <a:prstClr val="black"/>
                </a:solidFill>
              </a:rPr>
              <a:t>CookBook</a:t>
            </a:r>
            <a:r>
              <a:rPr lang="en-US" altLang="ko-KR" sz="1600" dirty="0">
                <a:solidFill>
                  <a:prstClr val="black"/>
                </a:solidFill>
              </a:rPr>
              <a:t>, HTML5 </a:t>
            </a:r>
            <a:r>
              <a:rPr lang="ko-KR" altLang="en-US" sz="1600" dirty="0">
                <a:solidFill>
                  <a:prstClr val="black"/>
                </a:solidFill>
              </a:rPr>
              <a:t>웹 프로그래밍</a:t>
            </a:r>
            <a:r>
              <a:rPr lang="en-US" altLang="ko-KR" sz="1600" dirty="0">
                <a:solidFill>
                  <a:prstClr val="black"/>
                </a:solidFill>
              </a:rPr>
              <a:t>』, 『</a:t>
            </a:r>
            <a:r>
              <a:rPr lang="ko-KR" altLang="en-US" sz="1600" dirty="0">
                <a:solidFill>
                  <a:prstClr val="black"/>
                </a:solidFill>
              </a:rPr>
              <a:t>모던 웹을 위한 </a:t>
            </a:r>
            <a:r>
              <a:rPr lang="en-US" altLang="ko-KR" sz="1600" dirty="0" err="1">
                <a:solidFill>
                  <a:prstClr val="black"/>
                </a:solidFill>
              </a:rPr>
              <a:t>JavaScript+jQuery</a:t>
            </a:r>
            <a:r>
              <a:rPr lang="en-US" altLang="ko-KR" sz="1600" dirty="0">
                <a:solidFill>
                  <a:prstClr val="black"/>
                </a:solidFill>
              </a:rPr>
              <a:t> </a:t>
            </a:r>
            <a:r>
              <a:rPr lang="ko-KR" altLang="en-US" sz="1600" dirty="0">
                <a:solidFill>
                  <a:prstClr val="black"/>
                </a:solidFill>
              </a:rPr>
              <a:t>입문</a:t>
            </a:r>
            <a:r>
              <a:rPr lang="en-US" altLang="ko-KR" sz="1600" dirty="0">
                <a:solidFill>
                  <a:prstClr val="black"/>
                </a:solidFill>
              </a:rPr>
              <a:t>』, 『</a:t>
            </a:r>
            <a:r>
              <a:rPr lang="ko-KR" altLang="en-US" sz="1600" dirty="0">
                <a:solidFill>
                  <a:prstClr val="black"/>
                </a:solidFill>
              </a:rPr>
              <a:t>모던 웹을 위한 </a:t>
            </a:r>
            <a:r>
              <a:rPr lang="en-US" altLang="ko-KR" sz="1600" dirty="0">
                <a:solidFill>
                  <a:prstClr val="black"/>
                </a:solidFill>
              </a:rPr>
              <a:t>Node.js </a:t>
            </a:r>
            <a:r>
              <a:rPr lang="ko-KR" altLang="en-US" sz="1600" dirty="0">
                <a:solidFill>
                  <a:prstClr val="black"/>
                </a:solidFill>
              </a:rPr>
              <a:t>프로그래밍</a:t>
            </a:r>
            <a:r>
              <a:rPr lang="en-US" altLang="ko-KR" sz="1600" dirty="0">
                <a:solidFill>
                  <a:prstClr val="black"/>
                </a:solidFill>
              </a:rPr>
              <a:t>』, 『</a:t>
            </a:r>
            <a:r>
              <a:rPr lang="ko-KR" altLang="en-US" sz="1600" dirty="0">
                <a:solidFill>
                  <a:prstClr val="black"/>
                </a:solidFill>
              </a:rPr>
              <a:t>모던 웹 디자인을 위한 </a:t>
            </a:r>
            <a:r>
              <a:rPr lang="en-US" altLang="ko-KR" sz="1600" dirty="0">
                <a:solidFill>
                  <a:prstClr val="black"/>
                </a:solidFill>
              </a:rPr>
              <a:t>HTML5+CSS3 </a:t>
            </a:r>
            <a:r>
              <a:rPr lang="ko-KR" altLang="en-US" sz="1600" dirty="0">
                <a:solidFill>
                  <a:prstClr val="black"/>
                </a:solidFill>
              </a:rPr>
              <a:t>입문</a:t>
            </a:r>
            <a:r>
              <a:rPr lang="en-US" altLang="ko-KR" sz="1600" dirty="0">
                <a:solidFill>
                  <a:prstClr val="black"/>
                </a:solidFill>
              </a:rPr>
              <a:t>』 </a:t>
            </a:r>
            <a:r>
              <a:rPr lang="ko-KR" altLang="en-US" sz="1600" dirty="0">
                <a:solidFill>
                  <a:prstClr val="black"/>
                </a:solidFill>
              </a:rPr>
              <a:t>등이 있으며</a:t>
            </a:r>
            <a:r>
              <a:rPr lang="en-US" altLang="ko-KR" sz="1600" dirty="0">
                <a:solidFill>
                  <a:prstClr val="black"/>
                </a:solidFill>
              </a:rPr>
              <a:t>, </a:t>
            </a:r>
            <a:r>
              <a:rPr lang="ko-KR" altLang="en-US" sz="1600" dirty="0">
                <a:solidFill>
                  <a:prstClr val="black"/>
                </a:solidFill>
              </a:rPr>
              <a:t>역서로는 </a:t>
            </a:r>
            <a:r>
              <a:rPr lang="en-US" altLang="ko-KR" sz="1600" dirty="0">
                <a:solidFill>
                  <a:prstClr val="black"/>
                </a:solidFill>
              </a:rPr>
              <a:t>『</a:t>
            </a:r>
            <a:r>
              <a:rPr lang="en-US" altLang="ko-KR" sz="1600" dirty="0" err="1">
                <a:solidFill>
                  <a:prstClr val="black"/>
                </a:solidFill>
              </a:rPr>
              <a:t>TopCoder</a:t>
            </a:r>
            <a:r>
              <a:rPr lang="en-US" altLang="ko-KR" sz="1600" dirty="0">
                <a:solidFill>
                  <a:prstClr val="black"/>
                </a:solidFill>
              </a:rPr>
              <a:t> </a:t>
            </a:r>
            <a:r>
              <a:rPr lang="ko-KR" altLang="en-US" sz="1600" dirty="0">
                <a:solidFill>
                  <a:prstClr val="black"/>
                </a:solidFill>
              </a:rPr>
              <a:t>알고리즘 트레이닝</a:t>
            </a:r>
            <a:r>
              <a:rPr lang="en-US" altLang="ko-KR" sz="1600" dirty="0">
                <a:solidFill>
                  <a:prstClr val="black"/>
                </a:solidFill>
              </a:rPr>
              <a:t>』, 『</a:t>
            </a:r>
            <a:r>
              <a:rPr lang="ko-KR" altLang="en-US" sz="1600" dirty="0">
                <a:solidFill>
                  <a:prstClr val="black"/>
                </a:solidFill>
              </a:rPr>
              <a:t>자바 퍼즐러</a:t>
            </a:r>
            <a:r>
              <a:rPr lang="en-US" altLang="ko-KR" sz="1600" dirty="0">
                <a:solidFill>
                  <a:prstClr val="black"/>
                </a:solidFill>
              </a:rPr>
              <a:t>』, 『</a:t>
            </a:r>
            <a:r>
              <a:rPr lang="ko-KR" altLang="en-US" sz="1600" dirty="0">
                <a:solidFill>
                  <a:prstClr val="black"/>
                </a:solidFill>
              </a:rPr>
              <a:t>소셜 코딩으로 이끄는 </a:t>
            </a:r>
            <a:r>
              <a:rPr lang="en-US" altLang="ko-KR" sz="1600" dirty="0">
                <a:solidFill>
                  <a:prstClr val="black"/>
                </a:solidFill>
              </a:rPr>
              <a:t>GitHub </a:t>
            </a:r>
            <a:r>
              <a:rPr lang="ko-KR" altLang="en-US" sz="1600" dirty="0">
                <a:solidFill>
                  <a:prstClr val="black"/>
                </a:solidFill>
              </a:rPr>
              <a:t>실천 기술</a:t>
            </a:r>
            <a:r>
              <a:rPr lang="en-US" altLang="ko-KR" sz="1600" dirty="0">
                <a:solidFill>
                  <a:prstClr val="black"/>
                </a:solidFill>
              </a:rPr>
              <a:t>』, 『Nature of Code』 </a:t>
            </a:r>
            <a:r>
              <a:rPr lang="ko-KR" altLang="en-US" sz="1600" dirty="0">
                <a:solidFill>
                  <a:prstClr val="black"/>
                </a:solidFill>
              </a:rPr>
              <a:t>등이 있다</a:t>
            </a:r>
            <a:r>
              <a:rPr lang="en-US" altLang="ko-KR" sz="1600" dirty="0">
                <a:solidFill>
                  <a:prstClr val="black"/>
                </a:solidFill>
              </a:rPr>
              <a:t>.</a:t>
            </a:r>
            <a:endParaRPr lang="en-US" altLang="ko-KR" sz="1600" dirty="0"/>
          </a:p>
        </p:txBody>
      </p:sp>
      <p:sp>
        <p:nvSpPr>
          <p:cNvPr id="10" name="바닥글 개체 틀 36">
            <a:extLst>
              <a:ext uri="{FF2B5EF4-FFF2-40B4-BE49-F238E27FC236}">
                <a16:creationId xmlns:a16="http://schemas.microsoft.com/office/drawing/2014/main" id="{5220374A-E2BF-4F2C-BE2B-8A4F0B1BCC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366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0E333E-71DD-7049-8195-20640270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131C8B5-353C-DD47-B91A-E4E0FEE22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 책의 학습 목표</a:t>
            </a:r>
            <a:endParaRPr lang="x-none" dirty="0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301C5D93-70E4-4CBC-BBF8-FCC3AFED189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30D5A-3073-42CB-919C-264D9ED344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4" y="815008"/>
            <a:ext cx="11505693" cy="5222377"/>
          </a:xfrm>
        </p:spPr>
        <p:txBody>
          <a:bodyPr numCol="2" spcCol="180000">
            <a:normAutofit fontScale="77500" lnSpcReduction="20000"/>
          </a:bodyPr>
          <a:lstStyle/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CHAPTER 01: </a:t>
            </a:r>
            <a:r>
              <a:rPr lang="ko-KR" altLang="en-US" sz="2300" b="1" dirty="0"/>
              <a:t>자바스크립트 개요와 개발환경 설정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자바스크립트 개발환경 설치와 자바스크립트 프로그래밍 기본 용어 학습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CHAPTER 02: </a:t>
            </a:r>
            <a:r>
              <a:rPr lang="ko-KR" altLang="en-US" sz="2300" b="1" dirty="0"/>
              <a:t>자료와 변수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프로그램 개발의 첫걸음</a:t>
            </a:r>
            <a:r>
              <a:rPr lang="en-US" altLang="ko-KR" sz="2200" dirty="0"/>
              <a:t>. </a:t>
            </a:r>
            <a:r>
              <a:rPr lang="ko-KR" altLang="en-US" sz="2200" dirty="0"/>
              <a:t>자료형과 변수 학습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CHAPTER 03: </a:t>
            </a:r>
            <a:r>
              <a:rPr lang="ko-KR" altLang="en-US" sz="2300" b="1" dirty="0"/>
              <a:t>조건문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프로그램의 흐름을 변화시키는 요소</a:t>
            </a:r>
            <a:r>
              <a:rPr lang="en-US" altLang="ko-KR" sz="2200" dirty="0"/>
              <a:t>. </a:t>
            </a:r>
            <a:r>
              <a:rPr lang="ko-KR" altLang="en-US" sz="2200" dirty="0"/>
              <a:t>조건문의 </a:t>
            </a:r>
            <a:r>
              <a:rPr lang="en-US" altLang="ko-KR" sz="2200" dirty="0"/>
              <a:t/>
            </a:r>
            <a:br>
              <a:rPr lang="en-US" altLang="ko-KR" sz="2200" dirty="0"/>
            </a:br>
            <a:r>
              <a:rPr lang="ko-KR" altLang="en-US" sz="2200" dirty="0"/>
              <a:t>종류를 알아보고 사용 방법을 이해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CHAPTER 04: </a:t>
            </a:r>
            <a:r>
              <a:rPr lang="ko-KR" altLang="en-US" sz="2300" b="1" dirty="0"/>
              <a:t>반복문</a:t>
            </a:r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배열의 개념과 문법을 익혀 </a:t>
            </a:r>
            <a:r>
              <a:rPr lang="en-US" altLang="ko-KR" sz="2200" dirty="0"/>
              <a:t>while </a:t>
            </a:r>
            <a:r>
              <a:rPr lang="ko-KR" altLang="en-US" sz="2200" dirty="0"/>
              <a:t>반복문과 </a:t>
            </a:r>
            <a:r>
              <a:rPr lang="en-US" altLang="ko-KR" sz="2200" dirty="0"/>
              <a:t/>
            </a:r>
            <a:br>
              <a:rPr lang="en-US" altLang="ko-KR" sz="2200" dirty="0"/>
            </a:br>
            <a:r>
              <a:rPr lang="en-US" altLang="ko-KR" sz="2200" dirty="0"/>
              <a:t>for </a:t>
            </a:r>
            <a:r>
              <a:rPr lang="ko-KR" altLang="en-US" sz="2200" dirty="0"/>
              <a:t>반복문 학습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CHAPTER 05: </a:t>
            </a:r>
            <a:r>
              <a:rPr lang="ko-KR" altLang="en-US" sz="2300" b="1" dirty="0"/>
              <a:t>함수 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다양한 형태의 함수를 만들기와 매개변수를 다루는 방법 이해</a:t>
            </a:r>
            <a:endParaRPr lang="en-US" altLang="ko-KR" sz="2200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CHAPER 06: </a:t>
            </a:r>
            <a:r>
              <a:rPr lang="ko-KR" altLang="en-US" sz="2300" b="1" dirty="0"/>
              <a:t>객체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객체의 속성과 메소드</a:t>
            </a:r>
            <a:r>
              <a:rPr lang="en-US" altLang="ko-KR" sz="2200" dirty="0"/>
              <a:t>, </a:t>
            </a:r>
            <a:r>
              <a:rPr lang="ko-KR" altLang="en-US" sz="2200" dirty="0"/>
              <a:t>생성</a:t>
            </a:r>
            <a:r>
              <a:rPr lang="en-US" altLang="ko-KR" sz="2200" dirty="0"/>
              <a:t>,</a:t>
            </a:r>
            <a:r>
              <a:rPr lang="ko-KR" altLang="en-US" sz="2200" dirty="0"/>
              <a:t> 관리하는 기본 문법</a:t>
            </a:r>
            <a:r>
              <a:rPr lang="en-US" altLang="ko-KR" sz="2200" dirty="0"/>
              <a:t> </a:t>
            </a:r>
            <a:r>
              <a:rPr lang="ko-KR" altLang="en-US" sz="2200" dirty="0"/>
              <a:t>학습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CHAPER 07: </a:t>
            </a:r>
            <a:r>
              <a:rPr lang="ko-KR" altLang="en-US" sz="2300" b="1" dirty="0"/>
              <a:t>문서 객체 모델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200" dirty="0" err="1"/>
              <a:t>DOMContentLoaded</a:t>
            </a:r>
            <a:r>
              <a:rPr lang="en-US" altLang="ko-KR" sz="2200" dirty="0"/>
              <a:t> </a:t>
            </a:r>
            <a:r>
              <a:rPr lang="ko-KR" altLang="en-US" sz="2200" dirty="0"/>
              <a:t>이벤트를 사용한 문서 객체 조작과 다양한 이벤트의 사용 방법 이해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CHAPER 08: </a:t>
            </a:r>
            <a:r>
              <a:rPr lang="ko-KR" altLang="en-US" sz="2300" b="1" dirty="0"/>
              <a:t>예외 처리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구문 오류와 예외를 구분하고</a:t>
            </a:r>
            <a:r>
              <a:rPr lang="en-US" altLang="ko-KR" sz="2200" dirty="0"/>
              <a:t>, </a:t>
            </a:r>
            <a:r>
              <a:rPr lang="ko-KR" altLang="en-US" sz="2200" dirty="0"/>
              <a:t>예외 처리의 필요성과 예외를 강제로 발생시키는 방법을 이해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CHAPER 09: </a:t>
            </a:r>
            <a:r>
              <a:rPr lang="ko-KR" altLang="en-US" sz="2300" b="1" dirty="0"/>
              <a:t>클래스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객체 지향을 이해하고 클래스의 개념과 문법 학습</a:t>
            </a:r>
            <a:endParaRPr lang="en-US" altLang="ko-KR" sz="2200" dirty="0"/>
          </a:p>
          <a:p>
            <a:pPr marL="176213" indent="-176213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ko-KR" sz="2300" b="1" dirty="0"/>
              <a:t>CHAPER 10: </a:t>
            </a:r>
            <a:r>
              <a:rPr lang="ko-KR" altLang="en-US" sz="2300" b="1" dirty="0"/>
              <a:t>리액트 라이브러리</a:t>
            </a:r>
            <a:endParaRPr lang="en-US" altLang="ko-KR" sz="2300" b="1" dirty="0"/>
          </a:p>
          <a:p>
            <a:pPr lvl="1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2200" dirty="0"/>
              <a:t>리액트 라이브러리 사용 방법과 간단한 애플리케이션을 만드는 방법 학습</a:t>
            </a:r>
            <a:endParaRPr lang="en-US" altLang="ko-KR" sz="2200" dirty="0"/>
          </a:p>
          <a:p>
            <a:pPr>
              <a:buClr>
                <a:schemeClr val="tx1"/>
              </a:buClr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80199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1"/>
          <p:cNvSpPr txBox="1">
            <a:spLocks/>
          </p:cNvSpPr>
          <p:nvPr/>
        </p:nvSpPr>
        <p:spPr>
          <a:xfrm>
            <a:off x="779230" y="1906438"/>
            <a:ext cx="11228717" cy="4822165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endParaRPr lang="en-US" altLang="ko-KR" sz="2200" dirty="0"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5A2D139-0D54-6740-BC96-84B38FA6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2E0B1CE4-00EE-1841-984D-B00E882C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x-none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7389A846-A623-F04D-A5F3-1E4377CC921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911225" y="814388"/>
            <a:ext cx="11280775" cy="13543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CHAPTER 04: </a:t>
            </a:r>
            <a:r>
              <a:rPr lang="ko-KR" altLang="en-US" dirty="0"/>
              <a:t>반복문</a:t>
            </a:r>
            <a:endParaRPr lang="en-US" altLang="ko-KR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0B1B5-3110-43A4-8AEC-886CC2D20C21}"/>
              </a:ext>
            </a:extLst>
          </p:cNvPr>
          <p:cNvSpPr txBox="1"/>
          <p:nvPr/>
        </p:nvSpPr>
        <p:spPr>
          <a:xfrm>
            <a:off x="1195754" y="2317102"/>
            <a:ext cx="10034954" cy="2868406"/>
          </a:xfrm>
          <a:prstGeom prst="rect">
            <a:avLst/>
          </a:prstGeom>
          <a:noFill/>
        </p:spPr>
        <p:txBody>
          <a:bodyPr wrap="square" numCol="1" spcCol="360000" rtlCol="0">
            <a:noAutofit/>
          </a:bodyPr>
          <a:lstStyle/>
          <a:p>
            <a:r>
              <a:rPr lang="en-US" altLang="ko-KR" dirty="0"/>
              <a:t>SECTION 4-1 </a:t>
            </a:r>
            <a:r>
              <a:rPr lang="ko-KR" altLang="en-US" dirty="0"/>
              <a:t>배열 </a:t>
            </a:r>
            <a:endParaRPr lang="en-US" altLang="ko-KR" dirty="0"/>
          </a:p>
          <a:p>
            <a:r>
              <a:rPr lang="en-US" altLang="ko-KR" dirty="0"/>
              <a:t>SECTION 4-2 </a:t>
            </a:r>
            <a:r>
              <a:rPr lang="ko-KR" altLang="en-US" dirty="0"/>
              <a:t>반복문</a:t>
            </a:r>
            <a:endParaRPr lang="en-US" altLang="ko-KR" dirty="0"/>
          </a:p>
        </p:txBody>
      </p:sp>
      <p:sp>
        <p:nvSpPr>
          <p:cNvPr id="12" name="바닥글 개체 틀 36">
            <a:extLst>
              <a:ext uri="{FF2B5EF4-FFF2-40B4-BE49-F238E27FC236}">
                <a16:creationId xmlns:a16="http://schemas.microsoft.com/office/drawing/2014/main" id="{8D9C2507-1000-48C0-BCD3-1F511BF9F7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898318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228E8E3-0E6B-F440-8FD7-C16EDF9465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x-none" sz="3600" b="1" dirty="0">
                <a:cs typeface="+mj-cs"/>
              </a:rPr>
              <a:t>CHAPTER </a:t>
            </a:r>
            <a:r>
              <a:rPr lang="en-US" altLang="ko-KR" sz="3600" b="1" dirty="0">
                <a:cs typeface="+mj-cs"/>
              </a:rPr>
              <a:t>04 </a:t>
            </a:r>
            <a:r>
              <a:rPr lang="ko-KR" altLang="en-US" sz="3600" b="1" dirty="0">
                <a:cs typeface="+mj-cs"/>
              </a:rPr>
              <a:t>반복문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CCBA41-B0B5-444D-A186-6592307FAB7C}"/>
              </a:ext>
            </a:extLst>
          </p:cNvPr>
          <p:cNvSpPr txBox="1"/>
          <p:nvPr/>
        </p:nvSpPr>
        <p:spPr>
          <a:xfrm>
            <a:off x="630465" y="3991169"/>
            <a:ext cx="10328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배열의 개념과 문법을 익혀 </a:t>
            </a:r>
            <a:r>
              <a:rPr lang="en-US" altLang="ko-KR" sz="1600" dirty="0"/>
              <a:t>while </a:t>
            </a:r>
            <a:r>
              <a:rPr lang="ko-KR" altLang="en-US" sz="1600" dirty="0"/>
              <a:t>반복문과 </a:t>
            </a:r>
            <a:r>
              <a:rPr lang="en-US" altLang="ko-KR" sz="1600" dirty="0"/>
              <a:t>for </a:t>
            </a:r>
            <a:r>
              <a:rPr lang="ko-KR" altLang="en-US" sz="1600" dirty="0"/>
              <a:t>반복문 학습</a:t>
            </a:r>
          </a:p>
        </p:txBody>
      </p:sp>
    </p:spTree>
    <p:extLst>
      <p:ext uri="{BB962C8B-B14F-4D97-AF65-F5344CB8AC3E}">
        <p14:creationId xmlns:p14="http://schemas.microsoft.com/office/powerpoint/2010/main" val="1671237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045" y="107950"/>
            <a:ext cx="11281410" cy="671830"/>
          </a:xfrm>
        </p:spPr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4-1</a:t>
            </a:r>
            <a:r>
              <a:rPr lang="ko-KR" altLang="en-US" dirty="0"/>
              <a:t> 배열</a:t>
            </a:r>
            <a:r>
              <a:rPr lang="en-US" altLang="ko-KR" sz="2400" dirty="0"/>
              <a:t>(1)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91620" y="6472555"/>
            <a:ext cx="401320" cy="365760"/>
          </a:xfrm>
        </p:spPr>
        <p:txBody>
          <a:bodyPr/>
          <a:lstStyle/>
          <a:p>
            <a:fld id="{6353835A-5E09-4503-B599-6DF340CA3988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9" name="텍스트 개체 틀 8"/>
          <p:cNvSpPr txBox="1">
            <a:spLocks noGrp="1"/>
          </p:cNvSpPr>
          <p:nvPr>
            <p:ph type="body" sz="quarter" idx="13"/>
          </p:nvPr>
        </p:nvSpPr>
        <p:spPr>
          <a:xfrm>
            <a:off x="460375" y="788035"/>
            <a:ext cx="11281410" cy="499999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rmAutofit/>
          </a:bodyPr>
          <a:lstStyle/>
          <a:p>
            <a:pPr marL="228600" indent="-228600">
              <a:buFont typeface="시스템 서체"/>
              <a:buChar char="◦"/>
            </a:pPr>
            <a:r>
              <a:rPr lang="ko-KR" altLang="en-US" b="0" i="0" strike="noStrike">
                <a:solidFill>
                  <a:srgbClr val="000000"/>
                </a:solidFill>
                <a:latin typeface="맑은 고딕" charset="0"/>
                <a:ea typeface="맑은 고딕" charset="0"/>
              </a:rPr>
              <a:t>배열</a:t>
            </a:r>
            <a:r>
              <a:rPr lang="en-US" altLang="ko-KR" b="0" i="0" strike="noStrike">
                <a:solidFill>
                  <a:srgbClr val="000000"/>
                </a:solidFill>
                <a:latin typeface="맑은 고딕" charset="0"/>
                <a:ea typeface="+mn-ea"/>
              </a:rPr>
              <a:t>(array):</a:t>
            </a:r>
            <a:r>
              <a:rPr lang="ko-KR" altLang="en-US" b="0" i="0" strike="noStrike">
                <a:solidFill>
                  <a:srgbClr val="000000"/>
                </a:solidFill>
                <a:latin typeface="맑은 고딕" charset="0"/>
                <a:ea typeface="맑은 고딕" charset="0"/>
              </a:rPr>
              <a:t> 여러 자료를 묶어서 활용할 수 있는 특수한 자료</a:t>
            </a: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1965" y="6574790"/>
            <a:ext cx="4114800" cy="215900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169492"/>
              </p:ext>
            </p:extLst>
          </p:nvPr>
        </p:nvGraphicFramePr>
        <p:xfrm>
          <a:off x="1524000" y="1397203"/>
          <a:ext cx="2965938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9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str =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안녕하세요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str[2]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①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str[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str.length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- 1]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②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194478CC-6401-41E5-8360-180642A16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431380"/>
              </p:ext>
            </p:extLst>
          </p:nvPr>
        </p:nvGraphicFramePr>
        <p:xfrm>
          <a:off x="2539554" y="3483408"/>
          <a:ext cx="6940065" cy="666750"/>
        </p:xfrm>
        <a:graphic>
          <a:graphicData uri="http://schemas.openxmlformats.org/drawingml/2006/table">
            <a:tbl>
              <a:tblPr/>
              <a:tblGrid>
                <a:gridCol w="1388013">
                  <a:extLst>
                    <a:ext uri="{9D8B030D-6E8A-4147-A177-3AD203B41FA5}">
                      <a16:colId xmlns:a16="http://schemas.microsoft.com/office/drawing/2014/main" val="109335711"/>
                    </a:ext>
                  </a:extLst>
                </a:gridCol>
                <a:gridCol w="1388013">
                  <a:extLst>
                    <a:ext uri="{9D8B030D-6E8A-4147-A177-3AD203B41FA5}">
                      <a16:colId xmlns:a16="http://schemas.microsoft.com/office/drawing/2014/main" val="3726500301"/>
                    </a:ext>
                  </a:extLst>
                </a:gridCol>
                <a:gridCol w="1388013">
                  <a:extLst>
                    <a:ext uri="{9D8B030D-6E8A-4147-A177-3AD203B41FA5}">
                      <a16:colId xmlns:a16="http://schemas.microsoft.com/office/drawing/2014/main" val="1103350160"/>
                    </a:ext>
                  </a:extLst>
                </a:gridCol>
                <a:gridCol w="1388013">
                  <a:extLst>
                    <a:ext uri="{9D8B030D-6E8A-4147-A177-3AD203B41FA5}">
                      <a16:colId xmlns:a16="http://schemas.microsoft.com/office/drawing/2014/main" val="3328127321"/>
                    </a:ext>
                  </a:extLst>
                </a:gridCol>
                <a:gridCol w="1388013">
                  <a:extLst>
                    <a:ext uri="{9D8B030D-6E8A-4147-A177-3AD203B41FA5}">
                      <a16:colId xmlns:a16="http://schemas.microsoft.com/office/drawing/2014/main" val="3438225871"/>
                    </a:ext>
                  </a:extLst>
                </a:gridCol>
              </a:tblGrid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녕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771860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[1]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[2]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[4]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41096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154C87AD-27DF-44A3-90B2-874FD12CFBC6}"/>
              </a:ext>
            </a:extLst>
          </p:cNvPr>
          <p:cNvSpPr txBox="1"/>
          <p:nvPr/>
        </p:nvSpPr>
        <p:spPr>
          <a:xfrm>
            <a:off x="2498090" y="3114040"/>
            <a:ext cx="42926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str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64F272-41F3-46F8-8C4F-A841F70575EA}"/>
              </a:ext>
            </a:extLst>
          </p:cNvPr>
          <p:cNvSpPr txBox="1"/>
          <p:nvPr/>
        </p:nvSpPr>
        <p:spPr>
          <a:xfrm>
            <a:off x="5636260" y="4334510"/>
            <a:ext cx="68707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str[2]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2AF6D46-8646-4B56-9CF7-5050ED09E7A5}"/>
              </a:ext>
            </a:extLst>
          </p:cNvPr>
          <p:cNvSpPr txBox="1"/>
          <p:nvPr/>
        </p:nvSpPr>
        <p:spPr>
          <a:xfrm>
            <a:off x="8058785" y="4344035"/>
            <a:ext cx="1630680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str[str.length-1]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5D5722-AA67-4D77-B2CD-3F75997F4251}"/>
              </a:ext>
            </a:extLst>
          </p:cNvPr>
          <p:cNvSpPr txBox="1"/>
          <p:nvPr/>
        </p:nvSpPr>
        <p:spPr>
          <a:xfrm>
            <a:off x="8788400" y="4832985"/>
            <a:ext cx="301625" cy="3695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97E5519-2C10-4AEB-97FD-69713C33EADB}"/>
              </a:ext>
            </a:extLst>
          </p:cNvPr>
          <p:cNvCxnSpPr/>
          <p:nvPr/>
        </p:nvCxnSpPr>
        <p:spPr>
          <a:xfrm flipV="1">
            <a:off x="6015355" y="4160520"/>
            <a:ext cx="0" cy="184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8443E4-C9B7-4C04-BF67-58621568E46B}"/>
              </a:ext>
            </a:extLst>
          </p:cNvPr>
          <p:cNvCxnSpPr/>
          <p:nvPr/>
        </p:nvCxnSpPr>
        <p:spPr>
          <a:xfrm flipV="1">
            <a:off x="8810625" y="4159250"/>
            <a:ext cx="0" cy="184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355B24C-65A1-4A11-92FD-4190C8D4B853}"/>
              </a:ext>
            </a:extLst>
          </p:cNvPr>
          <p:cNvCxnSpPr>
            <a:cxnSpLocks/>
          </p:cNvCxnSpPr>
          <p:nvPr/>
        </p:nvCxnSpPr>
        <p:spPr>
          <a:xfrm>
            <a:off x="8892540" y="4665980"/>
            <a:ext cx="0" cy="184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0C6E654-367A-48CC-B570-62516864F7EC}"/>
              </a:ext>
            </a:extLst>
          </p:cNvPr>
          <p:cNvCxnSpPr>
            <a:cxnSpLocks/>
          </p:cNvCxnSpPr>
          <p:nvPr/>
        </p:nvCxnSpPr>
        <p:spPr>
          <a:xfrm>
            <a:off x="8446770" y="4669155"/>
            <a:ext cx="93154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04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4-1</a:t>
            </a:r>
            <a:r>
              <a:rPr lang="ko-KR" altLang="en-US" dirty="0"/>
              <a:t> 배열</a:t>
            </a:r>
            <a:r>
              <a:rPr lang="en-US" altLang="ko-KR" sz="2400" dirty="0"/>
              <a:t>(2)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배열 만들기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755619"/>
              </p:ext>
            </p:extLst>
          </p:nvPr>
        </p:nvGraphicFramePr>
        <p:xfrm>
          <a:off x="1524000" y="1397203"/>
          <a:ext cx="29659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9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요소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요소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요소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 ... ,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요소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graphicFrame>
        <p:nvGraphicFramePr>
          <p:cNvPr id="16" name="Table 4">
            <a:extLst>
              <a:ext uri="{FF2B5EF4-FFF2-40B4-BE49-F238E27FC236}">
                <a16:creationId xmlns:a16="http://schemas.microsoft.com/office/drawing/2014/main" id="{04A29EDE-9ED3-453F-A8C9-48EB28CA7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484463"/>
              </p:ext>
            </p:extLst>
          </p:nvPr>
        </p:nvGraphicFramePr>
        <p:xfrm>
          <a:off x="1524000" y="2164818"/>
          <a:ext cx="607255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2554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array = [273, 'String', true, function () { }, {}, [273, 103]]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array Enter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(6) [273, "String", true, ƒ, {...}, Array(2)]</a:t>
                      </a:r>
                    </a:p>
                    <a:p>
                      <a:pPr latinLnBrk="1"/>
                      <a:endParaRPr lang="ko-KR" altLang="en-US" sz="8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0654A4B-9E0C-4F4B-9033-DD8BB020B4D5}"/>
              </a:ext>
            </a:extLst>
          </p:cNvPr>
          <p:cNvSpPr txBox="1"/>
          <p:nvPr/>
        </p:nvSpPr>
        <p:spPr>
          <a:xfrm>
            <a:off x="1279180" y="3402727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요소 개수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15F42D7-E56D-4AA0-88C9-A135E79F7AAD}"/>
              </a:ext>
            </a:extLst>
          </p:cNvPr>
          <p:cNvCxnSpPr>
            <a:cxnSpLocks/>
          </p:cNvCxnSpPr>
          <p:nvPr/>
        </p:nvCxnSpPr>
        <p:spPr>
          <a:xfrm>
            <a:off x="1707805" y="3207420"/>
            <a:ext cx="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52E74F0-DB05-46B7-AA6B-B3384D093F7F}"/>
              </a:ext>
            </a:extLst>
          </p:cNvPr>
          <p:cNvCxnSpPr>
            <a:cxnSpLocks/>
          </p:cNvCxnSpPr>
          <p:nvPr/>
        </p:nvCxnSpPr>
        <p:spPr>
          <a:xfrm>
            <a:off x="1599186" y="3211325"/>
            <a:ext cx="288232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821F70-A563-44FA-8652-2AB5DB9F7CE6}"/>
              </a:ext>
            </a:extLst>
          </p:cNvPr>
          <p:cNvCxnSpPr>
            <a:cxnSpLocks/>
          </p:cNvCxnSpPr>
          <p:nvPr/>
        </p:nvCxnSpPr>
        <p:spPr>
          <a:xfrm>
            <a:off x="2386187" y="3207420"/>
            <a:ext cx="2349936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5F52E47-A2DA-4047-8C1D-137E19A71CCE}"/>
              </a:ext>
            </a:extLst>
          </p:cNvPr>
          <p:cNvSpPr txBox="1"/>
          <p:nvPr/>
        </p:nvSpPr>
        <p:spPr>
          <a:xfrm>
            <a:off x="3335894" y="3413576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요소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597FE0-3D14-4C3C-9EFA-E372B2AEFCD8}"/>
              </a:ext>
            </a:extLst>
          </p:cNvPr>
          <p:cNvCxnSpPr>
            <a:cxnSpLocks/>
          </p:cNvCxnSpPr>
          <p:nvPr/>
        </p:nvCxnSpPr>
        <p:spPr>
          <a:xfrm>
            <a:off x="3561154" y="3212988"/>
            <a:ext cx="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D9B31A0F-EFFC-4C9E-B815-747045F1F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019" y="3466902"/>
            <a:ext cx="3038474" cy="233931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DBC571B2-92E8-45ED-897B-22A1FBC9D176}"/>
              </a:ext>
            </a:extLst>
          </p:cNvPr>
          <p:cNvSpPr txBox="1"/>
          <p:nvPr/>
        </p:nvSpPr>
        <p:spPr>
          <a:xfrm>
            <a:off x="1503121" y="5078766"/>
            <a:ext cx="61077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구글 크롬 개발자 도구의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ITC Garamond Std Lt"/>
              </a:rPr>
              <a:t>Console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에서 코드를 실행할 때 출력된 배열 결과 왼쪽에 드롭 다운 버튼 </a:t>
            </a:r>
            <a:r>
              <a:rPr lang="ko-KR" altLang="en-US" sz="1400" b="0" i="0" u="none" strike="noStrike" baseline="0" dirty="0">
                <a:solidFill>
                  <a:srgbClr val="706F6F"/>
                </a:solidFill>
                <a:latin typeface="YoonV YoonMyungjo100Std_OTF"/>
              </a:rPr>
              <a:t>▶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클릭하면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ITC Garamond Std Lt"/>
              </a:rPr>
              <a:t>0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번째에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ITC Garamond Std Lt"/>
              </a:rPr>
              <a:t>273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ITC Garamond Std Lt"/>
              </a:rPr>
              <a:t>1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번째에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"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ITC Garamond Std Lt"/>
              </a:rPr>
              <a:t>String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",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ITC Garamond Std Lt"/>
              </a:rPr>
              <a:t>2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번째에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ITC Garamond Std Lt"/>
              </a:rPr>
              <a:t>true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등의 값을 확인 할 수 있음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05503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4-1</a:t>
            </a:r>
            <a:r>
              <a:rPr lang="ko-KR" altLang="en-US" dirty="0"/>
              <a:t> 배열</a:t>
            </a:r>
            <a:r>
              <a:rPr lang="en-US" altLang="ko-KR" sz="2400" dirty="0"/>
              <a:t>(3)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배열 요소에 접근하기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947168"/>
              </p:ext>
            </p:extLst>
          </p:nvPr>
        </p:nvGraphicFramePr>
        <p:xfrm>
          <a:off x="1524000" y="1397203"/>
          <a:ext cx="29659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9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배열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인덱스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1D8E302C-C8A6-41CB-880C-0B55DC75B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67820"/>
              </p:ext>
            </p:extLst>
          </p:nvPr>
        </p:nvGraphicFramePr>
        <p:xfrm>
          <a:off x="1523999" y="1979398"/>
          <a:ext cx="4736123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6123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numbers = [273, 52, 103, 32]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numbers[0]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273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numbers[1]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52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numbers[1 + 1]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103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numbers[1 * 3]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32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1AC200-8ECD-402E-85F6-6FA7B21CEADB}"/>
              </a:ext>
            </a:extLst>
          </p:cNvPr>
          <p:cNvCxnSpPr/>
          <p:nvPr/>
        </p:nvCxnSpPr>
        <p:spPr>
          <a:xfrm>
            <a:off x="2274277" y="2250831"/>
            <a:ext cx="75027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B15F0A3-A5EE-40ED-975C-D9FA3A49A91B}"/>
              </a:ext>
            </a:extLst>
          </p:cNvPr>
          <p:cNvSpPr/>
          <p:nvPr/>
        </p:nvSpPr>
        <p:spPr>
          <a:xfrm>
            <a:off x="2637692" y="2250831"/>
            <a:ext cx="3130062" cy="164123"/>
          </a:xfrm>
          <a:custGeom>
            <a:avLst/>
            <a:gdLst>
              <a:gd name="connsiteX0" fmla="*/ 0 w 3130062"/>
              <a:gd name="connsiteY0" fmla="*/ 0 h 164123"/>
              <a:gd name="connsiteX1" fmla="*/ 0 w 3130062"/>
              <a:gd name="connsiteY1" fmla="*/ 164123 h 164123"/>
              <a:gd name="connsiteX2" fmla="*/ 3130062 w 3130062"/>
              <a:gd name="connsiteY2" fmla="*/ 164123 h 164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30062" h="164123">
                <a:moveTo>
                  <a:pt x="0" y="0"/>
                </a:moveTo>
                <a:lnTo>
                  <a:pt x="0" y="164123"/>
                </a:lnTo>
                <a:lnTo>
                  <a:pt x="3130062" y="164123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40C6A8-9FEA-45A9-B8FB-6D7538EC36BA}"/>
              </a:ext>
            </a:extLst>
          </p:cNvPr>
          <p:cNvSpPr txBox="1"/>
          <p:nvPr/>
        </p:nvSpPr>
        <p:spPr>
          <a:xfrm>
            <a:off x="5822770" y="2227385"/>
            <a:ext cx="4458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① 배열은 여러 개의 요소를 갖기 때문에 일반적으로</a:t>
            </a:r>
            <a:r>
              <a:rPr lang="en-US" altLang="ko-KR" sz="1400" dirty="0">
                <a:solidFill>
                  <a:srgbClr val="FF0000"/>
                </a:solidFill>
              </a:rPr>
              <a:t/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ko-KR" altLang="en-US" sz="1400" dirty="0">
                <a:solidFill>
                  <a:srgbClr val="FF0000"/>
                </a:solidFill>
              </a:rPr>
              <a:t> 배열 이름을 복수형으로</a:t>
            </a:r>
            <a:r>
              <a:rPr lang="en-US" altLang="ko-KR" sz="1400" dirty="0">
                <a:solidFill>
                  <a:srgbClr val="FF0000"/>
                </a:solidFill>
              </a:rPr>
              <a:t>(number → numbers)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95088F4-F590-4E2B-A326-FF9B0D7C1D50}"/>
              </a:ext>
            </a:extLst>
          </p:cNvPr>
          <p:cNvCxnSpPr>
            <a:cxnSpLocks/>
          </p:cNvCxnSpPr>
          <p:nvPr/>
        </p:nvCxnSpPr>
        <p:spPr>
          <a:xfrm>
            <a:off x="2461847" y="3739149"/>
            <a:ext cx="56270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30B8A4C6-1B50-4541-A9EA-60DFE997EA3F}"/>
              </a:ext>
            </a:extLst>
          </p:cNvPr>
          <p:cNvSpPr/>
          <p:nvPr/>
        </p:nvSpPr>
        <p:spPr>
          <a:xfrm>
            <a:off x="2766647" y="3739150"/>
            <a:ext cx="3001107" cy="199782"/>
          </a:xfrm>
          <a:custGeom>
            <a:avLst/>
            <a:gdLst>
              <a:gd name="connsiteX0" fmla="*/ 0 w 3130062"/>
              <a:gd name="connsiteY0" fmla="*/ 0 h 164123"/>
              <a:gd name="connsiteX1" fmla="*/ 0 w 3130062"/>
              <a:gd name="connsiteY1" fmla="*/ 164123 h 164123"/>
              <a:gd name="connsiteX2" fmla="*/ 3130062 w 3130062"/>
              <a:gd name="connsiteY2" fmla="*/ 164123 h 164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30062" h="164123">
                <a:moveTo>
                  <a:pt x="0" y="0"/>
                </a:moveTo>
                <a:lnTo>
                  <a:pt x="0" y="164123"/>
                </a:lnTo>
                <a:lnTo>
                  <a:pt x="3130062" y="164123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6F64B-C040-4CFE-A18A-40ED3A75053B}"/>
              </a:ext>
            </a:extLst>
          </p:cNvPr>
          <p:cNvSpPr txBox="1"/>
          <p:nvPr/>
        </p:nvSpPr>
        <p:spPr>
          <a:xfrm>
            <a:off x="5822770" y="3712964"/>
            <a:ext cx="4458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② </a:t>
            </a:r>
            <a:r>
              <a:rPr lang="en-US" altLang="ko-KR" sz="1400" dirty="0">
                <a:solidFill>
                  <a:srgbClr val="FF0000"/>
                </a:solidFill>
              </a:rPr>
              <a:t>numbers[1 + 1], numbers[1 * 3]</a:t>
            </a:r>
            <a:r>
              <a:rPr lang="ko-KR" altLang="en-US" sz="1400" dirty="0">
                <a:solidFill>
                  <a:srgbClr val="FF0000"/>
                </a:solidFill>
              </a:rPr>
              <a:t>처럼 대괄호 안에 계산</a:t>
            </a:r>
          </a:p>
          <a:p>
            <a:r>
              <a:rPr lang="ko-KR" altLang="en-US" sz="1400" dirty="0">
                <a:solidFill>
                  <a:srgbClr val="FF0000"/>
                </a:solidFill>
              </a:rPr>
              <a:t>식을 넣을 수도 있음</a:t>
            </a:r>
          </a:p>
        </p:txBody>
      </p:sp>
    </p:spTree>
    <p:extLst>
      <p:ext uri="{BB962C8B-B14F-4D97-AF65-F5344CB8AC3E}">
        <p14:creationId xmlns:p14="http://schemas.microsoft.com/office/powerpoint/2010/main" val="185029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4-1</a:t>
            </a:r>
            <a:r>
              <a:rPr lang="ko-KR" altLang="en-US" dirty="0"/>
              <a:t> 배열</a:t>
            </a:r>
            <a:r>
              <a:rPr lang="en-US" altLang="ko-KR" sz="2400" dirty="0"/>
              <a:t>(4)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배열 요소 개수 확인하기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3204797"/>
              </p:ext>
            </p:extLst>
          </p:nvPr>
        </p:nvGraphicFramePr>
        <p:xfrm>
          <a:off x="1524000" y="1397203"/>
          <a:ext cx="29659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9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배열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.length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1D8E302C-C8A6-41CB-880C-0B55DC75B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489218"/>
              </p:ext>
            </p:extLst>
          </p:nvPr>
        </p:nvGraphicFramePr>
        <p:xfrm>
          <a:off x="1523999" y="1979398"/>
          <a:ext cx="4736123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6123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fruits = ['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키위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fruits.length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fruits[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fruits.length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- 1]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4FE5EA76-734C-4941-9F2C-DBDE2936AB27}"/>
              </a:ext>
            </a:extLst>
          </p:cNvPr>
          <p:cNvSpPr txBox="1"/>
          <p:nvPr/>
        </p:nvSpPr>
        <p:spPr>
          <a:xfrm>
            <a:off x="5878173" y="2056369"/>
            <a:ext cx="4612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dirty="0">
                <a:solidFill>
                  <a:srgbClr val="FF0000"/>
                </a:solidFill>
              </a:rPr>
              <a:t>배열 이름을 복수형으로 </a:t>
            </a:r>
            <a:r>
              <a:rPr lang="ko-KR" altLang="en-US" sz="1400" dirty="0">
                <a:solidFill>
                  <a:srgbClr val="FF0000"/>
                </a:solidFill>
              </a:rPr>
              <a:t>작성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3751B8-B5DE-4999-8D29-AE71AD6DBA31}"/>
              </a:ext>
            </a:extLst>
          </p:cNvPr>
          <p:cNvSpPr txBox="1"/>
          <p:nvPr/>
        </p:nvSpPr>
        <p:spPr>
          <a:xfrm>
            <a:off x="5878173" y="2740395"/>
            <a:ext cx="4612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4 </a:t>
            </a:r>
            <a:r>
              <a:rPr lang="ko-KR" altLang="en-US" sz="1400" b="0" dirty="0">
                <a:solidFill>
                  <a:srgbClr val="FF0000"/>
                </a:solidFill>
              </a:rPr>
              <a:t>배열 </a:t>
            </a:r>
            <a:r>
              <a:rPr lang="en-US" altLang="ko-KR" sz="1400" b="0" dirty="0">
                <a:solidFill>
                  <a:srgbClr val="FF0000"/>
                </a:solidFill>
              </a:rPr>
              <a:t>fruits</a:t>
            </a:r>
            <a:r>
              <a:rPr lang="ko-KR" altLang="en-US" sz="1400" b="0" dirty="0">
                <a:solidFill>
                  <a:srgbClr val="FF0000"/>
                </a:solidFill>
              </a:rPr>
              <a:t>에 </a:t>
            </a:r>
            <a:r>
              <a:rPr lang="en-US" altLang="ko-KR" sz="1400" b="0" dirty="0">
                <a:solidFill>
                  <a:srgbClr val="FF0000"/>
                </a:solidFill>
              </a:rPr>
              <a:t>4</a:t>
            </a:r>
            <a:r>
              <a:rPr lang="ko-KR" altLang="en-US" sz="1400" b="0" dirty="0">
                <a:solidFill>
                  <a:srgbClr val="FF0000"/>
                </a:solidFill>
              </a:rPr>
              <a:t>개의 요소가 들어있으므로 </a:t>
            </a:r>
            <a:r>
              <a:rPr lang="en-US" altLang="ko-KR" sz="1400" b="0" dirty="0">
                <a:solidFill>
                  <a:srgbClr val="FF0000"/>
                </a:solidFill>
              </a:rPr>
              <a:t>4</a:t>
            </a:r>
            <a:r>
              <a:rPr lang="ko-KR" altLang="en-US" sz="1400" b="0" dirty="0">
                <a:solidFill>
                  <a:srgbClr val="FF0000"/>
                </a:solidFill>
              </a:rPr>
              <a:t>를 출력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A93CBC-4278-48C6-A63A-0B22AE601015}"/>
              </a:ext>
            </a:extLst>
          </p:cNvPr>
          <p:cNvSpPr txBox="1"/>
          <p:nvPr/>
        </p:nvSpPr>
        <p:spPr>
          <a:xfrm>
            <a:off x="5878173" y="3502052"/>
            <a:ext cx="46126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fruits[4-1], </a:t>
            </a:r>
            <a:r>
              <a:rPr lang="ko-KR" altLang="en-US" sz="1400" dirty="0">
                <a:solidFill>
                  <a:srgbClr val="FF0000"/>
                </a:solidFill>
              </a:rPr>
              <a:t>배열의 </a:t>
            </a:r>
            <a:r>
              <a:rPr lang="en-US" altLang="ko-KR" sz="1400" dirty="0">
                <a:solidFill>
                  <a:srgbClr val="FF0000"/>
                </a:solidFill>
              </a:rPr>
              <a:t>3</a:t>
            </a:r>
            <a:r>
              <a:rPr lang="ko-KR" altLang="en-US" sz="1400" dirty="0">
                <a:solidFill>
                  <a:srgbClr val="FF0000"/>
                </a:solidFill>
              </a:rPr>
              <a:t>번째 요소인 “바나나”를 출력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F4717AF-2EF0-4E42-95E6-113E8D4A4611}"/>
              </a:ext>
            </a:extLst>
          </p:cNvPr>
          <p:cNvCxnSpPr>
            <a:cxnSpLocks/>
          </p:cNvCxnSpPr>
          <p:nvPr/>
        </p:nvCxnSpPr>
        <p:spPr>
          <a:xfrm>
            <a:off x="5416062" y="2151642"/>
            <a:ext cx="3516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CF96CE-4FDD-429C-AE7C-17F22D6F390B}"/>
              </a:ext>
            </a:extLst>
          </p:cNvPr>
          <p:cNvCxnSpPr>
            <a:cxnSpLocks/>
          </p:cNvCxnSpPr>
          <p:nvPr/>
        </p:nvCxnSpPr>
        <p:spPr>
          <a:xfrm>
            <a:off x="3282462" y="2894283"/>
            <a:ext cx="2485292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6165D0E-B566-4523-85FE-DB5DE6D2BA1A}"/>
              </a:ext>
            </a:extLst>
          </p:cNvPr>
          <p:cNvCxnSpPr>
            <a:cxnSpLocks/>
          </p:cNvCxnSpPr>
          <p:nvPr/>
        </p:nvCxnSpPr>
        <p:spPr>
          <a:xfrm>
            <a:off x="3892060" y="3655940"/>
            <a:ext cx="1875694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783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4-1</a:t>
            </a:r>
            <a:r>
              <a:rPr lang="ko-KR" altLang="en-US" dirty="0"/>
              <a:t> 배열</a:t>
            </a:r>
            <a:r>
              <a:rPr lang="en-US" altLang="ko-KR" sz="2400" dirty="0"/>
              <a:t>(5)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10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배열 뒷부분에 요소 추가하기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push()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메소드를 사용해 배열 뒷부분에 요소 추가하기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429813"/>
              </p:ext>
            </p:extLst>
          </p:nvPr>
        </p:nvGraphicFramePr>
        <p:xfrm>
          <a:off x="1524000" y="1643387"/>
          <a:ext cx="29659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59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배열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.push(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요소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1D8E302C-C8A6-41CB-880C-0B55DC75B4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75471"/>
              </p:ext>
            </p:extLst>
          </p:nvPr>
        </p:nvGraphicFramePr>
        <p:xfrm>
          <a:off x="1524000" y="2283756"/>
          <a:ext cx="9272954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72954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['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우유 구매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업무 메일 확인하기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필라테스 수업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(3)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우유 구매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업무 메일 확인하기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필라테스 수업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todos.push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저녁 식사 준비하기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todos.push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피아노 연습하기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(5)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우유 구매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업무 메일 확인하기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필라테스 수업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저녁 식사 준비하기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피아노 연습하기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E1F87DF-FC0A-4D99-9064-6A0691963988}"/>
              </a:ext>
            </a:extLst>
          </p:cNvPr>
          <p:cNvSpPr txBox="1"/>
          <p:nvPr/>
        </p:nvSpPr>
        <p:spPr>
          <a:xfrm>
            <a:off x="5539626" y="3531577"/>
            <a:ext cx="37122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push() </a:t>
            </a:r>
            <a:r>
              <a:rPr lang="ko-KR" altLang="en-US" sz="1400" dirty="0">
                <a:solidFill>
                  <a:srgbClr val="FF0000"/>
                </a:solidFill>
              </a:rPr>
              <a:t>메소드로 요소가 추가되어 기존 요소</a:t>
            </a:r>
          </a:p>
          <a:p>
            <a:r>
              <a:rPr lang="ko-KR" altLang="en-US" sz="1400" dirty="0">
                <a:solidFill>
                  <a:srgbClr val="FF0000"/>
                </a:solidFill>
              </a:rPr>
              <a:t>개수에서 추가된 요소 개수가 출력</a:t>
            </a:r>
          </a:p>
        </p:txBody>
      </p:sp>
      <p:sp>
        <p:nvSpPr>
          <p:cNvPr id="8" name="Right Bracket 7">
            <a:extLst>
              <a:ext uri="{FF2B5EF4-FFF2-40B4-BE49-F238E27FC236}">
                <a16:creationId xmlns:a16="http://schemas.microsoft.com/office/drawing/2014/main" id="{42ED6787-2084-4480-A6F5-23791FAB218D}"/>
              </a:ext>
            </a:extLst>
          </p:cNvPr>
          <p:cNvSpPr/>
          <p:nvPr/>
        </p:nvSpPr>
        <p:spPr>
          <a:xfrm>
            <a:off x="4620400" y="3415118"/>
            <a:ext cx="175848" cy="756138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5C2CAD-0E9C-429D-8D39-225546A2A653}"/>
              </a:ext>
            </a:extLst>
          </p:cNvPr>
          <p:cNvCxnSpPr/>
          <p:nvPr/>
        </p:nvCxnSpPr>
        <p:spPr>
          <a:xfrm>
            <a:off x="4796248" y="3793187"/>
            <a:ext cx="5377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69A3654-0F3A-48E3-9D53-A2681DF8708D}"/>
              </a:ext>
            </a:extLst>
          </p:cNvPr>
          <p:cNvSpPr txBox="1"/>
          <p:nvPr/>
        </p:nvSpPr>
        <p:spPr>
          <a:xfrm>
            <a:off x="6934200" y="4992272"/>
            <a:ext cx="34993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뒷부분에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2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개의 요소가 추가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5E8DEE9-E3DC-4563-ACE3-710202A209ED}"/>
              </a:ext>
            </a:extLst>
          </p:cNvPr>
          <p:cNvCxnSpPr/>
          <p:nvPr/>
        </p:nvCxnSpPr>
        <p:spPr>
          <a:xfrm>
            <a:off x="6600092" y="4760133"/>
            <a:ext cx="355209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DC3B7C-93BE-4248-84A0-23BC89422ED3}"/>
              </a:ext>
            </a:extLst>
          </p:cNvPr>
          <p:cNvCxnSpPr/>
          <p:nvPr/>
        </p:nvCxnSpPr>
        <p:spPr>
          <a:xfrm>
            <a:off x="8475785" y="4778427"/>
            <a:ext cx="0" cy="168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115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4-1</a:t>
            </a:r>
            <a:r>
              <a:rPr lang="ko-KR" altLang="en-US" dirty="0"/>
              <a:t> 배열</a:t>
            </a:r>
            <a:r>
              <a:rPr lang="en-US" altLang="ko-KR" sz="2400" dirty="0"/>
              <a:t>(6)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11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배열 뒷부분에 요소 추가하기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인덱스를 사용해 배열 뒷부분에 요소 추가하기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928268"/>
              </p:ext>
            </p:extLst>
          </p:nvPr>
        </p:nvGraphicFramePr>
        <p:xfrm>
          <a:off x="1524000" y="1643387"/>
          <a:ext cx="418513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1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fruitsA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['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fruitsA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[10] =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 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fruitsA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(11)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empty × 7,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E1F87DF-FC0A-4D99-9064-6A0691963988}"/>
              </a:ext>
            </a:extLst>
          </p:cNvPr>
          <p:cNvSpPr txBox="1"/>
          <p:nvPr/>
        </p:nvSpPr>
        <p:spPr>
          <a:xfrm>
            <a:off x="5026346" y="2174001"/>
            <a:ext cx="3712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배열 </a:t>
            </a:r>
            <a:r>
              <a:rPr lang="en-US" altLang="ko-KR" sz="1400" dirty="0">
                <a:solidFill>
                  <a:srgbClr val="FF0000"/>
                </a:solidFill>
              </a:rPr>
              <a:t>10</a:t>
            </a:r>
            <a:r>
              <a:rPr lang="ko-KR" altLang="en-US" sz="1400" dirty="0">
                <a:solidFill>
                  <a:srgbClr val="FF0000"/>
                </a:solidFill>
              </a:rPr>
              <a:t>번째 인덱스에 “귤”을 추가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5C2CAD-0E9C-429D-8D39-225546A2A653}"/>
              </a:ext>
            </a:extLst>
          </p:cNvPr>
          <p:cNvCxnSpPr>
            <a:cxnSpLocks/>
          </p:cNvCxnSpPr>
          <p:nvPr/>
        </p:nvCxnSpPr>
        <p:spPr>
          <a:xfrm>
            <a:off x="3922125" y="2285094"/>
            <a:ext cx="989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69A3654-0F3A-48E3-9D53-A2681DF8708D}"/>
              </a:ext>
            </a:extLst>
          </p:cNvPr>
          <p:cNvSpPr txBox="1"/>
          <p:nvPr/>
        </p:nvSpPr>
        <p:spPr>
          <a:xfrm>
            <a:off x="5531757" y="4054764"/>
            <a:ext cx="44545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PCSJUS+RixVeryGoodPM"/>
              </a:rPr>
              <a:t>fruitsB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의 요소는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3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개이므로 </a:t>
            </a:r>
            <a:r>
              <a:rPr lang="en-US" altLang="ko-KR" sz="1400" b="0" i="0" u="none" strike="noStrike" baseline="0" dirty="0" err="1">
                <a:solidFill>
                  <a:srgbClr val="FF0000"/>
                </a:solidFill>
                <a:latin typeface="PCSJUS+RixVeryGoodPM"/>
              </a:rPr>
              <a:t>fruitsB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[3]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에 “귤”을 추가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900C61FE-0B44-48E1-847F-F5629B22DC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000511"/>
              </p:ext>
            </p:extLst>
          </p:nvPr>
        </p:nvGraphicFramePr>
        <p:xfrm>
          <a:off x="1524000" y="3552963"/>
          <a:ext cx="418513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1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fruitsB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['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fruitsB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fruitsB.length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] =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'.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fruitsB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(4)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3E4B231-6D91-4007-BBD9-C04AB287C9C4}"/>
              </a:ext>
            </a:extLst>
          </p:cNvPr>
          <p:cNvCxnSpPr>
            <a:cxnSpLocks/>
          </p:cNvCxnSpPr>
          <p:nvPr/>
        </p:nvCxnSpPr>
        <p:spPr>
          <a:xfrm>
            <a:off x="4355878" y="4219401"/>
            <a:ext cx="989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6663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5B93F45F-E95B-41FE-8D6D-EA47CF7AC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430201"/>
              </p:ext>
            </p:extLst>
          </p:nvPr>
        </p:nvGraphicFramePr>
        <p:xfrm>
          <a:off x="1524000" y="2308675"/>
          <a:ext cx="4185138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1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itemsA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['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itemsA.splice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(2, 1).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itemsA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(2)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4-1</a:t>
            </a:r>
            <a:r>
              <a:rPr lang="ko-KR" altLang="en-US" dirty="0"/>
              <a:t> 배열</a:t>
            </a:r>
            <a:r>
              <a:rPr lang="en-US" altLang="ko-KR" sz="2400" dirty="0"/>
              <a:t>(7)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12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배열 요소 제거하기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인덱스로 요소 제거하기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074109"/>
              </p:ext>
            </p:extLst>
          </p:nvPr>
        </p:nvGraphicFramePr>
        <p:xfrm>
          <a:off x="1524000" y="1643387"/>
          <a:ext cx="41851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1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배열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.splice(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인덱스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제거할 요소의 개수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E1F87DF-FC0A-4D99-9064-6A0691963988}"/>
              </a:ext>
            </a:extLst>
          </p:cNvPr>
          <p:cNvSpPr txBox="1"/>
          <p:nvPr/>
        </p:nvSpPr>
        <p:spPr>
          <a:xfrm>
            <a:off x="4889995" y="3111261"/>
            <a:ext cx="3712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배열의 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번째 인덱스로부터 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개 요소를 제거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5C2CAD-0E9C-429D-8D39-225546A2A653}"/>
              </a:ext>
            </a:extLst>
          </p:cNvPr>
          <p:cNvCxnSpPr>
            <a:cxnSpLocks/>
          </p:cNvCxnSpPr>
          <p:nvPr/>
        </p:nvCxnSpPr>
        <p:spPr>
          <a:xfrm>
            <a:off x="3616569" y="3241703"/>
            <a:ext cx="989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C795994-1A7F-4D49-93AB-A9FF782AFD39}"/>
              </a:ext>
            </a:extLst>
          </p:cNvPr>
          <p:cNvSpPr txBox="1"/>
          <p:nvPr/>
        </p:nvSpPr>
        <p:spPr>
          <a:xfrm>
            <a:off x="4889995" y="3334731"/>
            <a:ext cx="3712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제거된 요소가 배열로 리턴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0B06D-6E84-4D13-BA49-7B794852278A}"/>
              </a:ext>
            </a:extLst>
          </p:cNvPr>
          <p:cNvSpPr txBox="1"/>
          <p:nvPr/>
        </p:nvSpPr>
        <p:spPr>
          <a:xfrm>
            <a:off x="4902569" y="3865978"/>
            <a:ext cx="45062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배열의 값을 확인해보면 요소가 제거된 것을 알 수 있음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AE0BDD-4711-4A99-BEC9-8DEB7262473B}"/>
              </a:ext>
            </a:extLst>
          </p:cNvPr>
          <p:cNvCxnSpPr>
            <a:cxnSpLocks/>
          </p:cNvCxnSpPr>
          <p:nvPr/>
        </p:nvCxnSpPr>
        <p:spPr>
          <a:xfrm>
            <a:off x="3616569" y="3471306"/>
            <a:ext cx="989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09FBBA-1B27-492F-9F33-A2A99233A439}"/>
              </a:ext>
            </a:extLst>
          </p:cNvPr>
          <p:cNvCxnSpPr>
            <a:cxnSpLocks/>
          </p:cNvCxnSpPr>
          <p:nvPr/>
        </p:nvCxnSpPr>
        <p:spPr>
          <a:xfrm>
            <a:off x="3616569" y="3962526"/>
            <a:ext cx="9898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503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5B93F45F-E95B-41FE-8D6D-EA47CF7AC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412312"/>
              </p:ext>
            </p:extLst>
          </p:nvPr>
        </p:nvGraphicFramePr>
        <p:xfrm>
          <a:off x="1524000" y="2308675"/>
          <a:ext cx="4185138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1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itemsB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['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index =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itemsB.indexOf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index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itemsB.splice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(index, 1)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itemsB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(2)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itemsB.indexOf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-1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4-1</a:t>
            </a:r>
            <a:r>
              <a:rPr lang="ko-KR" altLang="en-US" dirty="0"/>
              <a:t> 배열</a:t>
            </a:r>
            <a:r>
              <a:rPr lang="en-US" altLang="ko-KR" sz="2400" dirty="0"/>
              <a:t>(8)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13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배열 요소 제거하기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값으로 요소 제거하기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006762"/>
              </p:ext>
            </p:extLst>
          </p:nvPr>
        </p:nvGraphicFramePr>
        <p:xfrm>
          <a:off x="1524000" y="1643387"/>
          <a:ext cx="4185138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1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const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인덱스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=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배열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indexOf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요소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배열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.splice(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인덱스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 1)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E1F87DF-FC0A-4D99-9064-6A0691963988}"/>
              </a:ext>
            </a:extLst>
          </p:cNvPr>
          <p:cNvSpPr txBox="1"/>
          <p:nvPr/>
        </p:nvSpPr>
        <p:spPr>
          <a:xfrm>
            <a:off x="4736123" y="3538296"/>
            <a:ext cx="4864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배열 내부에 바나나가 있으므로 해당 요소의 인덱스를 출력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F5C2CAD-0E9C-429D-8D39-225546A2A653}"/>
              </a:ext>
            </a:extLst>
          </p:cNvPr>
          <p:cNvCxnSpPr>
            <a:cxnSpLocks/>
          </p:cNvCxnSpPr>
          <p:nvPr/>
        </p:nvCxnSpPr>
        <p:spPr>
          <a:xfrm>
            <a:off x="2279343" y="3681413"/>
            <a:ext cx="24567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C795994-1A7F-4D49-93AB-A9FF782AFD39}"/>
              </a:ext>
            </a:extLst>
          </p:cNvPr>
          <p:cNvSpPr txBox="1"/>
          <p:nvPr/>
        </p:nvSpPr>
        <p:spPr>
          <a:xfrm>
            <a:off x="4736123" y="4089299"/>
            <a:ext cx="4864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배열의 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번째 인덱스에 있는 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개의 요소를 제거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0B06D-6E84-4D13-BA49-7B794852278A}"/>
              </a:ext>
            </a:extLst>
          </p:cNvPr>
          <p:cNvSpPr txBox="1"/>
          <p:nvPr/>
        </p:nvSpPr>
        <p:spPr>
          <a:xfrm>
            <a:off x="4736123" y="4530412"/>
            <a:ext cx="45062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배열에서 바나나가 제거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3AE0BDD-4711-4A99-BEC9-8DEB7262473B}"/>
              </a:ext>
            </a:extLst>
          </p:cNvPr>
          <p:cNvCxnSpPr>
            <a:cxnSpLocks/>
          </p:cNvCxnSpPr>
          <p:nvPr/>
        </p:nvCxnSpPr>
        <p:spPr>
          <a:xfrm>
            <a:off x="2871357" y="4223451"/>
            <a:ext cx="18647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009FBBA-1B27-492F-9F33-A2A99233A439}"/>
              </a:ext>
            </a:extLst>
          </p:cNvPr>
          <p:cNvCxnSpPr>
            <a:cxnSpLocks/>
          </p:cNvCxnSpPr>
          <p:nvPr/>
        </p:nvCxnSpPr>
        <p:spPr>
          <a:xfrm>
            <a:off x="3404757" y="4656056"/>
            <a:ext cx="13313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AE9789D-F089-488E-8641-E5D4E94010CC}"/>
              </a:ext>
            </a:extLst>
          </p:cNvPr>
          <p:cNvSpPr txBox="1"/>
          <p:nvPr/>
        </p:nvSpPr>
        <p:spPr>
          <a:xfrm>
            <a:off x="4736123" y="4994518"/>
            <a:ext cx="45062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바나나는 배열에 없으므로 </a:t>
            </a:r>
            <a:r>
              <a:rPr lang="en-US" altLang="ko-KR" sz="1400" dirty="0">
                <a:solidFill>
                  <a:srgbClr val="FF0000"/>
                </a:solidFill>
              </a:rPr>
              <a:t>-1</a:t>
            </a:r>
            <a:r>
              <a:rPr lang="ko-KR" altLang="en-US" sz="1400" dirty="0">
                <a:solidFill>
                  <a:srgbClr val="FF0000"/>
                </a:solidFill>
              </a:rPr>
              <a:t>을 출력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48DD66-90F0-42D4-B0D4-304E902C0161}"/>
              </a:ext>
            </a:extLst>
          </p:cNvPr>
          <p:cNvCxnSpPr>
            <a:cxnSpLocks/>
          </p:cNvCxnSpPr>
          <p:nvPr/>
        </p:nvCxnSpPr>
        <p:spPr>
          <a:xfrm>
            <a:off x="2254248" y="5176416"/>
            <a:ext cx="24818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2008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5B93F45F-E95B-41FE-8D6D-EA47CF7AC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1365154"/>
              </p:ext>
            </p:extLst>
          </p:nvPr>
        </p:nvGraphicFramePr>
        <p:xfrm>
          <a:off x="1523999" y="2308675"/>
          <a:ext cx="4506251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6251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itemsD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오렌지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itemsD.splice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(1, 0,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양파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[]</a:t>
                      </a: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itemsD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(5)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양파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오렌지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4-1</a:t>
            </a:r>
            <a:r>
              <a:rPr lang="ko-KR" altLang="en-US" dirty="0"/>
              <a:t> 배열</a:t>
            </a:r>
            <a:r>
              <a:rPr lang="en-US" altLang="ko-KR" sz="2400" dirty="0"/>
              <a:t>(8)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14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배열의 특정 위치에 요소 추가하기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값으로 요소 제거하기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530685"/>
              </p:ext>
            </p:extLst>
          </p:nvPr>
        </p:nvGraphicFramePr>
        <p:xfrm>
          <a:off x="1524000" y="1643387"/>
          <a:ext cx="41851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1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배열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.splice(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인덱스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 0,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요소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AE9789D-F089-488E-8641-E5D4E94010CC}"/>
              </a:ext>
            </a:extLst>
          </p:cNvPr>
          <p:cNvSpPr txBox="1"/>
          <p:nvPr/>
        </p:nvSpPr>
        <p:spPr>
          <a:xfrm>
            <a:off x="6482863" y="4049512"/>
            <a:ext cx="289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번째 인덱스에 양파가 추가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48DD66-90F0-42D4-B0D4-304E902C0161}"/>
              </a:ext>
            </a:extLst>
          </p:cNvPr>
          <p:cNvCxnSpPr>
            <a:cxnSpLocks/>
          </p:cNvCxnSpPr>
          <p:nvPr/>
        </p:nvCxnSpPr>
        <p:spPr>
          <a:xfrm>
            <a:off x="5583602" y="4203401"/>
            <a:ext cx="7703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683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좀 더 알아보기①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자료 처리 연산자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함수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메소드는 크게 비파괴적 처리와 파괴적 처리로 구분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800" b="0" i="0" u="none" strike="noStrike" baseline="0" dirty="0">
                <a:solidFill>
                  <a:srgbClr val="000000"/>
                </a:solidFill>
              </a:rPr>
              <a:t>비파괴적 처리</a:t>
            </a:r>
            <a:endParaRPr lang="en-US" altLang="ko-KR" sz="1800" b="0" i="0" u="none" strike="noStrike" baseline="0" dirty="0">
              <a:solidFill>
                <a:srgbClr val="000000"/>
              </a:solidFill>
            </a:endParaRPr>
          </a:p>
          <a:p>
            <a:pPr lvl="1"/>
            <a:endParaRPr lang="en-US" altLang="ko-KR" dirty="0">
              <a:solidFill>
                <a:srgbClr val="000000"/>
              </a:solidFill>
            </a:endParaRPr>
          </a:p>
          <a:p>
            <a:pPr lvl="1"/>
            <a:endParaRPr lang="en-US" altLang="ko-KR" sz="1800" b="0" i="0" u="none" strike="noStrike" baseline="0" dirty="0">
              <a:solidFill>
                <a:srgbClr val="000000"/>
              </a:solidFill>
            </a:endParaRPr>
          </a:p>
          <a:p>
            <a:pPr lvl="1"/>
            <a:endParaRPr lang="en-US" altLang="ko-KR" dirty="0">
              <a:solidFill>
                <a:srgbClr val="000000"/>
              </a:solidFill>
            </a:endParaRPr>
          </a:p>
          <a:p>
            <a:pPr lvl="1"/>
            <a:endParaRPr lang="en-US" altLang="ko-KR" sz="1800" b="0" i="0" u="none" strike="noStrike" baseline="0" dirty="0">
              <a:solidFill>
                <a:srgbClr val="000000"/>
              </a:solidFill>
            </a:endParaRPr>
          </a:p>
          <a:p>
            <a:pPr lvl="1"/>
            <a:endParaRPr lang="en-US" altLang="ko-KR" dirty="0">
              <a:solidFill>
                <a:srgbClr val="000000"/>
              </a:solidFill>
            </a:endParaRPr>
          </a:p>
          <a:p>
            <a:pPr lvl="1"/>
            <a:endParaRPr lang="en-US" altLang="ko-KR" sz="1800" b="0" i="0" u="none" strike="noStrike" baseline="0" dirty="0">
              <a:solidFill>
                <a:srgbClr val="000000"/>
              </a:solidFill>
            </a:endParaRPr>
          </a:p>
          <a:p>
            <a:pPr lvl="1"/>
            <a:endParaRPr lang="en-US" altLang="ko-KR" dirty="0">
              <a:solidFill>
                <a:srgbClr val="000000"/>
              </a:solidFill>
            </a:endParaRPr>
          </a:p>
          <a:p>
            <a:pPr lvl="1"/>
            <a:r>
              <a:rPr lang="ko-KR" altLang="en-US" sz="1800" b="0" i="0" u="none" strike="noStrike" baseline="0" dirty="0">
                <a:solidFill>
                  <a:srgbClr val="000000"/>
                </a:solidFill>
              </a:rPr>
              <a:t>메모리가 여유로운 현대의 프로그래밍 언어와 라이브러리는 자료 보호를 위해서 대부분 </a:t>
            </a:r>
            <a:r>
              <a:rPr lang="en-US" altLang="ko-KR" sz="1800" b="0" i="0" u="none" strike="noStrike" baseline="0" dirty="0">
                <a:solidFill>
                  <a:srgbClr val="000000"/>
                </a:solidFill>
              </a:rPr>
              <a:t/>
            </a:r>
            <a:br>
              <a:rPr lang="en-US" altLang="ko-KR" sz="1800" b="0" i="0" u="none" strike="noStrike" baseline="0" dirty="0">
                <a:solidFill>
                  <a:srgbClr val="000000"/>
                </a:solidFill>
              </a:rPr>
            </a:br>
            <a:r>
              <a:rPr lang="ko-KR" altLang="en-US" sz="1800" b="0" i="0" u="none" strike="noStrike" baseline="0" dirty="0">
                <a:solidFill>
                  <a:srgbClr val="000000"/>
                </a:solidFill>
              </a:rPr>
              <a:t>비파괴적 처리를 수행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956976"/>
              </p:ext>
            </p:extLst>
          </p:nvPr>
        </p:nvGraphicFramePr>
        <p:xfrm>
          <a:off x="1524000" y="1798398"/>
          <a:ext cx="256925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9259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a =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안녕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b =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하세요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c = a + b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안녕하세요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a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안녕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b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하세요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AE9789D-F089-488E-8641-E5D4E94010CC}"/>
              </a:ext>
            </a:extLst>
          </p:cNvPr>
          <p:cNvSpPr txBox="1"/>
          <p:nvPr/>
        </p:nvSpPr>
        <p:spPr>
          <a:xfrm>
            <a:off x="3733262" y="3416468"/>
            <a:ext cx="289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원본 내용이 변경되지 않음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48DD66-90F0-42D4-B0D4-304E902C0161}"/>
              </a:ext>
            </a:extLst>
          </p:cNvPr>
          <p:cNvCxnSpPr>
            <a:cxnSpLocks/>
          </p:cNvCxnSpPr>
          <p:nvPr/>
        </p:nvCxnSpPr>
        <p:spPr>
          <a:xfrm>
            <a:off x="2696308" y="3570357"/>
            <a:ext cx="7703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25F4F3-8E19-4499-8429-7CFFCF158CB1}"/>
              </a:ext>
            </a:extLst>
          </p:cNvPr>
          <p:cNvSpPr txBox="1"/>
          <p:nvPr/>
        </p:nvSpPr>
        <p:spPr>
          <a:xfrm>
            <a:off x="4384433" y="2322369"/>
            <a:ext cx="289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문자열을 연결하는 처리 수행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FE284A-ACCA-458A-BE6C-0810514F187F}"/>
              </a:ext>
            </a:extLst>
          </p:cNvPr>
          <p:cNvCxnSpPr>
            <a:cxnSpLocks/>
          </p:cNvCxnSpPr>
          <p:nvPr/>
        </p:nvCxnSpPr>
        <p:spPr>
          <a:xfrm>
            <a:off x="3348109" y="2480677"/>
            <a:ext cx="7703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2074936-2D5A-47A2-9D97-96592728DD5D}"/>
              </a:ext>
            </a:extLst>
          </p:cNvPr>
          <p:cNvSpPr txBox="1"/>
          <p:nvPr/>
        </p:nvSpPr>
        <p:spPr>
          <a:xfrm>
            <a:off x="4679741" y="1801328"/>
            <a:ext cx="289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변수를 선언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340D15-C83E-41FD-A872-BDDCB2EB0E95}"/>
              </a:ext>
            </a:extLst>
          </p:cNvPr>
          <p:cNvCxnSpPr>
            <a:cxnSpLocks/>
          </p:cNvCxnSpPr>
          <p:nvPr/>
        </p:nvCxnSpPr>
        <p:spPr>
          <a:xfrm>
            <a:off x="3708106" y="1955217"/>
            <a:ext cx="7703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ight Bracket 4">
            <a:extLst>
              <a:ext uri="{FF2B5EF4-FFF2-40B4-BE49-F238E27FC236}">
                <a16:creationId xmlns:a16="http://schemas.microsoft.com/office/drawing/2014/main" id="{2A7A9126-9F36-4870-A66A-19B355101FD6}"/>
              </a:ext>
            </a:extLst>
          </p:cNvPr>
          <p:cNvSpPr/>
          <p:nvPr/>
        </p:nvSpPr>
        <p:spPr>
          <a:xfrm>
            <a:off x="2539554" y="3188680"/>
            <a:ext cx="156754" cy="810228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020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좀 더 알아보기②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자료 처리 연산자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함수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메소드는 크게 비파괴적 처리와 파괴적 처리로 구분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800" b="0" i="0" u="none" strike="noStrike" baseline="0" dirty="0">
                <a:solidFill>
                  <a:srgbClr val="000000"/>
                </a:solidFill>
              </a:rPr>
              <a:t>파괴적 처리 </a:t>
            </a:r>
            <a:endParaRPr lang="en-US" altLang="ko-KR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0870747"/>
              </p:ext>
            </p:extLst>
          </p:nvPr>
        </p:nvGraphicFramePr>
        <p:xfrm>
          <a:off x="1524000" y="1798398"/>
          <a:ext cx="3821723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1723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array =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 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array.push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array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(4)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AE9789D-F089-488E-8641-E5D4E94010CC}"/>
              </a:ext>
            </a:extLst>
          </p:cNvPr>
          <p:cNvSpPr txBox="1"/>
          <p:nvPr/>
        </p:nvSpPr>
        <p:spPr>
          <a:xfrm>
            <a:off x="5532191" y="2826989"/>
            <a:ext cx="289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원본</a:t>
            </a:r>
            <a:r>
              <a:rPr lang="en-US" altLang="ko-KR" sz="1400" dirty="0">
                <a:solidFill>
                  <a:srgbClr val="FF0000"/>
                </a:solidFill>
              </a:rPr>
              <a:t>(array) </a:t>
            </a:r>
            <a:r>
              <a:rPr lang="ko-KR" altLang="en-US" sz="1400" dirty="0">
                <a:solidFill>
                  <a:srgbClr val="FF0000"/>
                </a:solidFill>
              </a:rPr>
              <a:t>내용이 변경됨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48DD66-90F0-42D4-B0D4-304E902C0161}"/>
              </a:ext>
            </a:extLst>
          </p:cNvPr>
          <p:cNvCxnSpPr>
            <a:cxnSpLocks/>
          </p:cNvCxnSpPr>
          <p:nvPr/>
        </p:nvCxnSpPr>
        <p:spPr>
          <a:xfrm>
            <a:off x="4606068" y="2980878"/>
            <a:ext cx="7703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D25F4F3-8E19-4499-8429-7CFFCF158CB1}"/>
              </a:ext>
            </a:extLst>
          </p:cNvPr>
          <p:cNvSpPr txBox="1"/>
          <p:nvPr/>
        </p:nvSpPr>
        <p:spPr>
          <a:xfrm>
            <a:off x="4606068" y="2094400"/>
            <a:ext cx="32745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배열 뒷부분에 요소를 추가하는 처리 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FE284A-ACCA-458A-BE6C-0810514F187F}"/>
              </a:ext>
            </a:extLst>
          </p:cNvPr>
          <p:cNvCxnSpPr>
            <a:cxnSpLocks/>
          </p:cNvCxnSpPr>
          <p:nvPr/>
        </p:nvCxnSpPr>
        <p:spPr>
          <a:xfrm>
            <a:off x="3617740" y="2242890"/>
            <a:ext cx="7703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2074936-2D5A-47A2-9D97-96592728DD5D}"/>
              </a:ext>
            </a:extLst>
          </p:cNvPr>
          <p:cNvSpPr txBox="1"/>
          <p:nvPr/>
        </p:nvSpPr>
        <p:spPr>
          <a:xfrm>
            <a:off x="6096000" y="1798398"/>
            <a:ext cx="289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변수를 선언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340D15-C83E-41FD-A872-BDDCB2EB0E95}"/>
              </a:ext>
            </a:extLst>
          </p:cNvPr>
          <p:cNvCxnSpPr>
            <a:cxnSpLocks/>
          </p:cNvCxnSpPr>
          <p:nvPr/>
        </p:nvCxnSpPr>
        <p:spPr>
          <a:xfrm>
            <a:off x="5107672" y="1940169"/>
            <a:ext cx="7703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237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마무리①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50326DBB-84FF-4A1B-8DC0-3DB3E669E9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F851B322-4058-4DCD-9EF7-105CCF1E2C10}"/>
              </a:ext>
            </a:extLst>
          </p:cNvPr>
          <p:cNvSpPr txBox="1">
            <a:spLocks/>
          </p:cNvSpPr>
          <p:nvPr/>
        </p:nvSpPr>
        <p:spPr>
          <a:xfrm>
            <a:off x="487015" y="815008"/>
            <a:ext cx="11281052" cy="499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4BB0A0"/>
              </a:buClr>
              <a:buFont typeface="시스템 서체"/>
              <a:buChar char="◦"/>
              <a:defRPr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시스템 서체"/>
              <a:buChar char="⁃"/>
              <a:defRPr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4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Myungjo100Std_OTF"/>
              </a:rPr>
              <a:t>가지 키워드로 정리하는 핵심 포인트</a:t>
            </a: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여러 개의 변수를 한 번에 선언해 다룰 수 있는 </a:t>
            </a:r>
            <a:r>
              <a:rPr lang="ko-KR" altLang="en-US" sz="1600" b="0" i="0" u="none" strike="noStrike" baseline="0" dirty="0" err="1" smtClean="0">
                <a:solidFill>
                  <a:srgbClr val="000000"/>
                </a:solidFill>
                <a:latin typeface="YoonV YoonMyungjo100Std_OTF"/>
              </a:rPr>
              <a:t>자료형을</a:t>
            </a:r>
            <a:r>
              <a:rPr lang="ko-KR" altLang="en-US" sz="1600" b="0" i="0" u="none" strike="noStrike" baseline="0" dirty="0" smtClean="0">
                <a:solidFill>
                  <a:srgbClr val="000000"/>
                </a:solidFill>
                <a:latin typeface="YoonV YoonMyungjo100Std_OTF"/>
              </a:rPr>
              <a:t>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배열이라 함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배열 내부에 있는 </a:t>
            </a:r>
            <a:r>
              <a:rPr lang="ko-KR" altLang="en-US" sz="1600" b="0" i="0" u="none" strike="noStrike" baseline="0" dirty="0" smtClean="0">
                <a:solidFill>
                  <a:srgbClr val="000000"/>
                </a:solidFill>
                <a:latin typeface="YoonV YoonMyungjo100Std_OTF"/>
              </a:rPr>
              <a:t>값은 요소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비파괴적 처리란 처리 후에 원본 내용이 변경되지 않는 처리를 의미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파괴적 처리란 처리 후에 원본 내용이 변경되는 처리를 의미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r>
              <a:rPr lang="ko-KR" altLang="en-US" dirty="0">
                <a:solidFill>
                  <a:srgbClr val="000000"/>
                </a:solidFill>
                <a:latin typeface="YoonV YoonMyungjo100Std_OTF"/>
              </a:rPr>
              <a:t>확인 문제</a:t>
            </a:r>
            <a:endParaRPr lang="en-US" altLang="ko-KR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다음 배열들의 </a:t>
            </a:r>
            <a:r>
              <a:rPr lang="en-US" altLang="ko-KR" sz="1600" dirty="0">
                <a:solidFill>
                  <a:srgbClr val="000000"/>
                </a:solidFill>
                <a:latin typeface="YoonV YoonMyungjo100Std_OTF"/>
              </a:rPr>
              <a:t>2</a:t>
            </a: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번째 인덱스에 있는 값을 </a:t>
            </a:r>
            <a:r>
              <a:rPr lang="ko-KR" altLang="en-US" sz="1600" dirty="0" smtClean="0">
                <a:solidFill>
                  <a:srgbClr val="000000"/>
                </a:solidFill>
                <a:latin typeface="YoonV YoonMyungjo100Std_OTF"/>
              </a:rPr>
              <a:t>찾아보기</a:t>
            </a:r>
            <a:endParaRPr lang="en-US" altLang="ko-KR" sz="1600" dirty="0">
              <a:solidFill>
                <a:srgbClr val="000000"/>
              </a:solidFill>
              <a:latin typeface="YoonV YoonMyungjo100Std_OTF"/>
            </a:endParaRPr>
          </a:p>
          <a:p>
            <a:pPr marL="914400" lvl="2" indent="0">
              <a:buNone/>
            </a:pPr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①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["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ITC Garamond Std Lt"/>
              </a:rPr>
              <a:t>1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", 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ITC Garamond Std Lt"/>
              </a:rPr>
              <a:t>2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", 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ITC Garamond Std Lt"/>
              </a:rPr>
              <a:t>3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", "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ITC Garamond Std Lt"/>
              </a:rPr>
              <a:t>4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"]        ② ["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Myungjo100Std_OTF"/>
              </a:rPr>
              <a:t>사과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", "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Myungjo100Std_OTF"/>
              </a:rPr>
              <a:t>배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", "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Myungjo100Std_OTF"/>
              </a:rPr>
              <a:t>바나나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", "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Myungjo100Std_OTF"/>
              </a:rPr>
              <a:t>귤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", "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Myungjo100Std_OTF"/>
              </a:rPr>
              <a:t>감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"]        ③ [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ITC Garamond Std Lt"/>
              </a:rPr>
              <a:t>52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ITC Garamond Std Lt"/>
              </a:rPr>
              <a:t>273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ITC Garamond Std Lt"/>
              </a:rPr>
              <a:t>32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ITC Garamond Std Lt"/>
              </a:rPr>
              <a:t>103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, 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ITC Garamond Std Lt"/>
              </a:rPr>
              <a:t>57</a:t>
            </a:r>
            <a:r>
              <a:rPr lang="en-US" altLang="ko-KR" b="0" i="0" u="none" strike="noStrike" baseline="0" dirty="0">
                <a:solidFill>
                  <a:srgbClr val="000000"/>
                </a:solidFill>
                <a:latin typeface="YoonV YoonMyungjo100Std_OTF"/>
              </a:rPr>
              <a:t>] </a:t>
            </a:r>
            <a:endParaRPr lang="en-US" altLang="ko-KR" dirty="0">
              <a:solidFill>
                <a:srgbClr val="000000"/>
              </a:solidFill>
              <a:latin typeface="YoonV YoonMyungjo100Std_OTF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YoonV YoonMyungjo100Std_OTF"/>
              </a:rPr>
              <a:t>다음 코드의 실행 결과를 예측</a:t>
            </a:r>
            <a:endParaRPr lang="en-US" altLang="ko-KR" dirty="0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2ED078F0-EE05-4A55-BD82-2E4DD2F3F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7972198"/>
              </p:ext>
            </p:extLst>
          </p:nvPr>
        </p:nvGraphicFramePr>
        <p:xfrm>
          <a:off x="1524000" y="4228849"/>
          <a:ext cx="3821723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1723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&lt;script&gt;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array = [1, 2, 3, 4]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console.log(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array.length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console.log(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array.push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(5))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7184E90F-DF68-484B-AC2F-7178BC26B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246" y="4098463"/>
            <a:ext cx="2274643" cy="212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631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마무리②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50326DBB-84FF-4A1B-8DC0-3DB3E669E9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F851B322-4058-4DCD-9EF7-105CCF1E2C10}"/>
              </a:ext>
            </a:extLst>
          </p:cNvPr>
          <p:cNvSpPr txBox="1">
            <a:spLocks/>
          </p:cNvSpPr>
          <p:nvPr/>
        </p:nvSpPr>
        <p:spPr>
          <a:xfrm>
            <a:off x="487015" y="815008"/>
            <a:ext cx="11281052" cy="499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4BB0A0"/>
              </a:buClr>
              <a:buFont typeface="시스템 서체"/>
              <a:buChar char="◦"/>
              <a:defRPr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시스템 서체"/>
              <a:buChar char="⁃"/>
              <a:defRPr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확인 문제</a:t>
            </a:r>
            <a:endParaRPr lang="en-US" altLang="ko-KR" dirty="0"/>
          </a:p>
          <a:p>
            <a:pPr marL="800100" lvl="1" indent="-342900">
              <a:buFont typeface="+mj-lt"/>
              <a:buAutoNum type="arabicPeriod" startAt="3"/>
            </a:pPr>
            <a:r>
              <a:rPr lang="ko-KR" altLang="en-US" sz="1600" dirty="0"/>
              <a:t>다음 표시된 함수들이 파괴적 처리를 하는지 비파괴적 처리를 하는지 구분해 맞는 것에 </a:t>
            </a:r>
            <a:r>
              <a:rPr lang="en-US" altLang="ko-KR" sz="1600" dirty="0"/>
              <a:t>O</a:t>
            </a:r>
            <a:r>
              <a:rPr lang="ko-KR" altLang="en-US" sz="1600" dirty="0"/>
              <a:t>표</a:t>
            </a:r>
            <a:endParaRPr lang="en-US" altLang="ko-KR" sz="1600" dirty="0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18CBA7CF-6D4C-4CD9-9B37-2BEC84E16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7106278"/>
              </p:ext>
            </p:extLst>
          </p:nvPr>
        </p:nvGraphicFramePr>
        <p:xfrm>
          <a:off x="1524000" y="2127293"/>
          <a:ext cx="3622431" cy="1762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2431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176273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strA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strA.split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(",")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(4)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strA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C2224A8-18BF-4781-9290-D496C8095514}"/>
              </a:ext>
            </a:extLst>
          </p:cNvPr>
          <p:cNvSpPr txBox="1"/>
          <p:nvPr/>
        </p:nvSpPr>
        <p:spPr>
          <a:xfrm>
            <a:off x="1395047" y="1719170"/>
            <a:ext cx="32297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① [</a:t>
            </a:r>
            <a:r>
              <a:rPr lang="ko-KR" altLang="en-US" sz="1600" dirty="0"/>
              <a:t>파괴적 처리 </a:t>
            </a:r>
            <a:r>
              <a:rPr lang="en-US" altLang="ko-KR" sz="1600" dirty="0"/>
              <a:t>/ </a:t>
            </a:r>
            <a:r>
              <a:rPr lang="ko-KR" altLang="en-US" sz="1600" dirty="0"/>
              <a:t>비파괴적 처리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4EB8E8-F613-4A5A-9838-36E4D7524454}"/>
              </a:ext>
            </a:extLst>
          </p:cNvPr>
          <p:cNvSpPr txBox="1"/>
          <p:nvPr/>
        </p:nvSpPr>
        <p:spPr>
          <a:xfrm>
            <a:off x="5855678" y="1715817"/>
            <a:ext cx="32297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② [</a:t>
            </a:r>
            <a:r>
              <a:rPr lang="ko-KR" altLang="en-US" sz="1600" dirty="0"/>
              <a:t>파괴적 처리 </a:t>
            </a:r>
            <a:r>
              <a:rPr lang="en-US" altLang="ko-KR" sz="1600" dirty="0"/>
              <a:t>/ </a:t>
            </a:r>
            <a:r>
              <a:rPr lang="ko-KR" altLang="en-US" sz="1600" dirty="0"/>
              <a:t>비파괴적 처리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77D37F-D6CD-4916-A542-E9E849DED03F}"/>
              </a:ext>
            </a:extLst>
          </p:cNvPr>
          <p:cNvSpPr txBox="1"/>
          <p:nvPr/>
        </p:nvSpPr>
        <p:spPr>
          <a:xfrm>
            <a:off x="1395047" y="4116529"/>
            <a:ext cx="32297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③ [</a:t>
            </a:r>
            <a:r>
              <a:rPr lang="ko-KR" altLang="en-US" sz="1600" dirty="0"/>
              <a:t>파괴적 처리 </a:t>
            </a:r>
            <a:r>
              <a:rPr lang="en-US" altLang="ko-KR" sz="1600" dirty="0"/>
              <a:t>/ </a:t>
            </a:r>
            <a:r>
              <a:rPr lang="ko-KR" altLang="en-US" sz="1600" dirty="0"/>
              <a:t>비파괴적 처리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CDB8A3-37CE-48A4-8961-F04073AAB038}"/>
              </a:ext>
            </a:extLst>
          </p:cNvPr>
          <p:cNvSpPr txBox="1"/>
          <p:nvPr/>
        </p:nvSpPr>
        <p:spPr>
          <a:xfrm>
            <a:off x="5891981" y="4116529"/>
            <a:ext cx="32297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④ [</a:t>
            </a:r>
            <a:r>
              <a:rPr lang="ko-KR" altLang="en-US" sz="1600" dirty="0"/>
              <a:t>파괴적 처리 </a:t>
            </a:r>
            <a:r>
              <a:rPr lang="en-US" altLang="ko-KR" sz="1600" dirty="0"/>
              <a:t>/ </a:t>
            </a:r>
            <a:r>
              <a:rPr lang="ko-KR" altLang="en-US" sz="1600" dirty="0"/>
              <a:t>비파괴적 처리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F8564656-EFDB-4076-A952-223E72BA2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118727"/>
              </p:ext>
            </p:extLst>
          </p:nvPr>
        </p:nvGraphicFramePr>
        <p:xfrm>
          <a:off x="5984998" y="2091711"/>
          <a:ext cx="3622431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2431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arrayB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arrayB.push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감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arrayB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(5) ["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", 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감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"]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51D5FFD5-DB02-4829-9E44-7AA8E929E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883889"/>
              </p:ext>
            </p:extLst>
          </p:nvPr>
        </p:nvGraphicFramePr>
        <p:xfrm>
          <a:off x="1524000" y="4488512"/>
          <a:ext cx="3622431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2431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arrayC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[1, 2, 3, 4, 5]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arrayC.map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((x) =&gt; x * x)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(5) [1, 4, 9, 16, 25]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arrayC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(5) [1, 2, 3, 4, 5]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graphicFrame>
        <p:nvGraphicFramePr>
          <p:cNvPr id="20" name="Table 4">
            <a:extLst>
              <a:ext uri="{FF2B5EF4-FFF2-40B4-BE49-F238E27FC236}">
                <a16:creationId xmlns:a16="http://schemas.microsoft.com/office/drawing/2014/main" id="{26BB6539-2F0F-4049-909D-3EF65BA23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081121"/>
              </p:ext>
            </p:extLst>
          </p:nvPr>
        </p:nvGraphicFramePr>
        <p:xfrm>
          <a:off x="5984998" y="4452929"/>
          <a:ext cx="3622431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2431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const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strD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"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여백이 포함된 메시지 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undefined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strD.trim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여백이 포함된 메시지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&gt;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strD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" </a:t>
                      </a:r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여백이 포함된 메시지 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"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909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5B93F45F-E95B-41FE-8D6D-EA47CF7AC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618486"/>
              </p:ext>
            </p:extLst>
          </p:nvPr>
        </p:nvGraphicFramePr>
        <p:xfrm>
          <a:off x="1514230" y="3177540"/>
          <a:ext cx="6165448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6544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02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['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우유 구매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업무 메일 확인하기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필라테스 수업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(const i in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baseline="0" dirty="0" smtClean="0">
                          <a:solidFill>
                            <a:sysClr val="windowText" lastClr="000000"/>
                          </a:solidFill>
                        </a:rPr>
                        <a:t>   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console.log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(`${i}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번째 할 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: ${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]}`)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06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(1)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for in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반복문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배열 요소를 하나하나 꺼내서 특정 문장을 실행할 때 사용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for in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반복문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4-2-1.html)</a:t>
            </a: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425185"/>
              </p:ext>
            </p:extLst>
          </p:nvPr>
        </p:nvGraphicFramePr>
        <p:xfrm>
          <a:off x="1524000" y="1643387"/>
          <a:ext cx="418513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1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for (const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반복 변수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in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배열 또는 객체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 {</a:t>
                      </a:r>
                    </a:p>
                    <a:p>
                      <a:pPr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  문장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}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3F111FF-821D-4D46-BCF5-9A2290A07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2185" y="3177540"/>
            <a:ext cx="3766011" cy="16933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DFB6E0-DB9F-4B3F-A847-81C7F2C6B9BB}"/>
              </a:ext>
            </a:extLst>
          </p:cNvPr>
          <p:cNvSpPr txBox="1"/>
          <p:nvPr/>
        </p:nvSpPr>
        <p:spPr>
          <a:xfrm>
            <a:off x="1514229" y="5366853"/>
            <a:ext cx="89662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※ for in </a:t>
            </a:r>
            <a:r>
              <a:rPr lang="ko-KR" altLang="en-US" sz="1400" dirty="0"/>
              <a:t>반복문은 구문 자체로 코드의 양이 어느 정도 있어서 코드를 하나하나 입력하는 것이 힘들 수 있음</a:t>
            </a:r>
            <a:r>
              <a:rPr lang="en-US" altLang="ko-KR" sz="1400" dirty="0"/>
              <a:t>.</a:t>
            </a:r>
            <a:endParaRPr lang="ko-KR" altLang="en-US" sz="1400" dirty="0"/>
          </a:p>
          <a:p>
            <a:r>
              <a:rPr lang="ko-KR" altLang="en-US" sz="1400" dirty="0"/>
              <a:t>이럴 때 코드 블록을 사용</a:t>
            </a:r>
            <a:r>
              <a:rPr lang="en-US" altLang="ko-KR" sz="1400" dirty="0"/>
              <a:t>. for</a:t>
            </a:r>
            <a:r>
              <a:rPr lang="ko-KR" altLang="en-US" sz="1400" dirty="0"/>
              <a:t>를 입력하면 </a:t>
            </a:r>
            <a:r>
              <a:rPr lang="en-US" altLang="ko-KR" sz="1400" dirty="0"/>
              <a:t>for</a:t>
            </a:r>
            <a:r>
              <a:rPr lang="ko-KR" altLang="en-US" sz="1400" dirty="0"/>
              <a:t>와 관련된 여러 코드 블록이 나타나고</a:t>
            </a:r>
            <a:r>
              <a:rPr lang="en-US" altLang="ko-KR" sz="1400" dirty="0"/>
              <a:t> </a:t>
            </a:r>
            <a:r>
              <a:rPr lang="ko-KR" altLang="en-US" sz="1400" dirty="0"/>
              <a:t>방향키를 사용해 </a:t>
            </a:r>
            <a:r>
              <a:rPr lang="en-US" altLang="ko-KR" sz="1400" dirty="0"/>
              <a:t>for in </a:t>
            </a:r>
            <a:r>
              <a:rPr lang="ko-KR" altLang="en-US" sz="1400" dirty="0"/>
              <a:t>코드 블록으로 이동하고 </a:t>
            </a:r>
            <a:r>
              <a:rPr lang="en-US" altLang="ko-KR" sz="1400" dirty="0"/>
              <a:t>Enter </a:t>
            </a:r>
            <a:r>
              <a:rPr lang="ko-KR" altLang="en-US" sz="1400" dirty="0"/>
              <a:t>또는 </a:t>
            </a:r>
            <a:r>
              <a:rPr lang="en-US" altLang="ko-KR" sz="1400" dirty="0"/>
              <a:t>Tab </a:t>
            </a:r>
            <a:r>
              <a:rPr lang="ko-KR" altLang="en-US" sz="1400" dirty="0"/>
              <a:t>키를 클릭</a:t>
            </a:r>
          </a:p>
        </p:txBody>
      </p:sp>
    </p:spTree>
    <p:extLst>
      <p:ext uri="{BB962C8B-B14F-4D97-AF65-F5344CB8AC3E}">
        <p14:creationId xmlns:p14="http://schemas.microsoft.com/office/powerpoint/2010/main" val="3181629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5B93F45F-E95B-41FE-8D6D-EA47CF7AC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465006"/>
              </p:ext>
            </p:extLst>
          </p:nvPr>
        </p:nvGraphicFramePr>
        <p:xfrm>
          <a:off x="1514230" y="3177540"/>
          <a:ext cx="609516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516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02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['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우유 구매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업무 메일 확인하기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필라테스 수업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(const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of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console.log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(`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오늘의 할 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: ${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}`)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05  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}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06 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(2)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for of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반복문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요소의 값을 반복할 때 안정적으로 사용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for of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반복문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4-2-2.html)</a:t>
            </a: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4938501"/>
              </p:ext>
            </p:extLst>
          </p:nvPr>
        </p:nvGraphicFramePr>
        <p:xfrm>
          <a:off x="1524000" y="1643387"/>
          <a:ext cx="418513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1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for (const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반복 변수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of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배열 또는 객체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 {</a:t>
                      </a:r>
                    </a:p>
                    <a:p>
                      <a:pPr latinLnBrk="1"/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문장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}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BA39406-F774-48D5-9CE4-8EBC2E474C88}"/>
              </a:ext>
            </a:extLst>
          </p:cNvPr>
          <p:cNvSpPr txBox="1"/>
          <p:nvPr/>
        </p:nvSpPr>
        <p:spPr>
          <a:xfrm>
            <a:off x="4652247" y="1957754"/>
            <a:ext cx="47631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dirty="0">
                <a:solidFill>
                  <a:srgbClr val="FF0000"/>
                </a:solidFill>
              </a:rPr>
              <a:t>f or in </a:t>
            </a:r>
            <a:r>
              <a:rPr lang="ko-KR" altLang="en-US" sz="1400" b="0" dirty="0">
                <a:solidFill>
                  <a:srgbClr val="FF0000"/>
                </a:solidFill>
              </a:rPr>
              <a:t>반복문과 다르게 반복 변수에 요소의 값이 들어</a:t>
            </a:r>
            <a:r>
              <a:rPr lang="ko-KR" altLang="en-US" sz="1400" dirty="0">
                <a:solidFill>
                  <a:srgbClr val="FF0000"/>
                </a:solidFill>
              </a:rPr>
              <a:t>감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424A56-962C-46B7-89A4-E8A328FB8DB3}"/>
              </a:ext>
            </a:extLst>
          </p:cNvPr>
          <p:cNvCxnSpPr/>
          <p:nvPr/>
        </p:nvCxnSpPr>
        <p:spPr>
          <a:xfrm>
            <a:off x="2469216" y="1934308"/>
            <a:ext cx="80152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F1804AD-1B99-4F5E-9E59-D3DDF732BFCB}"/>
              </a:ext>
            </a:extLst>
          </p:cNvPr>
          <p:cNvSpPr/>
          <p:nvPr/>
        </p:nvSpPr>
        <p:spPr>
          <a:xfrm>
            <a:off x="2848708" y="1934308"/>
            <a:ext cx="1758461" cy="175846"/>
          </a:xfrm>
          <a:custGeom>
            <a:avLst/>
            <a:gdLst>
              <a:gd name="connsiteX0" fmla="*/ 0 w 1758461"/>
              <a:gd name="connsiteY0" fmla="*/ 0 h 175846"/>
              <a:gd name="connsiteX1" fmla="*/ 0 w 1758461"/>
              <a:gd name="connsiteY1" fmla="*/ 175846 h 175846"/>
              <a:gd name="connsiteX2" fmla="*/ 1758461 w 1758461"/>
              <a:gd name="connsiteY2" fmla="*/ 175846 h 175846"/>
              <a:gd name="connsiteX3" fmla="*/ 1758461 w 1758461"/>
              <a:gd name="connsiteY3" fmla="*/ 175846 h 17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8461" h="175846">
                <a:moveTo>
                  <a:pt x="0" y="0"/>
                </a:moveTo>
                <a:lnTo>
                  <a:pt x="0" y="175846"/>
                </a:lnTo>
                <a:lnTo>
                  <a:pt x="1758461" y="175846"/>
                </a:lnTo>
                <a:lnTo>
                  <a:pt x="1758461" y="175846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89ED974-A046-4B46-B073-15A758C4E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220" y="3189553"/>
            <a:ext cx="3653505" cy="162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077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5B93F45F-E95B-41FE-8D6D-EA47CF7AC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966150"/>
              </p:ext>
            </p:extLst>
          </p:nvPr>
        </p:nvGraphicFramePr>
        <p:xfrm>
          <a:off x="1514230" y="3177540"/>
          <a:ext cx="4194908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490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02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(let i = 0; i &lt; 5; i++)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console.log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(`${i}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번째 반복입니다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.`)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 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(3)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21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for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반복문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특정 횟수만큼 반복하고 싶을 때 사용하는 범용적인 반복문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for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반복문 기본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4-2-3.html)</a:t>
            </a: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D8F08E15-25F5-4FE6-A7FD-DCDF13659C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802820"/>
              </p:ext>
            </p:extLst>
          </p:nvPr>
        </p:nvGraphicFramePr>
        <p:xfrm>
          <a:off x="1524000" y="1643387"/>
          <a:ext cx="418513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1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for (let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0;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&lt;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반복 횟수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++) {</a:t>
                      </a:r>
                    </a:p>
                    <a:p>
                      <a:pPr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  문장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}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BA39406-F774-48D5-9CE4-8EBC2E474C88}"/>
              </a:ext>
            </a:extLst>
          </p:cNvPr>
          <p:cNvSpPr txBox="1"/>
          <p:nvPr/>
        </p:nvSpPr>
        <p:spPr>
          <a:xfrm>
            <a:off x="4501662" y="1922585"/>
            <a:ext cx="47631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dirty="0">
                <a:solidFill>
                  <a:srgbClr val="FF0000"/>
                </a:solidFill>
              </a:rPr>
              <a:t>다른 반복문과 다르게 반복 변수를 </a:t>
            </a:r>
            <a:r>
              <a:rPr lang="en-US" altLang="ko-KR" sz="1400" b="0" dirty="0">
                <a:solidFill>
                  <a:srgbClr val="FF0000"/>
                </a:solidFill>
              </a:rPr>
              <a:t>let </a:t>
            </a:r>
            <a:r>
              <a:rPr lang="ko-KR" altLang="en-US" sz="1400" b="0" dirty="0">
                <a:solidFill>
                  <a:srgbClr val="FF0000"/>
                </a:solidFill>
              </a:rPr>
              <a:t>키워드로 선언합니다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2424A56-962C-46B7-89A4-E8A328FB8DB3}"/>
              </a:ext>
            </a:extLst>
          </p:cNvPr>
          <p:cNvCxnSpPr/>
          <p:nvPr/>
        </p:nvCxnSpPr>
        <p:spPr>
          <a:xfrm>
            <a:off x="2961586" y="1957754"/>
            <a:ext cx="80152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F1804AD-1B99-4F5E-9E59-D3DDF732BFCB}"/>
              </a:ext>
            </a:extLst>
          </p:cNvPr>
          <p:cNvSpPr/>
          <p:nvPr/>
        </p:nvSpPr>
        <p:spPr>
          <a:xfrm>
            <a:off x="2110155" y="1934309"/>
            <a:ext cx="2391507" cy="117225"/>
          </a:xfrm>
          <a:custGeom>
            <a:avLst/>
            <a:gdLst>
              <a:gd name="connsiteX0" fmla="*/ 0 w 1758461"/>
              <a:gd name="connsiteY0" fmla="*/ 0 h 175846"/>
              <a:gd name="connsiteX1" fmla="*/ 0 w 1758461"/>
              <a:gd name="connsiteY1" fmla="*/ 175846 h 175846"/>
              <a:gd name="connsiteX2" fmla="*/ 1758461 w 1758461"/>
              <a:gd name="connsiteY2" fmla="*/ 175846 h 175846"/>
              <a:gd name="connsiteX3" fmla="*/ 1758461 w 1758461"/>
              <a:gd name="connsiteY3" fmla="*/ 175846 h 17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8461" h="175846">
                <a:moveTo>
                  <a:pt x="0" y="0"/>
                </a:moveTo>
                <a:lnTo>
                  <a:pt x="0" y="175846"/>
                </a:lnTo>
                <a:lnTo>
                  <a:pt x="1758461" y="175846"/>
                </a:lnTo>
                <a:lnTo>
                  <a:pt x="1758461" y="175846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B2430F3-CAED-4010-90E6-3DD444679B1C}"/>
              </a:ext>
            </a:extLst>
          </p:cNvPr>
          <p:cNvCxnSpPr>
            <a:cxnSpLocks/>
          </p:cNvCxnSpPr>
          <p:nvPr/>
        </p:nvCxnSpPr>
        <p:spPr>
          <a:xfrm>
            <a:off x="1969477" y="1934308"/>
            <a:ext cx="28135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773D081-8E84-4557-856F-8BDFB7065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248" y="2706712"/>
            <a:ext cx="2635419" cy="22522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0F8B1DF-5C9C-4734-8BDC-8EDA2B70642A}"/>
              </a:ext>
            </a:extLst>
          </p:cNvPr>
          <p:cNvSpPr txBox="1"/>
          <p:nvPr/>
        </p:nvSpPr>
        <p:spPr>
          <a:xfrm>
            <a:off x="4496032" y="3184050"/>
            <a:ext cx="4194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0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부터 시작해서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5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미만이면 반복합니다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. →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불 값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FDA3E90-3E60-46DC-8E6C-5D1816527839}"/>
              </a:ext>
            </a:extLst>
          </p:cNvPr>
          <p:cNvCxnSpPr>
            <a:cxnSpLocks/>
          </p:cNvCxnSpPr>
          <p:nvPr/>
        </p:nvCxnSpPr>
        <p:spPr>
          <a:xfrm>
            <a:off x="2580375" y="3440723"/>
            <a:ext cx="28135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C85BA1-08FE-44D0-AD56-426A64C5380B}"/>
              </a:ext>
            </a:extLst>
          </p:cNvPr>
          <p:cNvCxnSpPr>
            <a:cxnSpLocks/>
          </p:cNvCxnSpPr>
          <p:nvPr/>
        </p:nvCxnSpPr>
        <p:spPr>
          <a:xfrm>
            <a:off x="3005659" y="3438526"/>
            <a:ext cx="281354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D7A81DA-D976-42B2-9718-DA51F0128DC2}"/>
              </a:ext>
            </a:extLst>
          </p:cNvPr>
          <p:cNvSpPr/>
          <p:nvPr/>
        </p:nvSpPr>
        <p:spPr>
          <a:xfrm flipV="1">
            <a:off x="3124362" y="3304251"/>
            <a:ext cx="1427327" cy="131687"/>
          </a:xfrm>
          <a:custGeom>
            <a:avLst/>
            <a:gdLst>
              <a:gd name="connsiteX0" fmla="*/ 0 w 1758461"/>
              <a:gd name="connsiteY0" fmla="*/ 0 h 175846"/>
              <a:gd name="connsiteX1" fmla="*/ 0 w 1758461"/>
              <a:gd name="connsiteY1" fmla="*/ 175846 h 175846"/>
              <a:gd name="connsiteX2" fmla="*/ 1758461 w 1758461"/>
              <a:gd name="connsiteY2" fmla="*/ 175846 h 175846"/>
              <a:gd name="connsiteX3" fmla="*/ 1758461 w 1758461"/>
              <a:gd name="connsiteY3" fmla="*/ 175846 h 17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8461" h="175846">
                <a:moveTo>
                  <a:pt x="0" y="0"/>
                </a:moveTo>
                <a:lnTo>
                  <a:pt x="0" y="175846"/>
                </a:lnTo>
                <a:lnTo>
                  <a:pt x="1758461" y="175846"/>
                </a:lnTo>
                <a:lnTo>
                  <a:pt x="1758461" y="175846"/>
                </a:ln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0014588-5546-46C1-AAC4-F090F0CAE5C5}"/>
              </a:ext>
            </a:extLst>
          </p:cNvPr>
          <p:cNvSpPr/>
          <p:nvPr/>
        </p:nvSpPr>
        <p:spPr>
          <a:xfrm flipV="1">
            <a:off x="2693243" y="3307222"/>
            <a:ext cx="1505333" cy="131687"/>
          </a:xfrm>
          <a:custGeom>
            <a:avLst/>
            <a:gdLst>
              <a:gd name="connsiteX0" fmla="*/ 0 w 1758461"/>
              <a:gd name="connsiteY0" fmla="*/ 0 h 175846"/>
              <a:gd name="connsiteX1" fmla="*/ 0 w 1758461"/>
              <a:gd name="connsiteY1" fmla="*/ 175846 h 175846"/>
              <a:gd name="connsiteX2" fmla="*/ 1758461 w 1758461"/>
              <a:gd name="connsiteY2" fmla="*/ 175846 h 175846"/>
              <a:gd name="connsiteX3" fmla="*/ 1758461 w 1758461"/>
              <a:gd name="connsiteY3" fmla="*/ 175846 h 175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8461" h="175846">
                <a:moveTo>
                  <a:pt x="0" y="0"/>
                </a:moveTo>
                <a:lnTo>
                  <a:pt x="0" y="175846"/>
                </a:lnTo>
                <a:lnTo>
                  <a:pt x="1758461" y="175846"/>
                </a:lnTo>
                <a:lnTo>
                  <a:pt x="1758461" y="175846"/>
                </a:lnTo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662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5B93F45F-E95B-41FE-8D6D-EA47CF7AC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082545"/>
              </p:ext>
            </p:extLst>
          </p:nvPr>
        </p:nvGraphicFramePr>
        <p:xfrm>
          <a:off x="1523671" y="1817521"/>
          <a:ext cx="6037714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7714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02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let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output = 0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(let i = 1; i &lt;= 100; i++)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output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+= i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06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console.log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(`1~100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까지 숫자를 모두 더하면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${output}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입니다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.`)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(4)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22</a:t>
            </a:fld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for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반복문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부터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N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까지 더하기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4-2-4.html)</a:t>
            </a: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F8B1DF-5C9C-4734-8BDC-8EDA2B70642A}"/>
              </a:ext>
            </a:extLst>
          </p:cNvPr>
          <p:cNvSpPr txBox="1"/>
          <p:nvPr/>
        </p:nvSpPr>
        <p:spPr>
          <a:xfrm>
            <a:off x="4944094" y="2560003"/>
            <a:ext cx="19152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1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부터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100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까지 반복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D5517E-7DEF-4FDB-BF31-2922F5AF4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039" y="2256166"/>
            <a:ext cx="4194908" cy="1016458"/>
          </a:xfrm>
          <a:prstGeom prst="rect">
            <a:avLst/>
          </a:prstGeom>
        </p:spPr>
      </p:pic>
      <p:sp>
        <p:nvSpPr>
          <p:cNvPr id="8" name="Right Bracket 7">
            <a:extLst>
              <a:ext uri="{FF2B5EF4-FFF2-40B4-BE49-F238E27FC236}">
                <a16:creationId xmlns:a16="http://schemas.microsoft.com/office/drawing/2014/main" id="{9B97054B-0D72-4E9A-B65E-B3FD522C7832}"/>
              </a:ext>
            </a:extLst>
          </p:cNvPr>
          <p:cNvSpPr/>
          <p:nvPr/>
        </p:nvSpPr>
        <p:spPr>
          <a:xfrm>
            <a:off x="4267200" y="2461846"/>
            <a:ext cx="151226" cy="504092"/>
          </a:xfrm>
          <a:prstGeom prst="rightBracket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41BAEB-C134-48DB-93AF-08E6F02A7553}"/>
              </a:ext>
            </a:extLst>
          </p:cNvPr>
          <p:cNvCxnSpPr/>
          <p:nvPr/>
        </p:nvCxnSpPr>
        <p:spPr>
          <a:xfrm>
            <a:off x="4418426" y="2719754"/>
            <a:ext cx="4466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1090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for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반복문과 함께 배열 사용하기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for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반복문과 배열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4-2-5.html)</a:t>
            </a: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for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반복문으로 배열을 반대로 출력하기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4-2-6.html)</a:t>
            </a: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5B93F45F-E95B-41FE-8D6D-EA47CF7AC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899144"/>
              </p:ext>
            </p:extLst>
          </p:nvPr>
        </p:nvGraphicFramePr>
        <p:xfrm>
          <a:off x="1523670" y="1669090"/>
          <a:ext cx="6133435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3435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02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['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우유 구매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업무 메일 확인하기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필라테스 수업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(let i = 0; i &lt;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todos.length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; i++)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console.log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(`${i}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번째 할 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: ${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]}`)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06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(5)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23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F8B1DF-5C9C-4734-8BDC-8EDA2B70642A}"/>
              </a:ext>
            </a:extLst>
          </p:cNvPr>
          <p:cNvSpPr txBox="1"/>
          <p:nvPr/>
        </p:nvSpPr>
        <p:spPr>
          <a:xfrm>
            <a:off x="1635565" y="6147426"/>
            <a:ext cx="44919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배열의 마지막 요소부터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0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까지 하나씩 빼면서 반복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F1CF3-AC69-478B-9383-1649A574C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590" y="1906588"/>
            <a:ext cx="3395537" cy="1522412"/>
          </a:xfrm>
          <a:prstGeom prst="rect">
            <a:avLst/>
          </a:prstGeom>
        </p:spPr>
      </p:pic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AF0BE9AA-0B60-498F-B4BE-CDE4710A7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868423"/>
              </p:ext>
            </p:extLst>
          </p:nvPr>
        </p:nvGraphicFramePr>
        <p:xfrm>
          <a:off x="1523671" y="4213081"/>
          <a:ext cx="6117532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17532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02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= ['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우유 구매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업무 메일 확인하기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필라테스 수업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(let i =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todos.length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 - 1; i &gt;= 0; i--)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console.log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(`${i}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번째 할 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: ${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todos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i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]}`)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06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CDC2D7F-0B41-4644-8CBC-55CC70D046E4}"/>
              </a:ext>
            </a:extLst>
          </p:cNvPr>
          <p:cNvCxnSpPr>
            <a:cxnSpLocks/>
          </p:cNvCxnSpPr>
          <p:nvPr/>
        </p:nvCxnSpPr>
        <p:spPr>
          <a:xfrm>
            <a:off x="2791313" y="5209148"/>
            <a:ext cx="21336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9D4E96-60AC-495E-8171-C6CB3E92D810}"/>
              </a:ext>
            </a:extLst>
          </p:cNvPr>
          <p:cNvCxnSpPr>
            <a:cxnSpLocks/>
          </p:cNvCxnSpPr>
          <p:nvPr/>
        </p:nvCxnSpPr>
        <p:spPr>
          <a:xfrm>
            <a:off x="3868615" y="5205046"/>
            <a:ext cx="0" cy="9423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6FEFA985-14EA-4838-B5A7-6CFCF16E2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477" y="4344730"/>
            <a:ext cx="3395537" cy="150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04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while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반복문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if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조건문과 다른 점은 문장을 한 번만 실행하고 끝나는 것이 아니라 불 표현식이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true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면 계속해서 문장을 </a:t>
            </a:r>
            <a:r>
              <a:rPr lang="ko-KR" altLang="en-US" sz="1600" b="0" i="0" u="none" strike="noStrike" baseline="0" dirty="0" smtClean="0">
                <a:solidFill>
                  <a:srgbClr val="000000"/>
                </a:solidFill>
                <a:latin typeface="+mn-ea"/>
                <a:ea typeface="+mn-ea"/>
              </a:rPr>
              <a:t>실행</a:t>
            </a:r>
            <a:endParaRPr lang="en-US" altLang="ko-KR" sz="1600" b="0" i="0" u="none" strike="noStrike" baseline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조건이 변하지 않는다면 무한히 반복 실행하므로 조건을 거짓으로 만드는 내용이 문장에 포함되어야 함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.</a:t>
            </a:r>
          </a:p>
          <a:p>
            <a:pPr lvl="1"/>
            <a:r>
              <a:rPr lang="ko-KR" altLang="en-US" sz="1600" b="0" i="0" u="none" strike="noStrike" baseline="0" dirty="0" smtClean="0">
                <a:solidFill>
                  <a:srgbClr val="000000"/>
                </a:solidFill>
                <a:latin typeface="+mn-ea"/>
                <a:ea typeface="+mn-ea"/>
              </a:rPr>
              <a:t>무한 루프</a:t>
            </a:r>
            <a:r>
              <a:rPr lang="en-US" altLang="ko-KR" sz="1600" b="0" i="0" u="none" strike="noStrike" baseline="0" dirty="0" smtClean="0">
                <a:solidFill>
                  <a:srgbClr val="000000"/>
                </a:solidFill>
                <a:latin typeface="+mn-ea"/>
                <a:ea typeface="+mn-ea"/>
              </a:rPr>
              <a:t>: </a:t>
            </a:r>
            <a:r>
              <a:rPr lang="ko-KR" altLang="en-US" sz="1600" b="0" i="0" u="none" strike="noStrike" baseline="0" dirty="0" err="1" smtClean="0">
                <a:solidFill>
                  <a:srgbClr val="000000"/>
                </a:solidFill>
                <a:latin typeface="+mn-ea"/>
                <a:ea typeface="+mn-ea"/>
              </a:rPr>
              <a:t>반복문이</a:t>
            </a:r>
            <a:r>
              <a:rPr lang="ko-KR" altLang="en-US" sz="1600" b="0" i="0" u="none" strike="noStrike" baseline="0" dirty="0" smtClean="0">
                <a:solidFill>
                  <a:srgbClr val="000000"/>
                </a:solidFill>
                <a:latin typeface="+mn-ea"/>
                <a:ea typeface="+mn-ea"/>
              </a:rPr>
              <a:t> 무한 반복되는 것</a:t>
            </a:r>
            <a:endParaRPr lang="en-US" altLang="ko-KR" sz="1600" b="0" i="0" u="none" strike="noStrike" baseline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457200" lvl="1" indent="0">
              <a:buNone/>
            </a:pP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무한 반복문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4-2-7.html)</a:t>
            </a: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5B93F45F-E95B-41FE-8D6D-EA47CF7AC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426985"/>
              </p:ext>
            </p:extLst>
          </p:nvPr>
        </p:nvGraphicFramePr>
        <p:xfrm>
          <a:off x="1523671" y="2400582"/>
          <a:ext cx="2415283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5283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while (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불 표현식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 {</a:t>
                      </a:r>
                    </a:p>
                    <a:p>
                      <a:pPr latinLnBrk="1"/>
                      <a:r>
                        <a:rPr lang="ko-KR" altLang="en-US" sz="1600" b="0" dirty="0" smtClean="0">
                          <a:solidFill>
                            <a:sysClr val="windowText" lastClr="000000"/>
                          </a:solidFill>
                        </a:rPr>
                        <a:t>  문장</a:t>
                      </a:r>
                      <a:endParaRPr lang="ko-KR" altLang="en-US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}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(6)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24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384743C0-E261-4849-A047-F6206369F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869413"/>
              </p:ext>
            </p:extLst>
          </p:nvPr>
        </p:nvGraphicFramePr>
        <p:xfrm>
          <a:off x="1524000" y="3787546"/>
          <a:ext cx="3774831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4831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02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let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i = 0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while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(true)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alert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(`${i}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번째 반복입니다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.`)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i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= i + 1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06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9799BCE-233A-44CC-9489-37A125F5C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046" y="3857786"/>
            <a:ext cx="2669198" cy="10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2674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while </a:t>
            </a:r>
            <a:r>
              <a:rPr lang="ko-KR" altLang="en-US" dirty="0" err="1" smtClean="0">
                <a:solidFill>
                  <a:srgbClr val="000000"/>
                </a:solidFill>
                <a:latin typeface="+mn-ea"/>
                <a:ea typeface="+mn-ea"/>
              </a:rPr>
              <a:t>반복문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confirm()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함수를 사용하여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사용자에게 확인을 받는 대화상자 실행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.</a:t>
            </a:r>
          </a:p>
          <a:p>
            <a:pPr lvl="1"/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[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확인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]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은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true, [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취소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]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는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false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로 입력 받아 조건이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false(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거짓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일 때 </a:t>
            </a:r>
            <a:r>
              <a:rPr lang="ko-KR" altLang="en-US" sz="1600" dirty="0" err="1" smtClean="0">
                <a:solidFill>
                  <a:srgbClr val="000000"/>
                </a:solidFill>
                <a:latin typeface="+mn-ea"/>
                <a:ea typeface="+mn-ea"/>
              </a:rPr>
              <a:t>반복문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 종료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.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While </a:t>
            </a:r>
            <a:r>
              <a:rPr lang="ko-KR" altLang="en-US" sz="1600" dirty="0" err="1" smtClean="0">
                <a:solidFill>
                  <a:srgbClr val="000000"/>
                </a:solidFill>
                <a:latin typeface="+mn-ea"/>
                <a:ea typeface="+mn-ea"/>
              </a:rPr>
              <a:t>반복문</a:t>
            </a:r>
            <a:r>
              <a:rPr lang="ko-KR" altLang="en-US" sz="1600" dirty="0" smtClean="0">
                <a:solidFill>
                  <a:srgbClr val="000000"/>
                </a:solidFill>
                <a:latin typeface="+mn-ea"/>
                <a:ea typeface="+mn-ea"/>
              </a:rPr>
              <a:t> 기본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 smtClean="0">
                <a:solidFill>
                  <a:srgbClr val="000000"/>
                </a:solidFill>
                <a:latin typeface="+mn-ea"/>
                <a:ea typeface="+mn-ea"/>
              </a:rPr>
              <a:t>4-2-8.html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(7)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25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384743C0-E261-4849-A047-F6206369F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017313"/>
              </p:ext>
            </p:extLst>
          </p:nvPr>
        </p:nvGraphicFramePr>
        <p:xfrm>
          <a:off x="1524000" y="3087858"/>
          <a:ext cx="6576646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6646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02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let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i = 0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while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(confirm('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계속 진행하시겠습니까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?'))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사용자가 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[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확인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]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버튼을 클릭하면 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true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가 되어 계속 반복합니다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alert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(`${i}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번째 반복입니다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.`)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06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i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= i + 1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08 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6D304570-AC7F-4348-9C35-BAC5A0BD4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9568" y="2816225"/>
            <a:ext cx="2489950" cy="2613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506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while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반복문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while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반복문과 함께 배열 사용하기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배열과 함께 사용하기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4-2-9.html)</a:t>
            </a: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(8)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26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384743C0-E261-4849-A047-F6206369F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480726"/>
              </p:ext>
            </p:extLst>
          </p:nvPr>
        </p:nvGraphicFramePr>
        <p:xfrm>
          <a:off x="1524000" y="2080710"/>
          <a:ext cx="390378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3785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let i = 0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array = [1, 2, 3, 4, 5]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while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(i &lt; </a:t>
                      </a:r>
                      <a:r>
                        <a:rPr lang="en-US" altLang="ko-KR" sz="1600" b="0" dirty="0" err="1">
                          <a:solidFill>
                            <a:sysClr val="windowText" lastClr="000000"/>
                          </a:solidFill>
                        </a:rPr>
                        <a:t>array.length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06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console.log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(`${i} : ${array[i]}`)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i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++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08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09 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94C26E1-C340-453B-980F-9307A1A35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994" y="2080710"/>
            <a:ext cx="2723622" cy="2286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59BE0BC-BD43-40C7-97CA-087601063013}"/>
              </a:ext>
            </a:extLst>
          </p:cNvPr>
          <p:cNvSpPr txBox="1"/>
          <p:nvPr/>
        </p:nvSpPr>
        <p:spPr>
          <a:xfrm>
            <a:off x="1524000" y="4763648"/>
            <a:ext cx="81284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※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횟수를 기준으로 반복할 때는 코드를 간결하게 구현할 수 있는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ITC Garamond Std Lt"/>
              </a:rPr>
              <a:t>for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반복문을 사용하는 것이 훨씬 편함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.</a:t>
            </a:r>
            <a:br>
              <a:rPr lang="en-US" altLang="ko-KR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</a:b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ITC Garamond Std Lt"/>
              </a:rPr>
              <a:t>while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반복문은 조건에 큰 비중이 있을 때 사용하는 것이 효과적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 </a:t>
            </a:r>
            <a:br>
              <a:rPr lang="en-US" altLang="ko-KR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</a:b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‘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특정 시간 동안 어떤 데이터를 받을 때까지’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, ‘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배열에서 어떠한 요소가 완전히 제거될 때까지’ 등 조건을 기반으 로 사용하는 반복문에 </a:t>
            </a:r>
            <a:r>
              <a:rPr lang="en-US" altLang="ko-KR" sz="1400" b="0" i="0" u="none" strike="noStrike" baseline="0" dirty="0">
                <a:solidFill>
                  <a:srgbClr val="000000"/>
                </a:solidFill>
                <a:latin typeface="ITC Garamond Std Lt"/>
              </a:rPr>
              <a:t>while </a:t>
            </a:r>
            <a:r>
              <a:rPr lang="ko-KR" altLang="en-US" sz="14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반복문을 사용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905769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break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키워드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switch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조건문이나 반복문을 벗어날 때 사용하는 키워드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break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키워드 활용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4-2-10.html)</a:t>
            </a: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(9)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384743C0-E261-4849-A047-F6206369F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335495"/>
              </p:ext>
            </p:extLst>
          </p:nvPr>
        </p:nvGraphicFramePr>
        <p:xfrm>
          <a:off x="1524000" y="1705571"/>
          <a:ext cx="3881847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1847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while (true)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} break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71D380D-97B0-45F0-B304-1188D8D16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321338"/>
              </p:ext>
            </p:extLst>
          </p:nvPr>
        </p:nvGraphicFramePr>
        <p:xfrm>
          <a:off x="1502062" y="2849880"/>
          <a:ext cx="535593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593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02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4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반복문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03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for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(let i = 0; true; i++)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04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  alert(i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+ '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번째 반복문입니다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.')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05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06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  </a:t>
                      </a:r>
                      <a:r>
                        <a:rPr lang="en-US" altLang="ko-KR" sz="14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진행 여부를 물어봅니다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07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  </a:t>
                      </a:r>
                      <a:r>
                        <a:rPr lang="en-US" altLang="ko-KR" sz="14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isContinue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 = confirm('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계속 하시겠습니까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?')</a:t>
                      </a:r>
                    </a:p>
                    <a:p>
                      <a:pPr latinLnBrk="1"/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08     if 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(!</a:t>
                      </a:r>
                      <a:r>
                        <a:rPr lang="en-US" altLang="ko-KR" sz="1400" b="0" dirty="0" err="1">
                          <a:solidFill>
                            <a:sysClr val="windowText" lastClr="000000"/>
                          </a:solidFill>
                        </a:rPr>
                        <a:t>isContinue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) {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09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    break</a:t>
                      </a:r>
                      <a:endParaRPr lang="en-US" altLang="ko-KR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10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  }</a:t>
                      </a:r>
                      <a:endParaRPr lang="en-US" altLang="ko-KR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11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4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13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4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400" b="0" dirty="0">
                          <a:solidFill>
                            <a:srgbClr val="FF0000"/>
                          </a:solidFill>
                        </a:rPr>
                        <a:t>프로그램의 종료를 확인합니다</a:t>
                      </a:r>
                      <a:r>
                        <a:rPr lang="en-US" altLang="ko-KR" sz="14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14 </a:t>
                      </a:r>
                      <a:r>
                        <a:rPr lang="en-US" altLang="ko-KR" sz="1400" b="0" dirty="0" smtClean="0">
                          <a:solidFill>
                            <a:sysClr val="windowText" lastClr="000000"/>
                          </a:solidFill>
                        </a:rPr>
                        <a:t>  alert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('</a:t>
                      </a:r>
                      <a:r>
                        <a:rPr lang="ko-KR" altLang="en-US" sz="1400" b="0" dirty="0">
                          <a:solidFill>
                            <a:sysClr val="windowText" lastClr="000000"/>
                          </a:solidFill>
                        </a:rPr>
                        <a:t>프로그램 종료</a:t>
                      </a:r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400" b="0" dirty="0">
                          <a:solidFill>
                            <a:sysClr val="windowText" lastClr="000000"/>
                          </a:solidFill>
                        </a:rPr>
                        <a:t>15 &lt;/script&gt;</a:t>
                      </a:r>
                      <a:endParaRPr lang="ko-KR" altLang="en-US" sz="14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C18C7F5-7B2C-4AF1-9F45-994B90DC2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202" y="2224376"/>
            <a:ext cx="2490908" cy="426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929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continue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키워드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continue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키워드는 반복문 안의 반복 작업을 멈추고 반복문의 처음으로 돌아가 다음 반복 작업을 진행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continue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키워드 활용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(1) (</a:t>
            </a:r>
            <a:r>
              <a:rPr lang="ko-KR" altLang="en-US" sz="160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  <a:ea typeface="+mn-ea"/>
              </a:rPr>
              <a:t>4-2-11.html)</a:t>
            </a: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(10)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71D380D-97B0-45F0-B304-1188D8D16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927156"/>
              </p:ext>
            </p:extLst>
          </p:nvPr>
        </p:nvGraphicFramePr>
        <p:xfrm>
          <a:off x="1524000" y="2035493"/>
          <a:ext cx="5896708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670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반복문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(let i = 0; i &lt; 5; i++)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현재 반복 작업을 중지하고 다음 반복 작업을 수행합니다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continue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06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alert(i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08 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3172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continue 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키워드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continue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키워드 활용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(2) 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4-2-12.html)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(11)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29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71D380D-97B0-45F0-B304-1188D8D16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281257"/>
              </p:ext>
            </p:extLst>
          </p:nvPr>
        </p:nvGraphicFramePr>
        <p:xfrm>
          <a:off x="1524000" y="1639253"/>
          <a:ext cx="5896708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670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02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변수를 선언합니다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let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output = 0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반복문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06  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for (let i = 1; i &lt;= 10; i++)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조건문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08     if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(i % 2 === 1)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09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홀수면 현재 반복을 중지하고 다음 반복을 수행합니다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10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  continue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11 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</a:rPr>
                        <a:t>    output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+= i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</a:rPr>
                        <a:t>13  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}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15 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출력합니다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</a:rPr>
                        <a:t>16  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alert(output)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17 &lt;/script&gt;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8B2F7538-7EBC-45DC-A3A7-35EBED4B0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378" y="4360739"/>
            <a:ext cx="2603622" cy="98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3572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중첩 반복문을 사용하는 피라미드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누적 예제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중첩 반복문은 일반적으로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n-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차원 처리를 할 때 사용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중첩 반복문 사용하기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(1)</a:t>
            </a: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(12)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71D380D-97B0-45F0-B304-1188D8D16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840901"/>
              </p:ext>
            </p:extLst>
          </p:nvPr>
        </p:nvGraphicFramePr>
        <p:xfrm>
          <a:off x="1524000" y="2073007"/>
          <a:ext cx="2711327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327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********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*********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933899-F719-42BB-B58E-2A90DC469BEE}"/>
              </a:ext>
            </a:extLst>
          </p:cNvPr>
          <p:cNvSpPr txBox="1"/>
          <p:nvPr/>
        </p:nvSpPr>
        <p:spPr>
          <a:xfrm>
            <a:off x="4596954" y="2554615"/>
            <a:ext cx="15725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외부의 반복문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/>
            </a:r>
            <a:b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</a:b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: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줄생성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(\n)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A4707B-550B-4DDB-81D1-330585AD7BB1}"/>
              </a:ext>
            </a:extLst>
          </p:cNvPr>
          <p:cNvSpPr txBox="1"/>
          <p:nvPr/>
        </p:nvSpPr>
        <p:spPr>
          <a:xfrm>
            <a:off x="6229689" y="2565481"/>
            <a:ext cx="471130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14375">
              <a:lnSpc>
                <a:spcPct val="15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I = 1	*	j = 0 → j &lt; </a:t>
            </a:r>
            <a:r>
              <a:rPr lang="en-US" altLang="ko-KR" sz="1400" dirty="0" err="1">
                <a:solidFill>
                  <a:srgbClr val="FF0000"/>
                </a:solidFill>
                <a:latin typeface="PCSJUS+RixVeryGoodPM"/>
              </a:rPr>
              <a:t>i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(1) = 1</a:t>
            </a:r>
            <a:r>
              <a:rPr lang="ko-KR" altLang="en-US" sz="1400" dirty="0">
                <a:solidFill>
                  <a:srgbClr val="FF0000"/>
                </a:solidFill>
                <a:latin typeface="PCSJUS+RixVeryGoodPM"/>
              </a:rPr>
              <a:t>번 반복해서 * 출력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	</a:t>
            </a:r>
          </a:p>
          <a:p>
            <a:pPr defTabSz="714375">
              <a:lnSpc>
                <a:spcPct val="15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I = 2	**	j = 0 → j &lt; </a:t>
            </a:r>
            <a:r>
              <a:rPr lang="en-US" altLang="ko-KR" sz="1400" dirty="0" err="1">
                <a:solidFill>
                  <a:srgbClr val="FF0000"/>
                </a:solidFill>
                <a:latin typeface="PCSJUS+RixVeryGoodPM"/>
              </a:rPr>
              <a:t>i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(2) = 2</a:t>
            </a:r>
            <a:r>
              <a:rPr lang="ko-KR" altLang="en-US" sz="1400" dirty="0">
                <a:solidFill>
                  <a:srgbClr val="FF0000"/>
                </a:solidFill>
                <a:latin typeface="PCSJUS+RixVeryGoodPM"/>
              </a:rPr>
              <a:t>번 반복해서 * 출력</a:t>
            </a:r>
            <a:endParaRPr lang="en-US" altLang="ko-KR" sz="1400" dirty="0">
              <a:solidFill>
                <a:srgbClr val="FF0000"/>
              </a:solidFill>
              <a:latin typeface="PCSJUS+RixVeryGoodPM"/>
            </a:endParaRPr>
          </a:p>
          <a:p>
            <a:pPr defTabSz="714375">
              <a:lnSpc>
                <a:spcPct val="15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I = 3	***	j = 0 → j &lt; </a:t>
            </a:r>
            <a:r>
              <a:rPr lang="en-US" altLang="ko-KR" sz="1400" dirty="0" err="1">
                <a:solidFill>
                  <a:srgbClr val="FF0000"/>
                </a:solidFill>
                <a:latin typeface="PCSJUS+RixVeryGoodPM"/>
              </a:rPr>
              <a:t>i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(3) = 3</a:t>
            </a:r>
            <a:r>
              <a:rPr lang="ko-KR" altLang="en-US" sz="1400" dirty="0">
                <a:solidFill>
                  <a:srgbClr val="FF0000"/>
                </a:solidFill>
                <a:latin typeface="PCSJUS+RixVeryGoodPM"/>
              </a:rPr>
              <a:t>번 반복해서 * 출력</a:t>
            </a:r>
            <a:endParaRPr lang="en-US" altLang="ko-KR" sz="1400" dirty="0">
              <a:solidFill>
                <a:srgbClr val="FF0000"/>
              </a:solidFill>
              <a:latin typeface="PCSJUS+RixVeryGoodPM"/>
            </a:endParaRPr>
          </a:p>
          <a:p>
            <a:pPr defTabSz="715963">
              <a:lnSpc>
                <a:spcPct val="150000"/>
              </a:lnSpc>
              <a:tabLst>
                <a:tab pos="714375" algn="l"/>
              </a:tabLst>
            </a:pP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I = 4	****	j = 0 → j &lt; </a:t>
            </a:r>
            <a:r>
              <a:rPr lang="en-US" altLang="ko-KR" sz="1400" dirty="0" err="1">
                <a:solidFill>
                  <a:srgbClr val="FF0000"/>
                </a:solidFill>
                <a:latin typeface="PCSJUS+RixVeryGoodPM"/>
              </a:rPr>
              <a:t>i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(4) = 4</a:t>
            </a:r>
            <a:r>
              <a:rPr lang="ko-KR" altLang="en-US" sz="1400" dirty="0">
                <a:solidFill>
                  <a:srgbClr val="FF0000"/>
                </a:solidFill>
                <a:latin typeface="PCSJUS+RixVeryGoodPM"/>
              </a:rPr>
              <a:t>번 반복해서 * 출력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267C1F0-E430-4CFC-9DA7-80CCA552D8F3}"/>
              </a:ext>
            </a:extLst>
          </p:cNvPr>
          <p:cNvCxnSpPr>
            <a:cxnSpLocks/>
          </p:cNvCxnSpPr>
          <p:nvPr/>
        </p:nvCxnSpPr>
        <p:spPr>
          <a:xfrm>
            <a:off x="6130628" y="2565481"/>
            <a:ext cx="0" cy="1349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926295-28C1-4124-A493-59976D3EE47D}"/>
              </a:ext>
            </a:extLst>
          </p:cNvPr>
          <p:cNvCxnSpPr>
            <a:cxnSpLocks/>
          </p:cNvCxnSpPr>
          <p:nvPr/>
        </p:nvCxnSpPr>
        <p:spPr>
          <a:xfrm>
            <a:off x="6779026" y="2113862"/>
            <a:ext cx="0" cy="204783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F07033-F944-4B12-B65C-3D7D09C215FF}"/>
              </a:ext>
            </a:extLst>
          </p:cNvPr>
          <p:cNvCxnSpPr>
            <a:cxnSpLocks/>
          </p:cNvCxnSpPr>
          <p:nvPr/>
        </p:nvCxnSpPr>
        <p:spPr>
          <a:xfrm>
            <a:off x="6825919" y="2113862"/>
            <a:ext cx="0" cy="204783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B3D180F-2C95-4AA6-8B76-868523B680E1}"/>
              </a:ext>
            </a:extLst>
          </p:cNvPr>
          <p:cNvCxnSpPr>
            <a:cxnSpLocks/>
          </p:cNvCxnSpPr>
          <p:nvPr/>
        </p:nvCxnSpPr>
        <p:spPr>
          <a:xfrm>
            <a:off x="7150315" y="2487394"/>
            <a:ext cx="25946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D5DFE18-CC88-4C06-A9E0-5FB8C7D32F1F}"/>
              </a:ext>
            </a:extLst>
          </p:cNvPr>
          <p:cNvSpPr txBox="1"/>
          <p:nvPr/>
        </p:nvSpPr>
        <p:spPr>
          <a:xfrm>
            <a:off x="7345002" y="2097570"/>
            <a:ext cx="22482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내부의 반복문 </a:t>
            </a: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</a:rPr>
              <a:t>별 생성</a:t>
            </a:r>
            <a:r>
              <a:rPr lang="en-US" altLang="ko-KR" sz="1400" dirty="0">
                <a:solidFill>
                  <a:srgbClr val="FF0000"/>
                </a:solidFill>
              </a:rPr>
              <a:t>(*)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4C4C86-99D1-4508-A668-BDE6F653F1A4}"/>
              </a:ext>
            </a:extLst>
          </p:cNvPr>
          <p:cNvSpPr txBox="1"/>
          <p:nvPr/>
        </p:nvSpPr>
        <p:spPr>
          <a:xfrm>
            <a:off x="4976772" y="211806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①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FA630A4-64DA-4135-93B8-A2E219F1A954}"/>
              </a:ext>
            </a:extLst>
          </p:cNvPr>
          <p:cNvSpPr txBox="1"/>
          <p:nvPr/>
        </p:nvSpPr>
        <p:spPr>
          <a:xfrm>
            <a:off x="6942566" y="207253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②</a:t>
            </a:r>
          </a:p>
        </p:txBody>
      </p:sp>
    </p:spTree>
    <p:extLst>
      <p:ext uri="{BB962C8B-B14F-4D97-AF65-F5344CB8AC3E}">
        <p14:creationId xmlns:p14="http://schemas.microsoft.com/office/powerpoint/2010/main" val="23785774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중첩 반복문을 사용하는 피라미드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누적 예제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중첩 반복문 사용하기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(1) 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4-2-13.html)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(13)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71D380D-97B0-45F0-B304-1188D8D16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5956"/>
              </p:ext>
            </p:extLst>
          </p:nvPr>
        </p:nvGraphicFramePr>
        <p:xfrm>
          <a:off x="1524000" y="1790700"/>
          <a:ext cx="4372708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70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02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변수를 선언합니다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let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output = ''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중첩 반복문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06  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for (let i = 1; i &lt; 10; i++)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(let j = 0; j &lt; i; j++) {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08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  output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+= '*'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09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10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output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+= '\n'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11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12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13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출력합니다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14  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console.log(output)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15 &lt;/script&gt;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456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중첩 반복문을 사용하는 피라미드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누적 예제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중첩 반복문 사용하기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(2)</a:t>
            </a:r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(14)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32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71D380D-97B0-45F0-B304-1188D8D16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72391"/>
              </p:ext>
            </p:extLst>
          </p:nvPr>
        </p:nvGraphicFramePr>
        <p:xfrm>
          <a:off x="1524000" y="1790700"/>
          <a:ext cx="3376246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6246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*********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***********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*************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***************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*****************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*******************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*********************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***********************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*************************</a:t>
                      </a:r>
                    </a:p>
                    <a:p>
                      <a:pPr algn="ctr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***************************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FBCAFD3-F9DE-49A4-810C-683EE858520C}"/>
              </a:ext>
            </a:extLst>
          </p:cNvPr>
          <p:cNvSpPr txBox="1"/>
          <p:nvPr/>
        </p:nvSpPr>
        <p:spPr>
          <a:xfrm>
            <a:off x="4104585" y="2589784"/>
            <a:ext cx="15725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외부의 반복문 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/>
            </a:r>
            <a:b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</a:b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: 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줄생성</a:t>
            </a:r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(\n) 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0D8597-4A71-4B99-8F21-065F389DD45B}"/>
              </a:ext>
            </a:extLst>
          </p:cNvPr>
          <p:cNvSpPr txBox="1"/>
          <p:nvPr/>
        </p:nvSpPr>
        <p:spPr>
          <a:xfrm>
            <a:off x="5737320" y="2600650"/>
            <a:ext cx="676875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14375">
              <a:lnSpc>
                <a:spcPct val="15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I = 1	4</a:t>
            </a:r>
            <a:r>
              <a:rPr lang="ko-KR" altLang="en-US" sz="1400" dirty="0">
                <a:solidFill>
                  <a:srgbClr val="FF0000"/>
                </a:solidFill>
                <a:latin typeface="PCSJUS+RixVeryGoodPM"/>
              </a:rPr>
              <a:t>개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			</a:t>
            </a:r>
            <a:r>
              <a:rPr lang="ko-KR" altLang="en-US" sz="1100" dirty="0">
                <a:solidFill>
                  <a:srgbClr val="FF0000"/>
                </a:solidFill>
                <a:latin typeface="PCSJUS+RixVeryGoodPM"/>
              </a:rPr>
              <a:t>□ □ □ □ 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*	1</a:t>
            </a:r>
            <a:r>
              <a:rPr lang="ko-KR" altLang="en-US" sz="1400" dirty="0">
                <a:solidFill>
                  <a:srgbClr val="FF0000"/>
                </a:solidFill>
                <a:latin typeface="PCSJUS+RixVeryGoodPM"/>
              </a:rPr>
              <a:t>개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	</a:t>
            </a:r>
          </a:p>
          <a:p>
            <a:pPr defTabSz="714375">
              <a:lnSpc>
                <a:spcPct val="15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I = 2	3</a:t>
            </a:r>
            <a:r>
              <a:rPr lang="ko-KR" altLang="en-US" sz="1400" dirty="0">
                <a:solidFill>
                  <a:srgbClr val="FF0000"/>
                </a:solidFill>
                <a:latin typeface="PCSJUS+RixVeryGoodPM"/>
              </a:rPr>
              <a:t>개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			</a:t>
            </a:r>
            <a:r>
              <a:rPr lang="ko-KR" altLang="en-US" sz="1100" dirty="0" smtClean="0">
                <a:solidFill>
                  <a:srgbClr val="FF0000"/>
                </a:solidFill>
                <a:latin typeface="PCSJUS+RixVeryGoodPM"/>
              </a:rPr>
              <a:t>□ </a:t>
            </a:r>
            <a:r>
              <a:rPr lang="ko-KR" altLang="en-US" sz="1100" dirty="0">
                <a:solidFill>
                  <a:srgbClr val="FF0000"/>
                </a:solidFill>
                <a:latin typeface="PCSJUS+RixVeryGoodPM"/>
              </a:rPr>
              <a:t>□ □   </a:t>
            </a:r>
            <a:r>
              <a:rPr lang="en-US" altLang="ko-KR" sz="1400" dirty="0" smtClean="0">
                <a:solidFill>
                  <a:srgbClr val="FF0000"/>
                </a:solidFill>
                <a:latin typeface="PCSJUS+RixVeryGoodPM"/>
              </a:rPr>
              <a:t>***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	3</a:t>
            </a:r>
            <a:r>
              <a:rPr lang="ko-KR" altLang="en-US" sz="1400" dirty="0">
                <a:solidFill>
                  <a:srgbClr val="FF0000"/>
                </a:solidFill>
                <a:latin typeface="PCSJUS+RixVeryGoodPM"/>
              </a:rPr>
              <a:t>개</a:t>
            </a:r>
            <a:endParaRPr lang="en-US" altLang="ko-KR" sz="1400" dirty="0">
              <a:solidFill>
                <a:srgbClr val="FF0000"/>
              </a:solidFill>
              <a:latin typeface="PCSJUS+RixVeryGoodPM"/>
            </a:endParaRPr>
          </a:p>
          <a:p>
            <a:pPr defTabSz="714375">
              <a:lnSpc>
                <a:spcPct val="150000"/>
              </a:lnSpc>
            </a:pP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I = 3	2</a:t>
            </a:r>
            <a:r>
              <a:rPr lang="ko-KR" altLang="en-US" sz="1400" dirty="0">
                <a:solidFill>
                  <a:srgbClr val="FF0000"/>
                </a:solidFill>
                <a:latin typeface="PCSJUS+RixVeryGoodPM"/>
              </a:rPr>
              <a:t>개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			</a:t>
            </a:r>
            <a:r>
              <a:rPr lang="ko-KR" altLang="en-US" sz="1100" dirty="0" smtClean="0">
                <a:solidFill>
                  <a:srgbClr val="FF0000"/>
                </a:solidFill>
                <a:latin typeface="PCSJUS+RixVeryGoodPM"/>
              </a:rPr>
              <a:t>□ </a:t>
            </a:r>
            <a:r>
              <a:rPr lang="ko-KR" altLang="en-US" sz="1100" dirty="0">
                <a:solidFill>
                  <a:srgbClr val="FF0000"/>
                </a:solidFill>
                <a:latin typeface="PCSJUS+RixVeryGoodPM"/>
              </a:rPr>
              <a:t>□    </a:t>
            </a:r>
            <a:r>
              <a:rPr lang="ko-KR" altLang="en-US" sz="1100" dirty="0" smtClean="0">
                <a:solidFill>
                  <a:srgbClr val="FF0000"/>
                </a:solidFill>
                <a:latin typeface="PCSJUS+RixVeryGoodPM"/>
              </a:rPr>
              <a:t> </a:t>
            </a:r>
            <a:r>
              <a:rPr lang="en-US" altLang="ko-KR" sz="1400" dirty="0" smtClean="0">
                <a:solidFill>
                  <a:srgbClr val="FF0000"/>
                </a:solidFill>
                <a:latin typeface="PCSJUS+RixVeryGoodPM"/>
              </a:rPr>
              <a:t>*****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	5</a:t>
            </a:r>
            <a:r>
              <a:rPr lang="ko-KR" altLang="en-US" sz="1400" dirty="0">
                <a:solidFill>
                  <a:srgbClr val="FF0000"/>
                </a:solidFill>
                <a:latin typeface="PCSJUS+RixVeryGoodPM"/>
              </a:rPr>
              <a:t>개</a:t>
            </a:r>
            <a:endParaRPr lang="en-US" altLang="ko-KR" sz="1400" dirty="0">
              <a:solidFill>
                <a:srgbClr val="FF0000"/>
              </a:solidFill>
              <a:latin typeface="PCSJUS+RixVeryGoodPM"/>
            </a:endParaRPr>
          </a:p>
          <a:p>
            <a:pPr defTabSz="715963">
              <a:lnSpc>
                <a:spcPct val="150000"/>
              </a:lnSpc>
              <a:tabLst>
                <a:tab pos="714375" algn="l"/>
              </a:tabLst>
            </a:pP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I = 4	1</a:t>
            </a:r>
            <a:r>
              <a:rPr lang="ko-KR" altLang="en-US" sz="1400" dirty="0">
                <a:solidFill>
                  <a:srgbClr val="FF0000"/>
                </a:solidFill>
                <a:latin typeface="PCSJUS+RixVeryGoodPM"/>
              </a:rPr>
              <a:t>개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			</a:t>
            </a:r>
            <a:r>
              <a:rPr lang="ko-KR" altLang="en-US" sz="1100" dirty="0" smtClean="0">
                <a:solidFill>
                  <a:srgbClr val="FF0000"/>
                </a:solidFill>
                <a:latin typeface="PCSJUS+RixVeryGoodPM"/>
              </a:rPr>
              <a:t>□</a:t>
            </a:r>
            <a:r>
              <a:rPr lang="ko-KR" altLang="en-US" sz="1400" dirty="0" smtClean="0">
                <a:solidFill>
                  <a:srgbClr val="FF0000"/>
                </a:solidFill>
                <a:latin typeface="PCSJUS+RixVeryGoodPM"/>
              </a:rPr>
              <a:t>    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 </a:t>
            </a:r>
            <a:r>
              <a:rPr lang="en-US" altLang="ko-KR" sz="1400" dirty="0" smtClean="0">
                <a:solidFill>
                  <a:srgbClr val="FF0000"/>
                </a:solidFill>
                <a:latin typeface="PCSJUS+RixVeryGoodPM"/>
              </a:rPr>
              <a:t>*******</a:t>
            </a:r>
            <a:r>
              <a:rPr lang="en-US" altLang="ko-KR" sz="1400" dirty="0">
                <a:solidFill>
                  <a:srgbClr val="FF0000"/>
                </a:solidFill>
                <a:latin typeface="PCSJUS+RixVeryGoodPM"/>
              </a:rPr>
              <a:t>	7</a:t>
            </a:r>
            <a:r>
              <a:rPr lang="ko-KR" altLang="en-US" sz="1400" dirty="0">
                <a:solidFill>
                  <a:srgbClr val="FF0000"/>
                </a:solidFill>
                <a:latin typeface="PCSJUS+RixVeryGoodPM"/>
              </a:rPr>
              <a:t>개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3ED7B9-84A7-4DED-98B1-D22FD85C7F6C}"/>
              </a:ext>
            </a:extLst>
          </p:cNvPr>
          <p:cNvCxnSpPr>
            <a:cxnSpLocks/>
          </p:cNvCxnSpPr>
          <p:nvPr/>
        </p:nvCxnSpPr>
        <p:spPr>
          <a:xfrm>
            <a:off x="5638259" y="2600650"/>
            <a:ext cx="0" cy="13498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957AF8-5827-4866-919D-DBCF4DE16D85}"/>
              </a:ext>
            </a:extLst>
          </p:cNvPr>
          <p:cNvCxnSpPr>
            <a:cxnSpLocks/>
          </p:cNvCxnSpPr>
          <p:nvPr/>
        </p:nvCxnSpPr>
        <p:spPr>
          <a:xfrm>
            <a:off x="6286657" y="2149031"/>
            <a:ext cx="0" cy="204783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26F7CF-E04B-4647-AD65-B014B6F43897}"/>
              </a:ext>
            </a:extLst>
          </p:cNvPr>
          <p:cNvCxnSpPr>
            <a:cxnSpLocks/>
          </p:cNvCxnSpPr>
          <p:nvPr/>
        </p:nvCxnSpPr>
        <p:spPr>
          <a:xfrm>
            <a:off x="6333550" y="2149031"/>
            <a:ext cx="0" cy="204783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030DC1-7AE5-4A9A-BE6F-F5751E7166A9}"/>
              </a:ext>
            </a:extLst>
          </p:cNvPr>
          <p:cNvSpPr txBox="1"/>
          <p:nvPr/>
        </p:nvSpPr>
        <p:spPr>
          <a:xfrm>
            <a:off x="6837369" y="2016351"/>
            <a:ext cx="14951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내부의 반복문 </a:t>
            </a:r>
            <a:r>
              <a:rPr lang="en-US" altLang="ko-KR" sz="1400" dirty="0">
                <a:solidFill>
                  <a:srgbClr val="FF0000"/>
                </a:solidFill>
              </a:rPr>
              <a:t/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</a:rPr>
              <a:t>공백 생성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DB32A9-D381-40EC-AF40-70188086EA9A}"/>
              </a:ext>
            </a:extLst>
          </p:cNvPr>
          <p:cNvSpPr txBox="1"/>
          <p:nvPr/>
        </p:nvSpPr>
        <p:spPr>
          <a:xfrm>
            <a:off x="4484403" y="215323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①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A3A622-0675-40A9-9187-90708AE44139}"/>
              </a:ext>
            </a:extLst>
          </p:cNvPr>
          <p:cNvSpPr txBox="1"/>
          <p:nvPr/>
        </p:nvSpPr>
        <p:spPr>
          <a:xfrm>
            <a:off x="7171098" y="164701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②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91EE88-DEB9-4F67-9419-D81F605DFC7D}"/>
              </a:ext>
            </a:extLst>
          </p:cNvPr>
          <p:cNvSpPr txBox="1"/>
          <p:nvPr/>
        </p:nvSpPr>
        <p:spPr>
          <a:xfrm>
            <a:off x="4400507" y="3543300"/>
            <a:ext cx="1012418" cy="523220"/>
          </a:xfrm>
          <a:prstGeom prst="rect">
            <a:avLst/>
          </a:prstGeom>
          <a:noFill/>
          <a:ln>
            <a:solidFill>
              <a:srgbClr val="F06436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전체 높이</a:t>
            </a:r>
          </a:p>
          <a:p>
            <a:pPr algn="ctr"/>
            <a:r>
              <a:rPr lang="en-US" altLang="ko-KR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4</a:t>
            </a:r>
            <a:r>
              <a:rPr lang="ko-KR" altLang="en-US" sz="1400" b="0" i="0" u="none" strike="noStrike" baseline="0" dirty="0">
                <a:solidFill>
                  <a:srgbClr val="FF0000"/>
                </a:solidFill>
                <a:latin typeface="PCSJUS+RixVeryGoodPM"/>
              </a:rPr>
              <a:t>로 가정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4FCFF6-84EC-4CA5-8F11-00F6910ED96B}"/>
              </a:ext>
            </a:extLst>
          </p:cNvPr>
          <p:cNvSpPr txBox="1"/>
          <p:nvPr/>
        </p:nvSpPr>
        <p:spPr>
          <a:xfrm>
            <a:off x="9109288" y="2030756"/>
            <a:ext cx="19338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내부의 두번째 반복문 </a:t>
            </a:r>
            <a:r>
              <a:rPr lang="en-US" altLang="ko-KR" sz="1400" dirty="0">
                <a:solidFill>
                  <a:srgbClr val="FF0000"/>
                </a:solidFill>
              </a:rPr>
              <a:t/>
            </a:r>
            <a:br>
              <a:rPr lang="en-US" altLang="ko-KR" sz="1400" dirty="0">
                <a:solidFill>
                  <a:srgbClr val="FF0000"/>
                </a:solidFill>
              </a:rPr>
            </a:b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</a:rPr>
              <a:t>별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rgbClr val="FF0000"/>
                </a:solidFill>
              </a:rPr>
              <a:t>생성</a:t>
            </a:r>
            <a:r>
              <a:rPr lang="en-US" altLang="ko-KR" sz="1400" dirty="0">
                <a:solidFill>
                  <a:srgbClr val="FF0000"/>
                </a:solidFill>
              </a:rPr>
              <a:t>(*)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21D206-F875-40FD-850A-252FEC0332B8}"/>
              </a:ext>
            </a:extLst>
          </p:cNvPr>
          <p:cNvSpPr txBox="1"/>
          <p:nvPr/>
        </p:nvSpPr>
        <p:spPr>
          <a:xfrm>
            <a:off x="9482912" y="167087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③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095BE5-A122-4D3A-A0C7-7A09C45E5C1D}"/>
              </a:ext>
            </a:extLst>
          </p:cNvPr>
          <p:cNvSpPr txBox="1"/>
          <p:nvPr/>
        </p:nvSpPr>
        <p:spPr>
          <a:xfrm>
            <a:off x="7113527" y="3015641"/>
            <a:ext cx="10308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u="none" strike="noStrike" baseline="0" dirty="0">
                <a:latin typeface="PCSJUS+RixVeryGoodPM"/>
              </a:rPr>
              <a:t>전체 높이 </a:t>
            </a:r>
            <a:r>
              <a:rPr lang="en-US" altLang="ko-KR" sz="1400" b="0" i="0" u="none" strike="noStrike" baseline="0" dirty="0">
                <a:latin typeface="PCSJUS+RixVeryGoodPM"/>
              </a:rPr>
              <a:t/>
            </a:r>
            <a:br>
              <a:rPr lang="en-US" altLang="ko-KR" sz="1400" b="0" i="0" u="none" strike="noStrike" baseline="0" dirty="0">
                <a:latin typeface="PCSJUS+RixVeryGoodPM"/>
              </a:rPr>
            </a:br>
            <a:r>
              <a:rPr lang="en-US" altLang="ko-KR" sz="1400" b="0" i="0" u="none" strike="noStrike" baseline="0" dirty="0">
                <a:latin typeface="PCSJUS+RixVeryGoodPM"/>
              </a:rPr>
              <a:t>(4) -j</a:t>
            </a:r>
            <a:r>
              <a:rPr lang="ko-KR" altLang="en-US" sz="1400" b="0" i="0" u="none" strike="noStrike" baseline="0" dirty="0">
                <a:latin typeface="PCSJUS+RixVeryGoodPM"/>
              </a:rPr>
              <a:t>개 </a:t>
            </a:r>
            <a:endParaRPr lang="ko-KR" altLang="en-US" sz="1400" dirty="0"/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EBCB411F-3449-44E6-8681-E49A4FF2CE2A}"/>
              </a:ext>
            </a:extLst>
          </p:cNvPr>
          <p:cNvSpPr/>
          <p:nvPr/>
        </p:nvSpPr>
        <p:spPr>
          <a:xfrm>
            <a:off x="6910407" y="2816225"/>
            <a:ext cx="188618" cy="996807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90C45A-60D3-4C8E-ABFF-BC61371AD594}"/>
              </a:ext>
            </a:extLst>
          </p:cNvPr>
          <p:cNvSpPr txBox="1"/>
          <p:nvPr/>
        </p:nvSpPr>
        <p:spPr>
          <a:xfrm>
            <a:off x="10675175" y="3015641"/>
            <a:ext cx="10308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u="none" strike="noStrike" baseline="0" dirty="0">
                <a:latin typeface="PCSJUS+RixVeryGoodPM"/>
              </a:rPr>
              <a:t>2k-1</a:t>
            </a:r>
            <a:r>
              <a:rPr lang="ko-KR" altLang="en-US" sz="1400" b="0" i="0" u="none" strike="noStrike" baseline="0" dirty="0">
                <a:latin typeface="PCSJUS+RixVeryGoodPM"/>
              </a:rPr>
              <a:t>개</a:t>
            </a:r>
            <a:endParaRPr lang="ko-KR" altLang="en-US" sz="1400" dirty="0"/>
          </a:p>
        </p:txBody>
      </p:sp>
      <p:sp>
        <p:nvSpPr>
          <p:cNvPr id="24" name="Right Bracket 23">
            <a:extLst>
              <a:ext uri="{FF2B5EF4-FFF2-40B4-BE49-F238E27FC236}">
                <a16:creationId xmlns:a16="http://schemas.microsoft.com/office/drawing/2014/main" id="{35ACF3B0-329C-48E2-B5C8-AF45BA3484B2}"/>
              </a:ext>
            </a:extLst>
          </p:cNvPr>
          <p:cNvSpPr/>
          <p:nvPr/>
        </p:nvSpPr>
        <p:spPr>
          <a:xfrm>
            <a:off x="10472055" y="2816225"/>
            <a:ext cx="188618" cy="996807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590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669C13A-11E1-4220-85F5-005C528963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7015" y="815008"/>
            <a:ext cx="11281052" cy="49996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중첩 반복문을 사용하는 피라미드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dirty="0">
                <a:solidFill>
                  <a:srgbClr val="000000"/>
                </a:solidFill>
                <a:latin typeface="+mn-ea"/>
                <a:ea typeface="+mn-ea"/>
              </a:rPr>
              <a:t>누적 예제</a:t>
            </a:r>
            <a:r>
              <a:rPr lang="en-US" altLang="ko-KR" dirty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  <a:p>
            <a:pPr lvl="1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중첩 반복문 사용하기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(2) (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소스 코드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+mn-ea"/>
                <a:ea typeface="+mn-ea"/>
              </a:rPr>
              <a:t>4-2-14.html)</a:t>
            </a:r>
          </a:p>
          <a:p>
            <a:pPr lvl="1"/>
            <a:endParaRPr lang="en-US" altLang="ko-KR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  <a:p>
            <a:pPr lvl="1"/>
            <a:endParaRPr lang="en-US" altLang="ko-KR" sz="1600" b="0" i="0" u="none" strike="noStrike" baseline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SECTION</a:t>
            </a:r>
            <a:r>
              <a:rPr lang="ko-KR" altLang="en-US" dirty="0"/>
              <a:t> </a:t>
            </a:r>
            <a:r>
              <a:rPr lang="en-US" altLang="ko-KR" dirty="0"/>
              <a:t>4-2</a:t>
            </a:r>
            <a:r>
              <a:rPr lang="ko-KR" altLang="en-US" dirty="0"/>
              <a:t> 반복문</a:t>
            </a:r>
            <a:r>
              <a:rPr lang="en-US" altLang="ko-KR" sz="2400" dirty="0"/>
              <a:t>(15)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ECF90675-DE73-4469-9CBD-F778456896E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471D380D-97B0-45F0-B304-1188D8D16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911434"/>
              </p:ext>
            </p:extLst>
          </p:nvPr>
        </p:nvGraphicFramePr>
        <p:xfrm>
          <a:off x="1524000" y="1790700"/>
          <a:ext cx="437270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70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01 &lt;script&gt;</a:t>
                      </a:r>
                    </a:p>
                    <a:p>
                      <a:pPr algn="l"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02 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변수를 선언합니다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03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let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output = ''</a:t>
                      </a: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04</a:t>
                      </a: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05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반복문</a:t>
                      </a: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06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(let i = 1; i &lt; 15; i++) {</a:t>
                      </a: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07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(let j = 15; j &gt; i; j--) {</a:t>
                      </a: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08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output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+= ' '</a:t>
                      </a: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09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10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(let k = 0; k &lt; 2 * i - 1; k++) {</a:t>
                      </a: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11 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  output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+= '*’</a:t>
                      </a: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12 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</a:rPr>
                        <a:t>    }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13 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</a:rPr>
                        <a:t>    output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+= '\n'</a:t>
                      </a: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14 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  <a:p>
                      <a:pPr algn="l" latinLnBrk="1"/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</a:rPr>
                        <a:t>16   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출력합니다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17 </a:t>
                      </a:r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</a:rPr>
                        <a:t>  console.log(output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18 &lt;/script&gt;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0365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마무리①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34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50326DBB-84FF-4A1B-8DC0-3DB3E669E9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F851B322-4058-4DCD-9EF7-105CCF1E2C10}"/>
              </a:ext>
            </a:extLst>
          </p:cNvPr>
          <p:cNvSpPr txBox="1">
            <a:spLocks/>
          </p:cNvSpPr>
          <p:nvPr/>
        </p:nvSpPr>
        <p:spPr>
          <a:xfrm>
            <a:off x="487015" y="815008"/>
            <a:ext cx="11281052" cy="499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4BB0A0"/>
              </a:buClr>
              <a:buFont typeface="시스템 서체"/>
              <a:buChar char="◦"/>
              <a:defRPr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시스템 서체"/>
              <a:buChar char="⁃"/>
              <a:defRPr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solidFill>
                  <a:srgbClr val="000000"/>
                </a:solidFill>
                <a:latin typeface="YoonV YoonMyungjo100Std_OTF"/>
              </a:rPr>
              <a:t>6</a:t>
            </a:r>
            <a:r>
              <a:rPr lang="ko-KR" altLang="en-US" b="0" i="0" u="none" strike="noStrike" baseline="0" dirty="0">
                <a:solidFill>
                  <a:srgbClr val="000000"/>
                </a:solidFill>
                <a:latin typeface="YoonV YoonMyungjo100Std_OTF"/>
              </a:rPr>
              <a:t>가지 키워드로 정리하는 핵심 포인트</a:t>
            </a: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for in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반복문은 배열의 인덱스를 기반으로 반복할 때 사용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for of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반복문은 배열의 값을 기반으로 반복할 때 사용</a:t>
            </a:r>
            <a:endParaRPr lang="en-US" altLang="ko-KR" sz="160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for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반복문은 횟수를 기반으로 반복할 때 사용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while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반복문은 조건을 기반으로 반복할 때 사용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break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키워드는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switch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조건문이나 반복문을 벗어날 때 사용</a:t>
            </a:r>
            <a:endParaRPr lang="en-US" altLang="ko-KR" sz="1600" b="0" i="0" u="none" strike="noStrike" baseline="0" dirty="0">
              <a:solidFill>
                <a:srgbClr val="000000"/>
              </a:solidFill>
              <a:latin typeface="YoonV YoonMyungjo100Std_OTF"/>
            </a:endParaRPr>
          </a:p>
          <a:p>
            <a:pPr lvl="1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continue 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YoonV YoonMyungjo100Std_OTF"/>
              </a:rPr>
              <a:t>키워드는 반복문 안의 반복 작업을 멈추고 반복문의 처음으로 돌아가 다음 반복 작업을 진행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795375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마무리②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35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50326DBB-84FF-4A1B-8DC0-3DB3E669E9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F851B322-4058-4DCD-9EF7-105CCF1E2C10}"/>
              </a:ext>
            </a:extLst>
          </p:cNvPr>
          <p:cNvSpPr txBox="1">
            <a:spLocks/>
          </p:cNvSpPr>
          <p:nvPr/>
        </p:nvSpPr>
        <p:spPr>
          <a:xfrm>
            <a:off x="487015" y="815008"/>
            <a:ext cx="11281052" cy="499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4BB0A0"/>
              </a:buClr>
              <a:buFont typeface="시스템 서체"/>
              <a:buChar char="◦"/>
              <a:defRPr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시스템 서체"/>
              <a:buChar char="⁃"/>
              <a:defRPr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확인 문제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sz="1600" dirty="0"/>
              <a:t>다음 프로그램의 실행 결과를 예측해보기</a:t>
            </a:r>
            <a:endParaRPr lang="en-US" altLang="ko-KR" sz="1600" dirty="0"/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/>
            </a:pPr>
            <a:endParaRPr lang="en-US" altLang="ko-KR" sz="1600" dirty="0"/>
          </a:p>
          <a:p>
            <a:pPr marL="457200" lvl="1" indent="0">
              <a:buNone/>
            </a:pPr>
            <a:endParaRPr lang="en-US" altLang="ko-KR" dirty="0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18CBA7CF-6D4C-4CD9-9B37-2BEC84E16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467728"/>
              </p:ext>
            </p:extLst>
          </p:nvPr>
        </p:nvGraphicFramePr>
        <p:xfrm>
          <a:off x="1371599" y="1711179"/>
          <a:ext cx="3821723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1723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&lt;script&gt;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array = ['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사과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배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바나나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']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console.log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('# for in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반복문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(const i in array) {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console.log(i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console.log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('# for of 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반복문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')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for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(const i of array) {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  console.log(i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6C623D4B-9EBB-4103-B292-B9875653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724" y="2058857"/>
            <a:ext cx="2705186" cy="242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590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마무리③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36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50326DBB-84FF-4A1B-8DC0-3DB3E669E9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F851B322-4058-4DCD-9EF7-105CCF1E2C10}"/>
              </a:ext>
            </a:extLst>
          </p:cNvPr>
          <p:cNvSpPr txBox="1">
            <a:spLocks/>
          </p:cNvSpPr>
          <p:nvPr/>
        </p:nvSpPr>
        <p:spPr>
          <a:xfrm>
            <a:off x="487015" y="815008"/>
            <a:ext cx="11281052" cy="499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4BB0A0"/>
              </a:buClr>
              <a:buFont typeface="시스템 서체"/>
              <a:buChar char="◦"/>
              <a:defRPr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시스템 서체"/>
              <a:buChar char="⁃"/>
              <a:defRPr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확인 문제</a:t>
            </a:r>
            <a:endParaRPr lang="en-US" altLang="ko-KR" dirty="0"/>
          </a:p>
          <a:p>
            <a:pPr marL="800100" lvl="1" indent="-342900">
              <a:buFont typeface="+mj-lt"/>
              <a:buAutoNum type="arabicPeriod" startAt="2"/>
            </a:pPr>
            <a:r>
              <a:rPr lang="ko-KR" altLang="en-US" sz="1600" dirty="0"/>
              <a:t>다음 프로그램의 실행 결과를 예측해보고</a:t>
            </a:r>
            <a:r>
              <a:rPr lang="en-US" altLang="ko-KR" sz="1600" dirty="0"/>
              <a:t>, </a:t>
            </a:r>
            <a:r>
              <a:rPr lang="ko-KR" altLang="en-US" sz="1600" dirty="0"/>
              <a:t>혹시 오류가 발생한다면 어디를 수정해야 하나</a:t>
            </a:r>
            <a:r>
              <a:rPr lang="en-US" altLang="ko-KR" sz="1600" dirty="0"/>
              <a:t>?</a:t>
            </a:r>
          </a:p>
          <a:p>
            <a:pPr marL="800100" lvl="1" indent="-342900">
              <a:buFont typeface="+mj-lt"/>
              <a:buAutoNum type="arabicPeriod" startAt="2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 startAt="2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 startAt="2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 startAt="2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 startAt="2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 startAt="2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 startAt="2"/>
            </a:pPr>
            <a:r>
              <a:rPr lang="en-US" altLang="ko-KR" sz="1600" dirty="0"/>
              <a:t>1</a:t>
            </a:r>
            <a:r>
              <a:rPr lang="ko-KR" altLang="en-US" sz="1600" dirty="0"/>
              <a:t>부터 </a:t>
            </a:r>
            <a:r>
              <a:rPr lang="en-US" altLang="ko-KR" sz="1600" dirty="0"/>
              <a:t>100</a:t>
            </a:r>
            <a:r>
              <a:rPr lang="ko-KR" altLang="en-US" sz="1600" dirty="0"/>
              <a:t>까지의 숫자를 곱한 값을 계산하는 프로그램을 만들고</a:t>
            </a:r>
            <a:r>
              <a:rPr lang="en-US" altLang="ko-KR" sz="1600" dirty="0"/>
              <a:t>,</a:t>
            </a:r>
            <a:r>
              <a:rPr lang="ko-KR" altLang="en-US" sz="1600" dirty="0"/>
              <a:t> 코드를 실행해 나온 결과를 확인하기</a:t>
            </a:r>
            <a:endParaRPr lang="en-US" altLang="ko-KR" sz="1600" dirty="0"/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18CBA7CF-6D4C-4CD9-9B37-2BEC84E164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746525"/>
              </p:ext>
            </p:extLst>
          </p:nvPr>
        </p:nvGraphicFramePr>
        <p:xfrm>
          <a:off x="1371599" y="1711179"/>
          <a:ext cx="3821723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1723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&lt;script&gt;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array = []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for (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i = 0; i &lt; 3; i++) {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array.push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((i + 1) * 3)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}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console.log(array)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6C623D4B-9EBB-4103-B292-B987565343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477" y="1689481"/>
            <a:ext cx="2075218" cy="1861049"/>
          </a:xfrm>
          <a:prstGeom prst="rect">
            <a:avLst/>
          </a:prstGeom>
        </p:spPr>
      </p:pic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126B9A99-6C24-47EE-A55E-4959FBA64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836922"/>
              </p:ext>
            </p:extLst>
          </p:nvPr>
        </p:nvGraphicFramePr>
        <p:xfrm>
          <a:off x="1371598" y="4224205"/>
          <a:ext cx="5509848" cy="179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84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&lt;script&gt;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let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output = 1</a:t>
                      </a: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console.log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(`1~100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의 숫자를 모두 곱하면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, ${output}</a:t>
                      </a:r>
                      <a:r>
                        <a:rPr lang="ko-KR" altLang="en-US" sz="1600" b="0" dirty="0">
                          <a:solidFill>
                            <a:sysClr val="windowText" lastClr="000000"/>
                          </a:solidFill>
                        </a:rPr>
                        <a:t>입니다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.`)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&lt;/script&gt;</a:t>
                      </a:r>
                      <a:endParaRPr lang="ko-KR" altLang="en-US" sz="16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A131EF7-BD2E-4989-BBCE-41C7442FF45D}"/>
              </a:ext>
            </a:extLst>
          </p:cNvPr>
          <p:cNvSpPr/>
          <p:nvPr/>
        </p:nvSpPr>
        <p:spPr>
          <a:xfrm>
            <a:off x="1524000" y="4783015"/>
            <a:ext cx="5228492" cy="62132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3EEBAC-8FF6-4934-9871-0BD3B6E4A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477" y="4237994"/>
            <a:ext cx="2075218" cy="186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305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A7E222A-3DD0-4F44-9E84-3F27702E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마무리④</a:t>
            </a:r>
            <a:r>
              <a:rPr lang="en-US" altLang="ko-KR" dirty="0"/>
              <a:t>]</a:t>
            </a:r>
            <a:endParaRPr lang="x-none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53471F-72B7-DB45-BAD4-3CFA1E44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3835A-5E09-4503-B599-6DF340CA3988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7" name="바닥글 개체 틀 36">
            <a:extLst>
              <a:ext uri="{FF2B5EF4-FFF2-40B4-BE49-F238E27FC236}">
                <a16:creationId xmlns:a16="http://schemas.microsoft.com/office/drawing/2014/main" id="{50326DBB-84FF-4A1B-8DC0-3DB3E669E91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82154" y="6574971"/>
            <a:ext cx="4114800" cy="216052"/>
          </a:xfrm>
        </p:spPr>
        <p:txBody>
          <a:bodyPr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altLang="ko-KR" b="1" dirty="0"/>
              <a:t>〉 〉 </a:t>
            </a:r>
            <a:r>
              <a:rPr lang="ko-KR" altLang="en-US" b="1" dirty="0"/>
              <a:t>혼자 공부하는 자바스크립트</a:t>
            </a:r>
            <a:endParaRPr lang="ko-KR" altLang="en-US" dirty="0"/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F851B322-4058-4DCD-9EF7-105CCF1E2C10}"/>
              </a:ext>
            </a:extLst>
          </p:cNvPr>
          <p:cNvSpPr txBox="1">
            <a:spLocks/>
          </p:cNvSpPr>
          <p:nvPr/>
        </p:nvSpPr>
        <p:spPr>
          <a:xfrm>
            <a:off x="487015" y="815008"/>
            <a:ext cx="11281052" cy="499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rgbClr val="4BB0A0"/>
              </a:buClr>
              <a:buFont typeface="시스템 서체"/>
              <a:buChar char="◦"/>
              <a:defRPr sz="20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시스템 서체"/>
              <a:buChar char="⁃"/>
              <a:defRPr sz="18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확인 문제</a:t>
            </a:r>
            <a:endParaRPr lang="en-US" altLang="ko-KR" dirty="0"/>
          </a:p>
          <a:p>
            <a:pPr marL="800100" lvl="1" indent="-342900">
              <a:buFont typeface="+mj-lt"/>
              <a:buAutoNum type="arabicPeriod" startAt="4"/>
            </a:pPr>
            <a:r>
              <a:rPr lang="ko-KR" altLang="en-US" sz="1600" dirty="0"/>
              <a:t>처음에는 조금 어려울 수 있겠지만</a:t>
            </a:r>
            <a:r>
              <a:rPr lang="en-US" altLang="ko-KR" sz="1600" dirty="0"/>
              <a:t>, </a:t>
            </a:r>
            <a:r>
              <a:rPr lang="ko-KR" altLang="en-US" sz="1600" dirty="0"/>
              <a:t>활용 예제의 피라미드를 활용해서 다음과 같은 피라미드를 만들어보기</a:t>
            </a:r>
            <a:endParaRPr lang="en-US" altLang="ko-KR" sz="1600" dirty="0"/>
          </a:p>
          <a:p>
            <a:pPr marL="800100" lvl="1" indent="-342900">
              <a:buFont typeface="+mj-lt"/>
              <a:buAutoNum type="arabicPeriod" startAt="4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 startAt="4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 startAt="4"/>
            </a:pPr>
            <a:endParaRPr lang="en-US" altLang="ko-KR" sz="1600" dirty="0"/>
          </a:p>
          <a:p>
            <a:pPr marL="800100" lvl="1" indent="-342900">
              <a:buFont typeface="+mj-lt"/>
              <a:buAutoNum type="arabicPeriod" startAt="4"/>
            </a:pPr>
            <a:endParaRPr lang="en-US" altLang="ko-KR" sz="1600" dirty="0"/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126B9A99-6C24-47EE-A55E-4959FBA645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483699"/>
              </p:ext>
            </p:extLst>
          </p:nvPr>
        </p:nvGraphicFramePr>
        <p:xfrm>
          <a:off x="1242644" y="1705373"/>
          <a:ext cx="5509848" cy="3992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9848">
                  <a:extLst>
                    <a:ext uri="{9D8B030D-6E8A-4147-A177-3AD203B41FA5}">
                      <a16:colId xmlns:a16="http://schemas.microsoft.com/office/drawing/2014/main" val="8618037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&lt;script&gt;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변수를 선언합니다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let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output = ''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err="1" smtClean="0">
                          <a:solidFill>
                            <a:sysClr val="windowText" lastClr="000000"/>
                          </a:solidFill>
                        </a:rPr>
                        <a:t>const</a:t>
                      </a:r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ysClr val="windowText" lastClr="000000"/>
                          </a:solidFill>
                        </a:rPr>
                        <a:t>size = 5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ysClr val="windowText" lastClr="000000"/>
                          </a:solidFill>
                        </a:rPr>
                        <a:t>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반복합니다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6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ko-KR" sz="1600" b="0" dirty="0" smtClean="0">
                          <a:solidFill>
                            <a:srgbClr val="FF0000"/>
                          </a:solidFill>
                        </a:rPr>
                        <a:t>// </a:t>
                      </a:r>
                      <a:r>
                        <a:rPr lang="ko-KR" altLang="en-US" sz="1600" b="0" dirty="0">
                          <a:solidFill>
                            <a:srgbClr val="FF0000"/>
                          </a:solidFill>
                        </a:rPr>
                        <a:t>출력합니다</a:t>
                      </a:r>
                      <a:r>
                        <a:rPr lang="en-US" altLang="ko-KR" sz="1600" b="0" dirty="0">
                          <a:solidFill>
                            <a:srgbClr val="FF0000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en-US" altLang="ko-KR" sz="1600" b="0" dirty="0" smtClean="0">
                          <a:solidFill>
                            <a:schemeClr val="tx1"/>
                          </a:solidFill>
                        </a:rPr>
                        <a:t>  console.log(output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&lt;/script&gt;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720426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A131EF7-BD2E-4989-BBCE-41C7442FF45D}"/>
              </a:ext>
            </a:extLst>
          </p:cNvPr>
          <p:cNvSpPr/>
          <p:nvPr/>
        </p:nvSpPr>
        <p:spPr>
          <a:xfrm>
            <a:off x="1431235" y="3060090"/>
            <a:ext cx="5027944" cy="176981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EC1E82-AEB6-4B47-8175-8D8706ED58DC}"/>
              </a:ext>
            </a:extLst>
          </p:cNvPr>
          <p:cNvGrpSpPr/>
          <p:nvPr/>
        </p:nvGrpSpPr>
        <p:grpSpPr>
          <a:xfrm>
            <a:off x="7900344" y="1928918"/>
            <a:ext cx="2063373" cy="3769335"/>
            <a:chOff x="4867275" y="481012"/>
            <a:chExt cx="3211876" cy="58674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D9973DB-5562-4F8D-8541-CE4A4C06F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7275" y="509587"/>
              <a:ext cx="2457450" cy="583882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3A756C8-59EF-449C-9948-9E3F4B198F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02851" y="481012"/>
              <a:ext cx="876300" cy="5867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0837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한빛미디어">
      <a:dk1>
        <a:sysClr val="windowText" lastClr="000000"/>
      </a:dk1>
      <a:lt1>
        <a:sysClr val="window" lastClr="FFFFFF"/>
      </a:lt1>
      <a:dk2>
        <a:srgbClr val="1FAEB6"/>
      </a:dk2>
      <a:lt2>
        <a:srgbClr val="919191"/>
      </a:lt2>
      <a:accent1>
        <a:srgbClr val="39B54A"/>
      </a:accent1>
      <a:accent2>
        <a:srgbClr val="F15A31"/>
      </a:accent2>
      <a:accent3>
        <a:srgbClr val="FA9D1C"/>
      </a:accent3>
      <a:accent4>
        <a:srgbClr val="41B50A"/>
      </a:accent4>
      <a:accent5>
        <a:srgbClr val="55AAEA"/>
      </a:accent5>
      <a:accent6>
        <a:srgbClr val="4D2702"/>
      </a:accent6>
      <a:hlink>
        <a:srgbClr val="39B54A"/>
      </a:hlink>
      <a:folHlink>
        <a:srgbClr val="919191"/>
      </a:folHlink>
    </a:clrScheme>
    <a:fontScheme name="맑은 고딕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bg1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Pages>37</Pages>
  <Words>3417</Words>
  <Characters>0</Characters>
  <Application>Microsoft Office PowerPoint</Application>
  <DocSecurity>0</DocSecurity>
  <PresentationFormat>와이드스크린</PresentationFormat>
  <Lines>0</Lines>
  <Paragraphs>747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7" baseType="lpstr">
      <vt:lpstr>ITC Garamond Std Lt</vt:lpstr>
      <vt:lpstr>PCSJUS+RixVeryGoodPM</vt:lpstr>
      <vt:lpstr>YoonV YoonMyungjo100Std_OTF</vt:lpstr>
      <vt:lpstr>Malgun Gothic</vt:lpstr>
      <vt:lpstr>Malgun Gothic</vt:lpstr>
      <vt:lpstr>시스템 서체</vt:lpstr>
      <vt:lpstr>Arial</vt:lpstr>
      <vt:lpstr>Calibri</vt:lpstr>
      <vt:lpstr>Wingdings</vt:lpstr>
      <vt:lpstr>Office 테마</vt:lpstr>
      <vt:lpstr>혼자 공부하는 자바스크립트</vt:lpstr>
      <vt:lpstr>시작하기전에</vt:lpstr>
      <vt:lpstr>이 책의 학습 목표</vt:lpstr>
      <vt:lpstr>Contents</vt:lpstr>
      <vt:lpstr>PowerPoint 프레젠테이션</vt:lpstr>
      <vt:lpstr>SECTION 4-1 배열(1)</vt:lpstr>
      <vt:lpstr>SECTION 4-1 배열(2)</vt:lpstr>
      <vt:lpstr>SECTION 4-1 배열(3)</vt:lpstr>
      <vt:lpstr>SECTION 4-1 배열(4)</vt:lpstr>
      <vt:lpstr>SECTION 4-1 배열(5)</vt:lpstr>
      <vt:lpstr>SECTION 4-1 배열(6)</vt:lpstr>
      <vt:lpstr>SECTION 4-1 배열(7)</vt:lpstr>
      <vt:lpstr>SECTION 4-1 배열(8)</vt:lpstr>
      <vt:lpstr>SECTION 4-1 배열(8)</vt:lpstr>
      <vt:lpstr>[좀 더 알아보기①]</vt:lpstr>
      <vt:lpstr>[좀 더 알아보기②]</vt:lpstr>
      <vt:lpstr>[마무리①]</vt:lpstr>
      <vt:lpstr>[마무리②]</vt:lpstr>
      <vt:lpstr>SECTION 4-2 반복문(1)</vt:lpstr>
      <vt:lpstr>SECTION 4-2 반복문(2)</vt:lpstr>
      <vt:lpstr>SECTION 4-2 반복문(3)</vt:lpstr>
      <vt:lpstr>SECTION 4-2 반복문(4)</vt:lpstr>
      <vt:lpstr>SECTION 4-2 반복문(5)</vt:lpstr>
      <vt:lpstr>SECTION 4-2 반복문(6)</vt:lpstr>
      <vt:lpstr>SECTION 4-2 반복문(7)</vt:lpstr>
      <vt:lpstr>SECTION 4-2 반복문(8)</vt:lpstr>
      <vt:lpstr>SECTION 4-2 반복문(9)</vt:lpstr>
      <vt:lpstr>SECTION 4-2 반복문(10)</vt:lpstr>
      <vt:lpstr>SECTION 4-2 반복문(11)</vt:lpstr>
      <vt:lpstr>SECTION 4-2 반복문(12)</vt:lpstr>
      <vt:lpstr>SECTION 4-2 반복문(13)</vt:lpstr>
      <vt:lpstr>SECTION 4-2 반복문(14)</vt:lpstr>
      <vt:lpstr>SECTION 4-2 반복문(15)</vt:lpstr>
      <vt:lpstr>[마무리①]</vt:lpstr>
      <vt:lpstr>[마무리②]</vt:lpstr>
      <vt:lpstr>[마무리③]</vt:lpstr>
      <vt:lpstr>[마무리④]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파이썬으로 배우는 머신러닝 교과서</dc:title>
  <dc:creator>마케팅팀</dc:creator>
  <cp:lastModifiedBy>AI-00</cp:lastModifiedBy>
  <cp:revision>3</cp:revision>
  <dcterms:modified xsi:type="dcterms:W3CDTF">2026-06-12T02:20:50Z</dcterms:modified>
  <cp:version>10.105.277.55893</cp:version>
</cp:coreProperties>
</file>
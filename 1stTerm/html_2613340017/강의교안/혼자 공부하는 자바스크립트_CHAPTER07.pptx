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2"/>
  </p:notesMasterIdLst>
  <p:handoutMasterIdLst>
    <p:handoutMasterId r:id="rId63"/>
  </p:handoutMasterIdLst>
  <p:sldIdLst>
    <p:sldId id="2333" r:id="rId2"/>
    <p:sldId id="2101" r:id="rId3"/>
    <p:sldId id="2334" r:id="rId4"/>
    <p:sldId id="2345" r:id="rId5"/>
    <p:sldId id="2341" r:id="rId6"/>
    <p:sldId id="2383" r:id="rId7"/>
    <p:sldId id="2465" r:id="rId8"/>
    <p:sldId id="2466" r:id="rId9"/>
    <p:sldId id="2467" r:id="rId10"/>
    <p:sldId id="2468" r:id="rId11"/>
    <p:sldId id="2471" r:id="rId12"/>
    <p:sldId id="2472" r:id="rId13"/>
    <p:sldId id="2473" r:id="rId14"/>
    <p:sldId id="2474" r:id="rId15"/>
    <p:sldId id="2475" r:id="rId16"/>
    <p:sldId id="2476" r:id="rId17"/>
    <p:sldId id="2478" r:id="rId18"/>
    <p:sldId id="2477" r:id="rId19"/>
    <p:sldId id="2479" r:id="rId20"/>
    <p:sldId id="2480" r:id="rId21"/>
    <p:sldId id="2481" r:id="rId22"/>
    <p:sldId id="2482" r:id="rId23"/>
    <p:sldId id="2483" r:id="rId24"/>
    <p:sldId id="2484" r:id="rId25"/>
    <p:sldId id="2439" r:id="rId26"/>
    <p:sldId id="2485" r:id="rId27"/>
    <p:sldId id="2486" r:id="rId28"/>
    <p:sldId id="2487" r:id="rId29"/>
    <p:sldId id="2488" r:id="rId30"/>
    <p:sldId id="2489" r:id="rId31"/>
    <p:sldId id="2490" r:id="rId32"/>
    <p:sldId id="2491" r:id="rId33"/>
    <p:sldId id="2492" r:id="rId34"/>
    <p:sldId id="2493" r:id="rId35"/>
    <p:sldId id="2495" r:id="rId36"/>
    <p:sldId id="2496" r:id="rId37"/>
    <p:sldId id="2497" r:id="rId38"/>
    <p:sldId id="2498" r:id="rId39"/>
    <p:sldId id="2499" r:id="rId40"/>
    <p:sldId id="2500" r:id="rId41"/>
    <p:sldId id="2502" r:id="rId42"/>
    <p:sldId id="2503" r:id="rId43"/>
    <p:sldId id="2504" r:id="rId44"/>
    <p:sldId id="2505" r:id="rId45"/>
    <p:sldId id="2506" r:id="rId46"/>
    <p:sldId id="2507" r:id="rId47"/>
    <p:sldId id="2508" r:id="rId48"/>
    <p:sldId id="2509" r:id="rId49"/>
    <p:sldId id="2510" r:id="rId50"/>
    <p:sldId id="2511" r:id="rId51"/>
    <p:sldId id="2512" r:id="rId52"/>
    <p:sldId id="2513" r:id="rId53"/>
    <p:sldId id="2514" r:id="rId54"/>
    <p:sldId id="2515" r:id="rId55"/>
    <p:sldId id="2516" r:id="rId56"/>
    <p:sldId id="2517" r:id="rId57"/>
    <p:sldId id="2518" r:id="rId58"/>
    <p:sldId id="2469" r:id="rId59"/>
    <p:sldId id="2470" r:id="rId60"/>
    <p:sldId id="2519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34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99" userDrawn="1">
          <p15:clr>
            <a:srgbClr val="A4A3A4"/>
          </p15:clr>
        </p15:guide>
        <p15:guide id="5" orient="horz" pos="2614" userDrawn="1">
          <p15:clr>
            <a:srgbClr val="A4A3A4"/>
          </p15:clr>
        </p15:guide>
        <p15:guide id="6" pos="960" userDrawn="1">
          <p15:clr>
            <a:srgbClr val="A4A3A4"/>
          </p15:clr>
        </p15:guide>
        <p15:guide id="7" orient="horz" pos="1797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  <p15:guide id="9" pos="438" userDrawn="1">
          <p15:clr>
            <a:srgbClr val="A4A3A4"/>
          </p15:clr>
        </p15:guide>
        <p15:guide id="10" pos="71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436"/>
    <a:srgbClr val="A50021"/>
    <a:srgbClr val="4BB0A0"/>
    <a:srgbClr val="43B0A0"/>
    <a:srgbClr val="52AEE1"/>
    <a:srgbClr val="F89074"/>
    <a:srgbClr val="4285F4"/>
    <a:srgbClr val="72B945"/>
    <a:srgbClr val="FA9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7" autoAdjust="0"/>
    <p:restoredTop sz="50000" autoAdjust="0"/>
  </p:normalViewPr>
  <p:slideViewPr>
    <p:cSldViewPr snapToGrid="0" showGuides="1">
      <p:cViewPr varScale="1">
        <p:scale>
          <a:sx n="112" d="100"/>
          <a:sy n="112" d="100"/>
        </p:scale>
        <p:origin x="-306" y="-90"/>
      </p:cViewPr>
      <p:guideLst>
        <p:guide orient="horz" pos="2341"/>
        <p:guide orient="horz" pos="2614"/>
        <p:guide orient="horz" pos="1797"/>
        <p:guide orient="horz" pos="550"/>
        <p:guide pos="3840"/>
        <p:guide pos="3999"/>
        <p:guide pos="960"/>
        <p:guide pos="438"/>
        <p:guide pos="7174"/>
      </p:guideLst>
    </p:cSldViewPr>
  </p:slideViewPr>
  <p:outlineViewPr>
    <p:cViewPr>
      <p:scale>
        <a:sx n="33" d="100"/>
        <a:sy n="33" d="100"/>
      </p:scale>
      <p:origin x="0" y="249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342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F00D5-8D61-463B-A24D-AA343CDEF1C1}" type="datetimeFigureOut">
              <a:rPr lang="ko-KR" altLang="en-US" smtClean="0"/>
              <a:pPr/>
              <a:t>2021-05-12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7927B-07B9-470A-A6C7-2E21D055E1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80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E79A2-9499-4165-85CA-D3B599A71D6E}" type="datetimeFigureOut">
              <a:rPr lang="ko-KR" altLang="en-US" smtClean="0"/>
              <a:pPr/>
              <a:t>2021-05-12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F56FB-8B4C-4940-9CA8-BCB6BA92FB7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39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0;p2">
            <a:extLst>
              <a:ext uri="{FF2B5EF4-FFF2-40B4-BE49-F238E27FC236}">
                <a16:creationId xmlns="" xmlns:a16="http://schemas.microsoft.com/office/drawing/2014/main" id="{915EBAC6-B986-0141-9A3D-A1153FD2C8C9}"/>
              </a:ext>
            </a:extLst>
          </p:cNvPr>
          <p:cNvSpPr/>
          <p:nvPr userDrawn="1"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2;p2">
            <a:extLst>
              <a:ext uri="{FF2B5EF4-FFF2-40B4-BE49-F238E27FC236}">
                <a16:creationId xmlns="" xmlns:a16="http://schemas.microsoft.com/office/drawing/2014/main" id="{32DFD919-D29D-FC47-AD9F-0D1B2F5A8862}"/>
              </a:ext>
            </a:extLst>
          </p:cNvPr>
          <p:cNvSpPr/>
          <p:nvPr userDrawn="1"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3;p2">
            <a:extLst>
              <a:ext uri="{FF2B5EF4-FFF2-40B4-BE49-F238E27FC236}">
                <a16:creationId xmlns="" xmlns:a16="http://schemas.microsoft.com/office/drawing/2014/main" id="{42C43ECF-BBCB-1C42-93A8-68CF3572DD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20" name="Google Shape;14;p2">
            <a:extLst>
              <a:ext uri="{FF2B5EF4-FFF2-40B4-BE49-F238E27FC236}">
                <a16:creationId xmlns="" xmlns:a16="http://schemas.microsoft.com/office/drawing/2014/main" id="{5AF3B145-1035-874A-A46A-1DC2137AFDA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cxnSp>
        <p:nvCxnSpPr>
          <p:cNvPr id="121" name="Google Shape;183;p28">
            <a:extLst>
              <a:ext uri="{FF2B5EF4-FFF2-40B4-BE49-F238E27FC236}">
                <a16:creationId xmlns="" xmlns:a16="http://schemas.microsoft.com/office/drawing/2014/main" id="{FF7B25AF-63DA-4A4A-BE7C-3EEF77663F0C}"/>
              </a:ext>
            </a:extLst>
          </p:cNvPr>
          <p:cNvCxnSpPr/>
          <p:nvPr userDrawn="1"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8255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>
            <a:extLst>
              <a:ext uri="{FF2B5EF4-FFF2-40B4-BE49-F238E27FC236}">
                <a16:creationId xmlns="" xmlns:a16="http://schemas.microsoft.com/office/drawing/2014/main" id="{3DCB54EF-6F8F-C14C-AEAB-339A6ADFE958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632325" y="3242853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 dirty="0"/>
              <a:t>목차 내용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632324" y="4074122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/>
              <a:t>목차 내용 입력하세요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7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632323" y="4910800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 dirty="0"/>
              <a:t>목차 내용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Google Shape;10;p2">
            <a:extLst>
              <a:ext uri="{FF2B5EF4-FFF2-40B4-BE49-F238E27FC236}">
                <a16:creationId xmlns="" xmlns:a16="http://schemas.microsoft.com/office/drawing/2014/main" id="{9C20880E-B3DE-A94F-9214-F288AB8F2288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1530;p73">
            <a:extLst>
              <a:ext uri="{FF2B5EF4-FFF2-40B4-BE49-F238E27FC236}">
                <a16:creationId xmlns="" xmlns:a16="http://schemas.microsoft.com/office/drawing/2014/main" id="{C53AD8B5-FE39-6A42-9005-EC4F1FB81112}"/>
              </a:ext>
            </a:extLst>
          </p:cNvPr>
          <p:cNvGrpSpPr/>
          <p:nvPr userDrawn="1"/>
        </p:nvGrpSpPr>
        <p:grpSpPr>
          <a:xfrm>
            <a:off x="11568567" y="267121"/>
            <a:ext cx="320022" cy="359778"/>
            <a:chOff x="3567553" y="1499912"/>
            <a:chExt cx="320022" cy="359778"/>
          </a:xfrm>
          <a:solidFill>
            <a:srgbClr val="4BB0A0"/>
          </a:solidFill>
        </p:grpSpPr>
        <p:sp>
          <p:nvSpPr>
            <p:cNvPr id="18" name="Google Shape;11531;p73">
              <a:extLst>
                <a:ext uri="{FF2B5EF4-FFF2-40B4-BE49-F238E27FC236}">
                  <a16:creationId xmlns="" xmlns:a16="http://schemas.microsoft.com/office/drawing/2014/main" id="{0F0D93FF-7196-E64A-BC21-F016A3016471}"/>
                </a:ext>
              </a:extLst>
            </p:cNvPr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532;p73">
              <a:extLst>
                <a:ext uri="{FF2B5EF4-FFF2-40B4-BE49-F238E27FC236}">
                  <a16:creationId xmlns="" xmlns:a16="http://schemas.microsoft.com/office/drawing/2014/main" id="{10A6EBD0-21AA-BE4F-B25E-B9EBF7C939C3}"/>
                </a:ext>
              </a:extLst>
            </p:cNvPr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533;p73">
              <a:extLst>
                <a:ext uri="{FF2B5EF4-FFF2-40B4-BE49-F238E27FC236}">
                  <a16:creationId xmlns="" xmlns:a16="http://schemas.microsoft.com/office/drawing/2014/main" id="{E593C3FB-9816-9C4E-A8CE-F5E3D23AAB7D}"/>
                </a:ext>
              </a:extLst>
            </p:cNvPr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534;p73">
              <a:extLst>
                <a:ext uri="{FF2B5EF4-FFF2-40B4-BE49-F238E27FC236}">
                  <a16:creationId xmlns="" xmlns:a16="http://schemas.microsoft.com/office/drawing/2014/main" id="{751E997F-17D4-3240-BBFB-AD0DA992726B}"/>
                </a:ext>
              </a:extLst>
            </p:cNvPr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535;p73">
              <a:extLst>
                <a:ext uri="{FF2B5EF4-FFF2-40B4-BE49-F238E27FC236}">
                  <a16:creationId xmlns="" xmlns:a16="http://schemas.microsoft.com/office/drawing/2014/main" id="{70D7634B-5347-1147-9507-F00A80D6AF28}"/>
                </a:ext>
              </a:extLst>
            </p:cNvPr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536;p73">
              <a:extLst>
                <a:ext uri="{FF2B5EF4-FFF2-40B4-BE49-F238E27FC236}">
                  <a16:creationId xmlns="" xmlns:a16="http://schemas.microsoft.com/office/drawing/2014/main" id="{C9854E3F-9BBE-614D-B3B5-7F73F17A13CD}"/>
                </a:ext>
              </a:extLst>
            </p:cNvPr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제목 24">
            <a:extLst>
              <a:ext uri="{FF2B5EF4-FFF2-40B4-BE49-F238E27FC236}">
                <a16:creationId xmlns="" xmlns:a16="http://schemas.microsoft.com/office/drawing/2014/main" id="{3A2259E1-D3D4-A445-8D39-5015AB031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0256900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691375" y="2932204"/>
            <a:ext cx="10267121" cy="993592"/>
          </a:xfrm>
          <a:noFill/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4800">
                <a:solidFill>
                  <a:srgbClr val="F06436"/>
                </a:solidFill>
              </a:defRPr>
            </a:lvl1pPr>
            <a:lvl2pPr marL="457200" indent="0">
              <a:buNone/>
              <a:defRPr sz="4000"/>
            </a:lvl2pPr>
            <a:lvl3pPr marL="914400" indent="0">
              <a:buNone/>
              <a:defRPr sz="4000"/>
            </a:lvl3pPr>
            <a:lvl4pPr marL="1371600" indent="0">
              <a:buNone/>
              <a:defRPr sz="4000"/>
            </a:lvl4pPr>
            <a:lvl5pPr marL="1828800" indent="0">
              <a:buNone/>
              <a:defRPr sz="4000"/>
            </a:lvl5pPr>
          </a:lstStyle>
          <a:p>
            <a:pPr lvl="0"/>
            <a:r>
              <a:rPr lang="ko-KR" altLang="en-US" dirty="0"/>
              <a:t>목차 내용을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Google Shape;12;p2">
            <a:extLst>
              <a:ext uri="{FF2B5EF4-FFF2-40B4-BE49-F238E27FC236}">
                <a16:creationId xmlns="" xmlns:a16="http://schemas.microsoft.com/office/drawing/2014/main" id="{C0ABDC55-C9AE-1C41-A2A0-AA873EDB6BD8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10;p2">
            <a:extLst>
              <a:ext uri="{FF2B5EF4-FFF2-40B4-BE49-F238E27FC236}">
                <a16:creationId xmlns="" xmlns:a16="http://schemas.microsoft.com/office/drawing/2014/main" id="{28B67903-E1CF-534B-A2D3-E7597F24B72F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11530;p73">
            <a:extLst>
              <a:ext uri="{FF2B5EF4-FFF2-40B4-BE49-F238E27FC236}">
                <a16:creationId xmlns="" xmlns:a16="http://schemas.microsoft.com/office/drawing/2014/main" id="{A10FFA0E-16C5-4244-887B-59CEA3799C19}"/>
              </a:ext>
            </a:extLst>
          </p:cNvPr>
          <p:cNvGrpSpPr/>
          <p:nvPr userDrawn="1"/>
        </p:nvGrpSpPr>
        <p:grpSpPr>
          <a:xfrm>
            <a:off x="11379724" y="208758"/>
            <a:ext cx="320022" cy="359778"/>
            <a:chOff x="3567553" y="1499912"/>
            <a:chExt cx="320022" cy="359778"/>
          </a:xfrm>
          <a:solidFill>
            <a:srgbClr val="4BB0A0"/>
          </a:solidFill>
        </p:grpSpPr>
        <p:sp>
          <p:nvSpPr>
            <p:cNvPr id="9" name="Google Shape;11531;p73">
              <a:extLst>
                <a:ext uri="{FF2B5EF4-FFF2-40B4-BE49-F238E27FC236}">
                  <a16:creationId xmlns="" xmlns:a16="http://schemas.microsoft.com/office/drawing/2014/main" id="{3BC7373A-BF17-5949-8F1D-CB2BBEEEEEA6}"/>
                </a:ext>
              </a:extLst>
            </p:cNvPr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532;p73">
              <a:extLst>
                <a:ext uri="{FF2B5EF4-FFF2-40B4-BE49-F238E27FC236}">
                  <a16:creationId xmlns="" xmlns:a16="http://schemas.microsoft.com/office/drawing/2014/main" id="{CC6EA4CC-1703-7449-B7BC-4483CFF9F966}"/>
                </a:ext>
              </a:extLst>
            </p:cNvPr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533;p73">
              <a:extLst>
                <a:ext uri="{FF2B5EF4-FFF2-40B4-BE49-F238E27FC236}">
                  <a16:creationId xmlns="" xmlns:a16="http://schemas.microsoft.com/office/drawing/2014/main" id="{B5E6808C-1FA3-4B4B-B0FE-9EE183DD349C}"/>
                </a:ext>
              </a:extLst>
            </p:cNvPr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534;p73">
              <a:extLst>
                <a:ext uri="{FF2B5EF4-FFF2-40B4-BE49-F238E27FC236}">
                  <a16:creationId xmlns="" xmlns:a16="http://schemas.microsoft.com/office/drawing/2014/main" id="{69AF36EF-ECD4-AC48-816B-145DAB86BB7E}"/>
                </a:ext>
              </a:extLst>
            </p:cNvPr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535;p73">
              <a:extLst>
                <a:ext uri="{FF2B5EF4-FFF2-40B4-BE49-F238E27FC236}">
                  <a16:creationId xmlns="" xmlns:a16="http://schemas.microsoft.com/office/drawing/2014/main" id="{36271C18-068C-3049-B5A3-CC3DE160731F}"/>
                </a:ext>
              </a:extLst>
            </p:cNvPr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536;p73">
              <a:extLst>
                <a:ext uri="{FF2B5EF4-FFF2-40B4-BE49-F238E27FC236}">
                  <a16:creationId xmlns="" xmlns:a16="http://schemas.microsoft.com/office/drawing/2014/main" id="{3BA77610-2275-C74C-A5B8-D24FF49A3670}"/>
                </a:ext>
              </a:extLst>
            </p:cNvPr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9420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2;p2">
            <a:extLst>
              <a:ext uri="{FF2B5EF4-FFF2-40B4-BE49-F238E27FC236}">
                <a16:creationId xmlns="" xmlns:a16="http://schemas.microsoft.com/office/drawing/2014/main" id="{31C819E8-8DB3-D241-86AD-39FA357B79F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0;p2">
            <a:extLst>
              <a:ext uri="{FF2B5EF4-FFF2-40B4-BE49-F238E27FC236}">
                <a16:creationId xmlns="" xmlns:a16="http://schemas.microsoft.com/office/drawing/2014/main" id="{4CA2C0CC-49CB-CE45-A055-1E87B9A38FE4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="" xmlns:a16="http://schemas.microsoft.com/office/drawing/2014/main" id="{346A3901-6E4C-0B40-9CF8-E7ECAB46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83194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40" name="제목 24">
            <a:extLst>
              <a:ext uri="{FF2B5EF4-FFF2-40B4-BE49-F238E27FC236}">
                <a16:creationId xmlns="" xmlns:a16="http://schemas.microsoft.com/office/drawing/2014/main" id="{677C8BD8-495D-D94A-A820-9FD4BA20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5BE6C44-E913-45F1-A690-E52E071D50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0287" y="1415600"/>
            <a:ext cx="10080625" cy="46307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</p:txBody>
      </p:sp>
      <p:sp>
        <p:nvSpPr>
          <p:cNvPr id="8" name="바닥글 개체 틀 36">
            <a:extLst>
              <a:ext uri="{FF2B5EF4-FFF2-40B4-BE49-F238E27FC236}">
                <a16:creationId xmlns="" xmlns:a16="http://schemas.microsoft.com/office/drawing/2014/main" id="{3F2E6A11-E23E-4E32-B9A2-7BA8A7427DA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9057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;p2">
            <a:extLst>
              <a:ext uri="{FF2B5EF4-FFF2-40B4-BE49-F238E27FC236}">
                <a16:creationId xmlns="" xmlns:a16="http://schemas.microsoft.com/office/drawing/2014/main" id="{AE169226-6326-4B42-BA01-A07503F9BF4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0;p2">
            <a:extLst>
              <a:ext uri="{FF2B5EF4-FFF2-40B4-BE49-F238E27FC236}">
                <a16:creationId xmlns="" xmlns:a16="http://schemas.microsoft.com/office/drawing/2014/main" id="{F2128D78-98D0-1946-ABC0-DD3E32D4D519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제목 24">
            <a:extLst>
              <a:ext uri="{FF2B5EF4-FFF2-40B4-BE49-F238E27FC236}">
                <a16:creationId xmlns="" xmlns:a16="http://schemas.microsoft.com/office/drawing/2014/main" id="{18E4D7E8-082F-3947-ACDC-CCB90F65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x-none" dirty="0"/>
          </a:p>
        </p:txBody>
      </p:sp>
      <p:sp>
        <p:nvSpPr>
          <p:cNvPr id="33" name="슬라이드 번호 개체 틀 20">
            <a:extLst>
              <a:ext uri="{FF2B5EF4-FFF2-40B4-BE49-F238E27FC236}">
                <a16:creationId xmlns="" xmlns:a16="http://schemas.microsoft.com/office/drawing/2014/main" id="{5D8DE216-E2D2-0946-B519-359B6A0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72308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5" name="텍스트 개체 틀 34">
            <a:extLst>
              <a:ext uri="{FF2B5EF4-FFF2-40B4-BE49-F238E27FC236}">
                <a16:creationId xmlns="" xmlns:a16="http://schemas.microsoft.com/office/drawing/2014/main" id="{7706D100-A296-AA47-8D59-127D7B2E0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2186609"/>
          </a:xfrm>
        </p:spPr>
        <p:txBody>
          <a:bodyPr/>
          <a:lstStyle>
            <a:lvl1pPr marL="228600" indent="-228600">
              <a:lnSpc>
                <a:spcPct val="120000"/>
              </a:lnSpc>
              <a:buClr>
                <a:srgbClr val="4BB0A0"/>
              </a:buClr>
              <a:buFont typeface="시스템 서체"/>
              <a:buChar char="◦"/>
              <a:defRPr sz="2000"/>
            </a:lvl1pPr>
            <a:lvl2pPr marL="685800" indent="-228600">
              <a:lnSpc>
                <a:spcPct val="120000"/>
              </a:lnSpc>
              <a:buFont typeface="시스템 서체"/>
              <a:buChar char="⁃"/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x-none" dirty="0"/>
          </a:p>
        </p:txBody>
      </p:sp>
      <p:sp>
        <p:nvSpPr>
          <p:cNvPr id="9" name="바닥글 개체 틀 36">
            <a:extLst>
              <a:ext uri="{FF2B5EF4-FFF2-40B4-BE49-F238E27FC236}">
                <a16:creationId xmlns="" xmlns:a16="http://schemas.microsoft.com/office/drawing/2014/main" id="{0FCC723C-E12E-4134-80CF-8ADAED2921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200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;p2">
            <a:extLst>
              <a:ext uri="{FF2B5EF4-FFF2-40B4-BE49-F238E27FC236}">
                <a16:creationId xmlns="" xmlns:a16="http://schemas.microsoft.com/office/drawing/2014/main" id="{AE169226-6326-4B42-BA01-A07503F9BF4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0;p2">
            <a:extLst>
              <a:ext uri="{FF2B5EF4-FFF2-40B4-BE49-F238E27FC236}">
                <a16:creationId xmlns="" xmlns:a16="http://schemas.microsoft.com/office/drawing/2014/main" id="{F2128D78-98D0-1946-ABC0-DD3E32D4D519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제목 24">
            <a:extLst>
              <a:ext uri="{FF2B5EF4-FFF2-40B4-BE49-F238E27FC236}">
                <a16:creationId xmlns="" xmlns:a16="http://schemas.microsoft.com/office/drawing/2014/main" id="{18E4D7E8-082F-3947-ACDC-CCB90F65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x-none" dirty="0"/>
          </a:p>
        </p:txBody>
      </p:sp>
      <p:sp>
        <p:nvSpPr>
          <p:cNvPr id="33" name="슬라이드 번호 개체 틀 20">
            <a:extLst>
              <a:ext uri="{FF2B5EF4-FFF2-40B4-BE49-F238E27FC236}">
                <a16:creationId xmlns="" xmlns:a16="http://schemas.microsoft.com/office/drawing/2014/main" id="{5D8DE216-E2D2-0946-B519-359B6A0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72308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5" name="텍스트 개체 틀 34">
            <a:extLst>
              <a:ext uri="{FF2B5EF4-FFF2-40B4-BE49-F238E27FC236}">
                <a16:creationId xmlns="" xmlns:a16="http://schemas.microsoft.com/office/drawing/2014/main" id="{7706D100-A296-AA47-8D59-127D7B2E0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9"/>
            <a:ext cx="11281052" cy="781242"/>
          </a:xfrm>
        </p:spPr>
        <p:txBody>
          <a:bodyPr/>
          <a:lstStyle>
            <a:lvl1pPr marL="228600" indent="-228600">
              <a:lnSpc>
                <a:spcPct val="120000"/>
              </a:lnSpc>
              <a:buClr>
                <a:srgbClr val="4BB0A0"/>
              </a:buClr>
              <a:buFont typeface="시스템 서체"/>
              <a:buChar char="◦"/>
              <a:defRPr sz="2000"/>
            </a:lvl1pPr>
            <a:lvl2pPr marL="685800" indent="-228600">
              <a:lnSpc>
                <a:spcPct val="120000"/>
              </a:lnSpc>
              <a:buFont typeface="시스템 서체"/>
              <a:buChar char="⁃"/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x-none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F9275B08-16F4-4F25-831A-6EFC327B83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1375" y="2233552"/>
            <a:ext cx="5254625" cy="31956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>
              <a:defRPr sz="1800"/>
            </a:lvl2pPr>
            <a:lvl3pPr>
              <a:defRPr sz="1400"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="" xmlns:a16="http://schemas.microsoft.com/office/drawing/2014/main" id="{1A56FDB1-DA14-41CF-A4C6-4FEEB24F66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106" y="2233552"/>
            <a:ext cx="5254625" cy="31956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>
              <a:defRPr sz="1800"/>
            </a:lvl2pPr>
            <a:lvl3pPr>
              <a:defRPr sz="1400"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바닥글 개체 틀 36">
            <a:extLst>
              <a:ext uri="{FF2B5EF4-FFF2-40B4-BE49-F238E27FC236}">
                <a16:creationId xmlns="" xmlns:a16="http://schemas.microsoft.com/office/drawing/2014/main" id="{12D54CD0-D251-442B-89E6-AE3B9602AE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23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흰색 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36">
            <a:extLst>
              <a:ext uri="{FF2B5EF4-FFF2-40B4-BE49-F238E27FC236}">
                <a16:creationId xmlns="" xmlns:a16="http://schemas.microsoft.com/office/drawing/2014/main" id="{06254993-0E3E-4DD1-B5D1-E7E9E2205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4850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챕터 순서 안내 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2;p2">
            <a:extLst>
              <a:ext uri="{FF2B5EF4-FFF2-40B4-BE49-F238E27FC236}">
                <a16:creationId xmlns="" xmlns:a16="http://schemas.microsoft.com/office/drawing/2014/main" id="{31C819E8-8DB3-D241-86AD-39FA357B79F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0;p2">
            <a:extLst>
              <a:ext uri="{FF2B5EF4-FFF2-40B4-BE49-F238E27FC236}">
                <a16:creationId xmlns="" xmlns:a16="http://schemas.microsoft.com/office/drawing/2014/main" id="{4CA2C0CC-49CB-CE45-A055-1E87B9A38FE4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="" xmlns:a16="http://schemas.microsoft.com/office/drawing/2014/main" id="{346A3901-6E4C-0B40-9CF8-E7ECAB46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83194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40" name="제목 24">
            <a:extLst>
              <a:ext uri="{FF2B5EF4-FFF2-40B4-BE49-F238E27FC236}">
                <a16:creationId xmlns="" xmlns:a16="http://schemas.microsoft.com/office/drawing/2014/main" id="{677C8BD8-495D-D94A-A820-9FD4BA20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x-none" dirty="0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3A06B168-836F-4E64-80CE-16BDB7CE93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8" name="텍스트 개체 틀 34">
            <a:extLst>
              <a:ext uri="{FF2B5EF4-FFF2-40B4-BE49-F238E27FC236}">
                <a16:creationId xmlns="" xmlns:a16="http://schemas.microsoft.com/office/drawing/2014/main" id="{7E4D1FAF-1A2D-466E-9891-8D941F5FBE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2186609"/>
          </a:xfrm>
        </p:spPr>
        <p:txBody>
          <a:bodyPr/>
          <a:lstStyle>
            <a:lvl1pPr marL="457200" indent="-457200">
              <a:lnSpc>
                <a:spcPct val="120000"/>
              </a:lnSpc>
              <a:buClr>
                <a:srgbClr val="4BB0A0"/>
              </a:buClr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120000"/>
              </a:lnSpc>
              <a:buFont typeface="시스템 서체"/>
              <a:buChar char="⁃"/>
              <a:defRPr sz="20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9439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 altLang="ko-KR"/>
              <a:t>〉 〉 </a:t>
            </a:r>
            <a:r>
              <a:rPr lang="ko-KR" altLang="en-US"/>
              <a:t>창업의 과학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567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7" r:id="rId3"/>
    <p:sldLayoutId id="2147483676" r:id="rId4"/>
    <p:sldLayoutId id="2147483690" r:id="rId5"/>
    <p:sldLayoutId id="2147483691" r:id="rId6"/>
    <p:sldLayoutId id="2147483686" r:id="rId7"/>
    <p:sldLayoutId id="2147483692" r:id="rId8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="" xmlns:a16="http://schemas.microsoft.com/office/drawing/2014/main" id="{21B375EC-8E0D-AF4C-8EB4-CA7CFBEAC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253" y="1780334"/>
            <a:ext cx="7772532" cy="3591827"/>
          </a:xfrm>
        </p:spPr>
        <p:txBody>
          <a:bodyPr/>
          <a:lstStyle/>
          <a:p>
            <a:r>
              <a:rPr lang="ko-KR" altLang="en-US" sz="4400" dirty="0"/>
              <a:t>혼자 공부하는 자바스크립트</a:t>
            </a:r>
            <a:endParaRPr lang="x-none" sz="4400" b="1" dirty="0"/>
          </a:p>
        </p:txBody>
      </p:sp>
      <p:sp>
        <p:nvSpPr>
          <p:cNvPr id="6" name="부제목 5">
            <a:extLst>
              <a:ext uri="{FF2B5EF4-FFF2-40B4-BE49-F238E27FC236}">
                <a16:creationId xmlns="" xmlns:a16="http://schemas.microsoft.com/office/drawing/2014/main" id="{53F71AE8-5B44-374B-BBDF-875DE08427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ㅇㅇ대학교</a:t>
            </a:r>
            <a:r>
              <a:rPr lang="ko-KR" altLang="en-US" dirty="0"/>
              <a:t> </a:t>
            </a:r>
            <a:r>
              <a:rPr lang="ko-KR" altLang="en-US" dirty="0" err="1"/>
              <a:t>ㅇㅇ학과</a:t>
            </a:r>
            <a:endParaRPr lang="en-US" altLang="ko-KR" dirty="0"/>
          </a:p>
          <a:p>
            <a:r>
              <a:rPr lang="ko-KR" altLang="en-US" dirty="0"/>
              <a:t>홍길동</a:t>
            </a:r>
            <a:endParaRPr lang="en-US" altLang="ko-KR" dirty="0"/>
          </a:p>
        </p:txBody>
      </p:sp>
      <p:sp>
        <p:nvSpPr>
          <p:cNvPr id="7" name="Google Shape;1312;p63">
            <a:extLst>
              <a:ext uri="{FF2B5EF4-FFF2-40B4-BE49-F238E27FC236}">
                <a16:creationId xmlns="" xmlns:a16="http://schemas.microsoft.com/office/drawing/2014/main" id="{0A78F3EB-266D-144F-9E96-77FD19D36541}"/>
              </a:ext>
            </a:extLst>
          </p:cNvPr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D241BC3-2D2C-354F-BE20-6B615EF877A6}"/>
              </a:ext>
            </a:extLst>
          </p:cNvPr>
          <p:cNvSpPr txBox="1"/>
          <p:nvPr/>
        </p:nvSpPr>
        <p:spPr>
          <a:xfrm>
            <a:off x="1020350" y="866451"/>
            <a:ext cx="8816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Chapter 07 </a:t>
            </a:r>
            <a:r>
              <a:rPr lang="ko-KR" altLang="en-US" dirty="0"/>
              <a:t>문서 객체 모델</a:t>
            </a:r>
            <a:endParaRPr lang="en-US" altLang="ko-KR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3FDB7C0-AFF4-4C8E-B02F-6D4EF72A6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699" y="1066888"/>
            <a:ext cx="2611058" cy="35918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5843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9">
            <a:extLst>
              <a:ext uri="{FF2B5EF4-FFF2-40B4-BE49-F238E27FC236}">
                <a16:creationId xmlns="" xmlns:a16="http://schemas.microsoft.com/office/drawing/2014/main" id="{8D70B121-56F4-4848-B38B-182089D909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제목 1">
            <a:extLst>
              <a:ext uri="{FF2B5EF4-FFF2-40B4-BE49-F238E27FC236}">
                <a16:creationId xmlns=""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latinLnBrk="0">
              <a:defRPr/>
            </a:pPr>
            <a:r>
              <a:rPr lang="ko-KR" altLang="en-US" sz="4100" b="1" kern="1200" dirty="0">
                <a:solidFill>
                  <a:srgbClr val="4BB0A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시작하기전에</a:t>
            </a:r>
            <a:endParaRPr lang="en-US" altLang="ko-KR" sz="4100" b="1" kern="1200" dirty="0">
              <a:solidFill>
                <a:srgbClr val="4BB0A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32" name="Straight Connector 21">
            <a:extLst>
              <a:ext uri="{FF2B5EF4-FFF2-40B4-BE49-F238E27FC236}">
                <a16:creationId xmlns="" xmlns:a16="http://schemas.microsoft.com/office/drawing/2014/main" id="{2D72A2C9-F3CA-4216-8BAD-FA4C970C3C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F03868AD-5FB7-A947-B715-20B0C939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C97502D5-0DE6-43F9-8F2E-D2C7BA7481E7}"/>
              </a:ext>
            </a:extLst>
          </p:cNvPr>
          <p:cNvSpPr/>
          <p:nvPr/>
        </p:nvSpPr>
        <p:spPr>
          <a:xfrm>
            <a:off x="4976031" y="963877"/>
            <a:ext cx="6500853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altLang="ko-KR" dirty="0"/>
          </a:p>
          <a:p>
            <a:r>
              <a:rPr lang="ko-KR" altLang="en-US" b="1" dirty="0"/>
              <a:t>예제 다운로드 및 동영상 강의</a:t>
            </a:r>
            <a:endParaRPr lang="en-US" altLang="ko-KR" b="1" dirty="0"/>
          </a:p>
          <a:p>
            <a:r>
              <a:rPr lang="en-US" altLang="ko-KR" sz="1600" dirty="0"/>
              <a:t>https://hanbit.co.kr/store/books/look.php?p_code=B8393055290</a:t>
            </a:r>
          </a:p>
          <a:p>
            <a:endParaRPr lang="en-US" altLang="ko-KR" sz="1600" dirty="0"/>
          </a:p>
          <a:p>
            <a:pPr lvl="0"/>
            <a:r>
              <a:rPr lang="ko-KR" altLang="en-US" b="1" dirty="0">
                <a:solidFill>
                  <a:prstClr val="black"/>
                </a:solidFill>
              </a:rPr>
              <a:t>저자 </a:t>
            </a:r>
            <a:r>
              <a:rPr lang="en-US" altLang="ko-KR" b="1" dirty="0">
                <a:solidFill>
                  <a:prstClr val="black"/>
                </a:solidFill>
              </a:rPr>
              <a:t>: </a:t>
            </a:r>
            <a:r>
              <a:rPr lang="ko-KR" altLang="en-US" b="1" dirty="0">
                <a:solidFill>
                  <a:prstClr val="black"/>
                </a:solidFill>
              </a:rPr>
              <a:t>윤인성</a:t>
            </a:r>
            <a:endParaRPr lang="en-US" altLang="ko-KR" b="1" dirty="0">
              <a:solidFill>
                <a:prstClr val="black"/>
              </a:solidFill>
            </a:endParaRPr>
          </a:p>
          <a:p>
            <a:pPr lvl="0"/>
            <a:endParaRPr lang="ko-KR" altLang="en-US" sz="1600" dirty="0">
              <a:solidFill>
                <a:prstClr val="black"/>
              </a:solidFill>
            </a:endParaRPr>
          </a:p>
          <a:p>
            <a:pPr lvl="0"/>
            <a:r>
              <a:rPr lang="ko-KR" altLang="en-US" sz="1600" dirty="0">
                <a:solidFill>
                  <a:prstClr val="black"/>
                </a:solidFill>
              </a:rPr>
              <a:t>출근하는 게 싫어서 책을 집필하기 시작했다</a:t>
            </a:r>
            <a:r>
              <a:rPr lang="en-US" altLang="ko-KR" sz="1600" dirty="0">
                <a:solidFill>
                  <a:prstClr val="black"/>
                </a:solidFill>
              </a:rPr>
              <a:t>. </a:t>
            </a:r>
            <a:r>
              <a:rPr lang="ko-KR" altLang="en-US" sz="1600" dirty="0">
                <a:solidFill>
                  <a:prstClr val="black"/>
                </a:solidFill>
              </a:rPr>
              <a:t>현재 직업 특성상 집에서 나갈 이유가 별로 없다는 것에 굉장히 만족하는 성격이기도 하다</a:t>
            </a:r>
            <a:r>
              <a:rPr lang="en-US" altLang="ko-KR" sz="1600" dirty="0">
                <a:solidFill>
                  <a:prstClr val="black"/>
                </a:solidFill>
              </a:rPr>
              <a:t>. </a:t>
            </a:r>
            <a:r>
              <a:rPr lang="ko-KR" altLang="en-US" sz="1600" dirty="0">
                <a:solidFill>
                  <a:prstClr val="black"/>
                </a:solidFill>
              </a:rPr>
              <a:t>홍차와 커피를 좋아하며 기타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가야금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그림 그리기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스컬핑 등이 취미이다</a:t>
            </a:r>
            <a:r>
              <a:rPr lang="en-US" altLang="ko-KR" sz="1600" dirty="0">
                <a:solidFill>
                  <a:prstClr val="black"/>
                </a:solidFill>
              </a:rPr>
              <a:t>. </a:t>
            </a:r>
            <a:r>
              <a:rPr lang="ko-KR" altLang="en-US" sz="1600" dirty="0">
                <a:solidFill>
                  <a:prstClr val="black"/>
                </a:solidFill>
              </a:rPr>
              <a:t>저서로는 </a:t>
            </a:r>
            <a:r>
              <a:rPr lang="en-US" altLang="ko-KR" sz="1600" dirty="0">
                <a:solidFill>
                  <a:prstClr val="black"/>
                </a:solidFill>
              </a:rPr>
              <a:t>『</a:t>
            </a:r>
            <a:r>
              <a:rPr lang="ko-KR" altLang="en-US" sz="1600" dirty="0">
                <a:solidFill>
                  <a:prstClr val="black"/>
                </a:solidFill>
              </a:rPr>
              <a:t>혼자 공부하는 파이썬</a:t>
            </a:r>
            <a:r>
              <a:rPr lang="en-US" altLang="ko-KR" sz="1600" dirty="0">
                <a:solidFill>
                  <a:prstClr val="black"/>
                </a:solidFill>
              </a:rPr>
              <a:t>』, 『IT </a:t>
            </a:r>
            <a:r>
              <a:rPr lang="en-US" altLang="ko-KR" sz="1600" dirty="0" err="1">
                <a:solidFill>
                  <a:prstClr val="black"/>
                </a:solidFill>
              </a:rPr>
              <a:t>CookBook</a:t>
            </a:r>
            <a:r>
              <a:rPr lang="en-US" altLang="ko-KR" sz="1600" dirty="0">
                <a:solidFill>
                  <a:prstClr val="black"/>
                </a:solidFill>
              </a:rPr>
              <a:t>, HTML5 </a:t>
            </a:r>
            <a:r>
              <a:rPr lang="ko-KR" altLang="en-US" sz="1600" dirty="0">
                <a:solidFill>
                  <a:prstClr val="black"/>
                </a:solidFill>
              </a:rPr>
              <a:t>웹 프로그래밍</a:t>
            </a:r>
            <a:r>
              <a:rPr lang="en-US" altLang="ko-KR" sz="1600" dirty="0">
                <a:solidFill>
                  <a:prstClr val="black"/>
                </a:solidFill>
              </a:rPr>
              <a:t>』, 『</a:t>
            </a:r>
            <a:r>
              <a:rPr lang="ko-KR" altLang="en-US" sz="1600" dirty="0">
                <a:solidFill>
                  <a:prstClr val="black"/>
                </a:solidFill>
              </a:rPr>
              <a:t>모던 웹을 위한 </a:t>
            </a:r>
            <a:r>
              <a:rPr lang="en-US" altLang="ko-KR" sz="1600" dirty="0" err="1">
                <a:solidFill>
                  <a:prstClr val="black"/>
                </a:solidFill>
              </a:rPr>
              <a:t>JavaScript+jQuery</a:t>
            </a:r>
            <a:r>
              <a:rPr lang="en-US" altLang="ko-KR" sz="1600" dirty="0">
                <a:solidFill>
                  <a:prstClr val="black"/>
                </a:solidFill>
              </a:rPr>
              <a:t> </a:t>
            </a:r>
            <a:r>
              <a:rPr lang="ko-KR" altLang="en-US" sz="1600" dirty="0">
                <a:solidFill>
                  <a:prstClr val="black"/>
                </a:solidFill>
              </a:rPr>
              <a:t>입문</a:t>
            </a:r>
            <a:r>
              <a:rPr lang="en-US" altLang="ko-KR" sz="1600" dirty="0">
                <a:solidFill>
                  <a:prstClr val="black"/>
                </a:solidFill>
              </a:rPr>
              <a:t>』, 『</a:t>
            </a:r>
            <a:r>
              <a:rPr lang="ko-KR" altLang="en-US" sz="1600" dirty="0">
                <a:solidFill>
                  <a:prstClr val="black"/>
                </a:solidFill>
              </a:rPr>
              <a:t>모던 웹을 위한 </a:t>
            </a:r>
            <a:r>
              <a:rPr lang="en-US" altLang="ko-KR" sz="1600" dirty="0">
                <a:solidFill>
                  <a:prstClr val="black"/>
                </a:solidFill>
              </a:rPr>
              <a:t>Node.js </a:t>
            </a:r>
            <a:r>
              <a:rPr lang="ko-KR" altLang="en-US" sz="1600" dirty="0">
                <a:solidFill>
                  <a:prstClr val="black"/>
                </a:solidFill>
              </a:rPr>
              <a:t>프로그래밍</a:t>
            </a:r>
            <a:r>
              <a:rPr lang="en-US" altLang="ko-KR" sz="1600" dirty="0">
                <a:solidFill>
                  <a:prstClr val="black"/>
                </a:solidFill>
              </a:rPr>
              <a:t>』, 『</a:t>
            </a:r>
            <a:r>
              <a:rPr lang="ko-KR" altLang="en-US" sz="1600" dirty="0">
                <a:solidFill>
                  <a:prstClr val="black"/>
                </a:solidFill>
              </a:rPr>
              <a:t>모던 웹 디자인을 위한 </a:t>
            </a:r>
            <a:r>
              <a:rPr lang="en-US" altLang="ko-KR" sz="1600" dirty="0">
                <a:solidFill>
                  <a:prstClr val="black"/>
                </a:solidFill>
              </a:rPr>
              <a:t>HTML5+CSS3 </a:t>
            </a:r>
            <a:r>
              <a:rPr lang="ko-KR" altLang="en-US" sz="1600" dirty="0">
                <a:solidFill>
                  <a:prstClr val="black"/>
                </a:solidFill>
              </a:rPr>
              <a:t>입문</a:t>
            </a:r>
            <a:r>
              <a:rPr lang="en-US" altLang="ko-KR" sz="1600" dirty="0">
                <a:solidFill>
                  <a:prstClr val="black"/>
                </a:solidFill>
              </a:rPr>
              <a:t>』 </a:t>
            </a:r>
            <a:r>
              <a:rPr lang="ko-KR" altLang="en-US" sz="1600" dirty="0">
                <a:solidFill>
                  <a:prstClr val="black"/>
                </a:solidFill>
              </a:rPr>
              <a:t>등이 있으며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역서로는 </a:t>
            </a:r>
            <a:r>
              <a:rPr lang="en-US" altLang="ko-KR" sz="1600" dirty="0">
                <a:solidFill>
                  <a:prstClr val="black"/>
                </a:solidFill>
              </a:rPr>
              <a:t>『</a:t>
            </a:r>
            <a:r>
              <a:rPr lang="en-US" altLang="ko-KR" sz="1600" dirty="0" err="1">
                <a:solidFill>
                  <a:prstClr val="black"/>
                </a:solidFill>
              </a:rPr>
              <a:t>TopCoder</a:t>
            </a:r>
            <a:r>
              <a:rPr lang="en-US" altLang="ko-KR" sz="1600" dirty="0">
                <a:solidFill>
                  <a:prstClr val="black"/>
                </a:solidFill>
              </a:rPr>
              <a:t> </a:t>
            </a:r>
            <a:r>
              <a:rPr lang="ko-KR" altLang="en-US" sz="1600" dirty="0">
                <a:solidFill>
                  <a:prstClr val="black"/>
                </a:solidFill>
              </a:rPr>
              <a:t>알고리즘 트레이닝</a:t>
            </a:r>
            <a:r>
              <a:rPr lang="en-US" altLang="ko-KR" sz="1600" dirty="0">
                <a:solidFill>
                  <a:prstClr val="black"/>
                </a:solidFill>
              </a:rPr>
              <a:t>』, 『</a:t>
            </a:r>
            <a:r>
              <a:rPr lang="ko-KR" altLang="en-US" sz="1600" dirty="0">
                <a:solidFill>
                  <a:prstClr val="black"/>
                </a:solidFill>
              </a:rPr>
              <a:t>자바 퍼즐러</a:t>
            </a:r>
            <a:r>
              <a:rPr lang="en-US" altLang="ko-KR" sz="1600" dirty="0">
                <a:solidFill>
                  <a:prstClr val="black"/>
                </a:solidFill>
              </a:rPr>
              <a:t>』, 『</a:t>
            </a:r>
            <a:r>
              <a:rPr lang="ko-KR" altLang="en-US" sz="1600" dirty="0">
                <a:solidFill>
                  <a:prstClr val="black"/>
                </a:solidFill>
              </a:rPr>
              <a:t>소셜 코딩으로 이끄는 </a:t>
            </a:r>
            <a:r>
              <a:rPr lang="en-US" altLang="ko-KR" sz="1600" dirty="0">
                <a:solidFill>
                  <a:prstClr val="black"/>
                </a:solidFill>
              </a:rPr>
              <a:t>GitHub </a:t>
            </a:r>
            <a:r>
              <a:rPr lang="ko-KR" altLang="en-US" sz="1600" dirty="0">
                <a:solidFill>
                  <a:prstClr val="black"/>
                </a:solidFill>
              </a:rPr>
              <a:t>실천 기술</a:t>
            </a:r>
            <a:r>
              <a:rPr lang="en-US" altLang="ko-KR" sz="1600" dirty="0">
                <a:solidFill>
                  <a:prstClr val="black"/>
                </a:solidFill>
              </a:rPr>
              <a:t>』, 『Nature of Code』 </a:t>
            </a:r>
            <a:r>
              <a:rPr lang="ko-KR" altLang="en-US" sz="1600" dirty="0">
                <a:solidFill>
                  <a:prstClr val="black"/>
                </a:solidFill>
              </a:rPr>
              <a:t>등이 있다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  <a:endParaRPr lang="en-US" altLang="ko-KR" sz="1600" dirty="0"/>
          </a:p>
        </p:txBody>
      </p:sp>
      <p:sp>
        <p:nvSpPr>
          <p:cNvPr id="10" name="바닥글 개체 틀 36">
            <a:extLst>
              <a:ext uri="{FF2B5EF4-FFF2-40B4-BE49-F238E27FC236}">
                <a16:creationId xmlns="" xmlns:a16="http://schemas.microsoft.com/office/drawing/2014/main" id="{5220374A-E2BF-4F2C-BE2B-8A4F0B1BCC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366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F0E333E-71DD-7049-8195-20640270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="" xmlns:a16="http://schemas.microsoft.com/office/drawing/2014/main" id="{3131C8B5-353C-DD47-B91A-E4E0FEE2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 책의 학습 목표</a:t>
            </a:r>
            <a:endParaRPr lang="x-none" dirty="0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301C5D93-70E4-4CBC-BBF8-FCC3AFED18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2930D5A-3073-42CB-919C-264D9ED344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8"/>
            <a:ext cx="11505693" cy="5222377"/>
          </a:xfrm>
        </p:spPr>
        <p:txBody>
          <a:bodyPr numCol="2" spcCol="180000">
            <a:normAutofit fontScale="77500" lnSpcReduction="20000"/>
          </a:bodyPr>
          <a:lstStyle/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CHAPTER 01: </a:t>
            </a:r>
            <a:r>
              <a:rPr lang="ko-KR" altLang="en-US" sz="2300" b="1" dirty="0"/>
              <a:t>자바스크립트 개요와 개발환경 설정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자바스크립트 개발환경 설치와 자바스크립트 프로그래밍 기본 용어 학습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CHAPTER 02: </a:t>
            </a:r>
            <a:r>
              <a:rPr lang="ko-KR" altLang="en-US" sz="2300" b="1" dirty="0"/>
              <a:t>자료와 변수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프로그램 개발의 첫걸음</a:t>
            </a:r>
            <a:r>
              <a:rPr lang="en-US" altLang="ko-KR" sz="2200" dirty="0"/>
              <a:t>. </a:t>
            </a:r>
            <a:r>
              <a:rPr lang="ko-KR" altLang="en-US" sz="2200" dirty="0"/>
              <a:t>자료형과 변수 학습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CHAPTER 03: </a:t>
            </a:r>
            <a:r>
              <a:rPr lang="ko-KR" altLang="en-US" sz="2300" b="1" dirty="0"/>
              <a:t>조건문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프로그램의 흐름을 변화시키는 요소</a:t>
            </a:r>
            <a:r>
              <a:rPr lang="en-US" altLang="ko-KR" sz="2200" dirty="0"/>
              <a:t>. </a:t>
            </a:r>
            <a:r>
              <a:rPr lang="ko-KR" altLang="en-US" sz="2200" dirty="0"/>
              <a:t>조건문의 </a:t>
            </a:r>
            <a:r>
              <a:rPr lang="en-US" altLang="ko-KR" sz="2200" dirty="0"/>
              <a:t/>
            </a:r>
            <a:br>
              <a:rPr lang="en-US" altLang="ko-KR" sz="2200" dirty="0"/>
            </a:br>
            <a:r>
              <a:rPr lang="ko-KR" altLang="en-US" sz="2200" dirty="0"/>
              <a:t>종류를 알아보고 사용 방법을 이해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CHAPTER 04: </a:t>
            </a:r>
            <a:r>
              <a:rPr lang="ko-KR" altLang="en-US" sz="2300" b="1" dirty="0"/>
              <a:t>반복문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배열의 개념과 문법을 익혀 </a:t>
            </a:r>
            <a:r>
              <a:rPr lang="en-US" altLang="ko-KR" sz="2200" dirty="0"/>
              <a:t>while </a:t>
            </a:r>
            <a:r>
              <a:rPr lang="ko-KR" altLang="en-US" sz="2200" dirty="0"/>
              <a:t>반복문과 </a:t>
            </a:r>
            <a:r>
              <a:rPr lang="en-US" altLang="ko-KR" sz="2200" dirty="0"/>
              <a:t/>
            </a:r>
            <a:br>
              <a:rPr lang="en-US" altLang="ko-KR" sz="2200" dirty="0"/>
            </a:br>
            <a:r>
              <a:rPr lang="en-US" altLang="ko-KR" sz="2200" dirty="0"/>
              <a:t>for </a:t>
            </a:r>
            <a:r>
              <a:rPr lang="ko-KR" altLang="en-US" sz="2200" dirty="0"/>
              <a:t>반복문 학습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CHAPTER 05: </a:t>
            </a:r>
            <a:r>
              <a:rPr lang="ko-KR" altLang="en-US" sz="2300" b="1" dirty="0"/>
              <a:t>함수 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다양한 형태의 함수를 만들기와 매개변수를 다루는 방법 이해</a:t>
            </a:r>
            <a:endParaRPr lang="en-US" altLang="ko-KR" sz="2200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CHAPER 06: </a:t>
            </a:r>
            <a:r>
              <a:rPr lang="ko-KR" altLang="en-US" sz="2300" b="1" dirty="0"/>
              <a:t>객체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객체의 속성과 메소드</a:t>
            </a:r>
            <a:r>
              <a:rPr lang="en-US" altLang="ko-KR" sz="2200" dirty="0"/>
              <a:t>, </a:t>
            </a:r>
            <a:r>
              <a:rPr lang="ko-KR" altLang="en-US" sz="2200" dirty="0"/>
              <a:t>생성</a:t>
            </a:r>
            <a:r>
              <a:rPr lang="en-US" altLang="ko-KR" sz="2200" dirty="0"/>
              <a:t>,</a:t>
            </a:r>
            <a:r>
              <a:rPr lang="ko-KR" altLang="en-US" sz="2200" dirty="0"/>
              <a:t> 관리하는 기본 문법</a:t>
            </a:r>
            <a:r>
              <a:rPr lang="en-US" altLang="ko-KR" sz="2200" dirty="0"/>
              <a:t> </a:t>
            </a:r>
            <a:r>
              <a:rPr lang="ko-KR" altLang="en-US" sz="2200" dirty="0"/>
              <a:t>학습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CHAPER 07: </a:t>
            </a:r>
            <a:r>
              <a:rPr lang="ko-KR" altLang="en-US" sz="2300" b="1" dirty="0"/>
              <a:t>문서 객체 모델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200" dirty="0" err="1"/>
              <a:t>DOMContentLoaded</a:t>
            </a:r>
            <a:r>
              <a:rPr lang="en-US" altLang="ko-KR" sz="2200" dirty="0"/>
              <a:t> </a:t>
            </a:r>
            <a:r>
              <a:rPr lang="ko-KR" altLang="en-US" sz="2200" dirty="0"/>
              <a:t>이벤트를 사용한 문서 객체 조작과 다양한 이벤트의 사용 방법 이해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CHAPER 08: </a:t>
            </a:r>
            <a:r>
              <a:rPr lang="ko-KR" altLang="en-US" sz="2300" b="1" dirty="0"/>
              <a:t>예외 처리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구문 오류와 예외를 구분하고</a:t>
            </a:r>
            <a:r>
              <a:rPr lang="en-US" altLang="ko-KR" sz="2200" dirty="0"/>
              <a:t>, </a:t>
            </a:r>
            <a:r>
              <a:rPr lang="ko-KR" altLang="en-US" sz="2200" dirty="0"/>
              <a:t>예외 처리의 필요성과 예외를 강제로 발생시키는 방법을 이해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CHAPER 09: </a:t>
            </a:r>
            <a:r>
              <a:rPr lang="ko-KR" altLang="en-US" sz="2300" b="1" dirty="0"/>
              <a:t>클래스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객체 지향을 이해하고 클래스의 개념과 문법 학습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CHAPER 10: </a:t>
            </a:r>
            <a:r>
              <a:rPr lang="ko-KR" altLang="en-US" sz="2300" b="1" dirty="0"/>
              <a:t>리액트 라이브러리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리액트 라이브러리 사용 방법과 간단한 애플리케이션을 만드는 방법 학습</a:t>
            </a:r>
            <a:endParaRPr lang="en-US" altLang="ko-KR" sz="2200" dirty="0"/>
          </a:p>
          <a:p>
            <a:pPr>
              <a:buClr>
                <a:schemeClr val="tx1"/>
              </a:buClr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0199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1"/>
          <p:cNvSpPr txBox="1">
            <a:spLocks/>
          </p:cNvSpPr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endParaRPr lang="en-US" altLang="ko-KR" sz="2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F5A2D139-0D54-6740-BC96-84B38FA6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0" name="제목 9">
            <a:extLst>
              <a:ext uri="{FF2B5EF4-FFF2-40B4-BE49-F238E27FC236}">
                <a16:creationId xmlns="" xmlns:a16="http://schemas.microsoft.com/office/drawing/2014/main" id="{2E0B1CE4-00EE-1841-984D-B00E882C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x-none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="" xmlns:a16="http://schemas.microsoft.com/office/drawing/2014/main" id="{7389A846-A623-F04D-A5F3-1E4377CC921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911225" y="814388"/>
            <a:ext cx="11280775" cy="13543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CHAPTER 07: </a:t>
            </a:r>
            <a:r>
              <a:rPr lang="ko-KR" altLang="en-US" dirty="0"/>
              <a:t>문서 객체 모델</a:t>
            </a:r>
            <a:endParaRPr lang="en-US" altLang="ko-KR" sz="2000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4D0B1B5-3110-43A4-8AEC-886CC2D20C21}"/>
              </a:ext>
            </a:extLst>
          </p:cNvPr>
          <p:cNvSpPr txBox="1"/>
          <p:nvPr/>
        </p:nvSpPr>
        <p:spPr>
          <a:xfrm>
            <a:off x="1195754" y="2317102"/>
            <a:ext cx="10034954" cy="2868406"/>
          </a:xfrm>
          <a:prstGeom prst="rect">
            <a:avLst/>
          </a:prstGeom>
          <a:noFill/>
        </p:spPr>
        <p:txBody>
          <a:bodyPr wrap="square" numCol="1" spcCol="360000" rtlCol="0">
            <a:noAutofit/>
          </a:bodyPr>
          <a:lstStyle/>
          <a:p>
            <a:r>
              <a:rPr lang="en-US" altLang="ko-KR" dirty="0"/>
              <a:t>SECTION 7-1 </a:t>
            </a:r>
            <a:r>
              <a:rPr lang="ko-KR" altLang="en-US" dirty="0"/>
              <a:t>문서 객체 조작하기</a:t>
            </a:r>
            <a:endParaRPr lang="en-US" altLang="ko-KR" dirty="0"/>
          </a:p>
          <a:p>
            <a:r>
              <a:rPr lang="en-US" altLang="ko-KR" dirty="0"/>
              <a:t>SECTION 7-2 </a:t>
            </a:r>
            <a:r>
              <a:rPr lang="ko-KR" altLang="en-US" dirty="0"/>
              <a:t>이벤트 활용</a:t>
            </a:r>
            <a:endParaRPr lang="en-US" altLang="ko-KR" dirty="0"/>
          </a:p>
        </p:txBody>
      </p:sp>
      <p:sp>
        <p:nvSpPr>
          <p:cNvPr id="12" name="바닥글 개체 틀 36">
            <a:extLst>
              <a:ext uri="{FF2B5EF4-FFF2-40B4-BE49-F238E27FC236}">
                <a16:creationId xmlns="" xmlns:a16="http://schemas.microsoft.com/office/drawing/2014/main" id="{8D9C2507-1000-48C0-BCD3-1F511BF9F7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898318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="" xmlns:a16="http://schemas.microsoft.com/office/drawing/2014/main" id="{8228E8E3-0E6B-F440-8FD7-C16EDF946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x-none" sz="3600" b="1" dirty="0">
                <a:cs typeface="+mj-cs"/>
              </a:rPr>
              <a:t>CHAPTER </a:t>
            </a:r>
            <a:r>
              <a:rPr lang="en-US" altLang="ko-KR" sz="3600" b="1" dirty="0">
                <a:cs typeface="+mj-cs"/>
              </a:rPr>
              <a:t>07 </a:t>
            </a:r>
            <a:r>
              <a:rPr lang="ko-KR" altLang="en-US" sz="3600" b="1" dirty="0">
                <a:cs typeface="+mj-cs"/>
              </a:rPr>
              <a:t>문서 객체 모델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7CCBA41-B0B5-444D-A186-6592307FAB7C}"/>
              </a:ext>
            </a:extLst>
          </p:cNvPr>
          <p:cNvSpPr txBox="1"/>
          <p:nvPr/>
        </p:nvSpPr>
        <p:spPr>
          <a:xfrm>
            <a:off x="630465" y="3991169"/>
            <a:ext cx="10328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DOMContentLoaded</a:t>
            </a:r>
            <a:r>
              <a:rPr lang="en-US" altLang="ko-KR" sz="1600" dirty="0"/>
              <a:t> </a:t>
            </a:r>
            <a:r>
              <a:rPr lang="ko-KR" altLang="en-US" sz="1600" dirty="0"/>
              <a:t>이벤트를 사용한 문서 객체 조작과 다양한 이벤트의 사용 방법 이해</a:t>
            </a:r>
          </a:p>
        </p:txBody>
      </p:sp>
    </p:spTree>
    <p:extLst>
      <p:ext uri="{BB962C8B-B14F-4D97-AF65-F5344CB8AC3E}">
        <p14:creationId xmlns:p14="http://schemas.microsoft.com/office/powerpoint/2010/main" val="167123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모델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(Document Objects Model): 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객체를 조합해서 만든 전체적인 형태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r>
              <a:rPr lang="en-US" altLang="ko-KR" sz="1800" b="0" i="0" u="none" strike="noStrike" baseline="0" dirty="0" err="1">
                <a:solidFill>
                  <a:srgbClr val="000000"/>
                </a:solidFill>
                <a:latin typeface="+mn-ea"/>
                <a:ea typeface="+mn-ea"/>
              </a:rPr>
              <a:t>DOMContentLoaded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이벤트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HTML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코드를 자바스크립트로 조작하기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7-1-1.html)</a:t>
            </a: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223315"/>
              </p:ext>
            </p:extLst>
          </p:nvPr>
        </p:nvGraphicFramePr>
        <p:xfrm>
          <a:off x="1524000" y="1982995"/>
          <a:ext cx="507609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60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4888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01 &lt;!DOCTYPE html&gt;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02 &lt;html&gt;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03 &lt;head&gt;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04   &lt;title&gt;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&lt;/title&gt;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05   &lt;script&gt;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06     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// HTML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태그를 쉽게 만들 수 있는 콜백 함수를 선언합니다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07     const h1 = (text) =&gt; `&lt;h1&gt;${text}&lt;/h1&gt;`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08   &lt;/script&gt;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09   &lt;script&gt;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10    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document.body.innerHTML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+= h1('1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번째 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script 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태그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11   &lt;/script&gt;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12 &lt;/head&gt;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13 &lt;body&gt;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14   &lt;script&gt;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15    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document.body.innerHTML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+= h1('2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번째 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script 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태그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16   &lt;/script&gt;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17   &lt;h1&gt;1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번째 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h1 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태그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&lt;/h1&gt;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18   &lt;script&gt;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19    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document.body.innerHTML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+= h1('3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번째 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script 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태그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20   &lt;/script&gt;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21   &lt;h1&gt;2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번째 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h2 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태그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&lt;/h1&gt;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22 &lt;/body&gt;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23 &lt;/html&gt;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(1)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7F0F93E8-76AA-4D39-8D07-A631C60BD35D}"/>
              </a:ext>
            </a:extLst>
          </p:cNvPr>
          <p:cNvSpPr txBox="1"/>
          <p:nvPr/>
        </p:nvSpPr>
        <p:spPr>
          <a:xfrm>
            <a:off x="4806462" y="3356908"/>
            <a:ext cx="52167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body </a:t>
            </a:r>
            <a:r>
              <a:rPr lang="ko-KR" altLang="en-US" sz="1400" b="0" dirty="0">
                <a:solidFill>
                  <a:srgbClr val="FF0000"/>
                </a:solidFill>
              </a:rPr>
              <a:t>태그가 생성되기 이전에 </a:t>
            </a:r>
            <a:r>
              <a:rPr lang="en-US" altLang="ko-KR" sz="1400" b="0" dirty="0">
                <a:solidFill>
                  <a:srgbClr val="FF0000"/>
                </a:solidFill>
              </a:rPr>
              <a:t>script </a:t>
            </a:r>
            <a:r>
              <a:rPr lang="ko-KR" altLang="en-US" sz="1400" b="0" dirty="0">
                <a:solidFill>
                  <a:srgbClr val="FF0000"/>
                </a:solidFill>
              </a:rPr>
              <a:t>태그로 </a:t>
            </a:r>
            <a:r>
              <a:rPr lang="en-US" altLang="ko-KR" sz="1400" b="0" dirty="0">
                <a:solidFill>
                  <a:srgbClr val="FF0000"/>
                </a:solidFill>
              </a:rPr>
              <a:t>body </a:t>
            </a:r>
            <a:r>
              <a:rPr lang="ko-KR" altLang="en-US" sz="1400" b="0" dirty="0">
                <a:solidFill>
                  <a:srgbClr val="FF0000"/>
                </a:solidFill>
              </a:rPr>
              <a:t>태그를 조작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="" xmlns:a16="http://schemas.microsoft.com/office/drawing/2014/main" id="{AD42A76D-E4C9-43B6-A12E-E0072668F140}"/>
              </a:ext>
            </a:extLst>
          </p:cNvPr>
          <p:cNvSpPr/>
          <p:nvPr/>
        </p:nvSpPr>
        <p:spPr>
          <a:xfrm>
            <a:off x="3270741" y="3528647"/>
            <a:ext cx="1535721" cy="152766"/>
          </a:xfrm>
          <a:custGeom>
            <a:avLst/>
            <a:gdLst>
              <a:gd name="connsiteX0" fmla="*/ 0 w 1852246"/>
              <a:gd name="connsiteY0" fmla="*/ 164123 h 164123"/>
              <a:gd name="connsiteX1" fmla="*/ 0 w 1852246"/>
              <a:gd name="connsiteY1" fmla="*/ 0 h 164123"/>
              <a:gd name="connsiteX2" fmla="*/ 1852246 w 1852246"/>
              <a:gd name="connsiteY2" fmla="*/ 0 h 164123"/>
              <a:gd name="connsiteX3" fmla="*/ 1852246 w 1852246"/>
              <a:gd name="connsiteY3" fmla="*/ 23446 h 16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2246" h="164123">
                <a:moveTo>
                  <a:pt x="0" y="164123"/>
                </a:moveTo>
                <a:lnTo>
                  <a:pt x="0" y="0"/>
                </a:lnTo>
                <a:lnTo>
                  <a:pt x="1852246" y="0"/>
                </a:lnTo>
                <a:lnTo>
                  <a:pt x="1852246" y="23446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="" xmlns:a16="http://schemas.microsoft.com/office/drawing/2014/main" id="{A1679AD8-769E-4920-978E-F91B17B4C1F5}"/>
              </a:ext>
            </a:extLst>
          </p:cNvPr>
          <p:cNvCxnSpPr/>
          <p:nvPr/>
        </p:nvCxnSpPr>
        <p:spPr>
          <a:xfrm>
            <a:off x="2942492" y="3681413"/>
            <a:ext cx="66821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4F15DBB7-842B-48A1-B28F-3D36E629FD5B}"/>
              </a:ext>
            </a:extLst>
          </p:cNvPr>
          <p:cNvSpPr txBox="1"/>
          <p:nvPr/>
        </p:nvSpPr>
        <p:spPr>
          <a:xfrm>
            <a:off x="5800541" y="3655209"/>
            <a:ext cx="26376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dirty="0">
                <a:solidFill>
                  <a:srgbClr val="FF0000"/>
                </a:solidFill>
              </a:rPr>
              <a:t>앞에서 선언한 </a:t>
            </a:r>
            <a:r>
              <a:rPr lang="en-US" altLang="ko-KR" sz="1400" b="0" dirty="0">
                <a:solidFill>
                  <a:srgbClr val="FF0000"/>
                </a:solidFill>
              </a:rPr>
              <a:t>h1 </a:t>
            </a:r>
            <a:r>
              <a:rPr lang="ko-KR" altLang="en-US" sz="1400" b="0" dirty="0">
                <a:solidFill>
                  <a:srgbClr val="FF0000"/>
                </a:solidFill>
              </a:rPr>
              <a:t>함수를 실행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="" xmlns:a16="http://schemas.microsoft.com/office/drawing/2014/main" id="{074BE9A7-F120-49FC-BFB4-2069A55E06B2}"/>
              </a:ext>
            </a:extLst>
          </p:cNvPr>
          <p:cNvCxnSpPr/>
          <p:nvPr/>
        </p:nvCxnSpPr>
        <p:spPr>
          <a:xfrm>
            <a:off x="5357450" y="3792735"/>
            <a:ext cx="4430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57CB96A6-B226-4D2B-B887-1566BE88A09D}"/>
              </a:ext>
            </a:extLst>
          </p:cNvPr>
          <p:cNvSpPr txBox="1"/>
          <p:nvPr/>
        </p:nvSpPr>
        <p:spPr>
          <a:xfrm>
            <a:off x="6096000" y="5069061"/>
            <a:ext cx="3197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body </a:t>
            </a:r>
            <a:r>
              <a:rPr lang="ko-KR" altLang="en-US" sz="1400" b="0" dirty="0">
                <a:solidFill>
                  <a:srgbClr val="FF0000"/>
                </a:solidFill>
              </a:rPr>
              <a:t>태그는 </a:t>
            </a:r>
            <a:r>
              <a:rPr lang="en-US" altLang="ko-KR" sz="1400" b="0" dirty="0">
                <a:solidFill>
                  <a:srgbClr val="FF0000"/>
                </a:solidFill>
              </a:rPr>
              <a:t>head </a:t>
            </a:r>
            <a:r>
              <a:rPr lang="ko-KR" altLang="en-US" sz="1400" b="0" dirty="0">
                <a:solidFill>
                  <a:srgbClr val="FF0000"/>
                </a:solidFill>
              </a:rPr>
              <a:t>태그 </a:t>
            </a:r>
            <a:r>
              <a:rPr lang="en-US" altLang="ko-KR" sz="1400" b="0" dirty="0">
                <a:solidFill>
                  <a:srgbClr val="FF0000"/>
                </a:solidFill>
              </a:rPr>
              <a:t/>
            </a:r>
            <a:br>
              <a:rPr lang="en-US" altLang="ko-KR" sz="1400" b="0" dirty="0">
                <a:solidFill>
                  <a:srgbClr val="FF0000"/>
                </a:solidFill>
              </a:rPr>
            </a:br>
            <a:r>
              <a:rPr lang="ko-KR" altLang="en-US" sz="1400" b="0" dirty="0">
                <a:solidFill>
                  <a:srgbClr val="FF0000"/>
                </a:solidFill>
              </a:rPr>
              <a:t>다음에 생성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57" name="Right Bracket 56">
            <a:extLst>
              <a:ext uri="{FF2B5EF4-FFF2-40B4-BE49-F238E27FC236}">
                <a16:creationId xmlns="" xmlns:a16="http://schemas.microsoft.com/office/drawing/2014/main" id="{07A817C8-7616-4471-A1AB-742FB0511222}"/>
              </a:ext>
            </a:extLst>
          </p:cNvPr>
          <p:cNvSpPr/>
          <p:nvPr/>
        </p:nvSpPr>
        <p:spPr>
          <a:xfrm>
            <a:off x="5357450" y="4383591"/>
            <a:ext cx="187565" cy="1602788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="" xmlns:a16="http://schemas.microsoft.com/office/drawing/2014/main" id="{0ACAC522-AC75-4083-8F13-505609EF87BC}"/>
              </a:ext>
            </a:extLst>
          </p:cNvPr>
          <p:cNvCxnSpPr/>
          <p:nvPr/>
        </p:nvCxnSpPr>
        <p:spPr>
          <a:xfrm>
            <a:off x="5545015" y="5222950"/>
            <a:ext cx="4430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="" xmlns:a16="http://schemas.microsoft.com/office/drawing/2014/main" id="{EDD065B2-D9B9-40F5-B315-AECE6D2A0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745" y="4309908"/>
            <a:ext cx="2089161" cy="204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4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sz="1800" b="0" i="0" u="none" strike="noStrike" baseline="0" dirty="0" err="1">
                <a:solidFill>
                  <a:srgbClr val="000000"/>
                </a:solidFill>
                <a:latin typeface="+mn-ea"/>
                <a:ea typeface="+mn-ea"/>
              </a:rPr>
              <a:t>DOMContentLoaded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이벤트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+mn-ea"/>
                <a:ea typeface="+mn-ea"/>
              </a:rPr>
              <a:t>DOMContentLoaded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이벤트는 웹 브라우저가 문서 객체를 모두 읽고 나서 실행하는 이벤트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다음과 같이 코드를 구성하면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+mn-ea"/>
                <a:ea typeface="+mn-ea"/>
              </a:rPr>
              <a:t>DOMContentLoaded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상태가 되었을 때 콜백 함수를 호출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+mn-ea"/>
                <a:ea typeface="+mn-ea"/>
              </a:rPr>
              <a:t>DOMContentLoaded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이벤트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7-1-2.html)</a:t>
            </a: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184185"/>
              </p:ext>
            </p:extLst>
          </p:nvPr>
        </p:nvGraphicFramePr>
        <p:xfrm>
          <a:off x="1523999" y="2354707"/>
          <a:ext cx="5873263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3263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9777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01 &lt;!DOCTYPE html&gt;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02 &lt;html&gt;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03 &lt;head&gt;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04   &lt;title&gt;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&lt;/title&gt;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05   &lt;script&gt;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06    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en-US" altLang="ko-KR" sz="1400" b="0" dirty="0" err="1">
                          <a:solidFill>
                            <a:srgbClr val="FF0000"/>
                          </a:solidFill>
                        </a:rPr>
                        <a:t>DOMContentLoaded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이벤트를 연결합니다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07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08  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4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h1 = (text) =&gt; `&lt;h1&gt;${text}&lt;/h1&gt;`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09  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400" b="0" dirty="0" err="1" smtClean="0">
                          <a:solidFill>
                            <a:sysClr val="windowText" lastClr="000000"/>
                          </a:solidFill>
                        </a:rPr>
                        <a:t>document.body.innerHTML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+= h1('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이벤트 발생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10    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})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11   &lt;/script&gt;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12 &lt;/head&gt;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13 &lt;body&gt;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15 &lt;/body&gt;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16 &lt;/html&gt;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(2)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4F15DBB7-842B-48A1-B28F-3D36E629FD5B}"/>
              </a:ext>
            </a:extLst>
          </p:cNvPr>
          <p:cNvSpPr txBox="1"/>
          <p:nvPr/>
        </p:nvSpPr>
        <p:spPr>
          <a:xfrm>
            <a:off x="5870585" y="4325816"/>
            <a:ext cx="45773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dirty="0">
                <a:solidFill>
                  <a:srgbClr val="FF0000"/>
                </a:solidFill>
              </a:rPr>
              <a:t>문서 객체를 모두 읽어들이면</a:t>
            </a:r>
            <a:r>
              <a:rPr lang="en-US" altLang="ko-KR" sz="1400" b="0" dirty="0">
                <a:solidFill>
                  <a:srgbClr val="FF0000"/>
                </a:solidFill>
              </a:rPr>
              <a:t>(</a:t>
            </a:r>
            <a:r>
              <a:rPr lang="en-US" altLang="ko-KR" sz="1400" b="0" dirty="0" err="1">
                <a:solidFill>
                  <a:srgbClr val="FF0000"/>
                </a:solidFill>
              </a:rPr>
              <a:t>DOMContentLoaded</a:t>
            </a:r>
            <a:r>
              <a:rPr lang="en-US" altLang="ko-KR" sz="1400" b="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400" b="0" dirty="0">
                <a:solidFill>
                  <a:srgbClr val="FF0000"/>
                </a:solidFill>
              </a:rPr>
              <a:t>이 콜백 함수가 실행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8BC157DC-DB0C-4D43-82F5-622DECAF8EBC}"/>
              </a:ext>
            </a:extLst>
          </p:cNvPr>
          <p:cNvCxnSpPr/>
          <p:nvPr/>
        </p:nvCxnSpPr>
        <p:spPr>
          <a:xfrm>
            <a:off x="2016369" y="4330739"/>
            <a:ext cx="49471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Freeform: Shape 5">
            <a:extLst>
              <a:ext uri="{FF2B5EF4-FFF2-40B4-BE49-F238E27FC236}">
                <a16:creationId xmlns="" xmlns:a16="http://schemas.microsoft.com/office/drawing/2014/main" id="{44931858-08B6-402F-A437-418CD9F80E34}"/>
              </a:ext>
            </a:extLst>
          </p:cNvPr>
          <p:cNvSpPr/>
          <p:nvPr/>
        </p:nvSpPr>
        <p:spPr>
          <a:xfrm>
            <a:off x="4138246" y="4325816"/>
            <a:ext cx="1735016" cy="234461"/>
          </a:xfrm>
          <a:custGeom>
            <a:avLst/>
            <a:gdLst>
              <a:gd name="connsiteX0" fmla="*/ 0 w 1735016"/>
              <a:gd name="connsiteY0" fmla="*/ 0 h 234461"/>
              <a:gd name="connsiteX1" fmla="*/ 0 w 1735016"/>
              <a:gd name="connsiteY1" fmla="*/ 199292 h 234461"/>
              <a:gd name="connsiteX2" fmla="*/ 1735016 w 1735016"/>
              <a:gd name="connsiteY2" fmla="*/ 199292 h 234461"/>
              <a:gd name="connsiteX3" fmla="*/ 1735016 w 1735016"/>
              <a:gd name="connsiteY3" fmla="*/ 234461 h 234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5016" h="234461">
                <a:moveTo>
                  <a:pt x="0" y="0"/>
                </a:moveTo>
                <a:lnTo>
                  <a:pt x="0" y="199292"/>
                </a:lnTo>
                <a:lnTo>
                  <a:pt x="1735016" y="199292"/>
                </a:lnTo>
                <a:lnTo>
                  <a:pt x="1735016" y="234461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EFF23D1-8090-466C-B61E-E3701D061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014" y="5044889"/>
            <a:ext cx="3971925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06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가져오기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+mn-ea"/>
                <a:ea typeface="+mn-ea"/>
              </a:rPr>
              <a:t>document.body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코드를 </a:t>
            </a:r>
            <a:r>
              <a:rPr lang="ko-KR" altLang="en-US" sz="1600" b="0" i="0" u="none" strike="noStrike" baseline="0" dirty="0" smtClean="0">
                <a:solidFill>
                  <a:srgbClr val="000000"/>
                </a:solidFill>
                <a:latin typeface="+mn-ea"/>
                <a:ea typeface="+mn-ea"/>
              </a:rPr>
              <a:t>사용하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여</a:t>
            </a:r>
            <a:r>
              <a:rPr lang="ko-KR" altLang="en-US" sz="1600" b="0" i="0" u="none" strike="noStrike" baseline="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문서의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body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요소 읽기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head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요소와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body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요소 내부에 만든 다른 요소들은 다음과 같은 별도의 메소드를 사용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592428"/>
              </p:ext>
            </p:extLst>
          </p:nvPr>
        </p:nvGraphicFramePr>
        <p:xfrm>
          <a:off x="1524000" y="1603652"/>
          <a:ext cx="2801815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1815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7292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document.head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document.body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document.title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(3)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06FEEE16-3410-4B12-BF9F-7A41F7027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943023"/>
              </p:ext>
            </p:extLst>
          </p:nvPr>
        </p:nvGraphicFramePr>
        <p:xfrm>
          <a:off x="1523999" y="3017520"/>
          <a:ext cx="4360986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0986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선택자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document.querySelectorAll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선택자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BFC4EB30-B50D-4B88-BD79-0AFFFAA91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496474"/>
              </p:ext>
            </p:extLst>
          </p:nvPr>
        </p:nvGraphicFramePr>
        <p:xfrm>
          <a:off x="1524000" y="3923274"/>
          <a:ext cx="7912100" cy="2000250"/>
        </p:xfrm>
        <a:graphic>
          <a:graphicData uri="http://schemas.openxmlformats.org/drawingml/2006/table">
            <a:tbl>
              <a:tblPr/>
              <a:tblGrid>
                <a:gridCol w="1590037">
                  <a:extLst>
                    <a:ext uri="{9D8B030D-6E8A-4147-A177-3AD203B41FA5}">
                      <a16:colId xmlns="" xmlns:a16="http://schemas.microsoft.com/office/drawing/2014/main" val="1365903254"/>
                    </a:ext>
                  </a:extLst>
                </a:gridCol>
                <a:gridCol w="2348558">
                  <a:extLst>
                    <a:ext uri="{9D8B030D-6E8A-4147-A177-3AD203B41FA5}">
                      <a16:colId xmlns="" xmlns:a16="http://schemas.microsoft.com/office/drawing/2014/main" val="3740770976"/>
                    </a:ext>
                  </a:extLst>
                </a:gridCol>
                <a:gridCol w="3973505">
                  <a:extLst>
                    <a:ext uri="{9D8B030D-6E8A-4147-A177-3AD203B41FA5}">
                      <a16:colId xmlns="" xmlns:a16="http://schemas.microsoft.com/office/drawing/2014/main" val="3037327478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선택자 형태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4960483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태그 선택자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태그를 가진 요소를 추출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7648116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 선택자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속성을 가진 요소를 추출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2541915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클래스 선택자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클래스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class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속성을 가진 요소를 추출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4304662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 선택자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 속성 값을 갖고 있는 요소를 추출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79302212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후손 선택자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선택자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_A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선택자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선택자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_A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아래에 있는 선택자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_B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선택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51688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971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가져오기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+mn-ea"/>
                <a:ea typeface="+mn-ea"/>
              </a:rPr>
              <a:t>querySelector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메소드를 사용해서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h1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태그를 추출하고 조작하기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querySelector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메소드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7-1-3.html)</a:t>
            </a: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106440"/>
              </p:ext>
            </p:extLst>
          </p:nvPr>
        </p:nvGraphicFramePr>
        <p:xfrm>
          <a:off x="1523999" y="1990334"/>
          <a:ext cx="5666713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6713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7292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  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요소를 읽어들입니다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  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header =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(‘h1’)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 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텍스트와 스타일을 변경합니다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 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header.textContent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= 'HEADERS’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08  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header.style.color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= 'white'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09 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header.style.backgroundColor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'black'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10 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header.style.padding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'10px'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11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})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12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&lt;/script&gt;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13 &lt;body&gt;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14   &lt;h1&gt;&lt;/h1&gt;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15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(4)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4F15DBB7-842B-48A1-B28F-3D36E629FD5B}"/>
              </a:ext>
            </a:extLst>
          </p:cNvPr>
          <p:cNvSpPr txBox="1"/>
          <p:nvPr/>
        </p:nvSpPr>
        <p:spPr>
          <a:xfrm>
            <a:off x="6241143" y="2769333"/>
            <a:ext cx="45773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h1 </a:t>
            </a:r>
            <a:r>
              <a:rPr lang="ko-KR" altLang="en-US" sz="1400" b="0" dirty="0">
                <a:solidFill>
                  <a:srgbClr val="FF0000"/>
                </a:solidFill>
              </a:rPr>
              <a:t>태그 이름으로 요소를 선택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0505AE84-0398-4013-97B6-C4A121725471}"/>
              </a:ext>
            </a:extLst>
          </p:cNvPr>
          <p:cNvCxnSpPr/>
          <p:nvPr/>
        </p:nvCxnSpPr>
        <p:spPr>
          <a:xfrm>
            <a:off x="5849815" y="2921732"/>
            <a:ext cx="3128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4F893AF6-851B-4951-898C-CD058811F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262" y="4252436"/>
            <a:ext cx="411480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59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가져오기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+mn-ea"/>
                <a:ea typeface="+mn-ea"/>
              </a:rPr>
              <a:t>querySelctorAll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메소드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: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여러 개를 배열로 읽어들이는 함수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querySelectorAll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메소드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7-1-4.html)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027693"/>
              </p:ext>
            </p:extLst>
          </p:nvPr>
        </p:nvGraphicFramePr>
        <p:xfrm>
          <a:off x="1523999" y="1990334"/>
          <a:ext cx="5666713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6713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14584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02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03    </a:t>
                      </a:r>
                      <a:r>
                        <a:rPr lang="en-US" altLang="ko-KR" sz="1400" b="0" baseline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4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요소를 읽어들입니다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04 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4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headers =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document.querySelectorAll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('h1')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05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06  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텍스트와 스타일을 변경합니다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07 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400" b="0" dirty="0" err="1" smtClean="0">
                          <a:solidFill>
                            <a:sysClr val="windowText" lastClr="000000"/>
                          </a:solidFill>
                        </a:rPr>
                        <a:t>headers.forEach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((header)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08    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="0" dirty="0" err="1" smtClean="0">
                          <a:solidFill>
                            <a:sysClr val="windowText" lastClr="000000"/>
                          </a:solidFill>
                        </a:rPr>
                        <a:t>header.textContent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= 'HEADERS’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09    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="0" dirty="0" err="1" smtClean="0">
                          <a:solidFill>
                            <a:sysClr val="windowText" lastClr="000000"/>
                          </a:solidFill>
                        </a:rPr>
                        <a:t>header.style.color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= 'white’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10   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header.style.backgroundColor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'black’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11    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="0" dirty="0" err="1" smtClean="0">
                          <a:solidFill>
                            <a:sysClr val="windowText" lastClr="000000"/>
                          </a:solidFill>
                        </a:rPr>
                        <a:t>header.style.padding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= '10px'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12  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})</a:t>
                      </a:r>
                      <a:endParaRPr lang="en-US" altLang="ko-KR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13 </a:t>
                      </a:r>
                      <a:r>
                        <a:rPr lang="en-US" altLang="ko-KR" sz="1400" b="0" baseline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})</a:t>
                      </a:r>
                      <a:endParaRPr lang="en-US" altLang="ko-KR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14 &lt;/script&gt;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15 &lt;body&gt;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16   &lt;h1&gt;&lt;/h1&gt;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17   &lt;h1&gt;&lt;/h1&gt;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18   &lt;h1&gt;&lt;/h1&gt;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19   &lt;h1&gt;&lt;/h1&gt;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20 &lt;/body&gt;</a:t>
                      </a:r>
                      <a:endParaRPr lang="en-US" altLang="ko-KR" sz="14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(5)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4F15DBB7-842B-48A1-B28F-3D36E629FD5B}"/>
              </a:ext>
            </a:extLst>
          </p:cNvPr>
          <p:cNvSpPr txBox="1"/>
          <p:nvPr/>
        </p:nvSpPr>
        <p:spPr>
          <a:xfrm>
            <a:off x="5647866" y="2905783"/>
            <a:ext cx="24610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dirty="0">
                <a:solidFill>
                  <a:srgbClr val="FF0000"/>
                </a:solidFill>
              </a:rPr>
              <a:t>태그 이름으로 요소를 선택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10BD4AC9-E7A0-4DB3-951C-FFC1CB7093B2}"/>
              </a:ext>
            </a:extLst>
          </p:cNvPr>
          <p:cNvCxnSpPr/>
          <p:nvPr/>
        </p:nvCxnSpPr>
        <p:spPr>
          <a:xfrm>
            <a:off x="5275385" y="2905783"/>
            <a:ext cx="18756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692AC33D-D01B-41F0-B752-793EBB5240C5}"/>
              </a:ext>
            </a:extLst>
          </p:cNvPr>
          <p:cNvSpPr/>
          <p:nvPr/>
        </p:nvSpPr>
        <p:spPr>
          <a:xfrm>
            <a:off x="5369169" y="2912696"/>
            <a:ext cx="328246" cy="128954"/>
          </a:xfrm>
          <a:custGeom>
            <a:avLst/>
            <a:gdLst>
              <a:gd name="connsiteX0" fmla="*/ 0 w 328246"/>
              <a:gd name="connsiteY0" fmla="*/ 0 h 128954"/>
              <a:gd name="connsiteX1" fmla="*/ 0 w 328246"/>
              <a:gd name="connsiteY1" fmla="*/ 128954 h 128954"/>
              <a:gd name="connsiteX2" fmla="*/ 328246 w 328246"/>
              <a:gd name="connsiteY2" fmla="*/ 128954 h 128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8246" h="128954">
                <a:moveTo>
                  <a:pt x="0" y="0"/>
                </a:moveTo>
                <a:lnTo>
                  <a:pt x="0" y="128954"/>
                </a:lnTo>
                <a:lnTo>
                  <a:pt x="328246" y="128954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81A10412-F8FE-41C2-B0F6-567123A3F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413" y="3433833"/>
            <a:ext cx="425767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63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글자 조작하기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글자 조작하기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7-1-5.html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857716"/>
              </p:ext>
            </p:extLst>
          </p:nvPr>
        </p:nvGraphicFramePr>
        <p:xfrm>
          <a:off x="1524000" y="2602188"/>
          <a:ext cx="5666713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6713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8258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    const a =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('#a')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     const b =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('#b')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   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a.textContent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'&lt;h1&gt;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textContent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속성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&lt;/h1&gt;'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   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b.innerHTML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'&lt;h1&gt;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innerHTML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속성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&lt;/h1&gt;'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08   })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09 &lt;/script&gt;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10 &lt;body&gt;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11   &lt;div id="a"&gt;&lt;/div&gt;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12   &lt;div id="b"&gt;&lt;/div&gt;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13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(6)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4F15DBB7-842B-48A1-B28F-3D36E629FD5B}"/>
              </a:ext>
            </a:extLst>
          </p:cNvPr>
          <p:cNvSpPr txBox="1"/>
          <p:nvPr/>
        </p:nvSpPr>
        <p:spPr>
          <a:xfrm>
            <a:off x="6223556" y="3326948"/>
            <a:ext cx="24610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dirty="0">
                <a:solidFill>
                  <a:srgbClr val="FF0000"/>
                </a:solidFill>
              </a:rPr>
              <a:t>특정 아이디로 요소를 선택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A425E626-2259-4F86-B738-4054289BD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309127"/>
              </p:ext>
            </p:extLst>
          </p:nvPr>
        </p:nvGraphicFramePr>
        <p:xfrm>
          <a:off x="1524000" y="1196110"/>
          <a:ext cx="6324600" cy="1000125"/>
        </p:xfrm>
        <a:graphic>
          <a:graphicData uri="http://schemas.openxmlformats.org/drawingml/2006/table">
            <a:tbl>
              <a:tblPr/>
              <a:tblGrid>
                <a:gridCol w="2273300">
                  <a:extLst>
                    <a:ext uri="{9D8B030D-6E8A-4147-A177-3AD203B41FA5}">
                      <a16:colId xmlns="" xmlns:a16="http://schemas.microsoft.com/office/drawing/2014/main" val="2586140995"/>
                    </a:ext>
                  </a:extLst>
                </a:gridCol>
                <a:gridCol w="4051300">
                  <a:extLst>
                    <a:ext uri="{9D8B030D-6E8A-4147-A177-3AD203B41FA5}">
                      <a16:colId xmlns="" xmlns:a16="http://schemas.microsoft.com/office/drawing/2014/main" val="210035234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 이름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1660983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객체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textContent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입력된 문자열을 그대로 기입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0143307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객체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innerHTML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입력된 문자열을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HTML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형식으로 기입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22975492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AC835F94-EF4C-43E5-B74A-92A917376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713" y="4212568"/>
            <a:ext cx="2987852" cy="1590548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="" xmlns:a16="http://schemas.microsoft.com/office/drawing/2014/main" id="{9BC89304-EA96-4331-8C79-5E5B4356C49B}"/>
              </a:ext>
            </a:extLst>
          </p:cNvPr>
          <p:cNvSpPr/>
          <p:nvPr/>
        </p:nvSpPr>
        <p:spPr>
          <a:xfrm>
            <a:off x="4965578" y="3509502"/>
            <a:ext cx="1262063" cy="95250"/>
          </a:xfrm>
          <a:custGeom>
            <a:avLst/>
            <a:gdLst>
              <a:gd name="connsiteX0" fmla="*/ 0 w 1723292"/>
              <a:gd name="connsiteY0" fmla="*/ 0 h 246185"/>
              <a:gd name="connsiteX1" fmla="*/ 644769 w 1723292"/>
              <a:gd name="connsiteY1" fmla="*/ 0 h 246185"/>
              <a:gd name="connsiteX2" fmla="*/ 1230923 w 1723292"/>
              <a:gd name="connsiteY2" fmla="*/ 246185 h 246185"/>
              <a:gd name="connsiteX3" fmla="*/ 1723292 w 1723292"/>
              <a:gd name="connsiteY3" fmla="*/ 0 h 246185"/>
              <a:gd name="connsiteX0" fmla="*/ 0 w 1723292"/>
              <a:gd name="connsiteY0" fmla="*/ 0 h 246185"/>
              <a:gd name="connsiteX1" fmla="*/ 644769 w 1723292"/>
              <a:gd name="connsiteY1" fmla="*/ 0 h 246185"/>
              <a:gd name="connsiteX2" fmla="*/ 1230923 w 1723292"/>
              <a:gd name="connsiteY2" fmla="*/ 246185 h 246185"/>
              <a:gd name="connsiteX3" fmla="*/ 1723292 w 1723292"/>
              <a:gd name="connsiteY3" fmla="*/ 0 h 246185"/>
              <a:gd name="connsiteX0" fmla="*/ 0 w 1383323"/>
              <a:gd name="connsiteY0" fmla="*/ 0 h 246185"/>
              <a:gd name="connsiteX1" fmla="*/ 304800 w 1383323"/>
              <a:gd name="connsiteY1" fmla="*/ 0 h 246185"/>
              <a:gd name="connsiteX2" fmla="*/ 890954 w 1383323"/>
              <a:gd name="connsiteY2" fmla="*/ 246185 h 246185"/>
              <a:gd name="connsiteX3" fmla="*/ 1383323 w 1383323"/>
              <a:gd name="connsiteY3" fmla="*/ 0 h 246185"/>
              <a:gd name="connsiteX0" fmla="*/ 0 w 1383323"/>
              <a:gd name="connsiteY0" fmla="*/ 0 h 144224"/>
              <a:gd name="connsiteX1" fmla="*/ 304800 w 1383323"/>
              <a:gd name="connsiteY1" fmla="*/ 0 h 144224"/>
              <a:gd name="connsiteX2" fmla="*/ 797734 w 1383323"/>
              <a:gd name="connsiteY2" fmla="*/ 144224 h 144224"/>
              <a:gd name="connsiteX3" fmla="*/ 1383323 w 1383323"/>
              <a:gd name="connsiteY3" fmla="*/ 0 h 144224"/>
              <a:gd name="connsiteX0" fmla="*/ 0 w 1350030"/>
              <a:gd name="connsiteY0" fmla="*/ 61176 h 206046"/>
              <a:gd name="connsiteX1" fmla="*/ 304800 w 1350030"/>
              <a:gd name="connsiteY1" fmla="*/ 61176 h 206046"/>
              <a:gd name="connsiteX2" fmla="*/ 797734 w 1350030"/>
              <a:gd name="connsiteY2" fmla="*/ 205400 h 206046"/>
              <a:gd name="connsiteX3" fmla="*/ 1350030 w 1350030"/>
              <a:gd name="connsiteY3" fmla="*/ 0 h 206046"/>
              <a:gd name="connsiteX0" fmla="*/ 0 w 1350030"/>
              <a:gd name="connsiteY0" fmla="*/ 61176 h 61177"/>
              <a:gd name="connsiteX1" fmla="*/ 304800 w 1350030"/>
              <a:gd name="connsiteY1" fmla="*/ 61176 h 61177"/>
              <a:gd name="connsiteX2" fmla="*/ 1350030 w 1350030"/>
              <a:gd name="connsiteY2" fmla="*/ 0 h 61177"/>
              <a:gd name="connsiteX0" fmla="*/ 0 w 1106991"/>
              <a:gd name="connsiteY0" fmla="*/ 280394 h 280393"/>
              <a:gd name="connsiteX1" fmla="*/ 304800 w 1106991"/>
              <a:gd name="connsiteY1" fmla="*/ 280394 h 280393"/>
              <a:gd name="connsiteX2" fmla="*/ 1106991 w 1106991"/>
              <a:gd name="connsiteY2" fmla="*/ 0 h 280393"/>
              <a:gd name="connsiteX0" fmla="*/ 0 w 1266728"/>
              <a:gd name="connsiteY0" fmla="*/ 280394 h 280395"/>
              <a:gd name="connsiteX1" fmla="*/ 304800 w 1266728"/>
              <a:gd name="connsiteY1" fmla="*/ 280394 h 280395"/>
              <a:gd name="connsiteX2" fmla="*/ 1228638 w 1266728"/>
              <a:gd name="connsiteY2" fmla="*/ 202115 h 280395"/>
              <a:gd name="connsiteX3" fmla="*/ 1106991 w 1266728"/>
              <a:gd name="connsiteY3" fmla="*/ 0 h 280395"/>
              <a:gd name="connsiteX0" fmla="*/ 0 w 1106991"/>
              <a:gd name="connsiteY0" fmla="*/ 280394 h 280393"/>
              <a:gd name="connsiteX1" fmla="*/ 304800 w 1106991"/>
              <a:gd name="connsiteY1" fmla="*/ 280394 h 280393"/>
              <a:gd name="connsiteX2" fmla="*/ 865745 w 1106991"/>
              <a:gd name="connsiteY2" fmla="*/ 227606 h 280393"/>
              <a:gd name="connsiteX3" fmla="*/ 1106991 w 1106991"/>
              <a:gd name="connsiteY3" fmla="*/ 0 h 280393"/>
              <a:gd name="connsiteX0" fmla="*/ 0 w 1296761"/>
              <a:gd name="connsiteY0" fmla="*/ 152944 h 152944"/>
              <a:gd name="connsiteX1" fmla="*/ 304800 w 1296761"/>
              <a:gd name="connsiteY1" fmla="*/ 152944 h 152944"/>
              <a:gd name="connsiteX2" fmla="*/ 865745 w 1296761"/>
              <a:gd name="connsiteY2" fmla="*/ 100156 h 152944"/>
              <a:gd name="connsiteX3" fmla="*/ 1296761 w 1296761"/>
              <a:gd name="connsiteY3" fmla="*/ 2 h 152944"/>
              <a:gd name="connsiteX0" fmla="*/ 0 w 1296761"/>
              <a:gd name="connsiteY0" fmla="*/ 152942 h 152942"/>
              <a:gd name="connsiteX1" fmla="*/ 304800 w 1296761"/>
              <a:gd name="connsiteY1" fmla="*/ 152942 h 152942"/>
              <a:gd name="connsiteX2" fmla="*/ 729244 w 1296761"/>
              <a:gd name="connsiteY2" fmla="*/ 115449 h 152942"/>
              <a:gd name="connsiteX3" fmla="*/ 1296761 w 1296761"/>
              <a:gd name="connsiteY3" fmla="*/ 0 h 152942"/>
              <a:gd name="connsiteX0" fmla="*/ 0 w 1296761"/>
              <a:gd name="connsiteY0" fmla="*/ 152942 h 152942"/>
              <a:gd name="connsiteX1" fmla="*/ 304800 w 1296761"/>
              <a:gd name="connsiteY1" fmla="*/ 152942 h 152942"/>
              <a:gd name="connsiteX2" fmla="*/ 729244 w 1296761"/>
              <a:gd name="connsiteY2" fmla="*/ 115449 h 152942"/>
              <a:gd name="connsiteX3" fmla="*/ 1296761 w 1296761"/>
              <a:gd name="connsiteY3" fmla="*/ 0 h 152942"/>
              <a:gd name="connsiteX0" fmla="*/ 0 w 1296761"/>
              <a:gd name="connsiteY0" fmla="*/ 152942 h 152942"/>
              <a:gd name="connsiteX1" fmla="*/ 304800 w 1296761"/>
              <a:gd name="connsiteY1" fmla="*/ 152942 h 152942"/>
              <a:gd name="connsiteX2" fmla="*/ 729244 w 1296761"/>
              <a:gd name="connsiteY2" fmla="*/ 115449 h 152942"/>
              <a:gd name="connsiteX3" fmla="*/ 1296761 w 1296761"/>
              <a:gd name="connsiteY3" fmla="*/ 0 h 152942"/>
              <a:gd name="connsiteX0" fmla="*/ 0 w 1296761"/>
              <a:gd name="connsiteY0" fmla="*/ 152942 h 152942"/>
              <a:gd name="connsiteX1" fmla="*/ 304800 w 1296761"/>
              <a:gd name="connsiteY1" fmla="*/ 152942 h 152942"/>
              <a:gd name="connsiteX2" fmla="*/ 1296761 w 1296761"/>
              <a:gd name="connsiteY2" fmla="*/ 0 h 152942"/>
              <a:gd name="connsiteX0" fmla="*/ 0 w 1323395"/>
              <a:gd name="connsiteY0" fmla="*/ 152942 h 152942"/>
              <a:gd name="connsiteX1" fmla="*/ 304800 w 1323395"/>
              <a:gd name="connsiteY1" fmla="*/ 152942 h 152942"/>
              <a:gd name="connsiteX2" fmla="*/ 1323395 w 1323395"/>
              <a:gd name="connsiteY2" fmla="*/ 0 h 152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3395" h="152942">
                <a:moveTo>
                  <a:pt x="0" y="152942"/>
                </a:moveTo>
                <a:lnTo>
                  <a:pt x="304800" y="152942"/>
                </a:lnTo>
                <a:cubicBezTo>
                  <a:pt x="520927" y="127452"/>
                  <a:pt x="1116737" y="31863"/>
                  <a:pt x="1323395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="" xmlns:a16="http://schemas.microsoft.com/office/drawing/2014/main" id="{EBDEFBCB-A8DC-4407-8673-6507D8B1C4F2}"/>
              </a:ext>
            </a:extLst>
          </p:cNvPr>
          <p:cNvSpPr/>
          <p:nvPr/>
        </p:nvSpPr>
        <p:spPr>
          <a:xfrm flipV="1">
            <a:off x="4965578" y="3356921"/>
            <a:ext cx="1287463" cy="101600"/>
          </a:xfrm>
          <a:custGeom>
            <a:avLst/>
            <a:gdLst>
              <a:gd name="connsiteX0" fmla="*/ 0 w 1723292"/>
              <a:gd name="connsiteY0" fmla="*/ 0 h 246185"/>
              <a:gd name="connsiteX1" fmla="*/ 644769 w 1723292"/>
              <a:gd name="connsiteY1" fmla="*/ 0 h 246185"/>
              <a:gd name="connsiteX2" fmla="*/ 1230923 w 1723292"/>
              <a:gd name="connsiteY2" fmla="*/ 246185 h 246185"/>
              <a:gd name="connsiteX3" fmla="*/ 1723292 w 1723292"/>
              <a:gd name="connsiteY3" fmla="*/ 0 h 246185"/>
              <a:gd name="connsiteX0" fmla="*/ 0 w 1723292"/>
              <a:gd name="connsiteY0" fmla="*/ 0 h 246185"/>
              <a:gd name="connsiteX1" fmla="*/ 644769 w 1723292"/>
              <a:gd name="connsiteY1" fmla="*/ 0 h 246185"/>
              <a:gd name="connsiteX2" fmla="*/ 1230923 w 1723292"/>
              <a:gd name="connsiteY2" fmla="*/ 246185 h 246185"/>
              <a:gd name="connsiteX3" fmla="*/ 1723292 w 1723292"/>
              <a:gd name="connsiteY3" fmla="*/ 0 h 246185"/>
              <a:gd name="connsiteX0" fmla="*/ 0 w 1383323"/>
              <a:gd name="connsiteY0" fmla="*/ 0 h 246185"/>
              <a:gd name="connsiteX1" fmla="*/ 304800 w 1383323"/>
              <a:gd name="connsiteY1" fmla="*/ 0 h 246185"/>
              <a:gd name="connsiteX2" fmla="*/ 890954 w 1383323"/>
              <a:gd name="connsiteY2" fmla="*/ 246185 h 246185"/>
              <a:gd name="connsiteX3" fmla="*/ 1383323 w 1383323"/>
              <a:gd name="connsiteY3" fmla="*/ 0 h 246185"/>
              <a:gd name="connsiteX0" fmla="*/ 0 w 1383323"/>
              <a:gd name="connsiteY0" fmla="*/ 73836 h 97702"/>
              <a:gd name="connsiteX1" fmla="*/ 304800 w 1383323"/>
              <a:gd name="connsiteY1" fmla="*/ 73836 h 97702"/>
              <a:gd name="connsiteX2" fmla="*/ 851003 w 1383323"/>
              <a:gd name="connsiteY2" fmla="*/ 0 h 97702"/>
              <a:gd name="connsiteX3" fmla="*/ 1383323 w 1383323"/>
              <a:gd name="connsiteY3" fmla="*/ 73836 h 97702"/>
              <a:gd name="connsiteX0" fmla="*/ 0 w 1389982"/>
              <a:gd name="connsiteY0" fmla="*/ 232743 h 244544"/>
              <a:gd name="connsiteX1" fmla="*/ 304800 w 1389982"/>
              <a:gd name="connsiteY1" fmla="*/ 232743 h 244544"/>
              <a:gd name="connsiteX2" fmla="*/ 851003 w 1389982"/>
              <a:gd name="connsiteY2" fmla="*/ 158907 h 244544"/>
              <a:gd name="connsiteX3" fmla="*/ 1389982 w 1389982"/>
              <a:gd name="connsiteY3" fmla="*/ 0 h 244544"/>
              <a:gd name="connsiteX0" fmla="*/ 0 w 1389982"/>
              <a:gd name="connsiteY0" fmla="*/ 241533 h 253334"/>
              <a:gd name="connsiteX1" fmla="*/ 304800 w 1389982"/>
              <a:gd name="connsiteY1" fmla="*/ 241533 h 253334"/>
              <a:gd name="connsiteX2" fmla="*/ 851003 w 1389982"/>
              <a:gd name="connsiteY2" fmla="*/ 167697 h 253334"/>
              <a:gd name="connsiteX3" fmla="*/ 1389982 w 1389982"/>
              <a:gd name="connsiteY3" fmla="*/ 8790 h 253334"/>
              <a:gd name="connsiteX0" fmla="*/ 0 w 1389982"/>
              <a:gd name="connsiteY0" fmla="*/ 238910 h 276267"/>
              <a:gd name="connsiteX1" fmla="*/ 304800 w 1389982"/>
              <a:gd name="connsiteY1" fmla="*/ 238910 h 276267"/>
              <a:gd name="connsiteX2" fmla="*/ 338291 w 1389982"/>
              <a:gd name="connsiteY2" fmla="*/ 252353 h 276267"/>
              <a:gd name="connsiteX3" fmla="*/ 1389982 w 1389982"/>
              <a:gd name="connsiteY3" fmla="*/ 6167 h 276267"/>
              <a:gd name="connsiteX0" fmla="*/ 0 w 1350030"/>
              <a:gd name="connsiteY0" fmla="*/ 238910 h 276269"/>
              <a:gd name="connsiteX1" fmla="*/ 304800 w 1350030"/>
              <a:gd name="connsiteY1" fmla="*/ 238910 h 276269"/>
              <a:gd name="connsiteX2" fmla="*/ 338291 w 1350030"/>
              <a:gd name="connsiteY2" fmla="*/ 252353 h 276269"/>
              <a:gd name="connsiteX3" fmla="*/ 1350030 w 1350030"/>
              <a:gd name="connsiteY3" fmla="*/ 6167 h 276269"/>
              <a:gd name="connsiteX0" fmla="*/ 0 w 1350030"/>
              <a:gd name="connsiteY0" fmla="*/ 232743 h 270102"/>
              <a:gd name="connsiteX1" fmla="*/ 304800 w 1350030"/>
              <a:gd name="connsiteY1" fmla="*/ 232743 h 270102"/>
              <a:gd name="connsiteX2" fmla="*/ 338291 w 1350030"/>
              <a:gd name="connsiteY2" fmla="*/ 246186 h 270102"/>
              <a:gd name="connsiteX3" fmla="*/ 1350030 w 1350030"/>
              <a:gd name="connsiteY3" fmla="*/ 0 h 270102"/>
              <a:gd name="connsiteX0" fmla="*/ 0 w 1350030"/>
              <a:gd name="connsiteY0" fmla="*/ 232743 h 232744"/>
              <a:gd name="connsiteX1" fmla="*/ 304800 w 1350030"/>
              <a:gd name="connsiteY1" fmla="*/ 232743 h 232744"/>
              <a:gd name="connsiteX2" fmla="*/ 1350030 w 1350030"/>
              <a:gd name="connsiteY2" fmla="*/ 0 h 232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50030" h="232744">
                <a:moveTo>
                  <a:pt x="0" y="232743"/>
                </a:moveTo>
                <a:lnTo>
                  <a:pt x="304800" y="232743"/>
                </a:lnTo>
                <a:cubicBezTo>
                  <a:pt x="529805" y="193953"/>
                  <a:pt x="1132274" y="48488"/>
                  <a:pt x="1350030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416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속성 조작하기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속성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 조작하기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7-1-6.html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478400"/>
              </p:ext>
            </p:extLst>
          </p:nvPr>
        </p:nvGraphicFramePr>
        <p:xfrm>
          <a:off x="1524000" y="2602188"/>
          <a:ext cx="5666713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6713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8258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03     const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rects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document.querySelectorAll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('.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rect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04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05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rects.forEach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((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rect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, index)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06       const width = (index + 1) * 100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07       const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src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`http://placekitten.com/${width}/250`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08  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rect.setAttribute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src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',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src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09     })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10   })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11 &lt;/script&gt;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12 &lt;body&gt;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13   &lt;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img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class="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rect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"&gt;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14   &lt;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img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class="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rect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"&gt;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15   &lt;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img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class="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rect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"&gt;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16   &lt;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img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class="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rect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"&gt;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17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(7)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4F15DBB7-842B-48A1-B28F-3D36E629FD5B}"/>
              </a:ext>
            </a:extLst>
          </p:cNvPr>
          <p:cNvSpPr txBox="1"/>
          <p:nvPr/>
        </p:nvSpPr>
        <p:spPr>
          <a:xfrm>
            <a:off x="4427321" y="4110381"/>
            <a:ext cx="24610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 err="1">
                <a:solidFill>
                  <a:srgbClr val="FF0000"/>
                </a:solidFill>
              </a:rPr>
              <a:t>src</a:t>
            </a:r>
            <a:r>
              <a:rPr lang="en-US" altLang="ko-KR" sz="1400" b="0" dirty="0">
                <a:solidFill>
                  <a:srgbClr val="FF0000"/>
                </a:solidFill>
              </a:rPr>
              <a:t> </a:t>
            </a:r>
            <a:r>
              <a:rPr lang="ko-KR" altLang="en-US" sz="1400" b="0" dirty="0">
                <a:solidFill>
                  <a:srgbClr val="FF0000"/>
                </a:solidFill>
              </a:rPr>
              <a:t>속성에 값을 지정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A425E626-2259-4F86-B738-4054289BD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721237"/>
              </p:ext>
            </p:extLst>
          </p:nvPr>
        </p:nvGraphicFramePr>
        <p:xfrm>
          <a:off x="1524000" y="1193919"/>
          <a:ext cx="6342185" cy="1000125"/>
        </p:xfrm>
        <a:graphic>
          <a:graphicData uri="http://schemas.openxmlformats.org/drawingml/2006/table">
            <a:tbl>
              <a:tblPr/>
              <a:tblGrid>
                <a:gridCol w="3985846">
                  <a:extLst>
                    <a:ext uri="{9D8B030D-6E8A-4147-A177-3AD203B41FA5}">
                      <a16:colId xmlns="" xmlns:a16="http://schemas.microsoft.com/office/drawing/2014/main" val="2586140995"/>
                    </a:ext>
                  </a:extLst>
                </a:gridCol>
                <a:gridCol w="2356339">
                  <a:extLst>
                    <a:ext uri="{9D8B030D-6E8A-4147-A177-3AD203B41FA5}">
                      <a16:colId xmlns="" xmlns:a16="http://schemas.microsoft.com/office/drawing/2014/main" val="210035234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메소드 이름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1660983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 객체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r>
                        <a:rPr lang="en-US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setAttribute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 이름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값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특성 속성에 값을 지정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0143307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문서 객체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r>
                        <a:rPr lang="en-US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getAttribute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 이름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특정 속성을 추출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22975492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FA7E2D1-9B89-4427-BD9C-7C62C5103D79}"/>
              </a:ext>
            </a:extLst>
          </p:cNvPr>
          <p:cNvCxnSpPr/>
          <p:nvPr/>
        </p:nvCxnSpPr>
        <p:spPr>
          <a:xfrm>
            <a:off x="4996473" y="3273552"/>
            <a:ext cx="39858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6E2CB762-40EB-4138-AC8B-F6F8D456AF5C}"/>
              </a:ext>
            </a:extLst>
          </p:cNvPr>
          <p:cNvSpPr/>
          <p:nvPr/>
        </p:nvSpPr>
        <p:spPr>
          <a:xfrm>
            <a:off x="5223296" y="3276599"/>
            <a:ext cx="609600" cy="152401"/>
          </a:xfrm>
          <a:custGeom>
            <a:avLst/>
            <a:gdLst>
              <a:gd name="connsiteX0" fmla="*/ 0 w 2426677"/>
              <a:gd name="connsiteY0" fmla="*/ 0 h 1652954"/>
              <a:gd name="connsiteX1" fmla="*/ 0 w 2426677"/>
              <a:gd name="connsiteY1" fmla="*/ 1652954 h 1652954"/>
              <a:gd name="connsiteX2" fmla="*/ 2426677 w 2426677"/>
              <a:gd name="connsiteY2" fmla="*/ 1652954 h 1652954"/>
              <a:gd name="connsiteX3" fmla="*/ 2426677 w 2426677"/>
              <a:gd name="connsiteY3" fmla="*/ 1582615 h 1652954"/>
              <a:gd name="connsiteX0" fmla="*/ 0 w 2426677"/>
              <a:gd name="connsiteY0" fmla="*/ 0 h 1652954"/>
              <a:gd name="connsiteX1" fmla="*/ 0 w 2426677"/>
              <a:gd name="connsiteY1" fmla="*/ 1652954 h 1652954"/>
              <a:gd name="connsiteX2" fmla="*/ 2426677 w 2426677"/>
              <a:gd name="connsiteY2" fmla="*/ 1652954 h 1652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26677" h="1652954">
                <a:moveTo>
                  <a:pt x="0" y="0"/>
                </a:moveTo>
                <a:lnTo>
                  <a:pt x="0" y="1652954"/>
                </a:lnTo>
                <a:lnTo>
                  <a:pt x="2426677" y="1652954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E5FD29C-42AD-499C-896B-A7BCCAECA4A9}"/>
              </a:ext>
            </a:extLst>
          </p:cNvPr>
          <p:cNvSpPr txBox="1"/>
          <p:nvPr/>
        </p:nvSpPr>
        <p:spPr>
          <a:xfrm>
            <a:off x="6764187" y="3643119"/>
            <a:ext cx="38975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index </a:t>
            </a:r>
            <a:r>
              <a:rPr lang="ko-KR" altLang="en-US" sz="1400" b="0" dirty="0">
                <a:solidFill>
                  <a:srgbClr val="FF0000"/>
                </a:solidFill>
              </a:rPr>
              <a:t>값은 </a:t>
            </a:r>
            <a:r>
              <a:rPr lang="en-US" altLang="ko-KR" sz="1400" b="0" dirty="0">
                <a:solidFill>
                  <a:srgbClr val="FF0000"/>
                </a:solidFill>
              </a:rPr>
              <a:t>[0, 1, 2, 3]</a:t>
            </a:r>
            <a:r>
              <a:rPr lang="ko-KR" altLang="en-US" sz="1400" b="0" dirty="0">
                <a:solidFill>
                  <a:srgbClr val="FF0000"/>
                </a:solidFill>
              </a:rPr>
              <a:t>이 반복</a:t>
            </a:r>
            <a:r>
              <a:rPr lang="en-US" altLang="ko-KR" sz="1400" b="0" dirty="0">
                <a:solidFill>
                  <a:srgbClr val="FF0000"/>
                </a:solidFill>
              </a:rPr>
              <a:t>. 1</a:t>
            </a:r>
            <a:r>
              <a:rPr lang="ko-KR" altLang="en-US" sz="1400" b="0" dirty="0">
                <a:solidFill>
                  <a:srgbClr val="FF0000"/>
                </a:solidFill>
              </a:rPr>
              <a:t>을 더해서</a:t>
            </a:r>
          </a:p>
          <a:p>
            <a:r>
              <a:rPr lang="en-US" altLang="ko-KR" sz="1400" b="0" dirty="0">
                <a:solidFill>
                  <a:srgbClr val="FF0000"/>
                </a:solidFill>
              </a:rPr>
              <a:t>[1, 2, 3, 4]</a:t>
            </a:r>
            <a:r>
              <a:rPr lang="ko-KR" altLang="en-US" sz="1400" b="0" dirty="0">
                <a:solidFill>
                  <a:srgbClr val="FF0000"/>
                </a:solidFill>
              </a:rPr>
              <a:t>가 되게 만들고</a:t>
            </a:r>
            <a:r>
              <a:rPr lang="en-US" altLang="ko-KR" sz="1400" b="0" dirty="0">
                <a:solidFill>
                  <a:srgbClr val="FF0000"/>
                </a:solidFill>
              </a:rPr>
              <a:t>, 100</a:t>
            </a:r>
            <a:r>
              <a:rPr lang="ko-KR" altLang="en-US" sz="1400" b="0" dirty="0">
                <a:solidFill>
                  <a:srgbClr val="FF0000"/>
                </a:solidFill>
              </a:rPr>
              <a:t>을 곱해서 너비가</a:t>
            </a:r>
          </a:p>
          <a:p>
            <a:r>
              <a:rPr lang="en-US" altLang="ko-KR" sz="1400" b="0" dirty="0">
                <a:solidFill>
                  <a:srgbClr val="FF0000"/>
                </a:solidFill>
              </a:rPr>
              <a:t>[100, 200, 300, 400]</a:t>
            </a:r>
            <a:r>
              <a:rPr lang="ko-KR" altLang="en-US" sz="1400" b="0" dirty="0">
                <a:solidFill>
                  <a:srgbClr val="FF0000"/>
                </a:solidFill>
              </a:rPr>
              <a:t>이 되게 만든 것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0DE4E08A-F220-4D5E-894A-1156C3C2113F}"/>
              </a:ext>
            </a:extLst>
          </p:cNvPr>
          <p:cNvCxnSpPr/>
          <p:nvPr/>
        </p:nvCxnSpPr>
        <p:spPr>
          <a:xfrm>
            <a:off x="3071446" y="3892062"/>
            <a:ext cx="3552092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733FF889-32BA-4EB2-86D3-7C03DFC22B2E}"/>
              </a:ext>
            </a:extLst>
          </p:cNvPr>
          <p:cNvCxnSpPr/>
          <p:nvPr/>
        </p:nvCxnSpPr>
        <p:spPr>
          <a:xfrm>
            <a:off x="4079631" y="4300207"/>
            <a:ext cx="277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0AF7FFC2-72CE-4036-82EE-687E31027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714" y="4666772"/>
            <a:ext cx="5206579" cy="155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65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스타일 조작하기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스타일 조작하기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3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가지 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86636"/>
              </p:ext>
            </p:extLst>
          </p:nvPr>
        </p:nvGraphicFramePr>
        <p:xfrm>
          <a:off x="1477108" y="3120097"/>
          <a:ext cx="2801816" cy="8258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1816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8258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h1.style.backgroundColor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h1.style['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backgroundColor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h1.style['background-color']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(8)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4F15DBB7-842B-48A1-B28F-3D36E629FD5B}"/>
              </a:ext>
            </a:extLst>
          </p:cNvPr>
          <p:cNvSpPr txBox="1"/>
          <p:nvPr/>
        </p:nvSpPr>
        <p:spPr>
          <a:xfrm>
            <a:off x="4425656" y="3193817"/>
            <a:ext cx="24610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dirty="0">
                <a:solidFill>
                  <a:srgbClr val="FF0000"/>
                </a:solidFill>
              </a:rPr>
              <a:t>이 형태를 가장 많이 사용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A425E626-2259-4F86-B738-4054289BD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918842"/>
              </p:ext>
            </p:extLst>
          </p:nvPr>
        </p:nvGraphicFramePr>
        <p:xfrm>
          <a:off x="1524000" y="1217944"/>
          <a:ext cx="5767752" cy="1333500"/>
        </p:xfrm>
        <a:graphic>
          <a:graphicData uri="http://schemas.openxmlformats.org/drawingml/2006/table">
            <a:tbl>
              <a:tblPr/>
              <a:tblGrid>
                <a:gridCol w="2473567">
                  <a:extLst>
                    <a:ext uri="{9D8B030D-6E8A-4147-A177-3AD203B41FA5}">
                      <a16:colId xmlns="" xmlns:a16="http://schemas.microsoft.com/office/drawing/2014/main" val="2586140995"/>
                    </a:ext>
                  </a:extLst>
                </a:gridCol>
                <a:gridCol w="3294185">
                  <a:extLst>
                    <a:ext uri="{9D8B030D-6E8A-4147-A177-3AD203B41FA5}">
                      <a16:colId xmlns="" xmlns:a16="http://schemas.microsoft.com/office/drawing/2014/main" val="210035234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CSS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 이름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자바스크립트 </a:t>
                      </a:r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style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속성 이름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1660983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background-color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backgroundColor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80143307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text-align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textAlign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2297549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font-size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fontSize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080275401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733FF889-32BA-4EB2-86D3-7C03DFC22B2E}"/>
              </a:ext>
            </a:extLst>
          </p:cNvPr>
          <p:cNvCxnSpPr>
            <a:cxnSpLocks/>
          </p:cNvCxnSpPr>
          <p:nvPr/>
        </p:nvCxnSpPr>
        <p:spPr>
          <a:xfrm>
            <a:off x="3838741" y="3309733"/>
            <a:ext cx="4401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430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스타일 조작하기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25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개의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div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태그를 조작해서 검은색에서 흰색으로 변화하는 그레이디언트를 만드는 코드 만들기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스타일 조작하기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7-1-7.html)</a:t>
            </a: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80588"/>
              </p:ext>
            </p:extLst>
          </p:nvPr>
        </p:nvGraphicFramePr>
        <p:xfrm>
          <a:off x="1523999" y="1896550"/>
          <a:ext cx="6646985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6985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8258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03     const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divs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document.querySelectorAll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('body &gt; div')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04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05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divs.forEach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((div, index) =&gt; { 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06       console.log(div, index)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07       const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val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index * 10 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08  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div.style.height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`10px` 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09  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div.style.backgroundColor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`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rgba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(${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val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}, ${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val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}, ${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val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})`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10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})</a:t>
                      </a:r>
                      <a:endParaRPr lang="en-US" altLang="ko-KR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11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})</a:t>
                      </a:r>
                      <a:endParaRPr lang="en-US" altLang="ko-KR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12 &lt;/script&gt;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13 &lt;body&gt;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14  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&lt;!-- div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태그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25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개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--&gt;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15   &lt;div&gt;&lt;/div&gt;&lt;div&gt;&lt;/div&gt;&lt;div&gt;&lt;/div&gt;&lt;div&gt;&lt;/div&gt;&lt;div&gt;&lt;/div&gt;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16   &lt;div&gt;&lt;/div&gt;&lt;div&gt;&lt;/div&gt;&lt;div&gt;&lt;/div&gt;&lt;div&gt;&lt;/div&gt;&lt;div&gt;&lt;/div&gt;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17   &lt;div&gt;&lt;/div&gt;&lt;div&gt;&lt;/div&gt;&lt;div&gt;&lt;/div&gt;&lt;div&gt;&lt;/div&gt;&lt;div&gt;&lt;/div&gt;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18   &lt;div&gt;&lt;/div&gt;&lt;div&gt;&lt;/div&gt;&lt;div&gt;&lt;/div&gt;&lt;div&gt;&lt;/div&gt;&lt;div&gt;&lt;/div&gt;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19   &lt;div&gt;&lt;/div&gt;&lt;div&gt;&lt;/div&gt;&lt;div&gt;&lt;/div&gt;&lt;div&gt;&lt;/div&gt;&lt;div&gt;&lt;/div&gt;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20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(9)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4F15DBB7-842B-48A1-B28F-3D36E629FD5B}"/>
              </a:ext>
            </a:extLst>
          </p:cNvPr>
          <p:cNvSpPr txBox="1"/>
          <p:nvPr/>
        </p:nvSpPr>
        <p:spPr>
          <a:xfrm>
            <a:off x="6335988" y="2290147"/>
            <a:ext cx="3170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body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태그 아래에 있는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div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태그를 선택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733FF889-32BA-4EB2-86D3-7C03DFC22B2E}"/>
              </a:ext>
            </a:extLst>
          </p:cNvPr>
          <p:cNvCxnSpPr>
            <a:cxnSpLocks/>
          </p:cNvCxnSpPr>
          <p:nvPr/>
        </p:nvCxnSpPr>
        <p:spPr>
          <a:xfrm>
            <a:off x="5907449" y="2469666"/>
            <a:ext cx="4401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7C61BDF-B64A-4AAA-B051-DC3D36D84328}"/>
              </a:ext>
            </a:extLst>
          </p:cNvPr>
          <p:cNvSpPr txBox="1"/>
          <p:nvPr/>
        </p:nvSpPr>
        <p:spPr>
          <a:xfrm>
            <a:off x="4896998" y="2787276"/>
            <a:ext cx="24610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div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개수만큼 반복하여 출력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5FBD1B5-4C86-4B50-BCAB-2B52BE0FFE10}"/>
              </a:ext>
            </a:extLst>
          </p:cNvPr>
          <p:cNvSpPr txBox="1"/>
          <p:nvPr/>
        </p:nvSpPr>
        <p:spPr>
          <a:xfrm>
            <a:off x="4813417" y="3171040"/>
            <a:ext cx="24610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인덱스는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0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부터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24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까지 반복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9F036E3C-C64F-4C48-A863-188F169B01BA}"/>
              </a:ext>
            </a:extLst>
          </p:cNvPr>
          <p:cNvSpPr txBox="1"/>
          <p:nvPr/>
        </p:nvSpPr>
        <p:spPr>
          <a:xfrm>
            <a:off x="4943890" y="3428162"/>
            <a:ext cx="44664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크기를 지정할 때는 반드시 단위를 함께 붙여줘야 함 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964B9249-3F8F-4BD9-BD4F-FC36901D7FEA}"/>
              </a:ext>
            </a:extLst>
          </p:cNvPr>
          <p:cNvCxnSpPr>
            <a:cxnSpLocks/>
          </p:cNvCxnSpPr>
          <p:nvPr/>
        </p:nvCxnSpPr>
        <p:spPr>
          <a:xfrm>
            <a:off x="4373234" y="2936557"/>
            <a:ext cx="4401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685249A3-6AF9-4921-BE4F-EEF6446DFB11}"/>
              </a:ext>
            </a:extLst>
          </p:cNvPr>
          <p:cNvCxnSpPr>
            <a:cxnSpLocks/>
          </p:cNvCxnSpPr>
          <p:nvPr/>
        </p:nvCxnSpPr>
        <p:spPr>
          <a:xfrm>
            <a:off x="4156771" y="3314827"/>
            <a:ext cx="4401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047E3D27-9D73-4550-82A1-DEE15051BAD8}"/>
              </a:ext>
            </a:extLst>
          </p:cNvPr>
          <p:cNvCxnSpPr>
            <a:cxnSpLocks/>
          </p:cNvCxnSpPr>
          <p:nvPr/>
        </p:nvCxnSpPr>
        <p:spPr>
          <a:xfrm>
            <a:off x="4326341" y="3549288"/>
            <a:ext cx="4401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285CEF71-645B-4113-8720-CA8883B72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475" y="3993061"/>
            <a:ext cx="466725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68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생성하기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document.createElement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메소드를 사용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문서 객체 트리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(tree)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구조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en-US" altLang="ko-KR" sz="14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문서를 어떤 문서 아래에 추가할 지를 지정</a:t>
            </a:r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858061"/>
              </p:ext>
            </p:extLst>
          </p:nvPr>
        </p:nvGraphicFramePr>
        <p:xfrm>
          <a:off x="1524000" y="1544810"/>
          <a:ext cx="3786555" cy="307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555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3077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document.createElement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문서 객체 이름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(10)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6" name="Table 4">
            <a:extLst>
              <a:ext uri="{FF2B5EF4-FFF2-40B4-BE49-F238E27FC236}">
                <a16:creationId xmlns="" xmlns:a16="http://schemas.microsoft.com/office/drawing/2014/main" id="{34851290-EB60-43DD-A560-22901488C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877318"/>
              </p:ext>
            </p:extLst>
          </p:nvPr>
        </p:nvGraphicFramePr>
        <p:xfrm>
          <a:off x="1523999" y="2630233"/>
          <a:ext cx="3786555" cy="307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555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30777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부모 객체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appendChild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자식 객체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="" xmlns:a16="http://schemas.microsoft.com/office/drawing/2014/main" id="{B8073C1B-0DBF-446F-AEC4-F6C2FDBB519A}"/>
              </a:ext>
            </a:extLst>
          </p:cNvPr>
          <p:cNvGrpSpPr/>
          <p:nvPr/>
        </p:nvGrpSpPr>
        <p:grpSpPr>
          <a:xfrm>
            <a:off x="5003357" y="3218728"/>
            <a:ext cx="2753691" cy="2824264"/>
            <a:chOff x="5003357" y="3218728"/>
            <a:chExt cx="2753691" cy="2824264"/>
          </a:xfrm>
        </p:grpSpPr>
        <p:pic>
          <p:nvPicPr>
            <p:cNvPr id="5" name="Picture 4">
              <a:extLst>
                <a:ext uri="{FF2B5EF4-FFF2-40B4-BE49-F238E27FC236}">
                  <a16:creationId xmlns="" xmlns:a16="http://schemas.microsoft.com/office/drawing/2014/main" id="{FF823149-9C32-4C89-887E-FA1ECF5D8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3357" y="3218728"/>
              <a:ext cx="2690111" cy="282426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18C42B0D-A5F8-47E5-8A0F-2FEE9721B87B}"/>
                </a:ext>
              </a:extLst>
            </p:cNvPr>
            <p:cNvSpPr txBox="1"/>
            <p:nvPr/>
          </p:nvSpPr>
          <p:spPr>
            <a:xfrm>
              <a:off x="5033814" y="3241715"/>
              <a:ext cx="68935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/>
                <a:t>부모</a:t>
              </a:r>
              <a:r>
                <a:rPr lang="en-US" altLang="ko-KR" sz="1200" dirty="0"/>
                <a:t/>
              </a:r>
              <a:br>
                <a:rPr lang="en-US" altLang="ko-KR" sz="1200" dirty="0"/>
              </a:br>
              <a:r>
                <a:rPr lang="en-US" altLang="ko-KR" sz="1200" dirty="0"/>
                <a:t>(parent)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="" xmlns:a16="http://schemas.microsoft.com/office/drawing/2014/main" id="{33635E85-5151-4FF1-A4C7-F9B9816C6114}"/>
                </a:ext>
              </a:extLst>
            </p:cNvPr>
            <p:cNvSpPr txBox="1"/>
            <p:nvPr/>
          </p:nvSpPr>
          <p:spPr>
            <a:xfrm>
              <a:off x="7018346" y="4969998"/>
              <a:ext cx="5741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200" dirty="0"/>
                <a:t>자식</a:t>
              </a:r>
              <a:r>
                <a:rPr lang="en-US" altLang="ko-KR" sz="1200" dirty="0"/>
                <a:t/>
              </a:r>
              <a:br>
                <a:rPr lang="en-US" altLang="ko-KR" sz="1200" dirty="0"/>
              </a:br>
              <a:r>
                <a:rPr lang="en-US" altLang="ko-KR" sz="1200" dirty="0"/>
                <a:t>(child)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="" xmlns:a16="http://schemas.microsoft.com/office/drawing/2014/main" id="{7699104A-A435-498E-941E-7CD60A40B25E}"/>
                </a:ext>
              </a:extLst>
            </p:cNvPr>
            <p:cNvGrpSpPr/>
            <p:nvPr/>
          </p:nvGrpSpPr>
          <p:grpSpPr>
            <a:xfrm>
              <a:off x="6457718" y="3669388"/>
              <a:ext cx="1299330" cy="990473"/>
              <a:chOff x="7821810" y="3314827"/>
              <a:chExt cx="1299330" cy="990473"/>
            </a:xfrm>
          </p:grpSpPr>
          <p:sp>
            <p:nvSpPr>
              <p:cNvPr id="17" name="Speech Bubble: Oval 16">
                <a:extLst>
                  <a:ext uri="{FF2B5EF4-FFF2-40B4-BE49-F238E27FC236}">
                    <a16:creationId xmlns="" xmlns:a16="http://schemas.microsoft.com/office/drawing/2014/main" id="{E3772177-9F8F-4018-931C-4C3D973ABF5E}"/>
                  </a:ext>
                </a:extLst>
              </p:cNvPr>
              <p:cNvSpPr/>
              <p:nvPr/>
            </p:nvSpPr>
            <p:spPr>
              <a:xfrm>
                <a:off x="7821810" y="3314827"/>
                <a:ext cx="1299330" cy="990473"/>
              </a:xfrm>
              <a:prstGeom prst="wedgeEllipseCallout">
                <a:avLst>
                  <a:gd name="adj1" fmla="val -48983"/>
                  <a:gd name="adj2" fmla="val 40189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id="{3722C0A1-2C33-4639-8372-BA5C5B63A561}"/>
                  </a:ext>
                </a:extLst>
              </p:cNvPr>
              <p:cNvSpPr txBox="1"/>
              <p:nvPr/>
            </p:nvSpPr>
            <p:spPr>
              <a:xfrm>
                <a:off x="7899844" y="3671563"/>
                <a:ext cx="1143262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200" dirty="0"/>
                  <a:t>나를 기준으로</a:t>
                </a:r>
                <a:endParaRPr lang="en-US" altLang="ko-KR" sz="12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7069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생성하기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document.createElement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메소드로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h1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태그를 생성하고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이를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document.body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태그 아래에 추가하는 코드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문서 객체 생성하고 추가하기 소스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7-1-8.html)</a:t>
            </a:r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038018"/>
              </p:ext>
            </p:extLst>
          </p:nvPr>
        </p:nvGraphicFramePr>
        <p:xfrm>
          <a:off x="1524001" y="1943100"/>
          <a:ext cx="50292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3077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03    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문서 객체 생성하기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04     const header =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document.createElement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('h1')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05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06    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생성한 태그 조작하기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07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header.textContent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'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문서 객체 동적으로 생성하기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08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header.setAttribute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('data-custom', '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사용자 정의 속성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09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header.style.color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'white'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10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header.style.backgroundColor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'black'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12    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// h1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태그를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body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태그 아래에 추가하기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13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document.body.appendChild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(header)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14   })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15 &lt;/script&gt;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16 &lt;body&gt;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18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(11)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C09A3CCA-2957-41A1-AC05-A742B8193146}"/>
              </a:ext>
            </a:extLst>
          </p:cNvPr>
          <p:cNvSpPr txBox="1"/>
          <p:nvPr/>
        </p:nvSpPr>
        <p:spPr>
          <a:xfrm>
            <a:off x="6383469" y="2591998"/>
            <a:ext cx="2361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h1 </a:t>
            </a:r>
            <a:r>
              <a:rPr lang="ko-KR" altLang="en-US" sz="1400" b="0" dirty="0">
                <a:solidFill>
                  <a:srgbClr val="FF0000"/>
                </a:solidFill>
              </a:rPr>
              <a:t>태그 생성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072ECE65-26A4-4C75-9B65-A7457F730E69}"/>
              </a:ext>
            </a:extLst>
          </p:cNvPr>
          <p:cNvCxnSpPr/>
          <p:nvPr/>
        </p:nvCxnSpPr>
        <p:spPr>
          <a:xfrm>
            <a:off x="5849812" y="274588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602990C9-2242-4881-8665-6C6354A59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9812" y="4546591"/>
            <a:ext cx="41148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25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이동하기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appendChild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메소드는 문서 객체를 이동할 때도 사용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문서 객체의 부모</a:t>
            </a:r>
            <a:r>
              <a:rPr lang="en-US" altLang="ko-KR" sz="1400" dirty="0">
                <a:solidFill>
                  <a:srgbClr val="000000"/>
                </a:solidFill>
                <a:latin typeface="+mn-ea"/>
                <a:ea typeface="+mn-ea"/>
              </a:rPr>
              <a:t>(parent)</a:t>
            </a:r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는 언제나 하나여야 하고</a:t>
            </a:r>
            <a:r>
              <a:rPr lang="en-US" altLang="ko-KR" sz="14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문서 객체를 다른 문서 객체에 추가하면 문서 객체가 이동</a:t>
            </a:r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문서 객체 생성하고 추가하기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7-1-8.html)</a:t>
            </a:r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61" name="Table 4">
            <a:extLst>
              <a:ext uri="{FF2B5EF4-FFF2-40B4-BE49-F238E27FC236}">
                <a16:creationId xmlns="" xmlns:a16="http://schemas.microsoft.com/office/drawing/2014/main" id="{311202D8-7C46-48DD-B6F6-092E191D47DC}"/>
              </a:ext>
            </a:extLst>
          </p:cNvPr>
          <p:cNvGraphicFramePr>
            <a:graphicFrameLocks noGrp="1"/>
          </p:cNvGraphicFramePr>
          <p:nvPr/>
        </p:nvGraphicFramePr>
        <p:xfrm>
          <a:off x="1537231" y="1907931"/>
          <a:ext cx="3200399" cy="3077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30777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부모 객체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appendChild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자식 객체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(12)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C09A3CCA-2957-41A1-AC05-A742B8193146}"/>
              </a:ext>
            </a:extLst>
          </p:cNvPr>
          <p:cNvSpPr txBox="1"/>
          <p:nvPr/>
        </p:nvSpPr>
        <p:spPr>
          <a:xfrm>
            <a:off x="6008330" y="3171349"/>
            <a:ext cx="2361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h1 </a:t>
            </a:r>
            <a:r>
              <a:rPr lang="ko-KR" altLang="en-US" sz="1400" b="0" dirty="0">
                <a:solidFill>
                  <a:srgbClr val="FF0000"/>
                </a:solidFill>
              </a:rPr>
              <a:t>태그 생성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072ECE65-26A4-4C75-9B65-A7457F730E69}"/>
              </a:ext>
            </a:extLst>
          </p:cNvPr>
          <p:cNvCxnSpPr/>
          <p:nvPr/>
        </p:nvCxnSpPr>
        <p:spPr>
          <a:xfrm>
            <a:off x="5474673" y="332523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889BFDAA-FB43-4B3F-A643-E9E747BCF1DF}"/>
              </a:ext>
            </a:extLst>
          </p:cNvPr>
          <p:cNvGraphicFramePr>
            <a:graphicFrameLocks noGrp="1"/>
          </p:cNvGraphicFramePr>
          <p:nvPr/>
        </p:nvGraphicFramePr>
        <p:xfrm>
          <a:off x="1537231" y="2508447"/>
          <a:ext cx="6057817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7817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3077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03    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문서 객체 생성하기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04     const header =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document.createElement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('h1')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05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06    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생성한 태그 조작하기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07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header.textContent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'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문서 객체 동적으로 생성하기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08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header.setAttribute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('data-custom', '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사용자 정의 속성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09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header.style.color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'white'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10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header.style.backgroundColor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'black'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11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12    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// h1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태그를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body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태그 아래에 추가하기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13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document.body.appendChild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(header)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14   })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15 &lt;/script&gt;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16 &lt;body&gt;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17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18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A918454-0E15-4EAA-90C3-C1B2A3F2C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594" y="4878544"/>
            <a:ext cx="4067175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65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이동하기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appendChild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메소드는 문서 객체를 이동할 때도 사용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문서 객체 이동하기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소스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7-1-9.html)</a:t>
            </a:r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889BFDAA-FB43-4B3F-A643-E9E747BCF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39302"/>
              </p:ext>
            </p:extLst>
          </p:nvPr>
        </p:nvGraphicFramePr>
        <p:xfrm>
          <a:off x="1537231" y="1979456"/>
          <a:ext cx="6057817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7817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3077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03    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문서 객체 읽어들이고 생성하기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04     const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divA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('#first')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05     const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divB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('#second')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06    const h1 =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document.createElement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('h1')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07     h1.textContent = '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이동하는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h1 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태그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08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09    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서로 번갈아가면서 실행하는 함수를 구현합니다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10     const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toFirst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()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11  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divA.appendChild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(h1) 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12  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setTimeout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toSecond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, 1000) 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13     }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14     const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toSecond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()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15  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divB.appendChild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(h1) 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16  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setTimeout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toFirst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, 10000) 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17     }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18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toFirst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19   })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20 &lt;/script&gt;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(13)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C09A3CCA-2957-41A1-AC05-A742B8193146}"/>
              </a:ext>
            </a:extLst>
          </p:cNvPr>
          <p:cNvSpPr txBox="1"/>
          <p:nvPr/>
        </p:nvSpPr>
        <p:spPr>
          <a:xfrm>
            <a:off x="5874648" y="2604045"/>
            <a:ext cx="36805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id </a:t>
            </a:r>
            <a:r>
              <a:rPr lang="ko-KR" altLang="en-US" sz="1400" b="0" dirty="0">
                <a:solidFill>
                  <a:srgbClr val="FF0000"/>
                </a:solidFill>
              </a:rPr>
              <a:t>속성이 </a:t>
            </a:r>
            <a:r>
              <a:rPr lang="en-US" altLang="ko-KR" sz="1400" b="0" dirty="0">
                <a:solidFill>
                  <a:srgbClr val="FF0000"/>
                </a:solidFill>
              </a:rPr>
              <a:t>first</a:t>
            </a:r>
            <a:r>
              <a:rPr lang="ko-KR" altLang="en-US" sz="1400" b="0" dirty="0">
                <a:solidFill>
                  <a:srgbClr val="FF0000"/>
                </a:solidFill>
              </a:rPr>
              <a:t>인 </a:t>
            </a:r>
            <a:r>
              <a:rPr lang="en-US" altLang="ko-KR" sz="1400" b="0" dirty="0">
                <a:solidFill>
                  <a:srgbClr val="FF0000"/>
                </a:solidFill>
              </a:rPr>
              <a:t>div </a:t>
            </a:r>
            <a:r>
              <a:rPr lang="ko-KR" altLang="en-US" sz="1400" b="0" dirty="0">
                <a:solidFill>
                  <a:srgbClr val="FF0000"/>
                </a:solidFill>
              </a:rPr>
              <a:t>태그를 선택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072ECE65-26A4-4C75-9B65-A7457F730E69}"/>
              </a:ext>
            </a:extLst>
          </p:cNvPr>
          <p:cNvCxnSpPr/>
          <p:nvPr/>
        </p:nvCxnSpPr>
        <p:spPr>
          <a:xfrm>
            <a:off x="5389253" y="278719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3C1E05B-9C1A-43A2-A28E-9F308CAC9A0C}"/>
              </a:ext>
            </a:extLst>
          </p:cNvPr>
          <p:cNvSpPr txBox="1"/>
          <p:nvPr/>
        </p:nvSpPr>
        <p:spPr>
          <a:xfrm>
            <a:off x="6181069" y="2848892"/>
            <a:ext cx="31920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id </a:t>
            </a:r>
            <a:r>
              <a:rPr lang="ko-KR" altLang="en-US" sz="1400" b="0" dirty="0">
                <a:solidFill>
                  <a:srgbClr val="FF0000"/>
                </a:solidFill>
              </a:rPr>
              <a:t>속성이 </a:t>
            </a:r>
            <a:r>
              <a:rPr lang="en-US" altLang="ko-KR" sz="1400" b="0" dirty="0">
                <a:solidFill>
                  <a:srgbClr val="FF0000"/>
                </a:solidFill>
              </a:rPr>
              <a:t>second</a:t>
            </a:r>
            <a:r>
              <a:rPr lang="ko-KR" altLang="en-US" sz="1400" b="0" dirty="0">
                <a:solidFill>
                  <a:srgbClr val="FF0000"/>
                </a:solidFill>
              </a:rPr>
              <a:t>인 </a:t>
            </a:r>
            <a:r>
              <a:rPr lang="en-US" altLang="ko-KR" sz="1400" b="0" dirty="0">
                <a:solidFill>
                  <a:srgbClr val="FF0000"/>
                </a:solidFill>
              </a:rPr>
              <a:t>div </a:t>
            </a:r>
            <a:r>
              <a:rPr lang="ko-KR" altLang="en-US" sz="1400" b="0" dirty="0">
                <a:solidFill>
                  <a:srgbClr val="FF0000"/>
                </a:solidFill>
              </a:rPr>
              <a:t>태그를 선택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A45CCDCB-D66F-454D-9AB2-923A92FE46CB}"/>
              </a:ext>
            </a:extLst>
          </p:cNvPr>
          <p:cNvSpPr txBox="1"/>
          <p:nvPr/>
        </p:nvSpPr>
        <p:spPr>
          <a:xfrm>
            <a:off x="5597199" y="3052094"/>
            <a:ext cx="2361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h1 </a:t>
            </a:r>
            <a:r>
              <a:rPr lang="ko-KR" altLang="en-US" sz="1400" b="0" dirty="0">
                <a:solidFill>
                  <a:srgbClr val="FF0000"/>
                </a:solidFill>
              </a:rPr>
              <a:t>태그를 생성</a:t>
            </a:r>
            <a:r>
              <a:rPr lang="en-US" altLang="ko-KR" sz="1400" b="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0A53EC42-8D74-47A9-8AEF-47409A4992F6}"/>
              </a:ext>
            </a:extLst>
          </p:cNvPr>
          <p:cNvSpPr txBox="1"/>
          <p:nvPr/>
        </p:nvSpPr>
        <p:spPr>
          <a:xfrm>
            <a:off x="4416227" y="4111972"/>
            <a:ext cx="2361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h1</a:t>
            </a:r>
            <a:r>
              <a:rPr lang="ko-KR" altLang="en-US" sz="1400" b="0" dirty="0">
                <a:solidFill>
                  <a:srgbClr val="FF0000"/>
                </a:solidFill>
              </a:rPr>
              <a:t>을 </a:t>
            </a:r>
            <a:r>
              <a:rPr lang="en-US" altLang="ko-KR" sz="1400" b="0" dirty="0" err="1">
                <a:solidFill>
                  <a:srgbClr val="FF0000"/>
                </a:solidFill>
              </a:rPr>
              <a:t>divA</a:t>
            </a:r>
            <a:r>
              <a:rPr lang="ko-KR" altLang="en-US" sz="1400" b="0" dirty="0">
                <a:solidFill>
                  <a:srgbClr val="FF0000"/>
                </a:solidFill>
              </a:rPr>
              <a:t>에 추가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E25D0089-2C0C-43E4-92AA-F547B7EB83BC}"/>
              </a:ext>
            </a:extLst>
          </p:cNvPr>
          <p:cNvSpPr txBox="1"/>
          <p:nvPr/>
        </p:nvSpPr>
        <p:spPr>
          <a:xfrm>
            <a:off x="4734046" y="4347401"/>
            <a:ext cx="26690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1</a:t>
            </a:r>
            <a:r>
              <a:rPr lang="ko-KR" altLang="en-US" sz="1400" b="0" dirty="0">
                <a:solidFill>
                  <a:srgbClr val="FF0000"/>
                </a:solidFill>
              </a:rPr>
              <a:t>초 뒤에 </a:t>
            </a:r>
            <a:r>
              <a:rPr lang="en-US" altLang="ko-KR" sz="1400" b="0" dirty="0" err="1">
                <a:solidFill>
                  <a:srgbClr val="FF0000"/>
                </a:solidFill>
              </a:rPr>
              <a:t>toSecond</a:t>
            </a:r>
            <a:r>
              <a:rPr lang="en-US" altLang="ko-KR" sz="1400" b="0" dirty="0">
                <a:solidFill>
                  <a:srgbClr val="FF0000"/>
                </a:solidFill>
              </a:rPr>
              <a:t> </a:t>
            </a:r>
            <a:r>
              <a:rPr lang="ko-KR" altLang="en-US" sz="1400" b="0" dirty="0">
                <a:solidFill>
                  <a:srgbClr val="FF0000"/>
                </a:solidFill>
              </a:rPr>
              <a:t>함수를 실행</a:t>
            </a:r>
            <a:r>
              <a:rPr lang="en-US" altLang="ko-KR" sz="1400" b="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248B6F82-4540-4962-9965-B50A07C1172F}"/>
              </a:ext>
            </a:extLst>
          </p:cNvPr>
          <p:cNvSpPr txBox="1"/>
          <p:nvPr/>
        </p:nvSpPr>
        <p:spPr>
          <a:xfrm>
            <a:off x="4416227" y="4950127"/>
            <a:ext cx="23619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h1</a:t>
            </a:r>
            <a:r>
              <a:rPr lang="ko-KR" altLang="en-US" sz="1400" b="0" dirty="0">
                <a:solidFill>
                  <a:srgbClr val="FF0000"/>
                </a:solidFill>
              </a:rPr>
              <a:t>을 </a:t>
            </a:r>
            <a:r>
              <a:rPr lang="en-US" altLang="ko-KR" sz="1400" b="0" dirty="0" err="1">
                <a:solidFill>
                  <a:srgbClr val="FF0000"/>
                </a:solidFill>
              </a:rPr>
              <a:t>divB</a:t>
            </a:r>
            <a:r>
              <a:rPr lang="ko-KR" altLang="en-US" sz="1400" b="0" dirty="0">
                <a:solidFill>
                  <a:srgbClr val="FF0000"/>
                </a:solidFill>
              </a:rPr>
              <a:t>에 추가</a:t>
            </a:r>
            <a:r>
              <a:rPr lang="en-US" altLang="ko-KR" sz="1400" b="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5375036A-D5D3-41F2-991F-834EE361422F}"/>
              </a:ext>
            </a:extLst>
          </p:cNvPr>
          <p:cNvSpPr txBox="1"/>
          <p:nvPr/>
        </p:nvSpPr>
        <p:spPr>
          <a:xfrm>
            <a:off x="4812254" y="5193860"/>
            <a:ext cx="2669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10</a:t>
            </a:r>
            <a:r>
              <a:rPr lang="ko-KR" altLang="en-US" sz="1400" b="0" dirty="0">
                <a:solidFill>
                  <a:srgbClr val="FF0000"/>
                </a:solidFill>
              </a:rPr>
              <a:t>초 뒤에 </a:t>
            </a:r>
            <a:r>
              <a:rPr lang="en-US" altLang="ko-KR" sz="1400" b="0" dirty="0" err="1">
                <a:solidFill>
                  <a:srgbClr val="FF0000"/>
                </a:solidFill>
              </a:rPr>
              <a:t>toFirst</a:t>
            </a:r>
            <a:r>
              <a:rPr lang="en-US" altLang="ko-KR" sz="1400" b="0" dirty="0">
                <a:solidFill>
                  <a:srgbClr val="FF0000"/>
                </a:solidFill>
              </a:rPr>
              <a:t> </a:t>
            </a:r>
            <a:r>
              <a:rPr lang="ko-KR" altLang="en-US" sz="1400" b="0" dirty="0">
                <a:solidFill>
                  <a:srgbClr val="FF0000"/>
                </a:solidFill>
              </a:rPr>
              <a:t>함수를 실행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A49B37AF-E4F7-4883-8978-78FBCE749C3B}"/>
              </a:ext>
            </a:extLst>
          </p:cNvPr>
          <p:cNvCxnSpPr/>
          <p:nvPr/>
        </p:nvCxnSpPr>
        <p:spPr>
          <a:xfrm>
            <a:off x="4187627" y="5347748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="" xmlns:a16="http://schemas.microsoft.com/office/drawing/2014/main" id="{AA4D31A7-D1ED-4B79-B1DD-2278B6B3F3C2}"/>
              </a:ext>
            </a:extLst>
          </p:cNvPr>
          <p:cNvCxnSpPr/>
          <p:nvPr/>
        </p:nvCxnSpPr>
        <p:spPr>
          <a:xfrm>
            <a:off x="3842915" y="5118529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="" xmlns:a16="http://schemas.microsoft.com/office/drawing/2014/main" id="{11029CE7-3B40-45BD-8CD4-DEAE44F8B5C5}"/>
              </a:ext>
            </a:extLst>
          </p:cNvPr>
          <p:cNvCxnSpPr/>
          <p:nvPr/>
        </p:nvCxnSpPr>
        <p:spPr>
          <a:xfrm>
            <a:off x="4300115" y="451226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4298EC3D-A7EA-4DE5-BDEF-6271994FABF5}"/>
              </a:ext>
            </a:extLst>
          </p:cNvPr>
          <p:cNvCxnSpPr/>
          <p:nvPr/>
        </p:nvCxnSpPr>
        <p:spPr>
          <a:xfrm>
            <a:off x="3842915" y="42876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9EB11F07-0942-471C-8931-8A2FFABBBDED}"/>
              </a:ext>
            </a:extLst>
          </p:cNvPr>
          <p:cNvCxnSpPr/>
          <p:nvPr/>
        </p:nvCxnSpPr>
        <p:spPr>
          <a:xfrm>
            <a:off x="5139999" y="320598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0FEA96B2-EBC5-49D2-9276-551F4EE0F08A}"/>
              </a:ext>
            </a:extLst>
          </p:cNvPr>
          <p:cNvCxnSpPr/>
          <p:nvPr/>
        </p:nvCxnSpPr>
        <p:spPr>
          <a:xfrm>
            <a:off x="5646048" y="3002781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A8FB282-A789-47DE-9044-4AD04BD3F090}"/>
              </a:ext>
            </a:extLst>
          </p:cNvPr>
          <p:cNvSpPr txBox="1"/>
          <p:nvPr/>
        </p:nvSpPr>
        <p:spPr>
          <a:xfrm>
            <a:off x="5368599" y="6180646"/>
            <a:ext cx="28776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▶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다음 쪽에 코드 이어짐</a:t>
            </a:r>
          </a:p>
        </p:txBody>
      </p:sp>
    </p:spTree>
    <p:extLst>
      <p:ext uri="{BB962C8B-B14F-4D97-AF65-F5344CB8AC3E}">
        <p14:creationId xmlns:p14="http://schemas.microsoft.com/office/powerpoint/2010/main" val="3758558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이동하기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appendChild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메소드는 문서 객체를 이동할 때도 사용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문서 객체 이동하기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소스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7-1-9.html)</a:t>
            </a:r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889BFDAA-FB43-4B3F-A643-E9E747BCF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950479"/>
              </p:ext>
            </p:extLst>
          </p:nvPr>
        </p:nvGraphicFramePr>
        <p:xfrm>
          <a:off x="1524000" y="2089577"/>
          <a:ext cx="6057817" cy="2287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7817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287745">
                <a:tc>
                  <a:txBody>
                    <a:bodyPr/>
                    <a:lstStyle/>
                    <a:p>
                      <a:pPr latinLnBrk="1"/>
                      <a:endParaRPr lang="en-US" altLang="ko-KR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21 &lt;body&gt;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22   &lt;div id="first"&gt;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23     &lt;h1&gt;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첫 번째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div 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태그 내부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&lt;/h1&gt;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24   &lt;/div&gt;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25   &lt;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26 &lt;div id="second"&gt;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27     &lt;h1&gt;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두 번째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div 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태그 내부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&lt;/h1&gt;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28   &lt;/div&gt;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29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(14)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A8FB282-A789-47DE-9044-4AD04BD3F090}"/>
              </a:ext>
            </a:extLst>
          </p:cNvPr>
          <p:cNvSpPr txBox="1"/>
          <p:nvPr/>
        </p:nvSpPr>
        <p:spPr>
          <a:xfrm>
            <a:off x="1394476" y="1978915"/>
            <a:ext cx="17355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◀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앞쪽에 이어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3FC60E2-3009-4A2E-A43B-99AC9C5A9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210" y="2409825"/>
            <a:ext cx="2497731" cy="310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62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제거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removeChild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메소드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: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 문서 객체를 제거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appendChild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메소드 등으로 부모 객체와 이미 연결이 완료된 문서 객체의 경우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parentNode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속성으로 부모 객체에 접근할 수 있으므로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일반적으로 어떤 문서 객체를 제거할 때는 다음과 같은 형태의 코드를 사용</a:t>
            </a:r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889BFDAA-FB43-4B3F-A643-E9E747BCF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178340"/>
              </p:ext>
            </p:extLst>
          </p:nvPr>
        </p:nvGraphicFramePr>
        <p:xfrm>
          <a:off x="1524000" y="1664804"/>
          <a:ext cx="386861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8615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부모 객체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removeChild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자식 객체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(15)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0" name="Table 4">
            <a:extLst>
              <a:ext uri="{FF2B5EF4-FFF2-40B4-BE49-F238E27FC236}">
                <a16:creationId xmlns="" xmlns:a16="http://schemas.microsoft.com/office/drawing/2014/main" id="{70F1E437-2729-417D-A089-528F2B646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778176"/>
              </p:ext>
            </p:extLst>
          </p:nvPr>
        </p:nvGraphicFramePr>
        <p:xfrm>
          <a:off x="1523999" y="3010027"/>
          <a:ext cx="386861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8615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문서 객체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parentNode.removeChild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문서 객체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644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문서 객체 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제거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특정 개체를 간단하게 실행하고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3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초 후에 화면에서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h1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태그를 제거하는 코드 만들기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문서 객체 제거하기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7-1-10.html)</a:t>
            </a: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889BFDAA-FB43-4B3F-A643-E9E747BCF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122012"/>
              </p:ext>
            </p:extLst>
          </p:nvPr>
        </p:nvGraphicFramePr>
        <p:xfrm>
          <a:off x="1524000" y="1957882"/>
          <a:ext cx="4824413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4413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03    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setTimeout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(() =&gt;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04       const h1 =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('h1')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05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06       h1.parentNode.removeChild(h1)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07       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en-US" altLang="ko-KR" sz="1400" b="0" dirty="0" err="1">
                          <a:solidFill>
                            <a:srgbClr val="FF0000"/>
                          </a:solidFill>
                        </a:rPr>
                        <a:t>document.body.removeChild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(h1)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08     }, 3000)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09   })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10 &lt;/script&gt;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11 &lt;body&gt;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12   &lt;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13   &lt;h1&gt;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제거 대상 문서 객체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&lt;/h1&gt;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14   &lt;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hr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15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(16)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D8D2DA6-8EFF-4565-A054-4ED05C25A4CB}"/>
              </a:ext>
            </a:extLst>
          </p:cNvPr>
          <p:cNvSpPr txBox="1"/>
          <p:nvPr/>
        </p:nvSpPr>
        <p:spPr>
          <a:xfrm>
            <a:off x="5384958" y="2767808"/>
            <a:ext cx="4259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h1 </a:t>
            </a:r>
            <a:r>
              <a:rPr lang="ko-KR" altLang="en-US" sz="1400" dirty="0">
                <a:solidFill>
                  <a:srgbClr val="FF0000"/>
                </a:solidFill>
              </a:rPr>
              <a:t>태그의 부모 객체 </a:t>
            </a:r>
            <a:r>
              <a:rPr lang="en-US" altLang="ko-KR" sz="1400" dirty="0">
                <a:solidFill>
                  <a:srgbClr val="FF0000"/>
                </a:solidFill>
              </a:rPr>
              <a:t>body </a:t>
            </a:r>
            <a:r>
              <a:rPr lang="ko-KR" altLang="en-US" sz="1400" dirty="0">
                <a:solidFill>
                  <a:srgbClr val="FF0000"/>
                </a:solidFill>
              </a:rPr>
              <a:t>태그에 접근하여 제거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34C1690-C189-4DB3-8325-5F30051AF023}"/>
              </a:ext>
            </a:extLst>
          </p:cNvPr>
          <p:cNvSpPr txBox="1"/>
          <p:nvPr/>
        </p:nvSpPr>
        <p:spPr>
          <a:xfrm>
            <a:off x="5410200" y="3180265"/>
            <a:ext cx="33524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h1.parentNode</a:t>
            </a:r>
            <a:r>
              <a:rPr lang="ko-KR" altLang="en-US" sz="1400" dirty="0">
                <a:solidFill>
                  <a:srgbClr val="FF0000"/>
                </a:solidFill>
              </a:rPr>
              <a:t>가 </a:t>
            </a:r>
            <a:r>
              <a:rPr lang="en-US" altLang="ko-KR" sz="1400" dirty="0" err="1">
                <a:solidFill>
                  <a:srgbClr val="FF0000"/>
                </a:solidFill>
              </a:rPr>
              <a:t>document.body</a:t>
            </a:r>
            <a:r>
              <a:rPr lang="ko-KR" altLang="en-US" sz="1400" dirty="0">
                <a:solidFill>
                  <a:srgbClr val="FF0000"/>
                </a:solidFill>
              </a:rPr>
              <a:t>이므로</a:t>
            </a:r>
            <a:r>
              <a:rPr lang="en-US" altLang="ko-KR" sz="1400" dirty="0">
                <a:solidFill>
                  <a:srgbClr val="FF0000"/>
                </a:solidFill>
              </a:rPr>
              <a:t>,</a:t>
            </a:r>
          </a:p>
          <a:p>
            <a:r>
              <a:rPr lang="ko-KR" altLang="en-US" sz="1400" dirty="0">
                <a:solidFill>
                  <a:srgbClr val="FF0000"/>
                </a:solidFill>
              </a:rPr>
              <a:t>이런 형태로도 제거할 수 있음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1CBDD205-AFD7-46DD-92B2-C1420A392E2D}"/>
              </a:ext>
            </a:extLst>
          </p:cNvPr>
          <p:cNvCxnSpPr/>
          <p:nvPr/>
        </p:nvCxnSpPr>
        <p:spPr>
          <a:xfrm>
            <a:off x="4819650" y="3396938"/>
            <a:ext cx="5905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92283723-E413-44E8-92A3-3A609686DC66}"/>
              </a:ext>
            </a:extLst>
          </p:cNvPr>
          <p:cNvCxnSpPr>
            <a:cxnSpLocks/>
          </p:cNvCxnSpPr>
          <p:nvPr/>
        </p:nvCxnSpPr>
        <p:spPr>
          <a:xfrm flipV="1">
            <a:off x="4819650" y="2986454"/>
            <a:ext cx="590550" cy="171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26EF3FFF-7746-48DA-B7C0-A46A7EB0F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49" y="3853053"/>
            <a:ext cx="2581275" cy="130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30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이벤트 설정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addEventListener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메소드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이벤트 연결하기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7-1-11.html)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889BFDAA-FB43-4B3F-A643-E9E747BCF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86560"/>
              </p:ext>
            </p:extLst>
          </p:nvPr>
        </p:nvGraphicFramePr>
        <p:xfrm>
          <a:off x="1524000" y="1539631"/>
          <a:ext cx="430236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2369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문서 객체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addEventListener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이벤트 이름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콜백 함수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(17)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7A67D52D-5824-4AEC-B87B-1D9846570003}"/>
              </a:ext>
            </a:extLst>
          </p:cNvPr>
          <p:cNvCxnSpPr/>
          <p:nvPr/>
        </p:nvCxnSpPr>
        <p:spPr>
          <a:xfrm>
            <a:off x="5697415" y="1664677"/>
            <a:ext cx="650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F6CBFCDD-4FEF-41DA-A938-6ABFB9FAEC74}"/>
              </a:ext>
            </a:extLst>
          </p:cNvPr>
          <p:cNvSpPr txBox="1"/>
          <p:nvPr/>
        </p:nvSpPr>
        <p:spPr>
          <a:xfrm>
            <a:off x="6365633" y="1510788"/>
            <a:ext cx="2568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이벤트 리스너 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이벤트 핸들러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15" name="Table 4">
            <a:extLst>
              <a:ext uri="{FF2B5EF4-FFF2-40B4-BE49-F238E27FC236}">
                <a16:creationId xmlns="" xmlns:a16="http://schemas.microsoft.com/office/drawing/2014/main" id="{98B09808-2DF0-48C9-9B9F-264BE5EC8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496697"/>
              </p:ext>
            </p:extLst>
          </p:nvPr>
        </p:nvGraphicFramePr>
        <p:xfrm>
          <a:off x="1491716" y="2268162"/>
          <a:ext cx="531939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03     let counter = 0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04     const h1 =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('h1')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05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06     h1.addEventListener('click', (event) =&gt; { </a:t>
                      </a:r>
                      <a:endParaRPr lang="ko-KR" altLang="en-US" sz="12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07       counter++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08       h1.textContent = `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클릭 횟수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: ${counter}`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09     })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10   })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11 &lt;/script&gt;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12 &lt;style&gt;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13   h1 {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14     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/*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클릭을 여러 번 했을 때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15     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</a:rPr>
                        <a:t>글자가 선택되는 것을 막기 위한 스타일 *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/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16     user-select: none;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17   }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18 &lt;/style&gt;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19 &lt;body&gt;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20   &lt;h1&gt;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클릭 횟수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: 0&lt;/h1&gt;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21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3C987579-68C0-4824-8972-2BD84CDE5B9B}"/>
              </a:ext>
            </a:extLst>
          </p:cNvPr>
          <p:cNvSpPr txBox="1"/>
          <p:nvPr/>
        </p:nvSpPr>
        <p:spPr>
          <a:xfrm>
            <a:off x="4824537" y="3160938"/>
            <a:ext cx="34836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h1 </a:t>
            </a:r>
            <a:r>
              <a:rPr lang="ko-KR" altLang="en-US" sz="1400" dirty="0">
                <a:solidFill>
                  <a:srgbClr val="FF0000"/>
                </a:solidFill>
              </a:rPr>
              <a:t>태그에 이벤트가 발생할 때 실행할 함수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9F1A2A1F-CCA6-4E62-A5AD-2C385A03E99D}"/>
              </a:ext>
            </a:extLst>
          </p:cNvPr>
          <p:cNvCxnSpPr/>
          <p:nvPr/>
        </p:nvCxnSpPr>
        <p:spPr>
          <a:xfrm>
            <a:off x="4443046" y="3297585"/>
            <a:ext cx="269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D30D5116-B9BE-4D5C-A89A-3C7FE6A7CA71}"/>
              </a:ext>
            </a:extLst>
          </p:cNvPr>
          <p:cNvGrpSpPr/>
          <p:nvPr/>
        </p:nvGrpSpPr>
        <p:grpSpPr>
          <a:xfrm>
            <a:off x="6998677" y="3808997"/>
            <a:ext cx="3610341" cy="1360040"/>
            <a:chOff x="6594232" y="4234122"/>
            <a:chExt cx="3944447" cy="1485900"/>
          </a:xfrm>
        </p:grpSpPr>
        <p:pic>
          <p:nvPicPr>
            <p:cNvPr id="20" name="Picture 19">
              <a:extLst>
                <a:ext uri="{FF2B5EF4-FFF2-40B4-BE49-F238E27FC236}">
                  <a16:creationId xmlns="" xmlns:a16="http://schemas.microsoft.com/office/drawing/2014/main" id="{D5E3FB5B-A1BD-4123-B382-5A3126AF4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28704" y="4234122"/>
              <a:ext cx="3609975" cy="14859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1" name="Rectangle 20">
              <a:extLst>
                <a:ext uri="{FF2B5EF4-FFF2-40B4-BE49-F238E27FC236}">
                  <a16:creationId xmlns="" xmlns:a16="http://schemas.microsoft.com/office/drawing/2014/main" id="{407BB096-666E-417F-A8EB-7B1644289D89}"/>
                </a:ext>
              </a:extLst>
            </p:cNvPr>
            <p:cNvSpPr/>
            <p:nvPr/>
          </p:nvSpPr>
          <p:spPr>
            <a:xfrm>
              <a:off x="7018020" y="5239583"/>
              <a:ext cx="1623060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="" xmlns:a16="http://schemas.microsoft.com/office/drawing/2014/main" id="{5E94FD17-AB22-4D4F-9DCD-2C380276A438}"/>
                </a:ext>
              </a:extLst>
            </p:cNvPr>
            <p:cNvSpPr/>
            <p:nvPr/>
          </p:nvSpPr>
          <p:spPr>
            <a:xfrm>
              <a:off x="6594232" y="5336075"/>
              <a:ext cx="397155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CE43601F-7B41-4577-BD13-94AF6E217895}"/>
              </a:ext>
            </a:extLst>
          </p:cNvPr>
          <p:cNvSpPr txBox="1"/>
          <p:nvPr/>
        </p:nvSpPr>
        <p:spPr>
          <a:xfrm>
            <a:off x="7547398" y="5293741"/>
            <a:ext cx="1521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클릭할 때마다</a:t>
            </a:r>
          </a:p>
          <a:p>
            <a:r>
              <a:rPr lang="ko-KR" altLang="en-US" sz="1400" dirty="0">
                <a:solidFill>
                  <a:srgbClr val="FF0000"/>
                </a:solidFill>
              </a:rPr>
              <a:t>클릭 횟수를 출력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="" xmlns:a16="http://schemas.microsoft.com/office/drawing/2014/main" id="{4C5F30E1-8AB5-4EC8-90C7-34D28AE53197}"/>
              </a:ext>
            </a:extLst>
          </p:cNvPr>
          <p:cNvCxnSpPr/>
          <p:nvPr/>
        </p:nvCxnSpPr>
        <p:spPr>
          <a:xfrm>
            <a:off x="7500551" y="4817611"/>
            <a:ext cx="1371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="" xmlns:a16="http://schemas.microsoft.com/office/drawing/2014/main" id="{C6DDDED7-1336-40A6-B7B5-B23B76D1EF10}"/>
              </a:ext>
            </a:extLst>
          </p:cNvPr>
          <p:cNvCxnSpPr/>
          <p:nvPr/>
        </p:nvCxnSpPr>
        <p:spPr>
          <a:xfrm>
            <a:off x="8186351" y="4817611"/>
            <a:ext cx="0" cy="492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452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이벤트 설정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removeEventListener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메소드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이벤트 연결 제거하기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7-1-12.html)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889BFDAA-FB43-4B3F-A643-E9E747BCF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697908"/>
              </p:ext>
            </p:extLst>
          </p:nvPr>
        </p:nvGraphicFramePr>
        <p:xfrm>
          <a:off x="1524000" y="1539631"/>
          <a:ext cx="4824413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4413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문서 객체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removeEventListener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이벤트 이름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이벤트 리스너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(18)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5" name="Table 4">
            <a:extLst>
              <a:ext uri="{FF2B5EF4-FFF2-40B4-BE49-F238E27FC236}">
                <a16:creationId xmlns="" xmlns:a16="http://schemas.microsoft.com/office/drawing/2014/main" id="{98B09808-2DF0-48C9-9B9F-264BE5EC8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081215"/>
              </p:ext>
            </p:extLst>
          </p:nvPr>
        </p:nvGraphicFramePr>
        <p:xfrm>
          <a:off x="1491716" y="2268162"/>
          <a:ext cx="531939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document.addEventListener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DOMContentLoaded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', () =&gt; {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03     let counter = 0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04     let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isConnect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= false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05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06     const h1 =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('h1')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07     const p =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('p')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08     const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connectButton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('#connect')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09     const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disconnectButton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document.querySelector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('#disconnect')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11     const listener = (event) =&gt; {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12     h1.textContent = `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클릭 횟수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: ${counter++}`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13     }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14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15  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connectButton.addEventListener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('click', () =&gt; {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16     if (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isConnect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=== false) {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17       h1.addEventListener('click', listener)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18      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p.textContent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= '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이벤트 연결 상태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: 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연결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19      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isConnect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= true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20     }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21   })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3C987579-68C0-4824-8972-2BD84CDE5B9B}"/>
              </a:ext>
            </a:extLst>
          </p:cNvPr>
          <p:cNvSpPr txBox="1"/>
          <p:nvPr/>
        </p:nvSpPr>
        <p:spPr>
          <a:xfrm>
            <a:off x="6166339" y="4113213"/>
            <a:ext cx="3472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이벤트를 제거하려면 이벤트 리스너를 </a:t>
            </a:r>
            <a:r>
              <a:rPr lang="en-US" altLang="ko-KR" sz="1400" dirty="0">
                <a:solidFill>
                  <a:srgbClr val="FF0000"/>
                </a:solidFill>
              </a:rPr>
              <a:t/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ko-KR" altLang="en-US" sz="1400" dirty="0">
                <a:solidFill>
                  <a:srgbClr val="FF0000"/>
                </a:solidFill>
              </a:rPr>
              <a:t>변수 또는 상수로 가지고 있어야 함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9F1A2A1F-CCA6-4E62-A5AD-2C385A03E99D}"/>
              </a:ext>
            </a:extLst>
          </p:cNvPr>
          <p:cNvCxnSpPr/>
          <p:nvPr/>
        </p:nvCxnSpPr>
        <p:spPr>
          <a:xfrm>
            <a:off x="5896708" y="4396886"/>
            <a:ext cx="269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64193812-6412-4587-AEF7-632202AF9897}"/>
              </a:ext>
            </a:extLst>
          </p:cNvPr>
          <p:cNvSpPr txBox="1"/>
          <p:nvPr/>
        </p:nvSpPr>
        <p:spPr>
          <a:xfrm>
            <a:off x="5372271" y="6056309"/>
            <a:ext cx="28776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▶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다음 쪽에 코드 이어짐</a:t>
            </a:r>
          </a:p>
        </p:txBody>
      </p:sp>
      <p:sp>
        <p:nvSpPr>
          <p:cNvPr id="3" name="Right Bracket 2">
            <a:extLst>
              <a:ext uri="{FF2B5EF4-FFF2-40B4-BE49-F238E27FC236}">
                <a16:creationId xmlns="" xmlns:a16="http://schemas.microsoft.com/office/drawing/2014/main" id="{C8DD45CB-1193-438B-B942-30D12C52693C}"/>
              </a:ext>
            </a:extLst>
          </p:cNvPr>
          <p:cNvSpPr/>
          <p:nvPr/>
        </p:nvSpPr>
        <p:spPr>
          <a:xfrm>
            <a:off x="5697415" y="4234122"/>
            <a:ext cx="199293" cy="326155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524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이벤트 설정</a:t>
            </a:r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하기</a:t>
            </a:r>
            <a:endParaRPr lang="en-US" altLang="ko-KR" sz="18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이벤트 연결 제거하기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7-1-12.html)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7-1</a:t>
            </a:r>
            <a:r>
              <a:rPr lang="ko-KR" altLang="en-US" dirty="0"/>
              <a:t> 문서 객체 조작하기</a:t>
            </a:r>
            <a:r>
              <a:rPr lang="en-US" altLang="ko-KR" sz="2400" dirty="0"/>
              <a:t>(19)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5" name="Table 4">
            <a:extLst>
              <a:ext uri="{FF2B5EF4-FFF2-40B4-BE49-F238E27FC236}">
                <a16:creationId xmlns="" xmlns:a16="http://schemas.microsoft.com/office/drawing/2014/main" id="{98B09808-2DF0-48C9-9B9F-264BE5EC8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394891"/>
              </p:ext>
            </p:extLst>
          </p:nvPr>
        </p:nvGraphicFramePr>
        <p:xfrm>
          <a:off x="1524000" y="1845797"/>
          <a:ext cx="531939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4233731">
                <a:tc>
                  <a:txBody>
                    <a:bodyPr/>
                    <a:lstStyle/>
                    <a:p>
                      <a:pPr latinLnBrk="1"/>
                      <a:endParaRPr lang="en-US" altLang="ko-KR" sz="12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22    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disconnectButton.addEventListener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('click', () =&gt; {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23       if (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isConnect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=== true) {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24         h1.removeEventListener('click', listener)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25        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p.textContent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= '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이벤트 연결 상태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: 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해제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’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26         </a:t>
                      </a:r>
                      <a:r>
                        <a:rPr lang="en-US" altLang="ko-KR" sz="1200" b="0" dirty="0" err="1">
                          <a:solidFill>
                            <a:sysClr val="windowText" lastClr="000000"/>
                          </a:solidFill>
                        </a:rPr>
                        <a:t>isConnect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 = false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27       }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28     })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29   })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30 &lt;/script&gt;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31 &lt;style&gt;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32   h1 {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33     /* 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클릭을 여러 번 했을 때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34          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글자가 선택되는 것을 막기 위한 스타일 *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35      user-select: none;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36   }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37 &lt;/style&gt;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38 &lt;body&gt;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39   &lt;h1&gt;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클릭 횟수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: 0&lt;/h1&gt;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40   &lt;button id="connect"&gt;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이벤트 연결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&lt;/button&gt;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41   &lt;button id="disconnect"&gt;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이벤트 제거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&lt;/button&gt;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42   &lt;p&gt;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이벤트 연결 상태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: </a:t>
                      </a:r>
                      <a:r>
                        <a:rPr lang="ko-KR" altLang="en-US" sz="1200" b="0" dirty="0">
                          <a:solidFill>
                            <a:sysClr val="windowText" lastClr="000000"/>
                          </a:solidFill>
                        </a:rPr>
                        <a:t>해제</a:t>
                      </a:r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&lt;/p&gt;</a:t>
                      </a:r>
                    </a:p>
                    <a:p>
                      <a:pPr latinLnBrk="1"/>
                      <a:r>
                        <a:rPr lang="en-US" altLang="ko-KR" sz="1200" b="0" dirty="0">
                          <a:solidFill>
                            <a:sysClr val="windowText" lastClr="000000"/>
                          </a:solidFill>
                        </a:rPr>
                        <a:t>43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9F1A2A1F-CCA6-4E62-A5AD-2C385A03E99D}"/>
              </a:ext>
            </a:extLst>
          </p:cNvPr>
          <p:cNvCxnSpPr/>
          <p:nvPr/>
        </p:nvCxnSpPr>
        <p:spPr>
          <a:xfrm>
            <a:off x="4848649" y="2537023"/>
            <a:ext cx="269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90218BD-8D6E-4B2D-B802-31BB97A6BF74}"/>
              </a:ext>
            </a:extLst>
          </p:cNvPr>
          <p:cNvSpPr txBox="1"/>
          <p:nvPr/>
        </p:nvSpPr>
        <p:spPr>
          <a:xfrm>
            <a:off x="1394476" y="1707297"/>
            <a:ext cx="17355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◀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앞쪽에 이어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30DB5E59-D503-4A30-BB4F-8495F0D662D2}"/>
              </a:ext>
            </a:extLst>
          </p:cNvPr>
          <p:cNvSpPr txBox="1"/>
          <p:nvPr/>
        </p:nvSpPr>
        <p:spPr>
          <a:xfrm>
            <a:off x="5085150" y="2383135"/>
            <a:ext cx="35164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해제할 때 이벤트 리스너를 사용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A9180F7-A739-4C94-B320-C0938CA0B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273" y="3587262"/>
            <a:ext cx="3248610" cy="18234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DF1D813-C017-4D17-931E-5ED355F50CCF}"/>
              </a:ext>
            </a:extLst>
          </p:cNvPr>
          <p:cNvSpPr txBox="1"/>
          <p:nvPr/>
        </p:nvSpPr>
        <p:spPr>
          <a:xfrm>
            <a:off x="7980618" y="4098887"/>
            <a:ext cx="16065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+mn-ea"/>
              </a:rPr>
              <a:t>클릭 횟수</a:t>
            </a:r>
            <a:r>
              <a:rPr lang="en-US" altLang="ko-KR" sz="2000" b="1" dirty="0">
                <a:latin typeface="+mn-ea"/>
              </a:rPr>
              <a:t>: 5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40963B0-9E83-431B-8A68-0A47BB070FF6}"/>
              </a:ext>
            </a:extLst>
          </p:cNvPr>
          <p:cNvSpPr txBox="1"/>
          <p:nvPr/>
        </p:nvSpPr>
        <p:spPr>
          <a:xfrm>
            <a:off x="6679904" y="2976038"/>
            <a:ext cx="1741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클릭 시 연결 상태는</a:t>
            </a:r>
          </a:p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‘</a:t>
            </a:r>
            <a:r>
              <a:rPr lang="ko-KR" altLang="en-US" sz="1400" dirty="0">
                <a:solidFill>
                  <a:srgbClr val="FF0000"/>
                </a:solidFill>
              </a:rPr>
              <a:t>연결</a:t>
            </a:r>
            <a:r>
              <a:rPr lang="en-US" altLang="ko-KR" sz="1400" dirty="0">
                <a:solidFill>
                  <a:srgbClr val="FF0000"/>
                </a:solidFill>
              </a:rPr>
              <a:t>’</a:t>
            </a:r>
            <a:r>
              <a:rPr lang="ko-KR" altLang="en-US" sz="1400" dirty="0">
                <a:solidFill>
                  <a:srgbClr val="FF0000"/>
                </a:solidFill>
              </a:rPr>
              <a:t>로 나옴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600ACBEC-C38C-4755-AA69-3DBBE11F62A0}"/>
              </a:ext>
            </a:extLst>
          </p:cNvPr>
          <p:cNvSpPr txBox="1"/>
          <p:nvPr/>
        </p:nvSpPr>
        <p:spPr>
          <a:xfrm>
            <a:off x="9398578" y="2976038"/>
            <a:ext cx="17411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클릭 시 연결 상태는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'</a:t>
            </a:r>
            <a:r>
              <a:rPr lang="ko-KR" altLang="en-US" sz="1400" dirty="0">
                <a:solidFill>
                  <a:srgbClr val="FF0000"/>
                </a:solidFill>
              </a:rPr>
              <a:t>해제</a:t>
            </a:r>
            <a:r>
              <a:rPr lang="en-US" altLang="ko-KR" sz="1400" dirty="0">
                <a:solidFill>
                  <a:srgbClr val="FF0000"/>
                </a:solidFill>
              </a:rPr>
              <a:t>’</a:t>
            </a:r>
            <a:r>
              <a:rPr lang="ko-KR" altLang="en-US" sz="1400" dirty="0">
                <a:solidFill>
                  <a:srgbClr val="FF0000"/>
                </a:solidFill>
              </a:rPr>
              <a:t>로 나옴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15A1FA2B-5BC5-4029-A08E-A937A1147A09}"/>
              </a:ext>
            </a:extLst>
          </p:cNvPr>
          <p:cNvSpPr txBox="1"/>
          <p:nvPr/>
        </p:nvSpPr>
        <p:spPr>
          <a:xfrm>
            <a:off x="7976185" y="5504254"/>
            <a:ext cx="2606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이벤트 연결 상태에서</a:t>
            </a:r>
          </a:p>
          <a:p>
            <a:r>
              <a:rPr lang="ko-KR" altLang="en-US" sz="1400" dirty="0">
                <a:solidFill>
                  <a:srgbClr val="FF0000"/>
                </a:solidFill>
              </a:rPr>
              <a:t>클릭하면 클릭 횟수를 출력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292F9158-1537-4E03-9065-A1395FEAA6D3}"/>
              </a:ext>
            </a:extLst>
          </p:cNvPr>
          <p:cNvSpPr txBox="1"/>
          <p:nvPr/>
        </p:nvSpPr>
        <p:spPr>
          <a:xfrm>
            <a:off x="7923475" y="4500686"/>
            <a:ext cx="1904266" cy="1846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ko-KR" altLang="en-US" sz="1200" b="0" i="0" u="none" strike="noStrike" baseline="0" dirty="0">
                <a:solidFill>
                  <a:srgbClr val="FF0000"/>
                </a:solidFill>
                <a:latin typeface="PCSJUS+RixVeryGoodPM"/>
              </a:rPr>
              <a:t>이벤트 연결     이벤트 제거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="" xmlns:a16="http://schemas.microsoft.com/office/drawing/2014/main" id="{EEFD29AF-52F5-4C97-8F18-271FE76C826A}"/>
              </a:ext>
            </a:extLst>
          </p:cNvPr>
          <p:cNvCxnSpPr>
            <a:stCxn id="21" idx="1"/>
            <a:endCxn id="14" idx="2"/>
          </p:cNvCxnSpPr>
          <p:nvPr/>
        </p:nvCxnSpPr>
        <p:spPr>
          <a:xfrm rot="10800000">
            <a:off x="7550495" y="3499259"/>
            <a:ext cx="372980" cy="1093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="" xmlns:a16="http://schemas.microsoft.com/office/drawing/2014/main" id="{8E5A3A9C-865E-442D-B077-36B3FD110DD3}"/>
              </a:ext>
            </a:extLst>
          </p:cNvPr>
          <p:cNvCxnSpPr>
            <a:stCxn id="21" idx="3"/>
            <a:endCxn id="18" idx="2"/>
          </p:cNvCxnSpPr>
          <p:nvPr/>
        </p:nvCxnSpPr>
        <p:spPr>
          <a:xfrm flipV="1">
            <a:off x="9827741" y="3499258"/>
            <a:ext cx="441428" cy="10937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="" xmlns:a16="http://schemas.microsoft.com/office/drawing/2014/main" id="{D9D53ACE-972B-40BB-BD28-BFD9174D95BB}"/>
              </a:ext>
            </a:extLst>
          </p:cNvPr>
          <p:cNvCxnSpPr/>
          <p:nvPr/>
        </p:nvCxnSpPr>
        <p:spPr>
          <a:xfrm>
            <a:off x="8058215" y="4460897"/>
            <a:ext cx="122018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="" xmlns:a16="http://schemas.microsoft.com/office/drawing/2014/main" id="{B81CC443-24A1-4FB3-94F9-A9391C3720AF}"/>
              </a:ext>
            </a:extLst>
          </p:cNvPr>
          <p:cNvCxnSpPr>
            <a:cxnSpLocks/>
          </p:cNvCxnSpPr>
          <p:nvPr/>
        </p:nvCxnSpPr>
        <p:spPr>
          <a:xfrm>
            <a:off x="8888658" y="4460897"/>
            <a:ext cx="0" cy="1018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CBBD0D2E-9810-45B6-9499-D09EA44234B5}"/>
              </a:ext>
            </a:extLst>
          </p:cNvPr>
          <p:cNvSpPr txBox="1"/>
          <p:nvPr/>
        </p:nvSpPr>
        <p:spPr>
          <a:xfrm>
            <a:off x="7679311" y="4772622"/>
            <a:ext cx="22885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이벤트 연결 상태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: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 해제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939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마무리①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50326DBB-84FF-4A1B-8DC0-3DB3E669E9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1" name="텍스트 개체 틀 8">
            <a:extLst>
              <a:ext uri="{FF2B5EF4-FFF2-40B4-BE49-F238E27FC236}">
                <a16:creationId xmlns="" xmlns:a16="http://schemas.microsoft.com/office/drawing/2014/main" id="{F851B322-4058-4DCD-9EF7-105CCF1E2C10}"/>
              </a:ext>
            </a:extLst>
          </p:cNvPr>
          <p:cNvSpPr txBox="1">
            <a:spLocks/>
          </p:cNvSpPr>
          <p:nvPr/>
        </p:nvSpPr>
        <p:spPr>
          <a:xfrm>
            <a:off x="487015" y="815008"/>
            <a:ext cx="11281052" cy="499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4BB0A0"/>
              </a:buClr>
              <a:buFont typeface="시스템 서체"/>
              <a:buChar char="◦"/>
              <a:defRPr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시스템 서체"/>
              <a:buChar char="⁃"/>
              <a:defRPr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6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Myungjo100Std_OTF"/>
              </a:rPr>
              <a:t>가지 키워드로 정리하는 핵심 포인트</a:t>
            </a:r>
          </a:p>
          <a:p>
            <a:pPr lvl="1"/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YoonV YoonMyungjo100Std_OTF"/>
              </a:rPr>
              <a:t>DOMContentLoaded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이벤트는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HTML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페이지의 모든 문서 객체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요소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)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를 웹 브라우저가 읽어들였을 때 발생시키는 이벤트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YoonV YoonMyungjo100Std_OTF"/>
              </a:rPr>
              <a:t>querySelector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()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메소드는 문서 객체를 선택할 때 사용하는 메소드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YoonV YoonMyungjo100Std_OTF"/>
              </a:rPr>
              <a:t>textContent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속성과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YoonV YoonMyungjo100Std_OTF"/>
              </a:rPr>
              <a:t>innerHTML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속성은 문서 객체 내부의 글자를 조작할 때 사용하는 속성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style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속성은 문서 객체의 스타일을 조작할 때 사용하는 속성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이벤트 리스너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이벤트 핸들러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)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는 이벤트가 발생할 때 실행하는 함수를 의미</a:t>
            </a:r>
            <a:endParaRPr lang="en-US" altLang="ko-KR" sz="1800" dirty="0">
              <a:solidFill>
                <a:srgbClr val="000000"/>
              </a:solidFill>
              <a:latin typeface="YoonV YoonMyungjo100Std_OTF"/>
            </a:endParaRPr>
          </a:p>
          <a:p>
            <a:r>
              <a:rPr lang="ko-KR" altLang="en-US" sz="1800" dirty="0">
                <a:solidFill>
                  <a:srgbClr val="000000"/>
                </a:solidFill>
                <a:latin typeface="YoonV YoonMyungjo100Std_OTF"/>
              </a:rPr>
              <a:t>확인 문제</a:t>
            </a:r>
            <a:endParaRPr lang="en-US" altLang="ko-KR" sz="1800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다음 중에서 웹 브라우저가 문서 객체를 모두 읽어들였을 때 실행되는 이벤트는</a:t>
            </a:r>
            <a:r>
              <a:rPr lang="en-US" altLang="ko-KR" sz="1600" dirty="0">
                <a:solidFill>
                  <a:srgbClr val="000000"/>
                </a:solidFill>
                <a:latin typeface="YoonV YoonMyungjo100Std_OTF"/>
              </a:rPr>
              <a:t>?</a:t>
            </a: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① </a:t>
            </a:r>
            <a:r>
              <a:rPr lang="en-US" altLang="ko-KR" sz="1400" dirty="0" err="1">
                <a:solidFill>
                  <a:srgbClr val="000000"/>
                </a:solidFill>
                <a:latin typeface="YoonV YoonMyungjo100Std_OTF"/>
              </a:rPr>
              <a:t>DomContentLoaded</a:t>
            </a: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		② </a:t>
            </a:r>
            <a:r>
              <a:rPr lang="en-US" altLang="ko-KR" sz="1400" dirty="0" err="1">
                <a:solidFill>
                  <a:srgbClr val="000000"/>
                </a:solidFill>
                <a:latin typeface="YoonV YoonMyungjo100Std_OTF"/>
              </a:rPr>
              <a:t>DOMContentLoaded</a:t>
            </a:r>
            <a:endParaRPr lang="en-US" altLang="ko-KR" sz="1400" dirty="0">
              <a:solidFill>
                <a:srgbClr val="000000"/>
              </a:solidFill>
              <a:latin typeface="YoonV YoonMyungjo100Std_OTF"/>
            </a:endParaRP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③ </a:t>
            </a:r>
            <a:r>
              <a:rPr lang="en-US" altLang="ko-KR" sz="1400" dirty="0" err="1">
                <a:solidFill>
                  <a:srgbClr val="000000"/>
                </a:solidFill>
                <a:latin typeface="YoonV YoonMyungjo100Std_OTF"/>
              </a:rPr>
              <a:t>ContentLoaded</a:t>
            </a: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		</a:t>
            </a:r>
            <a:r>
              <a:rPr lang="en-US" altLang="ko-KR" sz="1400" dirty="0" smtClean="0">
                <a:solidFill>
                  <a:srgbClr val="000000"/>
                </a:solidFill>
                <a:latin typeface="YoonV YoonMyungjo100Std_OTF"/>
              </a:rPr>
              <a:t>	④ </a:t>
            </a: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Loaded</a:t>
            </a:r>
          </a:p>
        </p:txBody>
      </p:sp>
    </p:spTree>
    <p:extLst>
      <p:ext uri="{BB962C8B-B14F-4D97-AF65-F5344CB8AC3E}">
        <p14:creationId xmlns:p14="http://schemas.microsoft.com/office/powerpoint/2010/main" val="537861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마무리②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50326DBB-84FF-4A1B-8DC0-3DB3E669E9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1" name="텍스트 개체 틀 8">
            <a:extLst>
              <a:ext uri="{FF2B5EF4-FFF2-40B4-BE49-F238E27FC236}">
                <a16:creationId xmlns="" xmlns:a16="http://schemas.microsoft.com/office/drawing/2014/main" id="{F851B322-4058-4DCD-9EF7-105CCF1E2C10}"/>
              </a:ext>
            </a:extLst>
          </p:cNvPr>
          <p:cNvSpPr txBox="1">
            <a:spLocks/>
          </p:cNvSpPr>
          <p:nvPr/>
        </p:nvSpPr>
        <p:spPr>
          <a:xfrm>
            <a:off x="487015" y="815008"/>
            <a:ext cx="11281052" cy="499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4BB0A0"/>
              </a:buClr>
              <a:buFont typeface="시스템 서체"/>
              <a:buChar char="◦"/>
              <a:defRPr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시스템 서체"/>
              <a:buChar char="⁃"/>
              <a:defRPr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>
                <a:solidFill>
                  <a:srgbClr val="000000"/>
                </a:solidFill>
                <a:latin typeface="YoonV YoonMyungjo100Std_OTF"/>
              </a:rPr>
              <a:t>확인 문제</a:t>
            </a:r>
            <a:endParaRPr lang="en-US" altLang="ko-KR" sz="1800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다음과 같은 요소를 </a:t>
            </a:r>
            <a:r>
              <a:rPr lang="en-US" altLang="ko-KR" sz="1600" dirty="0" err="1">
                <a:solidFill>
                  <a:srgbClr val="000000"/>
                </a:solidFill>
                <a:latin typeface="YoonV YoonMyungjo100Std_OTF"/>
              </a:rPr>
              <a:t>querySelector</a:t>
            </a:r>
            <a:r>
              <a:rPr lang="en-US" altLang="ko-KR" sz="1600" dirty="0">
                <a:solidFill>
                  <a:srgbClr val="000000"/>
                </a:solidFill>
                <a:latin typeface="YoonV YoonMyungjo100Std_OTF"/>
              </a:rPr>
              <a:t>() </a:t>
            </a: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메소드로 선택할 때 사용할 수 있는 선택자를 </a:t>
            </a:r>
            <a:r>
              <a:rPr lang="en-US" altLang="ko-KR" sz="1600" dirty="0">
                <a:solidFill>
                  <a:srgbClr val="000000"/>
                </a:solidFill>
                <a:latin typeface="YoonV YoonMyungjo100Std_OTF"/>
              </a:rPr>
              <a:t>2</a:t>
            </a: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개 이상 적어 보기</a:t>
            </a: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① &lt;h1 id="header"&gt;</a:t>
            </a:r>
            <a:r>
              <a:rPr lang="ko-KR" altLang="en-US" sz="1400" dirty="0">
                <a:solidFill>
                  <a:srgbClr val="000000"/>
                </a:solidFill>
                <a:latin typeface="YoonV YoonMyungjo100Std_OTF"/>
              </a:rPr>
              <a:t>제목</a:t>
            </a: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&lt;/h1&gt;		② &lt;span class="active"&gt;</a:t>
            </a:r>
            <a:r>
              <a:rPr lang="ko-KR" altLang="en-US" sz="1400" dirty="0">
                <a:solidFill>
                  <a:srgbClr val="000000"/>
                </a:solidFill>
                <a:latin typeface="YoonV YoonMyungjo100Std_OTF"/>
              </a:rPr>
              <a:t>선택</a:t>
            </a: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&lt;/span&gt;</a:t>
            </a: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③&lt;input id="name-input" type="text" name="name"&gt;		</a:t>
            </a:r>
            <a:endParaRPr lang="en-US" altLang="ko-KR" sz="1600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다음 중에서 문서 객체 내부의 글자를 조작하는 속성이 아닌 것은</a:t>
            </a:r>
            <a:r>
              <a:rPr lang="en-US" altLang="ko-KR" sz="1600" dirty="0">
                <a:solidFill>
                  <a:srgbClr val="000000"/>
                </a:solidFill>
                <a:latin typeface="YoonV YoonMyungjo100Std_OTF"/>
              </a:rPr>
              <a:t>?</a:t>
            </a: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① </a:t>
            </a:r>
            <a:r>
              <a:rPr lang="en-US" altLang="ko-KR" sz="1400" dirty="0" err="1">
                <a:solidFill>
                  <a:srgbClr val="000000"/>
                </a:solidFill>
                <a:latin typeface="YoonV YoonMyungjo100Std_OTF"/>
              </a:rPr>
              <a:t>innerText</a:t>
            </a: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			② </a:t>
            </a:r>
            <a:r>
              <a:rPr lang="en-US" altLang="ko-KR" sz="1400" dirty="0" err="1">
                <a:solidFill>
                  <a:srgbClr val="000000"/>
                </a:solidFill>
                <a:latin typeface="YoonV YoonMyungjo100Std_OTF"/>
              </a:rPr>
              <a:t>textContent</a:t>
            </a:r>
            <a:endParaRPr lang="en-US" altLang="ko-KR" sz="1400" dirty="0">
              <a:solidFill>
                <a:srgbClr val="000000"/>
              </a:solidFill>
              <a:latin typeface="YoonV YoonMyungjo100Std_OTF"/>
            </a:endParaRP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③ </a:t>
            </a:r>
            <a:r>
              <a:rPr lang="en-US" altLang="ko-KR" sz="1400" dirty="0" err="1">
                <a:solidFill>
                  <a:srgbClr val="000000"/>
                </a:solidFill>
                <a:latin typeface="YoonV YoonMyungjo100Std_OTF"/>
              </a:rPr>
              <a:t>innerHTML</a:t>
            </a: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		</a:t>
            </a:r>
            <a:r>
              <a:rPr lang="en-US" altLang="ko-KR" sz="1400" dirty="0" smtClean="0">
                <a:solidFill>
                  <a:srgbClr val="000000"/>
                </a:solidFill>
                <a:latin typeface="YoonV YoonMyungjo100Std_OTF"/>
              </a:rPr>
              <a:t>	④ </a:t>
            </a:r>
            <a:r>
              <a:rPr lang="en-US" altLang="ko-KR" sz="1400" dirty="0" err="1">
                <a:solidFill>
                  <a:srgbClr val="000000"/>
                </a:solidFill>
                <a:latin typeface="YoonV YoonMyungjo100Std_OTF"/>
              </a:rPr>
              <a:t>htmlContent</a:t>
            </a:r>
            <a:endParaRPr lang="en-US" altLang="ko-KR" sz="1400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다음 </a:t>
            </a:r>
            <a:r>
              <a:rPr lang="en-US" altLang="ko-KR" sz="1600" dirty="0">
                <a:solidFill>
                  <a:srgbClr val="000000"/>
                </a:solidFill>
                <a:latin typeface="YoonV YoonMyungjo100Std_OTF"/>
              </a:rPr>
              <a:t>CSS</a:t>
            </a: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에서 사용하는 스타일 속성들을 자바스크립트 문서 객체에서 점을 찍고 곧바로 사용할 수 있는 형태의 식별자로 변경하기</a:t>
            </a:r>
            <a:endParaRPr lang="en-US" altLang="ko-KR" sz="1600" dirty="0">
              <a:solidFill>
                <a:srgbClr val="000000"/>
              </a:solidFill>
              <a:latin typeface="YoonV YoonMyungjo100Std_OTF"/>
            </a:endParaRP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① border-radius	 →	</a:t>
            </a: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② font-family	 →</a:t>
            </a: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③ line-height	 → 	</a:t>
            </a: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④ width		 →</a:t>
            </a: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YoonV YoonMyungjo100Std_OTF"/>
              </a:rPr>
              <a:t>⑤ box-sizing	 →</a:t>
            </a:r>
          </a:p>
          <a:p>
            <a:pPr marL="914400" lvl="2" indent="0">
              <a:buNone/>
            </a:pPr>
            <a:endParaRPr lang="en-US" altLang="ko-KR" sz="1400" dirty="0">
              <a:solidFill>
                <a:srgbClr val="000000"/>
              </a:solidFill>
              <a:latin typeface="YoonV YoonMyungjo100Std_OTF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A9B6C957-4400-435E-9B13-E3454058A8F3}"/>
              </a:ext>
            </a:extLst>
          </p:cNvPr>
          <p:cNvSpPr/>
          <p:nvPr/>
        </p:nvSpPr>
        <p:spPr>
          <a:xfrm>
            <a:off x="3771900" y="3907648"/>
            <a:ext cx="2181225" cy="2055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E5357459-F89C-423F-B768-041D3D634306}"/>
              </a:ext>
            </a:extLst>
          </p:cNvPr>
          <p:cNvSpPr/>
          <p:nvPr/>
        </p:nvSpPr>
        <p:spPr>
          <a:xfrm>
            <a:off x="3771899" y="4236478"/>
            <a:ext cx="2181225" cy="2055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6109C59-3156-429E-9ABE-757CA8749CE1}"/>
              </a:ext>
            </a:extLst>
          </p:cNvPr>
          <p:cNvSpPr/>
          <p:nvPr/>
        </p:nvSpPr>
        <p:spPr>
          <a:xfrm>
            <a:off x="3771899" y="4565308"/>
            <a:ext cx="2181225" cy="2055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7DCB637B-41D8-4F40-A8CC-109717F6F234}"/>
              </a:ext>
            </a:extLst>
          </p:cNvPr>
          <p:cNvSpPr/>
          <p:nvPr/>
        </p:nvSpPr>
        <p:spPr>
          <a:xfrm>
            <a:off x="3771899" y="4894138"/>
            <a:ext cx="2181225" cy="2055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09B27EF-BA3C-4C4F-B3C9-4B8495ECA172}"/>
              </a:ext>
            </a:extLst>
          </p:cNvPr>
          <p:cNvSpPr/>
          <p:nvPr/>
        </p:nvSpPr>
        <p:spPr>
          <a:xfrm>
            <a:off x="3771898" y="5205913"/>
            <a:ext cx="2181225" cy="2055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274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이벤트 모델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표준 이벤트 모델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: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addEventListener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()</a:t>
            </a: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고전 이벤트 모델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문서 객체가 갖고 있는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on◯◯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으로 시작하는 속성에 함수를 할당해서 이벤트를 연결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인라인 이벤트 모델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: on◯◯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으로 시작하는 속성을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HTML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요소에 직접 넣어서 이벤트를 연결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(1)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5" name="Table 4">
            <a:extLst>
              <a:ext uri="{FF2B5EF4-FFF2-40B4-BE49-F238E27FC236}">
                <a16:creationId xmlns="" xmlns:a16="http://schemas.microsoft.com/office/drawing/2014/main" id="{98B09808-2DF0-48C9-9B9F-264BE5EC8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617513"/>
              </p:ext>
            </p:extLst>
          </p:nvPr>
        </p:nvGraphicFramePr>
        <p:xfrm>
          <a:off x="1524000" y="1669952"/>
          <a:ext cx="5319392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document.body.addEventListener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 </a:t>
                      </a:r>
                    </a:p>
                    <a:p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})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23" name="Table 4">
            <a:extLst>
              <a:ext uri="{FF2B5EF4-FFF2-40B4-BE49-F238E27FC236}">
                <a16:creationId xmlns="" xmlns:a16="http://schemas.microsoft.com/office/drawing/2014/main" id="{E7953776-FE79-42AE-B09C-0A8EEF3C6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922952"/>
              </p:ext>
            </p:extLst>
          </p:nvPr>
        </p:nvGraphicFramePr>
        <p:xfrm>
          <a:off x="1524000" y="3017520"/>
          <a:ext cx="5319392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document.body.onkeyup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(event) =&gt; {</a:t>
                      </a:r>
                    </a:p>
                    <a:p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F2404FBE-CB2A-4908-84B3-0CB07A672EB7}"/>
              </a:ext>
            </a:extLst>
          </p:cNvPr>
          <p:cNvCxnSpPr/>
          <p:nvPr/>
        </p:nvCxnSpPr>
        <p:spPr>
          <a:xfrm>
            <a:off x="2950394" y="3314827"/>
            <a:ext cx="67993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="" xmlns:a16="http://schemas.microsoft.com/office/drawing/2014/main" id="{8DC09E91-4FC0-4734-A4C9-34614C11D56C}"/>
              </a:ext>
            </a:extLst>
          </p:cNvPr>
          <p:cNvSpPr/>
          <p:nvPr/>
        </p:nvSpPr>
        <p:spPr>
          <a:xfrm>
            <a:off x="3302086" y="3341077"/>
            <a:ext cx="668215" cy="128954"/>
          </a:xfrm>
          <a:custGeom>
            <a:avLst/>
            <a:gdLst>
              <a:gd name="connsiteX0" fmla="*/ 0 w 668215"/>
              <a:gd name="connsiteY0" fmla="*/ 0 h 128954"/>
              <a:gd name="connsiteX1" fmla="*/ 0 w 668215"/>
              <a:gd name="connsiteY1" fmla="*/ 128954 h 128954"/>
              <a:gd name="connsiteX2" fmla="*/ 668215 w 668215"/>
              <a:gd name="connsiteY2" fmla="*/ 128954 h 128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8215" h="128954">
                <a:moveTo>
                  <a:pt x="0" y="0"/>
                </a:moveTo>
                <a:lnTo>
                  <a:pt x="0" y="128954"/>
                </a:lnTo>
                <a:lnTo>
                  <a:pt x="668215" y="128954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30605002-4EE3-40C6-A00F-F46BCAC91717}"/>
              </a:ext>
            </a:extLst>
          </p:cNvPr>
          <p:cNvSpPr txBox="1"/>
          <p:nvPr/>
        </p:nvSpPr>
        <p:spPr>
          <a:xfrm>
            <a:off x="3970301" y="3314284"/>
            <a:ext cx="7766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>
                <a:solidFill>
                  <a:srgbClr val="FF0000"/>
                </a:solidFill>
                <a:latin typeface="PCSJUS+RixVeryGoodPM"/>
              </a:rPr>
              <a:t>속성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27" name="Table 4">
            <a:extLst>
              <a:ext uri="{FF2B5EF4-FFF2-40B4-BE49-F238E27FC236}">
                <a16:creationId xmlns="" xmlns:a16="http://schemas.microsoft.com/office/drawing/2014/main" id="{C29932B2-C4F2-4926-9646-4940ECA04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419747"/>
              </p:ext>
            </p:extLst>
          </p:nvPr>
        </p:nvGraphicFramePr>
        <p:xfrm>
          <a:off x="1500554" y="4416083"/>
          <a:ext cx="5319392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const listener = (event) =&gt; {</a:t>
                      </a:r>
                    </a:p>
                    <a:p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}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&lt;body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onkeyup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="listener(event)"&gt;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&lt;/body&gt;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821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5456838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키보드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keydown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이벤트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keypress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이벤트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0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keyup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이벤트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(2)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C93620EC-9FD3-49C9-B6FF-14E91BC573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060112"/>
              </p:ext>
            </p:extLst>
          </p:nvPr>
        </p:nvGraphicFramePr>
        <p:xfrm>
          <a:off x="1524000" y="1205279"/>
          <a:ext cx="9067800" cy="1704975"/>
        </p:xfrm>
        <a:graphic>
          <a:graphicData uri="http://schemas.openxmlformats.org/drawingml/2006/table">
            <a:tbl>
              <a:tblPr/>
              <a:tblGrid>
                <a:gridCol w="2273300">
                  <a:extLst>
                    <a:ext uri="{9D8B030D-6E8A-4147-A177-3AD203B41FA5}">
                      <a16:colId xmlns="" xmlns:a16="http://schemas.microsoft.com/office/drawing/2014/main" val="1825983598"/>
                    </a:ext>
                  </a:extLst>
                </a:gridCol>
                <a:gridCol w="6794500">
                  <a:extLst>
                    <a:ext uri="{9D8B030D-6E8A-4147-A177-3AD203B41FA5}">
                      <a16:colId xmlns="" xmlns:a16="http://schemas.microsoft.com/office/drawing/2014/main" val="311810191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6544122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keydown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키가 눌릴 때 실행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키보드를 꾹 누르고 있을 때도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입력될 때도 실행됨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623274265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keypress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키가 입력되었을 때 실행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하지만 웹 브라우저에 따라서 아시아권의 </a:t>
                      </a:r>
                      <a:b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중국어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일본어</a:t>
                      </a:r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제대로 처리하지 못하는 문제가 있음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7079862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keyup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키보드에서 키가 떨어질 때 실행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52766944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605DD47-1131-4A47-B102-D5F631F97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215" y="3347418"/>
            <a:ext cx="5850326" cy="10228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CF06A204-C685-40A6-83D7-DBE768883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755917"/>
            <a:ext cx="8421199" cy="5651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9F55D95B-817E-4BEF-AEA1-CF601B8CF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5704361"/>
            <a:ext cx="8421199" cy="56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30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키보드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남은 글자 수 출력하기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7-2-1.html)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(3)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5" name="Table 4">
            <a:extLst>
              <a:ext uri="{FF2B5EF4-FFF2-40B4-BE49-F238E27FC236}">
                <a16:creationId xmlns="" xmlns:a16="http://schemas.microsoft.com/office/drawing/2014/main" id="{98B09808-2DF0-48C9-9B9F-264BE5EC8D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831977"/>
              </p:ext>
            </p:extLst>
          </p:nvPr>
        </p:nvGraphicFramePr>
        <p:xfrm>
          <a:off x="1524000" y="1646506"/>
          <a:ext cx="5319392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const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const h1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('h1')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(event)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  const length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textarea.value.length</a:t>
                      </a:r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  h1.textContent = `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글자 수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${length}`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 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&lt;/script&gt;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&lt;body&gt;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  &lt;h1&gt;&lt;/h1&gt;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&lt;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&gt;&lt;/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&lt;/body&gt;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30605002-4EE3-40C6-A00F-F46BCAC91717}"/>
              </a:ext>
            </a:extLst>
          </p:cNvPr>
          <p:cNvSpPr txBox="1"/>
          <p:nvPr/>
        </p:nvSpPr>
        <p:spPr>
          <a:xfrm>
            <a:off x="5627635" y="3201526"/>
            <a:ext cx="4411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value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속성으로 입력 양식의 글자를 읽어들일 수 있음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EC3DE3FA-E76E-4D7B-B3AB-CBAD9876C768}"/>
              </a:ext>
            </a:extLst>
          </p:cNvPr>
          <p:cNvCxnSpPr/>
          <p:nvPr/>
        </p:nvCxnSpPr>
        <p:spPr>
          <a:xfrm>
            <a:off x="3305908" y="3361719"/>
            <a:ext cx="125587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A18D0DC5-F9B2-4597-9A66-ECFB30A9C526}"/>
              </a:ext>
            </a:extLst>
          </p:cNvPr>
          <p:cNvCxnSpPr/>
          <p:nvPr/>
        </p:nvCxnSpPr>
        <p:spPr>
          <a:xfrm>
            <a:off x="5287108" y="3361719"/>
            <a:ext cx="257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7251AFC2-6E95-4B97-8487-978BCDCEA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458" y="3731490"/>
            <a:ext cx="2579810" cy="169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124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키보드 키 코드 사용하기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code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속성은 입력한 키를 나타내는 문자열이 들어 있고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altKey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ctrlKey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shiftKey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속성은 해당 키를 눌렀는지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/>
            </a:r>
            <a:b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</a:b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불 자료형 값이 들어 있음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(4)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="" xmlns:a16="http://schemas.microsoft.com/office/drawing/2014/main" id="{52184887-FB02-4F4F-848E-AD7C2495F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708449"/>
              </p:ext>
            </p:extLst>
          </p:nvPr>
        </p:nvGraphicFramePr>
        <p:xfrm>
          <a:off x="1548004" y="1235723"/>
          <a:ext cx="5308600" cy="2000250"/>
        </p:xfrm>
        <a:graphic>
          <a:graphicData uri="http://schemas.openxmlformats.org/drawingml/2006/table">
            <a:tbl>
              <a:tblPr/>
              <a:tblGrid>
                <a:gridCol w="2271941">
                  <a:extLst>
                    <a:ext uri="{9D8B030D-6E8A-4147-A177-3AD203B41FA5}">
                      <a16:colId xmlns="" xmlns:a16="http://schemas.microsoft.com/office/drawing/2014/main" val="2885356629"/>
                    </a:ext>
                  </a:extLst>
                </a:gridCol>
                <a:gridCol w="3036659">
                  <a:extLst>
                    <a:ext uri="{9D8B030D-6E8A-4147-A177-3AD203B41FA5}">
                      <a16:colId xmlns="" xmlns:a16="http://schemas.microsoft.com/office/drawing/2014/main" val="343234946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속성 이름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선택자 형태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1554422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입력한 키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31951006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keyCode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입력한 키를 나타내는 숫자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2175711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altKey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[Alt]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키를 눌렀는지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9020556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ctrlKey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[Ctrl] </a:t>
                      </a:r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키를 눌렀는지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02329065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shiftKey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[Shift] </a:t>
                      </a:r>
                      <a:r>
                        <a:rPr lang="ko-KR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키를 눌렀는지</a:t>
                      </a:r>
                    </a:p>
                  </a:txBody>
                  <a:tcPr marL="14287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7865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0389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키보드 키 코드 사용하기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키보드 이벤트와 관련된 이벤트 속성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7-2-2.html)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900905"/>
              </p:ext>
            </p:extLst>
          </p:nvPr>
        </p:nvGraphicFramePr>
        <p:xfrm>
          <a:off x="1524000" y="1552722"/>
          <a:ext cx="5319392" cy="496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const h1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('h1')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const print = (event)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      let output = ''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       output += `alt: ${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event.altKey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}&lt;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&gt;`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  output += `ctrl: ${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event.ctrlKey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}&lt;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&gt;`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  output += `shift: ${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event.shiftKey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}&lt;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&gt;`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      output += `code: ${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typeof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event.code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!== 'undefined' ?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event.code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event.keyCode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}&lt;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&gt;`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  h1.innerHTML = output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}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keydown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print)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print)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&lt;/script&gt;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&lt;body&gt;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   &lt;h1&gt;&lt;/h1&gt;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&lt;/body&gt;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(5)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30605002-4EE3-40C6-A00F-F46BCAC91717}"/>
              </a:ext>
            </a:extLst>
          </p:cNvPr>
          <p:cNvSpPr txBox="1"/>
          <p:nvPr/>
        </p:nvSpPr>
        <p:spPr>
          <a:xfrm>
            <a:off x="6205693" y="2999020"/>
            <a:ext cx="4411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이벤트가 발생하면 불 값을 반환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A18D0DC5-F9B2-4597-9A66-ECFB30A9C526}"/>
              </a:ext>
            </a:extLst>
          </p:cNvPr>
          <p:cNvCxnSpPr/>
          <p:nvPr/>
        </p:nvCxnSpPr>
        <p:spPr>
          <a:xfrm>
            <a:off x="5865166" y="3159213"/>
            <a:ext cx="257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4AA88AE1-EDD7-4244-9271-4FE3A16E99F3}"/>
              </a:ext>
            </a:extLst>
          </p:cNvPr>
          <p:cNvSpPr txBox="1"/>
          <p:nvPr/>
        </p:nvSpPr>
        <p:spPr>
          <a:xfrm>
            <a:off x="6033757" y="3863036"/>
            <a:ext cx="4411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PCSJUS+RixVeryGoodPM"/>
              </a:rPr>
              <a:t>event.code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가 있으면 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PCSJUS+RixVeryGoodPM"/>
              </a:rPr>
              <a:t>event.code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를 출력하고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,</a:t>
            </a:r>
          </a:p>
          <a:p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undefined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라면 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PCSJUS+RixVeryGoodPM"/>
              </a:rPr>
              <a:t>event.keyCode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를 출력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6A88BBC1-975D-44BD-ADE1-28BFA98C3C1E}"/>
              </a:ext>
            </a:extLst>
          </p:cNvPr>
          <p:cNvSpPr txBox="1"/>
          <p:nvPr/>
        </p:nvSpPr>
        <p:spPr>
          <a:xfrm>
            <a:off x="6427360" y="4746389"/>
            <a:ext cx="4411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키가 눌릴 때 출력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FEFC9CA-E20E-4CFA-9519-3D4BB1F8426A}"/>
              </a:ext>
            </a:extLst>
          </p:cNvPr>
          <p:cNvSpPr txBox="1"/>
          <p:nvPr/>
        </p:nvSpPr>
        <p:spPr>
          <a:xfrm>
            <a:off x="6295292" y="4993940"/>
            <a:ext cx="4411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키가 떨어질 때 출력합니다</a:t>
            </a:r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23292079-54B2-4CFB-BA66-D5E4998480A0}"/>
              </a:ext>
            </a:extLst>
          </p:cNvPr>
          <p:cNvCxnSpPr/>
          <p:nvPr/>
        </p:nvCxnSpPr>
        <p:spPr>
          <a:xfrm>
            <a:off x="5869634" y="5123016"/>
            <a:ext cx="257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="" xmlns:a16="http://schemas.microsoft.com/office/drawing/2014/main" id="{258647EA-70D0-42A2-AEC0-F83961E8E14B}"/>
              </a:ext>
            </a:extLst>
          </p:cNvPr>
          <p:cNvCxnSpPr/>
          <p:nvPr/>
        </p:nvCxnSpPr>
        <p:spPr>
          <a:xfrm>
            <a:off x="6033757" y="4900278"/>
            <a:ext cx="2579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D638039F-1D73-465A-900A-A535C767ABC4}"/>
              </a:ext>
            </a:extLst>
          </p:cNvPr>
          <p:cNvCxnSpPr>
            <a:cxnSpLocks/>
          </p:cNvCxnSpPr>
          <p:nvPr/>
        </p:nvCxnSpPr>
        <p:spPr>
          <a:xfrm>
            <a:off x="3622431" y="3763108"/>
            <a:ext cx="290788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4A778050-1DFB-43A9-B724-7EE966432540}"/>
              </a:ext>
            </a:extLst>
          </p:cNvPr>
          <p:cNvCxnSpPr>
            <a:cxnSpLocks/>
          </p:cNvCxnSpPr>
          <p:nvPr/>
        </p:nvCxnSpPr>
        <p:spPr>
          <a:xfrm>
            <a:off x="2168770" y="4036842"/>
            <a:ext cx="242818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="" xmlns:a16="http://schemas.microsoft.com/office/drawing/2014/main" id="{BAAED97C-608F-4581-898F-69A76B40C959}"/>
              </a:ext>
            </a:extLst>
          </p:cNvPr>
          <p:cNvSpPr/>
          <p:nvPr/>
        </p:nvSpPr>
        <p:spPr>
          <a:xfrm>
            <a:off x="4220308" y="3774831"/>
            <a:ext cx="1758461" cy="527539"/>
          </a:xfrm>
          <a:custGeom>
            <a:avLst/>
            <a:gdLst>
              <a:gd name="connsiteX0" fmla="*/ 0 w 1758461"/>
              <a:gd name="connsiteY0" fmla="*/ 257908 h 527539"/>
              <a:gd name="connsiteX1" fmla="*/ 0 w 1758461"/>
              <a:gd name="connsiteY1" fmla="*/ 527539 h 527539"/>
              <a:gd name="connsiteX2" fmla="*/ 1758461 w 1758461"/>
              <a:gd name="connsiteY2" fmla="*/ 527539 h 527539"/>
              <a:gd name="connsiteX3" fmla="*/ 1758461 w 1758461"/>
              <a:gd name="connsiteY3" fmla="*/ 11723 h 527539"/>
              <a:gd name="connsiteX4" fmla="*/ 1746738 w 1758461"/>
              <a:gd name="connsiteY4" fmla="*/ 0 h 527539"/>
              <a:gd name="connsiteX5" fmla="*/ 1746738 w 1758461"/>
              <a:gd name="connsiteY5" fmla="*/ 0 h 527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8461" h="527539">
                <a:moveTo>
                  <a:pt x="0" y="257908"/>
                </a:moveTo>
                <a:lnTo>
                  <a:pt x="0" y="527539"/>
                </a:lnTo>
                <a:lnTo>
                  <a:pt x="1758461" y="527539"/>
                </a:lnTo>
                <a:lnTo>
                  <a:pt x="1758461" y="11723"/>
                </a:lnTo>
                <a:lnTo>
                  <a:pt x="1746738" y="0"/>
                </a:lnTo>
                <a:lnTo>
                  <a:pt x="1746738" y="0"/>
                </a:lnTo>
              </a:path>
            </a:pathLst>
          </a:cu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Right Bracket 20">
            <a:extLst>
              <a:ext uri="{FF2B5EF4-FFF2-40B4-BE49-F238E27FC236}">
                <a16:creationId xmlns="" xmlns:a16="http://schemas.microsoft.com/office/drawing/2014/main" id="{B5646464-99D2-4B78-B0C4-FD35B01C2C9F}"/>
              </a:ext>
            </a:extLst>
          </p:cNvPr>
          <p:cNvSpPr/>
          <p:nvPr/>
        </p:nvSpPr>
        <p:spPr>
          <a:xfrm>
            <a:off x="5709138" y="2872155"/>
            <a:ext cx="160496" cy="582050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22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키보드 키 코드 사용하기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키로 별 움직이기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7-2-3.html)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305696"/>
              </p:ext>
            </p:extLst>
          </p:nvPr>
        </p:nvGraphicFramePr>
        <p:xfrm>
          <a:off x="1524000" y="1686630"/>
          <a:ext cx="531939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별의 초기 설정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const star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('h1')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star.style.position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'absolute'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별의 이동을 출력하는 기능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let [x, y] = [0, 0]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    const block = 20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  const print = () =&gt; {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star.style.left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`${x * block}px`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star.style.top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`${y * block}px`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    }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print()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별을 이동하는 기능</a:t>
                      </a:r>
                      <a:endParaRPr lang="en-US" altLang="ko-KR" sz="1400" b="0" i="0" u="none" strike="noStrike" kern="1200" baseline="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17     const [left, up, right, down] = [37, 38, 39, 40] </a:t>
                      </a:r>
                    </a:p>
                    <a:p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18    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document.body.addEventListener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('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keydown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', (event) =&gt; { </a:t>
                      </a:r>
                    </a:p>
                    <a:p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19     switch (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</a:rPr>
                        <a:t>event.keyCode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{ </a:t>
                      </a:r>
                    </a:p>
                    <a:p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       case left: </a:t>
                      </a:r>
                    </a:p>
                    <a:p>
                      <a:endParaRPr lang="en-US" altLang="ko-KR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(6)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6A88BBC1-975D-44BD-ADE1-28BFA98C3C1E}"/>
              </a:ext>
            </a:extLst>
          </p:cNvPr>
          <p:cNvSpPr txBox="1"/>
          <p:nvPr/>
        </p:nvSpPr>
        <p:spPr>
          <a:xfrm>
            <a:off x="5843109" y="2554142"/>
            <a:ext cx="4411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style 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속성을 조작하여 </a:t>
            </a:r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position 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값을 설정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44158BC3-7DC4-4638-B414-D325B69634BE}"/>
              </a:ext>
            </a:extLst>
          </p:cNvPr>
          <p:cNvSpPr txBox="1"/>
          <p:nvPr/>
        </p:nvSpPr>
        <p:spPr>
          <a:xfrm>
            <a:off x="5404555" y="6120130"/>
            <a:ext cx="28776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▶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다음 쪽에 코드 이어짐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408A5785-6CAF-4E97-9714-659FAFC8FCD8}"/>
              </a:ext>
            </a:extLst>
          </p:cNvPr>
          <p:cNvCxnSpPr/>
          <p:nvPr/>
        </p:nvCxnSpPr>
        <p:spPr>
          <a:xfrm>
            <a:off x="4994031" y="2708031"/>
            <a:ext cx="597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74A781BD-9125-4560-BC02-16C83F64B08F}"/>
              </a:ext>
            </a:extLst>
          </p:cNvPr>
          <p:cNvSpPr txBox="1"/>
          <p:nvPr/>
        </p:nvSpPr>
        <p:spPr>
          <a:xfrm>
            <a:off x="6366743" y="5067786"/>
            <a:ext cx="44117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방향키 </a:t>
            </a:r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keycode(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키코드</a:t>
            </a:r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를  쉽게 사용할 수 있게 변수를</a:t>
            </a:r>
          </a:p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사용해서 이름을 붙임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DB42B2B8-52B4-4530-8CDC-2CCE88D6C636}"/>
              </a:ext>
            </a:extLst>
          </p:cNvPr>
          <p:cNvSpPr txBox="1"/>
          <p:nvPr/>
        </p:nvSpPr>
        <p:spPr>
          <a:xfrm>
            <a:off x="5985984" y="5659611"/>
            <a:ext cx="4411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키보드가 눌릴 때 실행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="" xmlns:a16="http://schemas.microsoft.com/office/drawing/2014/main" id="{137C5158-6DF9-453D-BC4B-C2A2C39FF9AA}"/>
              </a:ext>
            </a:extLst>
          </p:cNvPr>
          <p:cNvCxnSpPr>
            <a:cxnSpLocks/>
          </p:cNvCxnSpPr>
          <p:nvPr/>
        </p:nvCxnSpPr>
        <p:spPr>
          <a:xfrm>
            <a:off x="5404555" y="5251206"/>
            <a:ext cx="943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="" xmlns:a16="http://schemas.microsoft.com/office/drawing/2014/main" id="{C8375855-1091-4D64-9A7A-1CE3B7B006F7}"/>
              </a:ext>
            </a:extLst>
          </p:cNvPr>
          <p:cNvCxnSpPr/>
          <p:nvPr/>
        </p:nvCxnSpPr>
        <p:spPr>
          <a:xfrm>
            <a:off x="4438650" y="5565136"/>
            <a:ext cx="80669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Freeform: Shape 26">
            <a:extLst>
              <a:ext uri="{FF2B5EF4-FFF2-40B4-BE49-F238E27FC236}">
                <a16:creationId xmlns="" xmlns:a16="http://schemas.microsoft.com/office/drawing/2014/main" id="{BC3229D3-3A65-440B-B703-8C886D9B67B7}"/>
              </a:ext>
            </a:extLst>
          </p:cNvPr>
          <p:cNvSpPr/>
          <p:nvPr/>
        </p:nvSpPr>
        <p:spPr>
          <a:xfrm>
            <a:off x="4848225" y="5562600"/>
            <a:ext cx="1076325" cy="257175"/>
          </a:xfrm>
          <a:custGeom>
            <a:avLst/>
            <a:gdLst>
              <a:gd name="connsiteX0" fmla="*/ 0 w 1076325"/>
              <a:gd name="connsiteY0" fmla="*/ 0 h 257175"/>
              <a:gd name="connsiteX1" fmla="*/ 0 w 1076325"/>
              <a:gd name="connsiteY1" fmla="*/ 247650 h 257175"/>
              <a:gd name="connsiteX2" fmla="*/ 1076325 w 1076325"/>
              <a:gd name="connsiteY2" fmla="*/ 247650 h 257175"/>
              <a:gd name="connsiteX3" fmla="*/ 1076325 w 1076325"/>
              <a:gd name="connsiteY3" fmla="*/ 257175 h 257175"/>
              <a:gd name="connsiteX4" fmla="*/ 1076325 w 1076325"/>
              <a:gd name="connsiteY4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6325" h="257175">
                <a:moveTo>
                  <a:pt x="0" y="0"/>
                </a:moveTo>
                <a:lnTo>
                  <a:pt x="0" y="247650"/>
                </a:lnTo>
                <a:lnTo>
                  <a:pt x="1076325" y="247650"/>
                </a:lnTo>
                <a:lnTo>
                  <a:pt x="1076325" y="257175"/>
                </a:lnTo>
                <a:lnTo>
                  <a:pt x="1076325" y="257175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8883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키보드 키 코드 사용하기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키로 별 움직이기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7-2-3.html)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368756"/>
              </p:ext>
            </p:extLst>
          </p:nvPr>
        </p:nvGraphicFramePr>
        <p:xfrm>
          <a:off x="1524000" y="1686630"/>
          <a:ext cx="531939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altLang="ko-KR" sz="14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          x -= 1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          break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        case up: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           y -= 1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          break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         case right: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           x += 1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           break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         case down: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           y += 1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           break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       }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       print()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     })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   })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 &lt;/script&gt;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 &lt;body&gt;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   &lt;h1&gt;★&lt;/h1&gt;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 &lt;/body&gt; </a:t>
                      </a:r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(7)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ED17FDD-70BA-4E8D-9A3D-CCCE419E9C34}"/>
              </a:ext>
            </a:extLst>
          </p:cNvPr>
          <p:cNvSpPr txBox="1"/>
          <p:nvPr/>
        </p:nvSpPr>
        <p:spPr>
          <a:xfrm>
            <a:off x="1160015" y="1548130"/>
            <a:ext cx="17355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◀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앞쪽에 이어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7641304-1D1B-4F25-9377-CB268DD48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470" y="4166821"/>
            <a:ext cx="237172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545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이벤트 발생 객체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이벤트 리스너 내부에서 어떤 변수에 접근할 수 없는 경우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다음 코드에서는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listener()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함수 내부에서 </a:t>
            </a:r>
            <a:r>
              <a:rPr lang="en-US" altLang="ko-KR" sz="1600" dirty="0" err="1">
                <a:solidFill>
                  <a:srgbClr val="000000"/>
                </a:solidFill>
                <a:latin typeface="+mn-ea"/>
                <a:ea typeface="+mn-ea"/>
              </a:rPr>
              <a:t>textarea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변수에 접근할 수 없어 오류가 발생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이벤트 리스너를 외부로 빼낸 경우</a:t>
            </a:r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31093"/>
              </p:ext>
            </p:extLst>
          </p:nvPr>
        </p:nvGraphicFramePr>
        <p:xfrm>
          <a:off x="1524000" y="2290299"/>
          <a:ext cx="531939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const listener = (event)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const length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textarea.value.length</a:t>
                      </a:r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h1.textContent = `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글자 수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${length}`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}</a:t>
                      </a:r>
                    </a:p>
                    <a:p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const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const h1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('h1’)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listener)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&lt;/script&gt;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(8)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A1B5420-E77A-467F-AEDE-DE1E12FC5D2A}"/>
              </a:ext>
            </a:extLst>
          </p:cNvPr>
          <p:cNvSpPr txBox="1"/>
          <p:nvPr/>
        </p:nvSpPr>
        <p:spPr>
          <a:xfrm>
            <a:off x="5831386" y="2818912"/>
            <a:ext cx="5188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현재 블록에서는 </a:t>
            </a:r>
            <a:r>
              <a:rPr lang="en-US" altLang="ko-KR" sz="1400" b="0" i="0" u="none" strike="noStrike" kern="1200" baseline="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textarea</a:t>
            </a:r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변수를 사용할 수 없음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F4212F6E-3BC8-4BA4-9196-EB2FE096F827}"/>
              </a:ext>
            </a:extLst>
          </p:cNvPr>
          <p:cNvCxnSpPr/>
          <p:nvPr/>
        </p:nvCxnSpPr>
        <p:spPr>
          <a:xfrm>
            <a:off x="4982308" y="2972801"/>
            <a:ext cx="597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022DE7CB-51E3-4CC9-9F4E-A892C2266889}"/>
              </a:ext>
            </a:extLst>
          </p:cNvPr>
          <p:cNvSpPr txBox="1"/>
          <p:nvPr/>
        </p:nvSpPr>
        <p:spPr>
          <a:xfrm>
            <a:off x="7560655" y="3755588"/>
            <a:ext cx="2814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이벤트 리스너가 외부로 분리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4BA25C88-85CB-462B-93DF-850465F7E5D9}"/>
              </a:ext>
            </a:extLst>
          </p:cNvPr>
          <p:cNvCxnSpPr/>
          <p:nvPr/>
        </p:nvCxnSpPr>
        <p:spPr>
          <a:xfrm>
            <a:off x="6711577" y="3909477"/>
            <a:ext cx="597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234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이벤트 발생 객체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문제 해결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+mn-ea"/>
                <a:ea typeface="+mn-ea"/>
              </a:rPr>
              <a:t>1) </a:t>
            </a:r>
            <a:r>
              <a:rPr lang="en-US" altLang="ko-KR" sz="1400" dirty="0" err="1">
                <a:solidFill>
                  <a:srgbClr val="000000"/>
                </a:solidFill>
                <a:latin typeface="+mn-ea"/>
                <a:ea typeface="+mn-ea"/>
              </a:rPr>
              <a:t>event.currentTarget</a:t>
            </a:r>
            <a:r>
              <a:rPr lang="en-US" altLang="ko-KR" sz="14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속성을 사용</a:t>
            </a:r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775705"/>
              </p:ext>
            </p:extLst>
          </p:nvPr>
        </p:nvGraphicFramePr>
        <p:xfrm>
          <a:off x="1524000" y="2042160"/>
          <a:ext cx="5319392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const listener = (event)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const length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event.currentTarget.value.length</a:t>
                      </a:r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h1.textContent = `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글자 수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${length}`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}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const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const h1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('h1’)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listener)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&lt;/script&gt;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 smtClean="0"/>
              <a:t>(09)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A1B5420-E77A-467F-AEDE-DE1E12FC5D2A}"/>
              </a:ext>
            </a:extLst>
          </p:cNvPr>
          <p:cNvSpPr txBox="1"/>
          <p:nvPr/>
        </p:nvSpPr>
        <p:spPr>
          <a:xfrm>
            <a:off x="6711577" y="2532715"/>
            <a:ext cx="34364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kern="1200" baseline="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event.currentTarget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가 </a:t>
            </a:r>
            <a:r>
              <a:rPr lang="en-US" altLang="ko-KR" sz="1400" b="0" i="0" u="none" strike="noStrike" kern="1200" baseline="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textarea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가 됨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F4212F6E-3BC8-4BA4-9196-EB2FE096F827}"/>
              </a:ext>
            </a:extLst>
          </p:cNvPr>
          <p:cNvCxnSpPr/>
          <p:nvPr/>
        </p:nvCxnSpPr>
        <p:spPr>
          <a:xfrm>
            <a:off x="5862499" y="2686604"/>
            <a:ext cx="597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5762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이벤트 발생 객체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문제 해결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914400" lvl="2" indent="0">
              <a:buNone/>
            </a:pPr>
            <a:r>
              <a:rPr lang="en-US" altLang="ko-KR" sz="1400" dirty="0">
                <a:solidFill>
                  <a:srgbClr val="000000"/>
                </a:solidFill>
                <a:latin typeface="+mn-ea"/>
                <a:ea typeface="+mn-ea"/>
              </a:rPr>
              <a:t>2) this </a:t>
            </a:r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키워드를 사용</a:t>
            </a:r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008368"/>
              </p:ext>
            </p:extLst>
          </p:nvPr>
        </p:nvGraphicFramePr>
        <p:xfrm>
          <a:off x="1524000" y="2042160"/>
          <a:ext cx="5319392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9392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const listener = function (event)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const length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this.value.length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h1.textContent = `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글자 수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${length}`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} 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const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’)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const h1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('h1’)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listener)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&lt;/script&gt;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</a:t>
            </a:r>
            <a:r>
              <a:rPr lang="en-US" altLang="ko-KR" sz="2400" dirty="0" smtClean="0"/>
              <a:t>10)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A1B5420-E77A-467F-AEDE-DE1E12FC5D2A}"/>
              </a:ext>
            </a:extLst>
          </p:cNvPr>
          <p:cNvSpPr txBox="1"/>
          <p:nvPr/>
        </p:nvSpPr>
        <p:spPr>
          <a:xfrm>
            <a:off x="6096000" y="2540359"/>
            <a:ext cx="51883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가 </a:t>
            </a:r>
            <a:r>
              <a:rPr lang="en-US" altLang="ko-KR" sz="1400" b="0" i="0" u="none" strike="noStrike" kern="1200" baseline="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textarea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가 됨</a:t>
            </a:r>
            <a:endParaRPr lang="en-US" altLang="ko-KR" sz="1400" b="0" i="0" u="none" strike="noStrike" kern="1200" baseline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F4212F6E-3BC8-4BA4-9196-EB2FE096F827}"/>
              </a:ext>
            </a:extLst>
          </p:cNvPr>
          <p:cNvCxnSpPr/>
          <p:nvPr/>
        </p:nvCxnSpPr>
        <p:spPr>
          <a:xfrm>
            <a:off x="5239483" y="2714298"/>
            <a:ext cx="597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6951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글자 입력 양식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입력 양식을 기반으로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inch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를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cm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단위로 변환하는 프로그램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7-2-4.html)</a:t>
            </a:r>
          </a:p>
          <a:p>
            <a:pPr marL="457200" lvl="1" indent="0">
              <a:buNone/>
            </a:pPr>
            <a:endParaRPr lang="en-US" altLang="ko-KR" sz="1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172933"/>
              </p:ext>
            </p:extLst>
          </p:nvPr>
        </p:nvGraphicFramePr>
        <p:xfrm>
          <a:off x="1524000" y="1623060"/>
          <a:ext cx="4572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const input =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('input')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const button =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('button') </a:t>
                      </a:r>
                    </a:p>
                    <a:p>
                      <a:r>
                        <a:rPr lang="pt-BR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    const p = document.querySelector('p')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button.addEventListener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('click', () =&gt; {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  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입력을 숫자로 변환합니다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      const inch = Number(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input.value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    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숫자가 아니라면 바로 리턴합니다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  if (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isNaN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(inch)) {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 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p.textContent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'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숫자를 입력해주세요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      return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</a:t>
                      </a:r>
                      <a:r>
                        <a:rPr lang="en-US" altLang="ko-KR" sz="12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} </a:t>
                      </a:r>
                      <a:endParaRPr lang="en-US" altLang="ko-KR" sz="12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    </a:t>
                      </a:r>
                      <a:r>
                        <a:rPr lang="en-US" altLang="ko-KR" sz="12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2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변환해서 출력합니다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  </a:t>
                      </a:r>
                      <a:r>
                        <a:rPr lang="en-US" altLang="ko-KR" sz="12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2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const</a:t>
                      </a:r>
                      <a:r>
                        <a:rPr lang="en-US" altLang="ko-KR" sz="12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cm = inch * 2.54 </a:t>
                      </a:r>
                    </a:p>
                    <a:p>
                      <a:r>
                        <a:rPr lang="fr-FR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    </a:t>
                      </a:r>
                      <a:r>
                        <a:rPr lang="fr-FR" altLang="ko-KR" sz="12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p.textContent </a:t>
                      </a:r>
                      <a:r>
                        <a:rPr lang="fr-FR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`${cm} cm`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    })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   })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&lt;/script&gt;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&lt;body&gt;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  &lt;input type="text"&gt; inch&lt;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  &lt;button&gt;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계산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&lt;/button&gt;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   &lt;p&gt;&lt;/p&gt;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&lt;/body&gt; </a:t>
                      </a:r>
                      <a:endParaRPr lang="en-US" altLang="ko-KR" sz="11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(11)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4F53941-8014-481C-B334-149776DACEA7}"/>
              </a:ext>
            </a:extLst>
          </p:cNvPr>
          <p:cNvSpPr txBox="1"/>
          <p:nvPr/>
        </p:nvSpPr>
        <p:spPr>
          <a:xfrm>
            <a:off x="5521569" y="3590069"/>
            <a:ext cx="29813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조기 리턴 부분</a:t>
            </a:r>
            <a:endParaRPr lang="en-US" altLang="ko-KR" sz="1400" b="0" i="0" u="none" strike="noStrike" kern="1200" baseline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4F3FF405-4EF4-44BB-92F4-3765A238DDA4}"/>
              </a:ext>
            </a:extLst>
          </p:cNvPr>
          <p:cNvCxnSpPr/>
          <p:nvPr/>
        </p:nvCxnSpPr>
        <p:spPr>
          <a:xfrm>
            <a:off x="4923692" y="3716338"/>
            <a:ext cx="597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ight Bracket 2">
            <a:extLst>
              <a:ext uri="{FF2B5EF4-FFF2-40B4-BE49-F238E27FC236}">
                <a16:creationId xmlns="" xmlns:a16="http://schemas.microsoft.com/office/drawing/2014/main" id="{2DEF227A-5BC4-4828-BE62-56C4093ED24E}"/>
              </a:ext>
            </a:extLst>
          </p:cNvPr>
          <p:cNvSpPr/>
          <p:nvPr/>
        </p:nvSpPr>
        <p:spPr>
          <a:xfrm>
            <a:off x="4794738" y="3317631"/>
            <a:ext cx="128954" cy="795582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95079A7-00C4-4B84-A6DB-C0024482C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290" y="2889250"/>
            <a:ext cx="3349259" cy="316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261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글자 입력 양식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인터넷에서 특정 사이트에 가입할 때 이메일과 전화번호 유효성 등을 검사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일반적으로 이런 유효성 검사를 할 때에 는 정규 표현식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regular expression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을 사용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이메일 형식 확인하기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7-2-5.html)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914957"/>
              </p:ext>
            </p:extLst>
          </p:nvPr>
        </p:nvGraphicFramePr>
        <p:xfrm>
          <a:off x="1312984" y="2306100"/>
          <a:ext cx="579901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99015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const input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('input') </a:t>
                      </a:r>
                    </a:p>
                    <a:p>
                      <a:r>
                        <a:rPr lang="pt-BR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const p = document.querySelector('p')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    const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isEmail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(value) =&gt; {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       //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골뱅이를 갖고 있고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&amp;&amp; 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골뱅이 뒤에 점이 있다면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 return 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value.indexOf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('@') &gt; 1)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   &amp;&amp; 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value.split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('@')[1].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indexOf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('.') &gt; 1)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    }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(event) =&gt; {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  const value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event.currentTarget.value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      if 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isEmail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(value)) {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p.style.color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'green'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 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p.textContent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`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이메일 형식입니다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${value}`</a:t>
                      </a:r>
                    </a:p>
                    <a:p>
                      <a:endParaRPr lang="en-US" altLang="ko-KR" sz="12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(12)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4F53941-8014-481C-B334-149776DACEA7}"/>
              </a:ext>
            </a:extLst>
          </p:cNvPr>
          <p:cNvSpPr txBox="1"/>
          <p:nvPr/>
        </p:nvSpPr>
        <p:spPr>
          <a:xfrm>
            <a:off x="7404029" y="3798133"/>
            <a:ext cx="29813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이메일인지 검사하는 함수</a:t>
            </a:r>
            <a:endParaRPr lang="en-US" altLang="ko-KR" sz="1400" b="0" i="0" u="none" strike="noStrike" kern="1200" baseline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4F3FF405-4EF4-44BB-92F4-3765A238DDA4}"/>
              </a:ext>
            </a:extLst>
          </p:cNvPr>
          <p:cNvCxnSpPr/>
          <p:nvPr/>
        </p:nvCxnSpPr>
        <p:spPr>
          <a:xfrm>
            <a:off x="6806152" y="3924402"/>
            <a:ext cx="597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68B4E45D-9AAF-493C-ADFF-401ABB152E7A}"/>
              </a:ext>
            </a:extLst>
          </p:cNvPr>
          <p:cNvSpPr txBox="1"/>
          <p:nvPr/>
        </p:nvSpPr>
        <p:spPr>
          <a:xfrm>
            <a:off x="5287324" y="6094999"/>
            <a:ext cx="28776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▶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다음 쪽에 코드 이어짐</a:t>
            </a:r>
          </a:p>
        </p:txBody>
      </p:sp>
      <p:sp>
        <p:nvSpPr>
          <p:cNvPr id="5" name="Right Bracket 4">
            <a:extLst>
              <a:ext uri="{FF2B5EF4-FFF2-40B4-BE49-F238E27FC236}">
                <a16:creationId xmlns="" xmlns:a16="http://schemas.microsoft.com/office/drawing/2014/main" id="{D4AF81A8-60BC-4AEE-A433-14DBFA8F6572}"/>
              </a:ext>
            </a:extLst>
          </p:cNvPr>
          <p:cNvSpPr/>
          <p:nvPr/>
        </p:nvSpPr>
        <p:spPr>
          <a:xfrm>
            <a:off x="6350000" y="3441700"/>
            <a:ext cx="444500" cy="1014413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8356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글자 입력 양식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인터넷에서 특정 사이트에 가입할 때 이메일과 전화번호 유효성 등을 검사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이메일 형식 확인하기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7-2-5.html)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930416"/>
              </p:ext>
            </p:extLst>
          </p:nvPr>
        </p:nvGraphicFramePr>
        <p:xfrm>
          <a:off x="1524000" y="2042160"/>
          <a:ext cx="5702300" cy="308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3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3088640">
                <a:tc>
                  <a:txBody>
                    <a:bodyPr/>
                    <a:lstStyle/>
                    <a:p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    } else { </a:t>
                      </a:r>
                    </a:p>
                    <a:p>
                      <a:r>
                        <a:rPr lang="es-E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       </a:t>
                      </a:r>
                      <a:r>
                        <a:rPr lang="es-E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p.style.color</a:t>
                      </a:r>
                      <a:r>
                        <a:rPr lang="es-E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'red'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p.textContent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`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이메일 형식이 아닙니다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${value}`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       }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    })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  })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&lt;/script&gt;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&lt;body&gt; 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   &lt;input type="text"&gt; </a:t>
                      </a:r>
                    </a:p>
                    <a:p>
                      <a:pPr marL="342900" indent="-342900">
                        <a:buAutoNum type="arabicPlain" startAt="25"/>
                      </a:pP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&lt;p&gt;&lt;/p&gt; </a:t>
                      </a:r>
                    </a:p>
                    <a:p>
                      <a:pPr marL="228600" indent="-228600">
                        <a:buAutoNum type="arabicPlain" startAt="25"/>
                      </a:pP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(13)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39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B81B9570-8CE4-4930-B86B-424375765EB9}"/>
              </a:ext>
            </a:extLst>
          </p:cNvPr>
          <p:cNvSpPr txBox="1"/>
          <p:nvPr/>
        </p:nvSpPr>
        <p:spPr>
          <a:xfrm>
            <a:off x="1382753" y="1903660"/>
            <a:ext cx="17355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◀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앞쪽에 이어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D3026A7-D17A-48EE-9FB9-66815FAD7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385" y="3405260"/>
            <a:ext cx="4784725" cy="263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577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글자 입력 양식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드롭다운 목록 활용하기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: select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태그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기본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select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태그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7-2-6.html)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477379"/>
              </p:ext>
            </p:extLst>
          </p:nvPr>
        </p:nvGraphicFramePr>
        <p:xfrm>
          <a:off x="1524000" y="1928193"/>
          <a:ext cx="57023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3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3088640">
                <a:tc>
                  <a:txBody>
                    <a:bodyPr/>
                    <a:lstStyle/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const select =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('select') </a:t>
                      </a:r>
                    </a:p>
                    <a:p>
                      <a:r>
                        <a:rPr lang="pt-BR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const p = document.querySelector('p')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    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select.addEventListener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('change', (event) =&gt; {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  const options =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event.currentTarget.options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  const index =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event.currentTarget.options.selectedIndex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   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p.textContent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`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${options[index].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textContent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}`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})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})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&lt;/script&gt;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&lt;body&gt;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  &lt;select&gt;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  &lt;option&gt;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떡볶이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&lt;/option&gt;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    &lt;option&gt;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순대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&lt;/option&gt;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    &lt;option&gt;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오뎅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&lt;/option&gt;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     &lt;option&gt;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튀김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&lt;/option&gt;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  &lt;/select&gt;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  &lt;p&gt;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떡볶이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&lt;/p&gt;</a:t>
                      </a:r>
                      <a:endParaRPr lang="ko-KR" altLang="en-US" sz="13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&lt;/body&gt;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(14)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40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374D5EE-C950-45D0-8815-A6CCEF32813B}"/>
              </a:ext>
            </a:extLst>
          </p:cNvPr>
          <p:cNvSpPr txBox="1"/>
          <p:nvPr/>
        </p:nvSpPr>
        <p:spPr>
          <a:xfrm>
            <a:off x="5576888" y="4008536"/>
            <a:ext cx="2533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선택한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option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태그를 추출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6475541-A576-4775-A7F9-2C9972116555}"/>
              </a:ext>
            </a:extLst>
          </p:cNvPr>
          <p:cNvSpPr txBox="1"/>
          <p:nvPr/>
        </p:nvSpPr>
        <p:spPr>
          <a:xfrm>
            <a:off x="3800475" y="5889104"/>
            <a:ext cx="4591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처음에 떡볶이가 선택되어 있도록 초깃값을 지정 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="" xmlns:a16="http://schemas.microsoft.com/office/drawing/2014/main" id="{90696C0C-8DA0-4C0D-B009-865162D5B7B0}"/>
              </a:ext>
            </a:extLst>
          </p:cNvPr>
          <p:cNvCxnSpPr/>
          <p:nvPr/>
        </p:nvCxnSpPr>
        <p:spPr>
          <a:xfrm>
            <a:off x="3714750" y="3981450"/>
            <a:ext cx="9620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="" xmlns:a16="http://schemas.microsoft.com/office/drawing/2014/main" id="{80289367-182D-4196-B8E2-9FA2F98351BF}"/>
              </a:ext>
            </a:extLst>
          </p:cNvPr>
          <p:cNvSpPr/>
          <p:nvPr/>
        </p:nvSpPr>
        <p:spPr>
          <a:xfrm>
            <a:off x="4229100" y="3981450"/>
            <a:ext cx="1228725" cy="180975"/>
          </a:xfrm>
          <a:custGeom>
            <a:avLst/>
            <a:gdLst>
              <a:gd name="connsiteX0" fmla="*/ 0 w 1228725"/>
              <a:gd name="connsiteY0" fmla="*/ 0 h 180975"/>
              <a:gd name="connsiteX1" fmla="*/ 0 w 1228725"/>
              <a:gd name="connsiteY1" fmla="*/ 180975 h 180975"/>
              <a:gd name="connsiteX2" fmla="*/ 1228725 w 1228725"/>
              <a:gd name="connsiteY2" fmla="*/ 180975 h 180975"/>
              <a:gd name="connsiteX3" fmla="*/ 1228725 w 1228725"/>
              <a:gd name="connsiteY3" fmla="*/ 180975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725" h="180975">
                <a:moveTo>
                  <a:pt x="0" y="0"/>
                </a:moveTo>
                <a:lnTo>
                  <a:pt x="0" y="180975"/>
                </a:lnTo>
                <a:lnTo>
                  <a:pt x="1228725" y="180975"/>
                </a:lnTo>
                <a:lnTo>
                  <a:pt x="1228725" y="180975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FCB8763F-B98F-4324-8331-C8ACDDCC7E9C}"/>
              </a:ext>
            </a:extLst>
          </p:cNvPr>
          <p:cNvCxnSpPr/>
          <p:nvPr/>
        </p:nvCxnSpPr>
        <p:spPr>
          <a:xfrm>
            <a:off x="3514725" y="6034708"/>
            <a:ext cx="200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77F1D619-65AF-4BB4-9218-FCB6D1C35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1" y="4066317"/>
            <a:ext cx="2402864" cy="191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78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글자 입력 양식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multiple select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태그 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7-2-7.html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39693"/>
              </p:ext>
            </p:extLst>
          </p:nvPr>
        </p:nvGraphicFramePr>
        <p:xfrm>
          <a:off x="1507158" y="1592912"/>
          <a:ext cx="5702300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3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308864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const select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('select')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const p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('p')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select.addEventListener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('change', (event)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  const options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event.currentTarget.options</a:t>
                      </a:r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  const list = []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      for (const option of options)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      if 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option.selected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list.push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option.textContent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    }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      }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p.textContent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`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${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list.join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(',')}`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 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&lt;/script&gt;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(15)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41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374D5EE-C950-45D0-8815-A6CCEF32813B}"/>
              </a:ext>
            </a:extLst>
          </p:cNvPr>
          <p:cNvSpPr txBox="1"/>
          <p:nvPr/>
        </p:nvSpPr>
        <p:spPr>
          <a:xfrm>
            <a:off x="6016414" y="3449662"/>
            <a:ext cx="36490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options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속성에는 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PCSJUS+RixVeryGoodPM"/>
              </a:rPr>
              <a:t>forEach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()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메소드가 없음</a:t>
            </a:r>
            <a:endParaRPr lang="en-US" altLang="ko-KR" sz="1400" b="0" i="0" u="none" strike="noStrike" baseline="0" dirty="0">
              <a:solidFill>
                <a:srgbClr val="FF0000"/>
              </a:solidFill>
              <a:latin typeface="PCSJUS+RixVeryGoodPM"/>
            </a:endParaRPr>
          </a:p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따라서 이렇게 반복문으로 돌려야 함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B32334C-2C96-41CF-90C3-31C85E85C1EE}"/>
              </a:ext>
            </a:extLst>
          </p:cNvPr>
          <p:cNvSpPr txBox="1"/>
          <p:nvPr/>
        </p:nvSpPr>
        <p:spPr>
          <a:xfrm>
            <a:off x="5351927" y="5686611"/>
            <a:ext cx="28776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▶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다음 쪽에 코드 이어짐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9534D6F5-6CC9-4C72-855B-324E7AF05222}"/>
              </a:ext>
            </a:extLst>
          </p:cNvPr>
          <p:cNvSpPr txBox="1"/>
          <p:nvPr/>
        </p:nvSpPr>
        <p:spPr>
          <a:xfrm>
            <a:off x="6038850" y="4057684"/>
            <a:ext cx="2533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selected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속성을 확인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2DDFF41E-9AA5-4739-9A49-2DDB1E223C80}"/>
              </a:ext>
            </a:extLst>
          </p:cNvPr>
          <p:cNvCxnSpPr/>
          <p:nvPr/>
        </p:nvCxnSpPr>
        <p:spPr>
          <a:xfrm>
            <a:off x="5162550" y="3716338"/>
            <a:ext cx="657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ight Bracket 5">
            <a:extLst>
              <a:ext uri="{FF2B5EF4-FFF2-40B4-BE49-F238E27FC236}">
                <a16:creationId xmlns="" xmlns:a16="http://schemas.microsoft.com/office/drawing/2014/main" id="{6A885703-90BA-4591-AFEE-75799A9CE981}"/>
              </a:ext>
            </a:extLst>
          </p:cNvPr>
          <p:cNvSpPr/>
          <p:nvPr/>
        </p:nvSpPr>
        <p:spPr>
          <a:xfrm>
            <a:off x="4943475" y="3932197"/>
            <a:ext cx="219075" cy="562044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="" xmlns:a16="http://schemas.microsoft.com/office/drawing/2014/main" id="{A0C934A9-7268-46B9-95CD-667D06BD15DD}"/>
              </a:ext>
            </a:extLst>
          </p:cNvPr>
          <p:cNvCxnSpPr/>
          <p:nvPr/>
        </p:nvCxnSpPr>
        <p:spPr>
          <a:xfrm>
            <a:off x="5162550" y="4211638"/>
            <a:ext cx="6572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3540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글자 입력 양식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multiple select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태그 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7-2-7.html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610644"/>
              </p:ext>
            </p:extLst>
          </p:nvPr>
        </p:nvGraphicFramePr>
        <p:xfrm>
          <a:off x="1524000" y="1721866"/>
          <a:ext cx="5702300" cy="25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3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&lt;body&gt;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   &lt;select multiple&gt;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    &lt;option&gt;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떡볶이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&lt;/option&gt;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    &lt;option&gt;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순대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&lt;/option&gt;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    &lt;option&gt;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오뎅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&lt;/option&gt;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    &lt;option&gt;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튀김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&lt;/option&gt;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   &lt;/select&gt;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  &lt;p&gt;&lt;/p&gt;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(16)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42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1D95DE0E-204A-47F5-8681-DA749EC77392}"/>
              </a:ext>
            </a:extLst>
          </p:cNvPr>
          <p:cNvSpPr txBox="1"/>
          <p:nvPr/>
        </p:nvSpPr>
        <p:spPr>
          <a:xfrm>
            <a:off x="1138755" y="1587536"/>
            <a:ext cx="17355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◀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앞쪽에 이어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95A0C08-70B9-4C3A-B9EE-08D16B1EA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1790540"/>
            <a:ext cx="2802182" cy="243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844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글자 입력 양식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cm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단위를 여러 단위로 변환하는 프로그램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7-2-8.html)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072181"/>
              </p:ext>
            </p:extLst>
          </p:nvPr>
        </p:nvGraphicFramePr>
        <p:xfrm>
          <a:off x="1524000" y="1604301"/>
          <a:ext cx="5702300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3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let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현재값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let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변환상수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10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     const select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('select')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const input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('input')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const span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('span')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  const calculate = () =&gt; {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span.textContent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(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현재값 * 변환상수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toFixed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}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select.addEventListener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('change', (event) =&gt; {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      const options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event.currentTarget.options</a:t>
                      </a:r>
                      <a:endParaRPr lang="en-US" altLang="ko-KR" sz="14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    const index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event.currentTarget.options.selectedIndex</a:t>
                      </a:r>
                      <a:endParaRPr lang="en-US" altLang="ko-KR" sz="14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     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변환상수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Number(options[index].value)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      calculate()</a:t>
                      </a:r>
                    </a:p>
                    <a:p>
                      <a:pPr marL="342900" indent="-342900">
                        <a:buAutoNum type="arabicPlain" startAt="19"/>
                      </a:pP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})</a:t>
                      </a:r>
                    </a:p>
                    <a:p>
                      <a:pPr marL="342900" indent="-342900">
                        <a:buAutoNum type="arabicPlain" startAt="19"/>
                      </a:pPr>
                      <a:endParaRPr lang="en-US" altLang="ko-KR" sz="14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(17)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43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2A50F83D-EC31-452E-A72F-D26AE0666D26}"/>
              </a:ext>
            </a:extLst>
          </p:cNvPr>
          <p:cNvSpPr txBox="1"/>
          <p:nvPr/>
        </p:nvSpPr>
        <p:spPr>
          <a:xfrm>
            <a:off x="6277464" y="4053010"/>
            <a:ext cx="4390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소수점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2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번째 자리까지 출력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43B71B9-1E2B-4894-A101-9691C9371805}"/>
              </a:ext>
            </a:extLst>
          </p:cNvPr>
          <p:cNvSpPr txBox="1"/>
          <p:nvPr/>
        </p:nvSpPr>
        <p:spPr>
          <a:xfrm>
            <a:off x="6277465" y="5032983"/>
            <a:ext cx="43905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항목을 선택하면 항목의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value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속성을 추출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8AA20335-3E65-44C7-8C9D-4F360C594A2B}"/>
              </a:ext>
            </a:extLst>
          </p:cNvPr>
          <p:cNvSpPr txBox="1"/>
          <p:nvPr/>
        </p:nvSpPr>
        <p:spPr>
          <a:xfrm>
            <a:off x="5595057" y="5819920"/>
            <a:ext cx="28776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▶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다음 쪽에 코드 이어짐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6575D7AA-549E-4665-AE3F-FE477A76153C}"/>
              </a:ext>
            </a:extLst>
          </p:cNvPr>
          <p:cNvCxnSpPr/>
          <p:nvPr/>
        </p:nvCxnSpPr>
        <p:spPr>
          <a:xfrm>
            <a:off x="5392615" y="5183361"/>
            <a:ext cx="7349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9EE1F487-8CA0-4515-8ABB-93633A77EB92}"/>
              </a:ext>
            </a:extLst>
          </p:cNvPr>
          <p:cNvCxnSpPr/>
          <p:nvPr/>
        </p:nvCxnSpPr>
        <p:spPr>
          <a:xfrm>
            <a:off x="3575538" y="4007705"/>
            <a:ext cx="218454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="" xmlns:a16="http://schemas.microsoft.com/office/drawing/2014/main" id="{1837840D-0A94-471E-B472-2BF297431EFF}"/>
              </a:ext>
            </a:extLst>
          </p:cNvPr>
          <p:cNvSpPr/>
          <p:nvPr/>
        </p:nvSpPr>
        <p:spPr>
          <a:xfrm>
            <a:off x="4595446" y="4021015"/>
            <a:ext cx="1617785" cy="175847"/>
          </a:xfrm>
          <a:custGeom>
            <a:avLst/>
            <a:gdLst>
              <a:gd name="connsiteX0" fmla="*/ 0 w 1617785"/>
              <a:gd name="connsiteY0" fmla="*/ 0 h 175847"/>
              <a:gd name="connsiteX1" fmla="*/ 0 w 1617785"/>
              <a:gd name="connsiteY1" fmla="*/ 175847 h 175847"/>
              <a:gd name="connsiteX2" fmla="*/ 1617785 w 1617785"/>
              <a:gd name="connsiteY2" fmla="*/ 175847 h 175847"/>
              <a:gd name="connsiteX3" fmla="*/ 1617785 w 1617785"/>
              <a:gd name="connsiteY3" fmla="*/ 175847 h 175847"/>
              <a:gd name="connsiteX4" fmla="*/ 1617785 w 1617785"/>
              <a:gd name="connsiteY4" fmla="*/ 175847 h 175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17785" h="175847">
                <a:moveTo>
                  <a:pt x="0" y="0"/>
                </a:moveTo>
                <a:lnTo>
                  <a:pt x="0" y="175847"/>
                </a:lnTo>
                <a:lnTo>
                  <a:pt x="1617785" y="175847"/>
                </a:lnTo>
                <a:lnTo>
                  <a:pt x="1617785" y="175847"/>
                </a:lnTo>
                <a:lnTo>
                  <a:pt x="1617785" y="175847"/>
                </a:lnTo>
              </a:path>
            </a:pathLst>
          </a:custGeom>
          <a:ln>
            <a:headEnd type="arrow" w="med" len="med"/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5145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글자 입력 양식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cm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단위를 여러 단위로 변환하는 프로그램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7-2-8.html)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257741"/>
              </p:ext>
            </p:extLst>
          </p:nvPr>
        </p:nvGraphicFramePr>
        <p:xfrm>
          <a:off x="1524000" y="1771941"/>
          <a:ext cx="5702300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23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endParaRPr lang="en-US" altLang="ko-KR" sz="14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input.addEventListener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(event) =&gt; {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     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현재값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 Number(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event.currentTarget.value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      calculate()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    })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  })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 &lt;/script&gt;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 &lt;body&gt;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   &lt;input type="text"&gt; cm =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   &lt;span&gt;&lt;/span&gt;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   &lt;select&gt;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     &lt;option value="10"&gt;mm&lt;/option&gt;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     &lt;option value="0.01"&gt;m&lt;/option&gt;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     &lt;option value="0.393701"&gt;inch&lt;/option&gt;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   &lt;/select&gt;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(18)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44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397376A9-9740-4C2F-8094-11083F1E3AE6}"/>
              </a:ext>
            </a:extLst>
          </p:cNvPr>
          <p:cNvSpPr txBox="1"/>
          <p:nvPr/>
        </p:nvSpPr>
        <p:spPr>
          <a:xfrm>
            <a:off x="1333553" y="1633441"/>
            <a:ext cx="17355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◀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앞쪽에 이어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C53FEA30-24E6-443A-9CE5-7F9A12091449}"/>
              </a:ext>
            </a:extLst>
          </p:cNvPr>
          <p:cNvSpPr txBox="1"/>
          <p:nvPr/>
        </p:nvSpPr>
        <p:spPr>
          <a:xfrm>
            <a:off x="5967047" y="2422276"/>
            <a:ext cx="316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값을 입력하면 현재 값을 추출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C4D51455-22A8-440D-B660-488FBB5938CA}"/>
              </a:ext>
            </a:extLst>
          </p:cNvPr>
          <p:cNvCxnSpPr/>
          <p:nvPr/>
        </p:nvCxnSpPr>
        <p:spPr>
          <a:xfrm>
            <a:off x="5462954" y="2567354"/>
            <a:ext cx="4293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587C4E8-CB9D-4501-AF4F-A45D0D817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965" y="3474137"/>
            <a:ext cx="4417035" cy="186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66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글자 입력 양식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체크 박스 활용하기 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7-2-9.html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22880"/>
              </p:ext>
            </p:extLst>
          </p:nvPr>
        </p:nvGraphicFramePr>
        <p:xfrm>
          <a:off x="1524000" y="1569720"/>
          <a:ext cx="4572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let [timer,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timerId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= [0, 0]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const h1 =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('h1')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    const checkbox =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('input')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checkbox.addEventListener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('change', (event) =&gt; {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  if (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event.currentTarget.checked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{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        // 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체크 상태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     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timerId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setInterval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(() =&gt; {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      timer += 1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      h1.textContent = `${timer}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초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        }, 1000)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  } else {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       // 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체크 해제 상태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    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clearInterval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timerId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      }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    })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   })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&lt;/script&gt;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&lt;body&gt;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  &lt;input type="checkbox"&gt;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  &lt;span&gt;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타이머 활성화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&lt;/span&gt;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   &lt;h1&gt;&lt;/h1&gt;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(19)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45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C53FEA30-24E6-443A-9CE5-7F9A12091449}"/>
              </a:ext>
            </a:extLst>
          </p:cNvPr>
          <p:cNvSpPr txBox="1"/>
          <p:nvPr/>
        </p:nvSpPr>
        <p:spPr>
          <a:xfrm>
            <a:off x="4815840" y="3031271"/>
            <a:ext cx="316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checked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속성을 사용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A98B3C6E-8E6C-4A6A-97DF-E960E988F638}"/>
              </a:ext>
            </a:extLst>
          </p:cNvPr>
          <p:cNvCxnSpPr/>
          <p:nvPr/>
        </p:nvCxnSpPr>
        <p:spPr>
          <a:xfrm>
            <a:off x="2171700" y="3070860"/>
            <a:ext cx="1828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="" xmlns:a16="http://schemas.microsoft.com/office/drawing/2014/main" id="{E8577B93-22CB-4866-8A98-8BD516C52647}"/>
              </a:ext>
            </a:extLst>
          </p:cNvPr>
          <p:cNvSpPr/>
          <p:nvPr/>
        </p:nvSpPr>
        <p:spPr>
          <a:xfrm>
            <a:off x="3345180" y="3063240"/>
            <a:ext cx="1470660" cy="121920"/>
          </a:xfrm>
          <a:custGeom>
            <a:avLst/>
            <a:gdLst>
              <a:gd name="connsiteX0" fmla="*/ 0 w 1470660"/>
              <a:gd name="connsiteY0" fmla="*/ 0 h 121920"/>
              <a:gd name="connsiteX1" fmla="*/ 0 w 1470660"/>
              <a:gd name="connsiteY1" fmla="*/ 121920 h 121920"/>
              <a:gd name="connsiteX2" fmla="*/ 1470660 w 1470660"/>
              <a:gd name="connsiteY2" fmla="*/ 121920 h 121920"/>
              <a:gd name="connsiteX3" fmla="*/ 1463040 w 1470660"/>
              <a:gd name="connsiteY3" fmla="*/ 91440 h 121920"/>
              <a:gd name="connsiteX4" fmla="*/ 1463040 w 1470660"/>
              <a:gd name="connsiteY4" fmla="*/ 91440 h 121920"/>
              <a:gd name="connsiteX0" fmla="*/ 0 w 1470660"/>
              <a:gd name="connsiteY0" fmla="*/ 0 h 121920"/>
              <a:gd name="connsiteX1" fmla="*/ 0 w 1470660"/>
              <a:gd name="connsiteY1" fmla="*/ 121920 h 121920"/>
              <a:gd name="connsiteX2" fmla="*/ 1470660 w 1470660"/>
              <a:gd name="connsiteY2" fmla="*/ 121920 h 121920"/>
              <a:gd name="connsiteX3" fmla="*/ 1463040 w 1470660"/>
              <a:gd name="connsiteY3" fmla="*/ 91440 h 121920"/>
              <a:gd name="connsiteX0" fmla="*/ 0 w 1470660"/>
              <a:gd name="connsiteY0" fmla="*/ 0 h 121920"/>
              <a:gd name="connsiteX1" fmla="*/ 0 w 1470660"/>
              <a:gd name="connsiteY1" fmla="*/ 121920 h 121920"/>
              <a:gd name="connsiteX2" fmla="*/ 1470660 w 1470660"/>
              <a:gd name="connsiteY2" fmla="*/ 121920 h 12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0660" h="121920">
                <a:moveTo>
                  <a:pt x="0" y="0"/>
                </a:moveTo>
                <a:lnTo>
                  <a:pt x="0" y="121920"/>
                </a:lnTo>
                <a:lnTo>
                  <a:pt x="1470660" y="121920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DB936FCF-EFDA-4091-9DEC-2729C035B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26" y="3887291"/>
            <a:ext cx="2484120" cy="183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335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글자 입력 양식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라디오 버튼 사용해보기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소스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코드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7-2-10.html)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108794"/>
              </p:ext>
            </p:extLst>
          </p:nvPr>
        </p:nvGraphicFramePr>
        <p:xfrm>
          <a:off x="1555541" y="1604860"/>
          <a:ext cx="6550234" cy="409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234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문서 객체 추출하기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const output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('#output')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    const radios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document.querySelectorAll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('[name=pet]')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모든 라디오 버튼에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radios.forEach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((radio) =&gt; {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 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이벤트 연결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radio.addEventListener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('change', (event) =&gt; {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    const current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    if (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current.checked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{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   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output.textContent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`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좋아하는 애완동물은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${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current.value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이시군요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!`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    }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      })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  })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  })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&lt;/script&gt; </a:t>
                      </a:r>
                    </a:p>
                    <a:p>
                      <a:endParaRPr lang="en-US" altLang="ko-KR" sz="11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(20)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46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E1E023FE-9532-4DC6-98BE-AD613EE939D0}"/>
              </a:ext>
            </a:extLst>
          </p:cNvPr>
          <p:cNvSpPr txBox="1"/>
          <p:nvPr/>
        </p:nvSpPr>
        <p:spPr>
          <a:xfrm>
            <a:off x="6348413" y="5561399"/>
            <a:ext cx="28776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▶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다음 쪽에 코드 이어짐</a:t>
            </a:r>
          </a:p>
        </p:txBody>
      </p:sp>
    </p:spTree>
    <p:extLst>
      <p:ext uri="{BB962C8B-B14F-4D97-AF65-F5344CB8AC3E}">
        <p14:creationId xmlns:p14="http://schemas.microsoft.com/office/powerpoint/2010/main" val="10908513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글자 입력 양식 이벤트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라디오 버튼 사용해보기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소스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코드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7-2-10.html)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465866"/>
              </p:ext>
            </p:extLst>
          </p:nvPr>
        </p:nvGraphicFramePr>
        <p:xfrm>
          <a:off x="1555541" y="1686921"/>
          <a:ext cx="4962490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249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endParaRPr lang="en-US" altLang="ko-KR" sz="14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 &lt;body&gt;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  &lt;h3&gt;#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좋아하는 애완동물을 선택해주세요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&lt;/h3&gt;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  &lt;input type="radio" name="pet" value="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강아지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  &lt;span&gt;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강아지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&lt;/span&gt;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  &lt;input type="radio" name="pet" value="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고양이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   &lt;span&gt;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고양이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&lt;/span&gt;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  &lt;input type="radio" name="pet" value="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햄스터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   &lt;span&gt;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햄스터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&lt;/span&gt;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   &lt;input type="radio" name="pet" value="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   &lt;span&gt;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기타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&lt;/span&gt;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   &lt;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   &lt;h3 id="output"&gt;&lt;/h3&gt;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(21)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00679115-751C-4C8E-B030-97C9372F5540}"/>
              </a:ext>
            </a:extLst>
          </p:cNvPr>
          <p:cNvSpPr txBox="1"/>
          <p:nvPr/>
        </p:nvSpPr>
        <p:spPr>
          <a:xfrm>
            <a:off x="1333553" y="1567957"/>
            <a:ext cx="17355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◀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앞쪽에 이어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A6B9CAC-F690-43F4-BE1F-385002062FB6}"/>
              </a:ext>
            </a:extLst>
          </p:cNvPr>
          <p:cNvSpPr txBox="1"/>
          <p:nvPr/>
        </p:nvSpPr>
        <p:spPr>
          <a:xfrm>
            <a:off x="6610350" y="2807996"/>
            <a:ext cx="45481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라디오 버튼을 하나씩만 선택하려면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name </a:t>
            </a:r>
            <a:r>
              <a:rPr lang="ko-KR" altLang="en-US" sz="1400" dirty="0">
                <a:solidFill>
                  <a:srgbClr val="FF0000"/>
                </a:solidFill>
              </a:rPr>
              <a:t>속성을 동일하게 입력해 그룹으로 만듦</a:t>
            </a:r>
          </a:p>
        </p:txBody>
      </p:sp>
      <p:sp>
        <p:nvSpPr>
          <p:cNvPr id="6" name="Right Bracket 5">
            <a:extLst>
              <a:ext uri="{FF2B5EF4-FFF2-40B4-BE49-F238E27FC236}">
                <a16:creationId xmlns="" xmlns:a16="http://schemas.microsoft.com/office/drawing/2014/main" id="{79E34536-A436-45DF-84DD-0DA266FB5EFB}"/>
              </a:ext>
            </a:extLst>
          </p:cNvPr>
          <p:cNvSpPr/>
          <p:nvPr/>
        </p:nvSpPr>
        <p:spPr>
          <a:xfrm>
            <a:off x="5753100" y="2419350"/>
            <a:ext cx="342900" cy="1419225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2C18C6C-87DE-4B52-A2F1-FDED7DBD1A5E}"/>
              </a:ext>
            </a:extLst>
          </p:cNvPr>
          <p:cNvCxnSpPr/>
          <p:nvPr/>
        </p:nvCxnSpPr>
        <p:spPr>
          <a:xfrm>
            <a:off x="6096000" y="3069606"/>
            <a:ext cx="514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236E1FA8-4437-4F55-A164-AD4CBF5F6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904" y="3905588"/>
            <a:ext cx="3137754" cy="156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8598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기본 이벤트 막기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기본 이벤트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: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어떤 이벤트가 발생했을 때 웹 브라우저가 기본적으로 처리해주는 것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이미지 마우스 오른쪽 버튼 클릭 막기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7-2-11.html)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044630"/>
              </p:ext>
            </p:extLst>
          </p:nvPr>
        </p:nvGraphicFramePr>
        <p:xfrm>
          <a:off x="1524000" y="2021770"/>
          <a:ext cx="5591908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908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const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imgs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document.querySelectorAll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img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imgs.forEach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img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img.addEventListener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contextmenu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(event)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event.preventDefault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 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&lt;/script&gt;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&lt;body&gt;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  &lt;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img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src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="http://placekitten.com/300/300" alt=""&gt;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(22)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48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A6B9CAC-F690-43F4-BE1F-385002062FB6}"/>
              </a:ext>
            </a:extLst>
          </p:cNvPr>
          <p:cNvSpPr txBox="1"/>
          <p:nvPr/>
        </p:nvSpPr>
        <p:spPr>
          <a:xfrm>
            <a:off x="4972783" y="3532435"/>
            <a:ext cx="45481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컨텍스트 메뉴를 출력하는 기본 이벤트를 제거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2C18C6C-87DE-4B52-A2F1-FDED7DBD1A5E}"/>
              </a:ext>
            </a:extLst>
          </p:cNvPr>
          <p:cNvCxnSpPr/>
          <p:nvPr/>
        </p:nvCxnSpPr>
        <p:spPr>
          <a:xfrm>
            <a:off x="4339779" y="3676494"/>
            <a:ext cx="514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1413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기본 이벤트 막기</a:t>
            </a:r>
            <a:endParaRPr lang="en-US" altLang="ko-KR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체크 때만 링크 활성화하기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7-2-12.html)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085057"/>
              </p:ext>
            </p:extLst>
          </p:nvPr>
        </p:nvGraphicFramePr>
        <p:xfrm>
          <a:off x="1524000" y="1572965"/>
          <a:ext cx="559190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908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let status = false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    const checkbox =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('input')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    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checkbox.addEventListener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('change', (event) =&gt; {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  status =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event.currentTarget.checked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})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  const link =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('a')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link.addEventListener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('click', (event) =&gt; {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  if (!status) {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        </a:t>
                      </a:r>
                      <a:r>
                        <a:rPr lang="en-US" altLang="ko-KR" sz="1200" b="0" i="0" u="none" strike="noStrike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event.preventDefault</a:t>
                      </a:r>
                      <a:r>
                        <a:rPr lang="en-US" altLang="ko-KR" sz="12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endParaRPr lang="en-US" altLang="ko-KR" sz="12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  }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    })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})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&lt;/script&gt;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&lt;body&gt;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   &lt;input type="checkbox"&gt;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  &lt;span&gt;</a:t>
                      </a:r>
                      <a:r>
                        <a:rPr lang="ko-KR" altLang="en-US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링크 활성화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&lt;/span&gt;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  &lt;</a:t>
                      </a:r>
                      <a:r>
                        <a:rPr lang="en-US" altLang="ko-KR" sz="1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</a:t>
                      </a:r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 </a:t>
                      </a:r>
                    </a:p>
                    <a:p>
                      <a:r>
                        <a:rPr lang="pt-BR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  &lt;a href="http://hanbit.co.kr"&gt;</a:t>
                      </a:r>
                      <a:r>
                        <a:rPr lang="ko-KR" altLang="pt-B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한빛미디어</a:t>
                      </a:r>
                      <a:r>
                        <a:rPr lang="pt-BR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&lt;/a&gt; </a:t>
                      </a:r>
                    </a:p>
                    <a:p>
                      <a:r>
                        <a:rPr lang="en-US" altLang="ko-KR" sz="1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&lt;/body&gt; </a:t>
                      </a:r>
                      <a:endParaRPr lang="en-US" altLang="ko-KR" sz="11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(23)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49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A6B9CAC-F690-43F4-BE1F-385002062FB6}"/>
              </a:ext>
            </a:extLst>
          </p:cNvPr>
          <p:cNvSpPr txBox="1"/>
          <p:nvPr/>
        </p:nvSpPr>
        <p:spPr>
          <a:xfrm>
            <a:off x="5123202" y="2647243"/>
            <a:ext cx="45481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checked 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속성을 사용</a:t>
            </a:r>
            <a:endParaRPr lang="en-US" altLang="ko-KR" sz="1400" b="0" i="0" u="none" strike="noStrike" kern="1200" baseline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="" xmlns:a16="http://schemas.microsoft.com/office/drawing/2014/main" id="{E2C18C6C-87DE-4B52-A2F1-FDED7DBD1A5E}"/>
              </a:ext>
            </a:extLst>
          </p:cNvPr>
          <p:cNvCxnSpPr/>
          <p:nvPr/>
        </p:nvCxnSpPr>
        <p:spPr>
          <a:xfrm>
            <a:off x="4431583" y="2830635"/>
            <a:ext cx="514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002609B-7DE9-418C-AADA-17B22803685C}"/>
              </a:ext>
            </a:extLst>
          </p:cNvPr>
          <p:cNvSpPr txBox="1"/>
          <p:nvPr/>
        </p:nvSpPr>
        <p:spPr>
          <a:xfrm>
            <a:off x="4125317" y="3749092"/>
            <a:ext cx="45481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kern="1200" baseline="0" smtClean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status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가 </a:t>
            </a:r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가 아니면 링크의 기본 이벤트를 제거</a:t>
            </a:r>
            <a:endParaRPr lang="en-US" altLang="ko-KR" sz="1400" b="0" i="0" u="none" strike="noStrike" kern="1200" baseline="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="" xmlns:a16="http://schemas.microsoft.com/office/drawing/2014/main" id="{D376A9A2-8DF1-4F6C-957E-27B2BEBE9967}"/>
              </a:ext>
            </a:extLst>
          </p:cNvPr>
          <p:cNvCxnSpPr/>
          <p:nvPr/>
        </p:nvCxnSpPr>
        <p:spPr>
          <a:xfrm>
            <a:off x="3610967" y="3920881"/>
            <a:ext cx="514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6AEA50C-1A50-48B2-A2BB-ADB72F39C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024" y="4322620"/>
            <a:ext cx="2534898" cy="146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1806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할 일 목록 만들기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누적 예제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]</a:t>
            </a: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할 일 목록 만들기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7-2-13.html)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681039"/>
              </p:ext>
            </p:extLst>
          </p:nvPr>
        </p:nvGraphicFramePr>
        <p:xfrm>
          <a:off x="1524000" y="1572965"/>
          <a:ext cx="5591908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908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&lt;body&gt;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&lt;h1&gt;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할 일 목록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&lt;/h1&gt;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&lt;input id="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todo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"&gt;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&lt;button id="add-button"&gt;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추가하기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&lt;/button&gt;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  &lt;div id="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todo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-list"&gt;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&lt;/div&gt;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&lt;/body&gt;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&lt;script&gt;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문서 객체를 가져옵니다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const input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('#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todo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    const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todoList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('#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todo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-list')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const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addButton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('#add-button')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변수를 선언합니다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    let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keyCount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0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함수를 선언합니다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    const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addTodo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() =&gt; {</a:t>
                      </a:r>
                      <a:endParaRPr lang="en-US" altLang="ko-KR" sz="12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(24)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50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B301BF6-643A-409A-BB2A-324FCC04897A}"/>
              </a:ext>
            </a:extLst>
          </p:cNvPr>
          <p:cNvSpPr txBox="1"/>
          <p:nvPr/>
        </p:nvSpPr>
        <p:spPr>
          <a:xfrm>
            <a:off x="6254628" y="5788584"/>
            <a:ext cx="28776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▶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다음 쪽에 코드 이어짐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61A45149-76E2-4883-8CF5-2411E4141F60}"/>
              </a:ext>
            </a:extLst>
          </p:cNvPr>
          <p:cNvSpPr txBox="1"/>
          <p:nvPr/>
        </p:nvSpPr>
        <p:spPr>
          <a:xfrm>
            <a:off x="5017477" y="4886385"/>
            <a:ext cx="34407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00" algn="just"/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이후에 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PCSJUS+RixVeryGoodPM"/>
              </a:rPr>
              <a:t>removeTodo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()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함수에서 문서 객체를 쉽게 제거하기 위한 용도로 만든 변수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F640C209-A53B-49F8-BDE5-6ADC7119D648}"/>
              </a:ext>
            </a:extLst>
          </p:cNvPr>
          <p:cNvCxnSpPr/>
          <p:nvPr/>
        </p:nvCxnSpPr>
        <p:spPr>
          <a:xfrm>
            <a:off x="3657600" y="5147995"/>
            <a:ext cx="13598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6959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할 일 목록 만들기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누적 예제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]</a:t>
            </a: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할 일 목록 만들기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7-2-13.html)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069857"/>
              </p:ext>
            </p:extLst>
          </p:nvPr>
        </p:nvGraphicFramePr>
        <p:xfrm>
          <a:off x="1524000" y="1676400"/>
          <a:ext cx="5591908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908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endParaRPr lang="en-US" altLang="ko-KR" sz="14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 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입력 양식에 내용이 없으면 추가하지 않습니다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      if (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input.value.trim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() === '') {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        alert('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할 일을 입력해주세요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.')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         return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      }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  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문서 객체를 설정합니다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       const item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document.createElement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('div')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       const checkbox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document.createElement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('input’)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       const text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document.createElement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('span')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       const button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document.createElement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('button')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  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문서 객체를 식별할 키를 생성합니다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       const key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keyCount</a:t>
                      </a:r>
                      <a:endParaRPr lang="en-US" altLang="ko-KR" sz="14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keyCount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+= 1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(25)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51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696CA4A-CA97-497B-92D6-67A1475B6509}"/>
              </a:ext>
            </a:extLst>
          </p:cNvPr>
          <p:cNvSpPr txBox="1"/>
          <p:nvPr/>
        </p:nvSpPr>
        <p:spPr>
          <a:xfrm>
            <a:off x="1439061" y="1569348"/>
            <a:ext cx="17355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◀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앞쪽에 이어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23E8EAC-1E33-4B96-A8B4-9BA7D2E7F5E1}"/>
              </a:ext>
            </a:extLst>
          </p:cNvPr>
          <p:cNvSpPr txBox="1"/>
          <p:nvPr/>
        </p:nvSpPr>
        <p:spPr>
          <a:xfrm>
            <a:off x="4922741" y="4692777"/>
            <a:ext cx="37288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00" algn="just"/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이후에 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PCSJUS+RixVeryGoodPM"/>
              </a:rPr>
              <a:t>removeTodo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()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함수에서 문서 객체를</a:t>
            </a:r>
          </a:p>
          <a:p>
            <a:pPr marR="1000" algn="just"/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쉽게 제거하기 위한 용도로 만든 변수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" name="Right Bracket 2">
            <a:extLst>
              <a:ext uri="{FF2B5EF4-FFF2-40B4-BE49-F238E27FC236}">
                <a16:creationId xmlns="" xmlns:a16="http://schemas.microsoft.com/office/drawing/2014/main" id="{83D6D51C-85B1-4BC3-86B0-86B58ABE5367}"/>
              </a:ext>
            </a:extLst>
          </p:cNvPr>
          <p:cNvSpPr/>
          <p:nvPr/>
        </p:nvSpPr>
        <p:spPr>
          <a:xfrm>
            <a:off x="3798277" y="4818185"/>
            <a:ext cx="492369" cy="257907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D2E9A12F-6E96-47CD-9639-72E7CE6601BC}"/>
              </a:ext>
            </a:extLst>
          </p:cNvPr>
          <p:cNvCxnSpPr/>
          <p:nvPr/>
        </p:nvCxnSpPr>
        <p:spPr>
          <a:xfrm>
            <a:off x="4290646" y="4935416"/>
            <a:ext cx="524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3135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할 일 목록 만들기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누적 예제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]</a:t>
            </a: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할 일 목록 만들기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7-2-13.html)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029323"/>
              </p:ext>
            </p:extLst>
          </p:nvPr>
        </p:nvGraphicFramePr>
        <p:xfrm>
          <a:off x="1524000" y="1572965"/>
          <a:ext cx="5591908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1908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endParaRPr lang="en-US" altLang="ko-KR" sz="14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 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// item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객체를 조작하고 추가합니다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item.setAttribute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('data-key', key)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39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item.appendChild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(checkbox)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item.appendChild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(text)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item.appendChild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(button)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42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todoList.appendChild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(item)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43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  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checkbox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객체를 조작합니다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checkbox.type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'checkbox'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46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checkbox.addEventListener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('change', (event) =&gt; {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47  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item.style.textDecoration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          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event.target.checked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? 'line-through' : ''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       })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51  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text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객체를 조작합니다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fr-FR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       </a:t>
                      </a:r>
                      <a:r>
                        <a:rPr lang="fr-FR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text.textContent</a:t>
                      </a:r>
                      <a:r>
                        <a:rPr lang="fr-FR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fr-FR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input.value</a:t>
                      </a:r>
                      <a:r>
                        <a:rPr lang="fr-FR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53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54       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button 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객체를 조작합니다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button.textContent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'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제거하기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button.addEventListener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('click', () =&gt; {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57       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removeTodo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(key) </a:t>
                      </a:r>
                    </a:p>
                    <a:p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       }) </a:t>
                      </a:r>
                      <a:endParaRPr lang="en-US" altLang="ko-KR" sz="105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(26)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52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696CA4A-CA97-497B-92D6-67A1475B6509}"/>
              </a:ext>
            </a:extLst>
          </p:cNvPr>
          <p:cNvSpPr txBox="1"/>
          <p:nvPr/>
        </p:nvSpPr>
        <p:spPr>
          <a:xfrm>
            <a:off x="1396269" y="1537264"/>
            <a:ext cx="17355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◀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앞쪽에 이어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6C0A5D6-5EC4-4334-A0E4-A9A3E1F2A6D7}"/>
              </a:ext>
            </a:extLst>
          </p:cNvPr>
          <p:cNvSpPr txBox="1"/>
          <p:nvPr/>
        </p:nvSpPr>
        <p:spPr>
          <a:xfrm>
            <a:off x="6236732" y="1750356"/>
            <a:ext cx="232127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00" algn="just"/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&lt;div data-key="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숫자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"&gt;</a:t>
            </a:r>
          </a:p>
          <a:p>
            <a:pPr marR="1000" algn="just"/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    &lt;input&gt;</a:t>
            </a:r>
          </a:p>
          <a:p>
            <a:pPr marR="1000" algn="just"/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    &lt;span&gt;&lt;/span&gt;</a:t>
            </a:r>
          </a:p>
          <a:p>
            <a:pPr marR="1000" algn="just"/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    &lt;button&gt;&lt;/button&gt;</a:t>
            </a:r>
          </a:p>
          <a:p>
            <a:pPr marR="1000" algn="just"/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&lt;/div&gt;</a:t>
            </a:r>
          </a:p>
          <a:p>
            <a:pPr marR="1000" algn="just"/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형태를 구성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" name="Right Bracket 11">
            <a:extLst>
              <a:ext uri="{FF2B5EF4-FFF2-40B4-BE49-F238E27FC236}">
                <a16:creationId xmlns="" xmlns:a16="http://schemas.microsoft.com/office/drawing/2014/main" id="{6409B0F4-8FAD-479E-A176-B8B06301A877}"/>
              </a:ext>
            </a:extLst>
          </p:cNvPr>
          <p:cNvSpPr/>
          <p:nvPr/>
        </p:nvSpPr>
        <p:spPr>
          <a:xfrm>
            <a:off x="5018429" y="1814263"/>
            <a:ext cx="492369" cy="1257183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A2DA8064-ABB8-4919-8CC1-CBF8577AB1A8}"/>
              </a:ext>
            </a:extLst>
          </p:cNvPr>
          <p:cNvCxnSpPr/>
          <p:nvPr/>
        </p:nvCxnSpPr>
        <p:spPr>
          <a:xfrm>
            <a:off x="5510798" y="2388694"/>
            <a:ext cx="524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B95F6860-1F70-412D-AD5B-E7179DC8D182}"/>
              </a:ext>
            </a:extLst>
          </p:cNvPr>
          <p:cNvSpPr txBox="1"/>
          <p:nvPr/>
        </p:nvSpPr>
        <p:spPr>
          <a:xfrm>
            <a:off x="6499009" y="3312742"/>
            <a:ext cx="23212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&lt;input type="checkbox"&gt;</a:t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ko-KR" altLang="en-US" sz="1400" dirty="0">
                <a:solidFill>
                  <a:srgbClr val="FF0000"/>
                </a:solidFill>
              </a:rPr>
              <a:t>형태를 구성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407BDB44-31B8-483D-B9F0-60943F692695}"/>
              </a:ext>
            </a:extLst>
          </p:cNvPr>
          <p:cNvCxnSpPr>
            <a:cxnSpLocks/>
          </p:cNvCxnSpPr>
          <p:nvPr/>
        </p:nvCxnSpPr>
        <p:spPr>
          <a:xfrm>
            <a:off x="4142631" y="3631348"/>
            <a:ext cx="2205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8937174E-3F9C-42E0-B909-4108A97D68D2}"/>
              </a:ext>
            </a:extLst>
          </p:cNvPr>
          <p:cNvSpPr txBox="1"/>
          <p:nvPr/>
        </p:nvSpPr>
        <p:spPr>
          <a:xfrm>
            <a:off x="6454991" y="3988998"/>
            <a:ext cx="33357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체크 박스를 클릭하면 선을 그어줌</a:t>
            </a:r>
          </a:p>
        </p:txBody>
      </p:sp>
      <p:sp>
        <p:nvSpPr>
          <p:cNvPr id="20" name="Right Bracket 19">
            <a:extLst>
              <a:ext uri="{FF2B5EF4-FFF2-40B4-BE49-F238E27FC236}">
                <a16:creationId xmlns="" xmlns:a16="http://schemas.microsoft.com/office/drawing/2014/main" id="{1F6FAD69-C0DB-41F4-94A6-B59462196FBC}"/>
              </a:ext>
            </a:extLst>
          </p:cNvPr>
          <p:cNvSpPr/>
          <p:nvPr/>
        </p:nvSpPr>
        <p:spPr>
          <a:xfrm>
            <a:off x="5446807" y="3760716"/>
            <a:ext cx="492369" cy="846454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="" xmlns:a16="http://schemas.microsoft.com/office/drawing/2014/main" id="{24241DF1-B508-4FEB-927B-B7662BCB41FE}"/>
              </a:ext>
            </a:extLst>
          </p:cNvPr>
          <p:cNvCxnSpPr/>
          <p:nvPr/>
        </p:nvCxnSpPr>
        <p:spPr>
          <a:xfrm>
            <a:off x="5939176" y="4113213"/>
            <a:ext cx="524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D735CF86-7420-4D69-986A-7244ED36E7D7}"/>
              </a:ext>
            </a:extLst>
          </p:cNvPr>
          <p:cNvSpPr txBox="1"/>
          <p:nvPr/>
        </p:nvSpPr>
        <p:spPr>
          <a:xfrm>
            <a:off x="5018538" y="4868219"/>
            <a:ext cx="33357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&lt;span</a:t>
            </a:r>
            <a:r>
              <a:rPr lang="en-US" altLang="ko-KR" sz="1400" dirty="0">
                <a:solidFill>
                  <a:srgbClr val="FF0000"/>
                </a:solidFill>
              </a:rPr>
              <a:t>&gt;</a:t>
            </a:r>
            <a:r>
              <a:rPr lang="ko-KR" altLang="en-US" sz="1400" dirty="0">
                <a:solidFill>
                  <a:srgbClr val="FF0000"/>
                </a:solidFill>
              </a:rPr>
              <a:t>글자</a:t>
            </a:r>
            <a:r>
              <a:rPr lang="en-US" altLang="ko-KR" sz="1400" dirty="0">
                <a:solidFill>
                  <a:srgbClr val="FF0000"/>
                </a:solidFill>
              </a:rPr>
              <a:t>&lt;/span&gt;</a:t>
            </a:r>
          </a:p>
          <a:p>
            <a:r>
              <a:rPr lang="ko-KR" altLang="en-US" sz="1400" dirty="0">
                <a:solidFill>
                  <a:srgbClr val="FF0000"/>
                </a:solidFill>
              </a:rPr>
              <a:t>형태를 구성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57809A25-974F-4CE3-BC86-45C02478BA0F}"/>
              </a:ext>
            </a:extLst>
          </p:cNvPr>
          <p:cNvCxnSpPr/>
          <p:nvPr/>
        </p:nvCxnSpPr>
        <p:spPr>
          <a:xfrm>
            <a:off x="4493768" y="5165995"/>
            <a:ext cx="524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BEAB506C-0B9A-4477-BCFB-BC2242269E4C}"/>
              </a:ext>
            </a:extLst>
          </p:cNvPr>
          <p:cNvSpPr txBox="1"/>
          <p:nvPr/>
        </p:nvSpPr>
        <p:spPr>
          <a:xfrm>
            <a:off x="5543090" y="5763116"/>
            <a:ext cx="33357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&lt;button&gt;</a:t>
            </a:r>
            <a:r>
              <a:rPr lang="ko-KR" altLang="en-US" sz="1400" dirty="0">
                <a:solidFill>
                  <a:srgbClr val="FF0000"/>
                </a:solidFill>
              </a:rPr>
              <a:t>제거하기</a:t>
            </a:r>
            <a:r>
              <a:rPr lang="en-US" altLang="ko-KR" sz="1400" dirty="0">
                <a:solidFill>
                  <a:srgbClr val="FF0000"/>
                </a:solidFill>
              </a:rPr>
              <a:t>&lt;/button&gt;</a:t>
            </a:r>
          </a:p>
          <a:p>
            <a:r>
              <a:rPr lang="ko-KR" altLang="en-US" sz="1400" dirty="0">
                <a:solidFill>
                  <a:srgbClr val="FF0000"/>
                </a:solidFill>
              </a:rPr>
              <a:t>형태를 구성</a:t>
            </a:r>
          </a:p>
        </p:txBody>
      </p:sp>
      <p:sp>
        <p:nvSpPr>
          <p:cNvPr id="25" name="Right Bracket 24">
            <a:extLst>
              <a:ext uri="{FF2B5EF4-FFF2-40B4-BE49-F238E27FC236}">
                <a16:creationId xmlns="" xmlns:a16="http://schemas.microsoft.com/office/drawing/2014/main" id="{5AFF9E50-EB9E-4A1A-83A9-8A4410DB2122}"/>
              </a:ext>
            </a:extLst>
          </p:cNvPr>
          <p:cNvSpPr/>
          <p:nvPr/>
        </p:nvSpPr>
        <p:spPr>
          <a:xfrm>
            <a:off x="4532461" y="5616459"/>
            <a:ext cx="492369" cy="846454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="" xmlns:a16="http://schemas.microsoft.com/office/drawing/2014/main" id="{25798048-E315-4B04-8A69-31CAB9934B46}"/>
              </a:ext>
            </a:extLst>
          </p:cNvPr>
          <p:cNvCxnSpPr/>
          <p:nvPr/>
        </p:nvCxnSpPr>
        <p:spPr>
          <a:xfrm>
            <a:off x="5018429" y="6026376"/>
            <a:ext cx="524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2432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할 일 목록 만들기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+mn-ea"/>
                <a:ea typeface="+mn-ea"/>
              </a:rPr>
              <a:t>누적 예제</a:t>
            </a:r>
            <a:r>
              <a:rPr lang="en-US" altLang="ko-KR" sz="1800" dirty="0">
                <a:solidFill>
                  <a:srgbClr val="000000"/>
                </a:solidFill>
                <a:latin typeface="+mn-ea"/>
                <a:ea typeface="+mn-ea"/>
              </a:rPr>
              <a:t>]</a:t>
            </a: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할 일 목록 만들기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7-2-13.html)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217672"/>
              </p:ext>
            </p:extLst>
          </p:nvPr>
        </p:nvGraphicFramePr>
        <p:xfrm>
          <a:off x="1524000" y="1625186"/>
          <a:ext cx="5943600" cy="464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endParaRPr lang="en-US" altLang="ko-KR" sz="13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59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60       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입력 양식의 내용을 비웁니다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61      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input.value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‘’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62     }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63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64     const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removeTodo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(key) =&gt; {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65       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식별 키로 문서 객체를 제거합니다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     const item =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(`[data-key="${key}"]`)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67    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todoList.removeChild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(item)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68     }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69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70    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// 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이벤트 연결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71    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addButton.addEventListener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('click',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addTodo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72    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input.addEventListener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(event) =&gt; {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73       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입력 양식에서 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Enter 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키를 누르면 바로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addTodo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ko-KR" altLang="en-US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함수를 호출합니다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74       const ENTER = 13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       if (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event.keyCode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=== ENTER) {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76         </a:t>
                      </a:r>
                      <a:r>
                        <a:rPr lang="en-US" altLang="ko-KR" sz="13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addTodo</a:t>
                      </a:r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77       }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     })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   }) </a:t>
                      </a:r>
                    </a:p>
                    <a:p>
                      <a:r>
                        <a:rPr lang="en-US" altLang="ko-KR" sz="13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80 &lt;/script&gt;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7-2</a:t>
            </a:r>
            <a:r>
              <a:rPr lang="ko-KR" altLang="en-US" dirty="0"/>
              <a:t> 이벤트 활용</a:t>
            </a:r>
            <a:r>
              <a:rPr lang="en-US" altLang="ko-KR" sz="2400" dirty="0"/>
              <a:t>(27)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53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696CA4A-CA97-497B-92D6-67A1475B6509}"/>
              </a:ext>
            </a:extLst>
          </p:cNvPr>
          <p:cNvSpPr txBox="1"/>
          <p:nvPr/>
        </p:nvSpPr>
        <p:spPr>
          <a:xfrm>
            <a:off x="1380445" y="1537264"/>
            <a:ext cx="17355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◀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앞쪽에 이어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FE9536C-EB50-4D3B-8849-31B890B92A66}"/>
              </a:ext>
            </a:extLst>
          </p:cNvPr>
          <p:cNvSpPr txBox="1"/>
          <p:nvPr/>
        </p:nvSpPr>
        <p:spPr>
          <a:xfrm>
            <a:off x="6535108" y="3149805"/>
            <a:ext cx="36487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00"/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위에서 지정한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&lt;div data-key="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숫자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"&gt;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를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/>
            </a:r>
            <a:b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</a:b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기반으로 요소를 찾고 제거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5" name="Right Bracket 4">
            <a:extLst>
              <a:ext uri="{FF2B5EF4-FFF2-40B4-BE49-F238E27FC236}">
                <a16:creationId xmlns="" xmlns:a16="http://schemas.microsoft.com/office/drawing/2014/main" id="{DB883CE2-6377-45EB-918E-B4EB51E321B3}"/>
              </a:ext>
            </a:extLst>
          </p:cNvPr>
          <p:cNvSpPr/>
          <p:nvPr/>
        </p:nvSpPr>
        <p:spPr>
          <a:xfrm>
            <a:off x="5978769" y="3247292"/>
            <a:ext cx="246185" cy="328246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85989E45-50F4-4AD5-BC61-DB29E69679A3}"/>
              </a:ext>
            </a:extLst>
          </p:cNvPr>
          <p:cNvCxnSpPr/>
          <p:nvPr/>
        </p:nvCxnSpPr>
        <p:spPr>
          <a:xfrm>
            <a:off x="6224954" y="3429000"/>
            <a:ext cx="3282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3D791FE4-3B06-4A6E-90D6-687BE1F5F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550" y="3949286"/>
            <a:ext cx="321945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780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pPr lvl="2"/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글자 수 출력하기 소스 코드 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7-2-14.html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591950"/>
              </p:ext>
            </p:extLst>
          </p:nvPr>
        </p:nvGraphicFramePr>
        <p:xfrm>
          <a:off x="1524000" y="1177581"/>
          <a:ext cx="59436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const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const h1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('h1')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    let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timerId</a:t>
                      </a:r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('focus', (event) =&gt; {</a:t>
                      </a:r>
                      <a:endParaRPr lang="ko-KR" altLang="en-US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timerId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setInterval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(()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        const length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textarea.value.length</a:t>
                      </a:r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      h1.textContent = `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글자 수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${length}`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  }, 50)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('blur', (event) =&gt; { </a:t>
                      </a:r>
                      <a:endParaRPr lang="ko-KR" altLang="en-US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clearInterval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timerId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 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&lt;/script&gt;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&lt;body&gt;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   &lt;h1&gt;&lt;/h1&gt;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  &lt;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&gt;&lt;/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textarea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좀 더 알아보기①</a:t>
            </a:r>
            <a:r>
              <a:rPr lang="en-US" altLang="ko-KR" dirty="0"/>
              <a:t>] </a:t>
            </a:r>
            <a:r>
              <a:rPr lang="ko-KR" altLang="en-US" dirty="0"/>
              <a:t>타이머로 구현한 남은 글자 수 세기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54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DB7EAEC-1AF9-40A5-9BE5-86E5818B9BE9}"/>
              </a:ext>
            </a:extLst>
          </p:cNvPr>
          <p:cNvSpPr txBox="1"/>
          <p:nvPr/>
        </p:nvSpPr>
        <p:spPr>
          <a:xfrm>
            <a:off x="6408642" y="2698849"/>
            <a:ext cx="2064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입력 양식 활성화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7919E24-4CA6-4340-8A21-6AF97B5DE23C}"/>
              </a:ext>
            </a:extLst>
          </p:cNvPr>
          <p:cNvSpPr txBox="1"/>
          <p:nvPr/>
        </p:nvSpPr>
        <p:spPr>
          <a:xfrm>
            <a:off x="6408642" y="4126583"/>
            <a:ext cx="2936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입력 양식 비활성화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="" xmlns:a16="http://schemas.microsoft.com/office/drawing/2014/main" id="{F9DE2AC9-F799-428D-BDEA-33EB4E527CAB}"/>
              </a:ext>
            </a:extLst>
          </p:cNvPr>
          <p:cNvCxnSpPr/>
          <p:nvPr/>
        </p:nvCxnSpPr>
        <p:spPr>
          <a:xfrm>
            <a:off x="5956293" y="4280471"/>
            <a:ext cx="2794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C28BD348-28C6-4ED5-81A5-0FC8ACD3F3C4}"/>
              </a:ext>
            </a:extLst>
          </p:cNvPr>
          <p:cNvCxnSpPr/>
          <p:nvPr/>
        </p:nvCxnSpPr>
        <p:spPr>
          <a:xfrm>
            <a:off x="6025934" y="2814638"/>
            <a:ext cx="2794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B840E916-F577-4928-8AD8-06E97707A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418" y="4290812"/>
            <a:ext cx="2668831" cy="175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98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pPr lvl="1"/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웹 브라우저에 데이터를 저장하는 </a:t>
            </a:r>
            <a:r>
              <a:rPr lang="en-US" altLang="ko-KR" dirty="0" err="1">
                <a:solidFill>
                  <a:srgbClr val="000000"/>
                </a:solidFill>
                <a:latin typeface="+mn-ea"/>
                <a:ea typeface="+mn-ea"/>
              </a:rPr>
              <a:t>localStorage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객체와 활용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en-US" altLang="ko-KR" dirty="0" err="1">
                <a:solidFill>
                  <a:srgbClr val="000000"/>
                </a:solidFill>
                <a:latin typeface="+mn-ea"/>
                <a:ea typeface="+mn-ea"/>
              </a:rPr>
              <a:t>localStorage.getItem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키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):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저장된 값을 추출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없으면 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undefined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가 나옴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. </a:t>
            </a:r>
            <a:b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</a:b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객체의 속성을 추출하는 일반적인 형태로 </a:t>
            </a:r>
            <a:r>
              <a:rPr lang="en-US" altLang="ko-KR" dirty="0" err="1">
                <a:solidFill>
                  <a:srgbClr val="000000"/>
                </a:solidFill>
                <a:latin typeface="+mn-ea"/>
                <a:ea typeface="+mn-ea"/>
              </a:rPr>
              <a:t>localStorage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키 또는 </a:t>
            </a:r>
            <a:r>
              <a:rPr lang="en-US" altLang="ko-KR" dirty="0" err="1">
                <a:solidFill>
                  <a:srgbClr val="000000"/>
                </a:solidFill>
                <a:latin typeface="+mn-ea"/>
                <a:ea typeface="+mn-ea"/>
              </a:rPr>
              <a:t>localStorage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[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키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]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형태로 사용 할 수도 있음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en-US" altLang="ko-KR" dirty="0" err="1">
                <a:solidFill>
                  <a:srgbClr val="000000"/>
                </a:solidFill>
                <a:latin typeface="+mn-ea"/>
                <a:ea typeface="+mn-ea"/>
              </a:rPr>
              <a:t>localStorage.setItem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키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값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):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값을 저장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/>
            </a:r>
            <a:b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</a:b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이전과 마찬가지로 객체에 속성을 지정하는 일반적인 형태를 사용할 수도 있음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en-US" altLang="ko-KR" dirty="0" err="1">
                <a:solidFill>
                  <a:srgbClr val="000000"/>
                </a:solidFill>
                <a:latin typeface="+mn-ea"/>
                <a:ea typeface="+mn-ea"/>
              </a:rPr>
              <a:t>localStorage.removeItem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키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):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특정 키의 값을 제거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2"/>
            <a:r>
              <a:rPr lang="en-US" altLang="ko-KR" dirty="0" err="1">
                <a:solidFill>
                  <a:srgbClr val="000000"/>
                </a:solidFill>
                <a:latin typeface="+mn-ea"/>
                <a:ea typeface="+mn-ea"/>
              </a:rPr>
              <a:t>localStorage.clear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():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저장된 모든 값을 제거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좀 더 알아보기②</a:t>
            </a:r>
            <a:r>
              <a:rPr lang="en-US" altLang="ko-KR" dirty="0"/>
              <a:t>] </a:t>
            </a:r>
            <a:r>
              <a:rPr lang="en-US" altLang="ko-KR" dirty="0" err="1"/>
              <a:t>localStorage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55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11598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pPr lvl="2"/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웹 브라우저에 데이터를 저장하는 </a:t>
            </a:r>
            <a:r>
              <a:rPr lang="en-US" altLang="ko-KR" dirty="0" err="1">
                <a:solidFill>
                  <a:srgbClr val="000000"/>
                </a:solidFill>
                <a:latin typeface="+mn-ea"/>
                <a:ea typeface="+mn-ea"/>
              </a:rPr>
              <a:t>localStorage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객체와 활용하기 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7-2-15.html)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02663"/>
              </p:ext>
            </p:extLst>
          </p:nvPr>
        </p:nvGraphicFramePr>
        <p:xfrm>
          <a:off x="1524000" y="1177581"/>
          <a:ext cx="5943600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568780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 &lt;script&gt;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DOMContentLoaded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     const p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('p')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04     const input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('input')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05     const button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document.querySelector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('button')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06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07     const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savedValue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localStorage.getItem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('input')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08    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localStorage.input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도 가능합니다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09     if (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savedValue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input.value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savedValue</a:t>
                      </a:r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p.textContent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`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이전 실행 때의 마지막 값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${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savedValue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}`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     }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keyup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', (event)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      const value =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event.currentTarget.value</a:t>
                      </a:r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좀 더 알아보기②</a:t>
            </a:r>
            <a:r>
              <a:rPr lang="en-US" altLang="ko-KR" dirty="0"/>
              <a:t>] </a:t>
            </a:r>
            <a:r>
              <a:rPr lang="en-US" altLang="ko-KR" dirty="0" err="1"/>
              <a:t>localStorage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56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DB7EAEC-1AF9-40A5-9BE5-86E5818B9BE9}"/>
              </a:ext>
            </a:extLst>
          </p:cNvPr>
          <p:cNvSpPr txBox="1"/>
          <p:nvPr/>
        </p:nvSpPr>
        <p:spPr>
          <a:xfrm>
            <a:off x="6715655" y="2400254"/>
            <a:ext cx="33310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값을 읽을 때는 </a:t>
            </a:r>
            <a:r>
              <a:rPr lang="en-US" altLang="ko-KR" sz="1400" b="0" i="0" u="none" strike="noStrike" kern="1200" baseline="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getItem</a:t>
            </a:r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() 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메소드를 사용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="" xmlns:a16="http://schemas.microsoft.com/office/drawing/2014/main" id="{C28BD348-28C6-4ED5-81A5-0FC8ACD3F3C4}"/>
              </a:ext>
            </a:extLst>
          </p:cNvPr>
          <p:cNvCxnSpPr/>
          <p:nvPr/>
        </p:nvCxnSpPr>
        <p:spPr>
          <a:xfrm>
            <a:off x="7456149" y="759057"/>
            <a:ext cx="2794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90C6C0E-8A5A-4402-9F24-0F801098B1CE}"/>
              </a:ext>
            </a:extLst>
          </p:cNvPr>
          <p:cNvSpPr txBox="1"/>
          <p:nvPr/>
        </p:nvSpPr>
        <p:spPr>
          <a:xfrm>
            <a:off x="5867766" y="5027440"/>
            <a:ext cx="287767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▶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다음 쪽에 코드 이어짐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="" xmlns:a16="http://schemas.microsoft.com/office/drawing/2014/main" id="{727949D2-C27C-4ECD-BD77-94BAF9F30BF1}"/>
              </a:ext>
            </a:extLst>
          </p:cNvPr>
          <p:cNvSpPr/>
          <p:nvPr/>
        </p:nvSpPr>
        <p:spPr>
          <a:xfrm>
            <a:off x="4372708" y="2567354"/>
            <a:ext cx="2309446" cy="140677"/>
          </a:xfrm>
          <a:custGeom>
            <a:avLst/>
            <a:gdLst>
              <a:gd name="connsiteX0" fmla="*/ 0 w 2309446"/>
              <a:gd name="connsiteY0" fmla="*/ 140677 h 140677"/>
              <a:gd name="connsiteX1" fmla="*/ 0 w 2309446"/>
              <a:gd name="connsiteY1" fmla="*/ 0 h 140677"/>
              <a:gd name="connsiteX2" fmla="*/ 2309446 w 2309446"/>
              <a:gd name="connsiteY2" fmla="*/ 0 h 140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9446" h="140677">
                <a:moveTo>
                  <a:pt x="0" y="140677"/>
                </a:moveTo>
                <a:lnTo>
                  <a:pt x="0" y="0"/>
                </a:lnTo>
                <a:lnTo>
                  <a:pt x="2309446" y="0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0618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=""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7"/>
            <a:ext cx="11281052" cy="5492007"/>
          </a:xfrm>
        </p:spPr>
        <p:txBody>
          <a:bodyPr>
            <a:normAutofit/>
          </a:bodyPr>
          <a:lstStyle/>
          <a:p>
            <a:pPr lvl="2"/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웹 브라우저에 데이터를 저장하는 </a:t>
            </a:r>
            <a:r>
              <a:rPr lang="en-US" altLang="ko-KR" dirty="0" err="1">
                <a:solidFill>
                  <a:srgbClr val="000000"/>
                </a:solidFill>
                <a:latin typeface="+mn-ea"/>
                <a:ea typeface="+mn-ea"/>
              </a:rPr>
              <a:t>localStorage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객체와 활용하기 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7-2-15.html)</a:t>
            </a:r>
          </a:p>
        </p:txBody>
      </p:sp>
      <p:graphicFrame>
        <p:nvGraphicFramePr>
          <p:cNvPr id="11" name="Table 4">
            <a:extLst>
              <a:ext uri="{FF2B5EF4-FFF2-40B4-BE49-F238E27FC236}">
                <a16:creationId xmlns="" xmlns:a16="http://schemas.microsoft.com/office/drawing/2014/main" id="{D9927614-3F3B-4094-B392-3A0980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119110"/>
              </p:ext>
            </p:extLst>
          </p:nvPr>
        </p:nvGraphicFramePr>
        <p:xfrm>
          <a:off x="1512549" y="1397495"/>
          <a:ext cx="5943600" cy="4201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4201507">
                <a:tc>
                  <a:txBody>
                    <a:bodyPr/>
                    <a:lstStyle/>
                    <a:p>
                      <a:endParaRPr lang="en-US" altLang="ko-KR" sz="16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localStorage.setItem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('input', value)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17       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localStorage.input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= value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도 가능합니다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  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button.addEventListener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('click', (event) =&gt; {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localStorage.clear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       </a:t>
                      </a:r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input.value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''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  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   })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&lt;/script&gt;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 &lt;body&gt;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   &lt;p&gt;&lt;/p&gt;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   &lt;button&gt;</a:t>
                      </a:r>
                      <a:r>
                        <a:rPr lang="ko-KR" altLang="en-US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지우기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&lt;/button&gt;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 &lt;input type="text"&gt;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 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좀 더 알아보기②</a:t>
            </a:r>
            <a:r>
              <a:rPr lang="en-US" altLang="ko-KR" dirty="0"/>
              <a:t>] </a:t>
            </a:r>
            <a:r>
              <a:rPr lang="en-US" altLang="ko-KR" dirty="0" err="1"/>
              <a:t>localStorage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57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CDB7EAEC-1AF9-40A5-9BE5-86E5818B9BE9}"/>
              </a:ext>
            </a:extLst>
          </p:cNvPr>
          <p:cNvSpPr txBox="1"/>
          <p:nvPr/>
        </p:nvSpPr>
        <p:spPr>
          <a:xfrm>
            <a:off x="5310080" y="2903636"/>
            <a:ext cx="35720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값을 모두 제거할 때는 </a:t>
            </a:r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clear() 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메소드를 사용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224E957-9AB5-4D28-B71C-052D9D7C8CC0}"/>
              </a:ext>
            </a:extLst>
          </p:cNvPr>
          <p:cNvSpPr txBox="1"/>
          <p:nvPr/>
        </p:nvSpPr>
        <p:spPr>
          <a:xfrm>
            <a:off x="1392168" y="1258997"/>
            <a:ext cx="17355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◀ </a:t>
            </a:r>
            <a:r>
              <a:rPr lang="en-US" altLang="ko-KR" sz="12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accent4">
                    <a:lumMod val="50000"/>
                  </a:schemeClr>
                </a:solidFill>
              </a:rPr>
              <a:t>앞쪽에 이어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="" xmlns:a16="http://schemas.microsoft.com/office/drawing/2014/main" id="{997F3838-6DAA-4CB2-8355-067DBE48B480}"/>
              </a:ext>
            </a:extLst>
          </p:cNvPr>
          <p:cNvCxnSpPr/>
          <p:nvPr/>
        </p:nvCxnSpPr>
        <p:spPr>
          <a:xfrm>
            <a:off x="3971925" y="3057525"/>
            <a:ext cx="11239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364727FD-1EB3-429E-8B51-BDE5253E404A}"/>
              </a:ext>
            </a:extLst>
          </p:cNvPr>
          <p:cNvSpPr txBox="1"/>
          <p:nvPr/>
        </p:nvSpPr>
        <p:spPr>
          <a:xfrm>
            <a:off x="6096000" y="1705433"/>
            <a:ext cx="35720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값을 저장할 때는 </a:t>
            </a:r>
            <a:r>
              <a:rPr lang="en-US" altLang="ko-KR" sz="1400" b="0" i="0" u="none" strike="noStrike" kern="1200" baseline="0" dirty="0" err="1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setItem</a:t>
            </a:r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() </a:t>
            </a: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메소드를 사용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27A1D4C5-550D-4D3B-B209-26F7EF4AB856}"/>
              </a:ext>
            </a:extLst>
          </p:cNvPr>
          <p:cNvCxnSpPr/>
          <p:nvPr/>
        </p:nvCxnSpPr>
        <p:spPr>
          <a:xfrm>
            <a:off x="5310080" y="1819212"/>
            <a:ext cx="7422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224AA2B3-45D6-427C-946F-EF6D351A2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606" y="3972733"/>
            <a:ext cx="7096125" cy="191766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D0D162BF-6ED3-4BB4-9F0F-661A3CCB7996}"/>
              </a:ext>
            </a:extLst>
          </p:cNvPr>
          <p:cNvSpPr/>
          <p:nvPr/>
        </p:nvSpPr>
        <p:spPr>
          <a:xfrm>
            <a:off x="4709160" y="4678680"/>
            <a:ext cx="2811780" cy="935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CCF6ABED-DFBA-438C-A3C4-81DEDA49F309}"/>
              </a:ext>
            </a:extLst>
          </p:cNvPr>
          <p:cNvSpPr/>
          <p:nvPr/>
        </p:nvSpPr>
        <p:spPr>
          <a:xfrm>
            <a:off x="7714093" y="5072115"/>
            <a:ext cx="2811780" cy="7145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1D36A0F3-7126-4531-A374-EF52E9F398C0}"/>
              </a:ext>
            </a:extLst>
          </p:cNvPr>
          <p:cNvSpPr txBox="1"/>
          <p:nvPr/>
        </p:nvSpPr>
        <p:spPr>
          <a:xfrm>
            <a:off x="4900726" y="4976957"/>
            <a:ext cx="22545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입력란에 글자를 입력하고 </a:t>
            </a:r>
            <a: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/>
            </a:r>
            <a:br>
              <a:rPr lang="en-US" altLang="ko-KR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</a:br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새로 고침을 시도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93DA5418-4D68-4839-97CF-37E2D83C0198}"/>
              </a:ext>
            </a:extLst>
          </p:cNvPr>
          <p:cNvSpPr txBox="1"/>
          <p:nvPr/>
        </p:nvSpPr>
        <p:spPr>
          <a:xfrm>
            <a:off x="7428078" y="5423566"/>
            <a:ext cx="3842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kern="1200" baseline="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새로 고침 후에도 입력 내용이 그대로 남아있음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="" xmlns:a16="http://schemas.microsoft.com/office/drawing/2014/main" id="{AD2ED69E-2049-42E6-BDCC-68BC4FCB53E5}"/>
              </a:ext>
            </a:extLst>
          </p:cNvPr>
          <p:cNvCxnSpPr/>
          <p:nvPr/>
        </p:nvCxnSpPr>
        <p:spPr>
          <a:xfrm>
            <a:off x="5826369" y="4663463"/>
            <a:ext cx="0" cy="313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71774DBD-E36E-4AFB-9ABE-77A65D501FD4}"/>
              </a:ext>
            </a:extLst>
          </p:cNvPr>
          <p:cNvCxnSpPr/>
          <p:nvPr/>
        </p:nvCxnSpPr>
        <p:spPr>
          <a:xfrm>
            <a:off x="8698523" y="5089213"/>
            <a:ext cx="0" cy="313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9679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마무리①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58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50326DBB-84FF-4A1B-8DC0-3DB3E669E9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1" name="텍스트 개체 틀 8">
            <a:extLst>
              <a:ext uri="{FF2B5EF4-FFF2-40B4-BE49-F238E27FC236}">
                <a16:creationId xmlns="" xmlns:a16="http://schemas.microsoft.com/office/drawing/2014/main" id="{F851B322-4058-4DCD-9EF7-105CCF1E2C10}"/>
              </a:ext>
            </a:extLst>
          </p:cNvPr>
          <p:cNvSpPr txBox="1">
            <a:spLocks/>
          </p:cNvSpPr>
          <p:nvPr/>
        </p:nvSpPr>
        <p:spPr>
          <a:xfrm>
            <a:off x="487015" y="815008"/>
            <a:ext cx="11281052" cy="499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4BB0A0"/>
              </a:buClr>
              <a:buFont typeface="시스템 서체"/>
              <a:buChar char="◦"/>
              <a:defRPr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시스템 서체"/>
              <a:buChar char="⁃"/>
              <a:defRPr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3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Myungjo100Std_OTF"/>
              </a:rPr>
              <a:t>가지 키워드로 정리하는 핵심 포인트</a:t>
            </a: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이벤트 모델은 이벤트를 연결하는 방법을 의미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이벤트 객체는 이벤트 리스너의 첫 번째 매개변수로 이벤트와 관련된 정보가 들어 있음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이벤트 발생 객체는 이벤트를 발생시킨 객체를 의미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/>
            </a:r>
            <a:b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</a:b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이벤트 객체의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YoonV YoonMyungjo100Std_OTF"/>
              </a:rPr>
              <a:t>currentTarget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속성을 사용해서 확인할 수 있음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확인 문제</a:t>
            </a:r>
            <a:endParaRPr lang="en-US" altLang="ko-KR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다음 이벤트 모델의 이름과 코드를 연결해보기</a:t>
            </a:r>
            <a:r>
              <a:rPr lang="en-US" altLang="ko-KR" sz="1600" dirty="0">
                <a:solidFill>
                  <a:srgbClr val="000000"/>
                </a:solidFill>
                <a:latin typeface="YoonV YoonMyungjo100Std_OTF"/>
              </a:rPr>
              <a:t>. </a:t>
            </a: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식별자 </a:t>
            </a:r>
            <a:r>
              <a:rPr lang="en-US" altLang="ko-KR" sz="1600" dirty="0">
                <a:solidFill>
                  <a:srgbClr val="000000"/>
                </a:solidFill>
                <a:latin typeface="YoonV YoonMyungjo100Std_OTF"/>
              </a:rPr>
              <a:t>listener</a:t>
            </a: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는 이벤트 리스너</a:t>
            </a:r>
            <a:endParaRPr lang="en-US" altLang="ko-KR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AD5A91D9-6363-4C2F-B3C7-529CF0CB953A}"/>
              </a:ext>
            </a:extLst>
          </p:cNvPr>
          <p:cNvSpPr/>
          <p:nvPr/>
        </p:nvSpPr>
        <p:spPr>
          <a:xfrm>
            <a:off x="1524000" y="3625005"/>
            <a:ext cx="3072954" cy="396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표준 이벤트 모델</a:t>
            </a: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471DEE89-70AB-4819-B300-896FBF37C23A}"/>
              </a:ext>
            </a:extLst>
          </p:cNvPr>
          <p:cNvSpPr/>
          <p:nvPr/>
        </p:nvSpPr>
        <p:spPr>
          <a:xfrm>
            <a:off x="1524000" y="3689331"/>
            <a:ext cx="243840" cy="2438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a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EAB8DABA-8FD8-4DE6-920F-306FBF8A1C21}"/>
              </a:ext>
            </a:extLst>
          </p:cNvPr>
          <p:cNvSpPr/>
          <p:nvPr/>
        </p:nvSpPr>
        <p:spPr>
          <a:xfrm>
            <a:off x="1524000" y="4408105"/>
            <a:ext cx="3072954" cy="396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인라인 이벤트 모델</a:t>
            </a: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1FBE43E-6A02-4E0E-8A6D-3F0D123B9257}"/>
              </a:ext>
            </a:extLst>
          </p:cNvPr>
          <p:cNvSpPr/>
          <p:nvPr/>
        </p:nvSpPr>
        <p:spPr>
          <a:xfrm>
            <a:off x="1524000" y="4472431"/>
            <a:ext cx="243840" cy="2438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77C2FE6-20F7-4E7A-9289-FE3D546B3BA5}"/>
              </a:ext>
            </a:extLst>
          </p:cNvPr>
          <p:cNvSpPr/>
          <p:nvPr/>
        </p:nvSpPr>
        <p:spPr>
          <a:xfrm>
            <a:off x="1524000" y="5168430"/>
            <a:ext cx="3072954" cy="3968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고전 이벤트 모델</a:t>
            </a:r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264D081-D58B-43AC-8A80-C8E8047265C6}"/>
              </a:ext>
            </a:extLst>
          </p:cNvPr>
          <p:cNvSpPr/>
          <p:nvPr/>
        </p:nvSpPr>
        <p:spPr>
          <a:xfrm>
            <a:off x="1524000" y="5232756"/>
            <a:ext cx="243840" cy="2438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c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1BD3F4EF-84E3-467E-AF52-662A720EF5DF}"/>
              </a:ext>
            </a:extLst>
          </p:cNvPr>
          <p:cNvSpPr/>
          <p:nvPr/>
        </p:nvSpPr>
        <p:spPr>
          <a:xfrm>
            <a:off x="3803904" y="3806679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C9AE90A1-A3C9-4229-AB2D-D280A5BD6CF5}"/>
              </a:ext>
            </a:extLst>
          </p:cNvPr>
          <p:cNvSpPr/>
          <p:nvPr/>
        </p:nvSpPr>
        <p:spPr>
          <a:xfrm>
            <a:off x="3803904" y="4588421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5040DDF0-3979-488A-9ECD-11F04279ADDD}"/>
              </a:ext>
            </a:extLst>
          </p:cNvPr>
          <p:cNvSpPr/>
          <p:nvPr/>
        </p:nvSpPr>
        <p:spPr>
          <a:xfrm>
            <a:off x="3803904" y="5329524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8" name="Table 4">
            <a:extLst>
              <a:ext uri="{FF2B5EF4-FFF2-40B4-BE49-F238E27FC236}">
                <a16:creationId xmlns="" xmlns:a16="http://schemas.microsoft.com/office/drawing/2014/main" id="{6298567F-C3C5-4CD6-8D51-F31EB5FEE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445023"/>
              </p:ext>
            </p:extLst>
          </p:nvPr>
        </p:nvGraphicFramePr>
        <p:xfrm>
          <a:off x="5633937" y="3686600"/>
          <a:ext cx="4662043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043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96839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document.body.onload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= listener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19" name="Table 4">
            <a:extLst>
              <a:ext uri="{FF2B5EF4-FFF2-40B4-BE49-F238E27FC236}">
                <a16:creationId xmlns="" xmlns:a16="http://schemas.microsoft.com/office/drawing/2014/main" id="{288EC5CA-C3B0-4321-9827-17A6F51A0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080743"/>
              </p:ext>
            </p:extLst>
          </p:nvPr>
        </p:nvGraphicFramePr>
        <p:xfrm>
          <a:off x="5633937" y="5075178"/>
          <a:ext cx="4662043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043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96839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document.body.addEventListener</a:t>
                      </a:r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('load',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listener)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20" name="Table 4">
            <a:extLst>
              <a:ext uri="{FF2B5EF4-FFF2-40B4-BE49-F238E27FC236}">
                <a16:creationId xmlns="" xmlns:a16="http://schemas.microsoft.com/office/drawing/2014/main" id="{51339222-7C19-499A-AA5F-D7C03616E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212557"/>
              </p:ext>
            </p:extLst>
          </p:nvPr>
        </p:nvGraphicFramePr>
        <p:xfrm>
          <a:off x="5633937" y="4304791"/>
          <a:ext cx="4662043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2043">
                  <a:extLst>
                    <a:ext uri="{9D8B030D-6E8A-4147-A177-3AD203B41FA5}">
                      <a16:colId xmlns="" xmlns:a16="http://schemas.microsoft.com/office/drawing/2014/main" val="861803730"/>
                    </a:ext>
                  </a:extLst>
                </a:gridCol>
              </a:tblGrid>
              <a:tr h="296839">
                <a:tc>
                  <a:txBody>
                    <a:bodyPr/>
                    <a:lstStyle/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&lt;body onload="listener()"&gt;</a:t>
                      </a:r>
                    </a:p>
                    <a:p>
                      <a:r>
                        <a:rPr lang="en-US" altLang="ko-KR" sz="16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&lt;/body&gt;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21" name="Oval 20">
            <a:extLst>
              <a:ext uri="{FF2B5EF4-FFF2-40B4-BE49-F238E27FC236}">
                <a16:creationId xmlns="" xmlns:a16="http://schemas.microsoft.com/office/drawing/2014/main" id="{F7BC83F4-2DF1-4E86-89C4-684BF45D5F36}"/>
              </a:ext>
            </a:extLst>
          </p:cNvPr>
          <p:cNvSpPr/>
          <p:nvPr/>
        </p:nvSpPr>
        <p:spPr>
          <a:xfrm>
            <a:off x="5029200" y="3806679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AD4D99F0-A136-479B-A767-05357CE900DA}"/>
              </a:ext>
            </a:extLst>
          </p:cNvPr>
          <p:cNvSpPr/>
          <p:nvPr/>
        </p:nvSpPr>
        <p:spPr>
          <a:xfrm>
            <a:off x="5029200" y="4588421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03F8D5B4-609D-4D88-913B-91931AE7B68F}"/>
              </a:ext>
            </a:extLst>
          </p:cNvPr>
          <p:cNvSpPr/>
          <p:nvPr/>
        </p:nvSpPr>
        <p:spPr>
          <a:xfrm>
            <a:off x="5029200" y="5329524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Oval 23">
            <a:extLst>
              <a:ext uri="{FF2B5EF4-FFF2-40B4-BE49-F238E27FC236}">
                <a16:creationId xmlns="" xmlns:a16="http://schemas.microsoft.com/office/drawing/2014/main" id="{61937286-2F28-41D3-B17F-38B7075A4D15}"/>
              </a:ext>
            </a:extLst>
          </p:cNvPr>
          <p:cNvSpPr/>
          <p:nvPr/>
        </p:nvSpPr>
        <p:spPr>
          <a:xfrm>
            <a:off x="5324610" y="3726308"/>
            <a:ext cx="243840" cy="2438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1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="" xmlns:a16="http://schemas.microsoft.com/office/drawing/2014/main" id="{20CCB9EF-2663-428E-B42D-B02E355270AA}"/>
              </a:ext>
            </a:extLst>
          </p:cNvPr>
          <p:cNvSpPr/>
          <p:nvPr/>
        </p:nvSpPr>
        <p:spPr>
          <a:xfrm>
            <a:off x="5324610" y="4509408"/>
            <a:ext cx="243840" cy="2438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2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BC27753D-4BA2-4F8E-BF0F-7FCBEA2FD773}"/>
              </a:ext>
            </a:extLst>
          </p:cNvPr>
          <p:cNvSpPr/>
          <p:nvPr/>
        </p:nvSpPr>
        <p:spPr>
          <a:xfrm>
            <a:off x="5324610" y="5269733"/>
            <a:ext cx="243840" cy="2438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3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3351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마무리②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59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50326DBB-84FF-4A1B-8DC0-3DB3E669E9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1" name="텍스트 개체 틀 8">
            <a:extLst>
              <a:ext uri="{FF2B5EF4-FFF2-40B4-BE49-F238E27FC236}">
                <a16:creationId xmlns="" xmlns:a16="http://schemas.microsoft.com/office/drawing/2014/main" id="{F851B322-4058-4DCD-9EF7-105CCF1E2C10}"/>
              </a:ext>
            </a:extLst>
          </p:cNvPr>
          <p:cNvSpPr txBox="1">
            <a:spLocks/>
          </p:cNvSpPr>
          <p:nvPr/>
        </p:nvSpPr>
        <p:spPr>
          <a:xfrm>
            <a:off x="487015" y="815007"/>
            <a:ext cx="11281052" cy="5759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4BB0A0"/>
              </a:buClr>
              <a:buFont typeface="시스템 서체"/>
              <a:buChar char="◦"/>
              <a:defRPr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시스템 서체"/>
              <a:buChar char="⁃"/>
              <a:defRPr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Myungjo100Std_OTF"/>
              </a:rPr>
              <a:t>확인 문제</a:t>
            </a: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다음 중에서 체크 박스와 라디오 버튼 등 입력 양식의 체크 상태를 확인할 때 사용하는 속성을 고르면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?</a:t>
            </a:r>
          </a:p>
          <a:p>
            <a:pPr marL="914400" lvl="2" indent="0">
              <a:buNone/>
            </a:pP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① selected	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②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isChecked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	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③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checked	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④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isSelected</a:t>
            </a:r>
            <a:endParaRPr lang="en-US" altLang="ko-KR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다음 중에서 체크 박스와 라디오 버튼 등 입력 양식의 체크 상태를 확인할 때 사용하는 속성을 고르면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?</a:t>
            </a:r>
          </a:p>
          <a:p>
            <a:pPr marL="800100" lvl="1" indent="-342900">
              <a:buFont typeface="+mj-lt"/>
              <a:buAutoNum type="arabicPeriod" startAt="2"/>
            </a:pP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 startAt="2"/>
            </a:pPr>
            <a:endParaRPr lang="en-US" altLang="ko-KR" sz="1600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 startAt="2"/>
            </a:pP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 startAt="2"/>
            </a:pPr>
            <a:endParaRPr lang="en-US" altLang="ko-KR" sz="1600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 startAt="2"/>
            </a:pP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다음 중 기본 이벤트를 막는 메소드 이름</a:t>
            </a: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은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?</a:t>
            </a:r>
          </a:p>
          <a:p>
            <a:pPr marL="1257300" lvl="2" indent="-342900">
              <a:buAutoNum type="circleNumDbPlain"/>
            </a:pP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preventDefault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()		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②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prevent() 	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③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removeDefault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()		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④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default(false)</a:t>
            </a:r>
          </a:p>
          <a:p>
            <a:pPr marL="1257300" lvl="2" indent="-342900">
              <a:buAutoNum type="circleNumDbPlain"/>
            </a:pPr>
            <a:endParaRPr lang="en-US" altLang="ko-KR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다음 중 이벤트 리스너 내부에서 이벤트 발생 객체를 찾는 코드로 알맞은 것을 모두 고르기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/>
            </a:r>
            <a:b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</a:b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이벤트 객체를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event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라고 가정</a:t>
            </a:r>
            <a:r>
              <a:rPr lang="en-US" altLang="ko-KR" sz="1600" dirty="0">
                <a:solidFill>
                  <a:srgbClr val="000000"/>
                </a:solidFill>
                <a:latin typeface="YoonV YoonMyungjo100Std_OTF"/>
              </a:rPr>
              <a:t>)</a:t>
            </a:r>
          </a:p>
          <a:p>
            <a:pPr marL="914400" lvl="2" indent="0">
              <a:buNone/>
            </a:pPr>
            <a:r>
              <a:rPr lang="ko-KR" altLang="ko-KR" dirty="0">
                <a:solidFill>
                  <a:srgbClr val="000000"/>
                </a:solidFill>
                <a:latin typeface="YoonV YoonMyungjo100Std_OTF"/>
              </a:rPr>
              <a:t>①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 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event.current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		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②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event.currentTarget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	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③ </a:t>
            </a: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this		</a:t>
            </a:r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④ </a:t>
            </a:r>
            <a:r>
              <a:rPr lang="en-US" altLang="ko-KR" dirty="0" err="1">
                <a:solidFill>
                  <a:srgbClr val="000000"/>
                </a:solidFill>
                <a:latin typeface="YoonV YoonMyungjo100Std_OTF"/>
              </a:rPr>
              <a:t>this.currentTarget</a:t>
            </a:r>
            <a:endParaRPr lang="en-US" altLang="ko-KR" dirty="0">
              <a:solidFill>
                <a:srgbClr val="000000"/>
              </a:solidFill>
              <a:latin typeface="YoonV YoonMyungjo100Std_OTF"/>
            </a:endParaRPr>
          </a:p>
          <a:p>
            <a:pPr marL="1257300" lvl="2" indent="-342900">
              <a:buAutoNum type="circleNumDbPlain"/>
            </a:pPr>
            <a:endParaRPr lang="en-US" altLang="ko-KR" sz="1400" dirty="0">
              <a:solidFill>
                <a:srgbClr val="000000"/>
              </a:solidFill>
              <a:latin typeface="YoonV YoonMyungjo100Std_OTF"/>
            </a:endParaRPr>
          </a:p>
          <a:p>
            <a:pPr marL="457200" lvl="1" indent="0">
              <a:buNone/>
            </a:pPr>
            <a:r>
              <a:rPr lang="en-US" altLang="ko-KR" sz="1600" dirty="0"/>
              <a:t>	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="" xmlns:a16="http://schemas.microsoft.com/office/drawing/2014/main" id="{60978279-E4DA-4B2A-8857-4B3CC96BD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682953"/>
              </p:ext>
            </p:extLst>
          </p:nvPr>
        </p:nvGraphicFramePr>
        <p:xfrm>
          <a:off x="1524000" y="2260548"/>
          <a:ext cx="8839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="" xmlns:a16="http://schemas.microsoft.com/office/drawing/2014/main" val="1387516330"/>
                    </a:ext>
                  </a:extLst>
                </a:gridCol>
                <a:gridCol w="5242560">
                  <a:extLst>
                    <a:ext uri="{9D8B030D-6E8A-4147-A177-3AD203B41FA5}">
                      <a16:colId xmlns="" xmlns:a16="http://schemas.microsoft.com/office/drawing/2014/main" val="1437391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contextmenu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50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입력 양식의 값이 변경될 때</a:t>
                      </a:r>
                    </a:p>
                  </a:txBody>
                  <a:tcPr marL="50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2284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change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50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②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마우스 오른쪽 클릭 등으로 컨텍스트 메뉴를 출력할</a:t>
                      </a:r>
                    </a:p>
                  </a:txBody>
                  <a:tcPr marL="50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28908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err="1">
                          <a:solidFill>
                            <a:schemeClr val="tx1"/>
                          </a:solidFill>
                        </a:rPr>
                        <a:t>keyup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50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③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키보드 키가 떨어질 때</a:t>
                      </a:r>
                    </a:p>
                  </a:txBody>
                  <a:tcPr marL="50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803262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blur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marL="50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④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입력 양식의 초점이 해제될 때</a:t>
                      </a:r>
                    </a:p>
                  </a:txBody>
                  <a:tcPr marL="50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84613211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="" xmlns:a16="http://schemas.microsoft.com/office/drawing/2014/main" id="{2C7A3F17-B3EF-4E48-9830-B75D5C4CCAE5}"/>
              </a:ext>
            </a:extLst>
          </p:cNvPr>
          <p:cNvSpPr/>
          <p:nvPr/>
        </p:nvSpPr>
        <p:spPr>
          <a:xfrm>
            <a:off x="1682496" y="2382130"/>
            <a:ext cx="180000" cy="18000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1E9786B7-FE66-4004-9DDC-D3AC6CAE0763}"/>
              </a:ext>
            </a:extLst>
          </p:cNvPr>
          <p:cNvSpPr/>
          <p:nvPr/>
        </p:nvSpPr>
        <p:spPr>
          <a:xfrm>
            <a:off x="1682496" y="2762292"/>
            <a:ext cx="180000" cy="18000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40CA5DE0-0667-4952-97ED-E609C333F1DF}"/>
              </a:ext>
            </a:extLst>
          </p:cNvPr>
          <p:cNvSpPr/>
          <p:nvPr/>
        </p:nvSpPr>
        <p:spPr>
          <a:xfrm>
            <a:off x="1687152" y="3107597"/>
            <a:ext cx="180000" cy="18000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7D576072-13F0-4B6F-A694-A336464D82E9}"/>
              </a:ext>
            </a:extLst>
          </p:cNvPr>
          <p:cNvSpPr/>
          <p:nvPr/>
        </p:nvSpPr>
        <p:spPr>
          <a:xfrm>
            <a:off x="1682496" y="3458071"/>
            <a:ext cx="180000" cy="180000"/>
          </a:xfrm>
          <a:prstGeom prst="ellips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892EE4C-0FC0-452F-A9B0-315B91A18B75}"/>
              </a:ext>
            </a:extLst>
          </p:cNvPr>
          <p:cNvSpPr/>
          <p:nvPr/>
        </p:nvSpPr>
        <p:spPr>
          <a:xfrm>
            <a:off x="3453384" y="2432149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Oval 14">
            <a:extLst>
              <a:ext uri="{FF2B5EF4-FFF2-40B4-BE49-F238E27FC236}">
                <a16:creationId xmlns="" xmlns:a16="http://schemas.microsoft.com/office/drawing/2014/main" id="{A538882E-FF07-448E-9306-CC04EF1BBDE5}"/>
              </a:ext>
            </a:extLst>
          </p:cNvPr>
          <p:cNvSpPr/>
          <p:nvPr/>
        </p:nvSpPr>
        <p:spPr>
          <a:xfrm>
            <a:off x="3453384" y="2797909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88B27DF5-E5E2-48D0-A6AF-24AC6C121E21}"/>
              </a:ext>
            </a:extLst>
          </p:cNvPr>
          <p:cNvSpPr/>
          <p:nvPr/>
        </p:nvSpPr>
        <p:spPr>
          <a:xfrm>
            <a:off x="3453384" y="3148429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E5CA17DC-22BD-47DC-AA8A-F8CA059A61CA}"/>
              </a:ext>
            </a:extLst>
          </p:cNvPr>
          <p:cNvSpPr/>
          <p:nvPr/>
        </p:nvSpPr>
        <p:spPr>
          <a:xfrm>
            <a:off x="3453384" y="3529429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F629907E-CB8D-4C84-82CF-A8E7C1E0A80C}"/>
              </a:ext>
            </a:extLst>
          </p:cNvPr>
          <p:cNvSpPr/>
          <p:nvPr/>
        </p:nvSpPr>
        <p:spPr>
          <a:xfrm>
            <a:off x="5396484" y="2424529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717D0786-A8EE-4A3C-823E-30DDC5DED151}"/>
              </a:ext>
            </a:extLst>
          </p:cNvPr>
          <p:cNvSpPr/>
          <p:nvPr/>
        </p:nvSpPr>
        <p:spPr>
          <a:xfrm>
            <a:off x="5396484" y="2790289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31F22662-1D4D-45A3-B074-77D57C5EE789}"/>
              </a:ext>
            </a:extLst>
          </p:cNvPr>
          <p:cNvSpPr/>
          <p:nvPr/>
        </p:nvSpPr>
        <p:spPr>
          <a:xfrm>
            <a:off x="5396484" y="3140809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DDBCEF16-4680-4E3F-8B52-033BD363D799}"/>
              </a:ext>
            </a:extLst>
          </p:cNvPr>
          <p:cNvSpPr/>
          <p:nvPr/>
        </p:nvSpPr>
        <p:spPr>
          <a:xfrm>
            <a:off x="5396484" y="3521809"/>
            <a:ext cx="70428" cy="704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7924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마무리③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=""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60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="" xmlns:a16="http://schemas.microsoft.com/office/drawing/2014/main" id="{50326DBB-84FF-4A1B-8DC0-3DB3E669E9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1" name="텍스트 개체 틀 8">
            <a:extLst>
              <a:ext uri="{FF2B5EF4-FFF2-40B4-BE49-F238E27FC236}">
                <a16:creationId xmlns="" xmlns:a16="http://schemas.microsoft.com/office/drawing/2014/main" id="{F851B322-4058-4DCD-9EF7-105CCF1E2C10}"/>
              </a:ext>
            </a:extLst>
          </p:cNvPr>
          <p:cNvSpPr txBox="1">
            <a:spLocks/>
          </p:cNvSpPr>
          <p:nvPr/>
        </p:nvSpPr>
        <p:spPr>
          <a:xfrm>
            <a:off x="487015" y="815007"/>
            <a:ext cx="11281052" cy="5759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4BB0A0"/>
              </a:buClr>
              <a:buFont typeface="시스템 서체"/>
              <a:buChar char="◦"/>
              <a:defRPr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시스템 서체"/>
              <a:buChar char="⁃"/>
              <a:defRPr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Myungjo100Std_OTF"/>
              </a:rPr>
              <a:t>확인 문제</a:t>
            </a:r>
          </a:p>
          <a:p>
            <a:pPr marL="800100" lvl="1" indent="-342900">
              <a:buFont typeface="+mj-lt"/>
              <a:buAutoNum type="arabicPeriod" startAt="6"/>
            </a:pP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본문에서 살펴본 입력 양식들을 활용해서 만들 수 있는 프로그램을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5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개만 생각해보기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. </a:t>
            </a:r>
            <a:b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</a:b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간단한 프로그램이라도 좋으니 다양하게 발상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)</a:t>
            </a:r>
            <a:endParaRPr lang="en-US" altLang="ko-KR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87E2E22-A02A-4130-9736-9A68C564922C}"/>
              </a:ext>
            </a:extLst>
          </p:cNvPr>
          <p:cNvSpPr/>
          <p:nvPr/>
        </p:nvSpPr>
        <p:spPr>
          <a:xfrm>
            <a:off x="1348154" y="2051538"/>
            <a:ext cx="9507415" cy="3991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30304C1-40AA-48C5-9311-1C965E6F1254}"/>
              </a:ext>
            </a:extLst>
          </p:cNvPr>
          <p:cNvSpPr txBox="1"/>
          <p:nvPr/>
        </p:nvSpPr>
        <p:spPr>
          <a:xfrm>
            <a:off x="1524000" y="2165009"/>
            <a:ext cx="415498" cy="3180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700"/>
              </a:lnSpc>
            </a:pPr>
            <a:r>
              <a:rPr lang="ko-KR" altLang="en-US" dirty="0"/>
              <a:t>①</a:t>
            </a:r>
            <a:endParaRPr lang="en-US" altLang="ko-KR" dirty="0"/>
          </a:p>
          <a:p>
            <a:pPr>
              <a:lnSpc>
                <a:spcPts val="2700"/>
              </a:lnSpc>
            </a:pPr>
            <a:endParaRPr lang="en-US" altLang="ko-KR" dirty="0"/>
          </a:p>
          <a:p>
            <a:pPr>
              <a:lnSpc>
                <a:spcPts val="2700"/>
              </a:lnSpc>
            </a:pPr>
            <a:r>
              <a:rPr lang="ko-KR" altLang="en-US" dirty="0"/>
              <a:t>②</a:t>
            </a:r>
            <a:endParaRPr lang="en-US" altLang="ko-KR" dirty="0"/>
          </a:p>
          <a:p>
            <a:pPr>
              <a:lnSpc>
                <a:spcPts val="2700"/>
              </a:lnSpc>
            </a:pPr>
            <a:endParaRPr lang="en-US" altLang="ko-KR" dirty="0"/>
          </a:p>
          <a:p>
            <a:pPr>
              <a:lnSpc>
                <a:spcPts val="2700"/>
              </a:lnSpc>
            </a:pPr>
            <a:r>
              <a:rPr lang="ko-KR" altLang="en-US" dirty="0"/>
              <a:t>③</a:t>
            </a:r>
            <a:endParaRPr lang="en-US" altLang="ko-KR" dirty="0"/>
          </a:p>
          <a:p>
            <a:pPr>
              <a:lnSpc>
                <a:spcPts val="2700"/>
              </a:lnSpc>
            </a:pPr>
            <a:endParaRPr lang="en-US" altLang="ko-KR" dirty="0"/>
          </a:p>
          <a:p>
            <a:pPr>
              <a:lnSpc>
                <a:spcPts val="2700"/>
              </a:lnSpc>
            </a:pPr>
            <a:r>
              <a:rPr lang="ko-KR" altLang="en-US" dirty="0"/>
              <a:t>④</a:t>
            </a:r>
            <a:endParaRPr lang="en-US" altLang="ko-KR" dirty="0"/>
          </a:p>
          <a:p>
            <a:pPr>
              <a:lnSpc>
                <a:spcPts val="2700"/>
              </a:lnSpc>
            </a:pPr>
            <a:endParaRPr lang="en-US" altLang="ko-KR" dirty="0"/>
          </a:p>
          <a:p>
            <a:pPr>
              <a:lnSpc>
                <a:spcPts val="2700"/>
              </a:lnSpc>
            </a:pPr>
            <a:r>
              <a:rPr lang="ko-KR" altLang="en-US" dirty="0"/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211626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ysClr val="windowText" lastClr="000000"/>
      </a:dk1>
      <a:lt1>
        <a:sysClr val="window" lastClr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25372</TotalTime>
  <Words>7141</Words>
  <Application>Microsoft Office PowerPoint</Application>
  <PresentationFormat>사용자 지정</PresentationFormat>
  <Paragraphs>1416</Paragraphs>
  <Slides>60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1" baseType="lpstr">
      <vt:lpstr>Office 테마</vt:lpstr>
      <vt:lpstr>혼자 공부하는 자바스크립트</vt:lpstr>
      <vt:lpstr>시작하기전에</vt:lpstr>
      <vt:lpstr>이 책의 학습 목표</vt:lpstr>
      <vt:lpstr>Contents</vt:lpstr>
      <vt:lpstr>PowerPoint 프레젠테이션</vt:lpstr>
      <vt:lpstr>SECTION 7-1 문서 객체 조작하기(1)</vt:lpstr>
      <vt:lpstr>SECTION 7-1 문서 객체 조작하기(2)</vt:lpstr>
      <vt:lpstr>SECTION 7-1 문서 객체 조작하기(3)</vt:lpstr>
      <vt:lpstr>SECTION 7-1 문서 객체 조작하기(4)</vt:lpstr>
      <vt:lpstr>SECTION 7-1 문서 객체 조작하기(5)</vt:lpstr>
      <vt:lpstr>SECTION 7-1 문서 객체 조작하기(6)</vt:lpstr>
      <vt:lpstr>SECTION 7-1 문서 객체 조작하기(7)</vt:lpstr>
      <vt:lpstr>SECTION 7-1 문서 객체 조작하기(8)</vt:lpstr>
      <vt:lpstr>SECTION 7-1 문서 객체 조작하기(9)</vt:lpstr>
      <vt:lpstr>SECTION 7-1 문서 객체 조작하기(10)</vt:lpstr>
      <vt:lpstr>SECTION 7-1 문서 객체 조작하기(11)</vt:lpstr>
      <vt:lpstr>SECTION 7-1 문서 객체 조작하기(12)</vt:lpstr>
      <vt:lpstr>SECTION 7-1 문서 객체 조작하기(13)</vt:lpstr>
      <vt:lpstr>SECTION 7-1 문서 객체 조작하기(14)</vt:lpstr>
      <vt:lpstr>SECTION 7-1 문서 객체 조작하기(15)</vt:lpstr>
      <vt:lpstr>SECTION 7-1 문서 객체 조작하기(16)</vt:lpstr>
      <vt:lpstr>SECTION 7-1 문서 객체 조작하기(17)</vt:lpstr>
      <vt:lpstr>SECTION 7-1 문서 객체 조작하기(18)</vt:lpstr>
      <vt:lpstr>SECTION 7-1 문서 객체 조작하기(19)</vt:lpstr>
      <vt:lpstr>[마무리①]</vt:lpstr>
      <vt:lpstr>[마무리②]</vt:lpstr>
      <vt:lpstr>SECTION 7-2 이벤트 활용(1)</vt:lpstr>
      <vt:lpstr>SECTION 7-2 이벤트 활용(2)</vt:lpstr>
      <vt:lpstr>SECTION 7-2 이벤트 활용(3)</vt:lpstr>
      <vt:lpstr>SECTION 7-2 이벤트 활용(4)</vt:lpstr>
      <vt:lpstr>SECTION 7-2 이벤트 활용(5)</vt:lpstr>
      <vt:lpstr>SECTION 7-2 이벤트 활용(6)</vt:lpstr>
      <vt:lpstr>SECTION 7-2 이벤트 활용(7)</vt:lpstr>
      <vt:lpstr>SECTION 7-2 이벤트 활용(8)</vt:lpstr>
      <vt:lpstr>SECTION 7-2 이벤트 활용(09)</vt:lpstr>
      <vt:lpstr>SECTION 7-2 이벤트 활용(10)</vt:lpstr>
      <vt:lpstr>SECTION 7-2 이벤트 활용(11)</vt:lpstr>
      <vt:lpstr>SECTION 7-2 이벤트 활용(12)</vt:lpstr>
      <vt:lpstr>SECTION 7-2 이벤트 활용(13)</vt:lpstr>
      <vt:lpstr>SECTION 7-2 이벤트 활용(14)</vt:lpstr>
      <vt:lpstr>SECTION 7-2 이벤트 활용(15)</vt:lpstr>
      <vt:lpstr>SECTION 7-2 이벤트 활용(16)</vt:lpstr>
      <vt:lpstr>SECTION 7-2 이벤트 활용(17)</vt:lpstr>
      <vt:lpstr>SECTION 7-2 이벤트 활용(18)</vt:lpstr>
      <vt:lpstr>SECTION 7-2 이벤트 활용(19)</vt:lpstr>
      <vt:lpstr>SECTION 7-2 이벤트 활용(20)</vt:lpstr>
      <vt:lpstr>SECTION 7-2 이벤트 활용(21)</vt:lpstr>
      <vt:lpstr>SECTION 7-2 이벤트 활용(22)</vt:lpstr>
      <vt:lpstr>SECTION 7-2 이벤트 활용(23)</vt:lpstr>
      <vt:lpstr>SECTION 7-2 이벤트 활용(24)</vt:lpstr>
      <vt:lpstr>SECTION 7-2 이벤트 활용(25)</vt:lpstr>
      <vt:lpstr>SECTION 7-2 이벤트 활용(26)</vt:lpstr>
      <vt:lpstr>SECTION 7-2 이벤트 활용(27)</vt:lpstr>
      <vt:lpstr>[좀 더 알아보기①] 타이머로 구현한 남은 글자 수 세기</vt:lpstr>
      <vt:lpstr>[좀 더 알아보기②] localStorage 객체</vt:lpstr>
      <vt:lpstr>[좀 더 알아보기②] localStorage 객체</vt:lpstr>
      <vt:lpstr>[좀 더 알아보기②] localStorage 객체</vt:lpstr>
      <vt:lpstr>[마무리①]</vt:lpstr>
      <vt:lpstr>[마무리②]</vt:lpstr>
      <vt:lpstr>[마무리③]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파이썬으로 배우는 머신러닝 교과서</dc:title>
  <dc:creator>마케팅팀</dc:creator>
  <cp:lastModifiedBy>ninny</cp:lastModifiedBy>
  <cp:revision>620</cp:revision>
  <dcterms:created xsi:type="dcterms:W3CDTF">2020-01-31T07:25:46Z</dcterms:created>
  <dcterms:modified xsi:type="dcterms:W3CDTF">2021-05-12T12:09:39Z</dcterms:modified>
</cp:coreProperties>
</file>